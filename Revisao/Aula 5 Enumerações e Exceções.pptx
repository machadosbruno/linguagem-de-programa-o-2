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346" r:id="rId2"/>
    <p:sldId id="257" r:id="rId3"/>
    <p:sldId id="317" r:id="rId4"/>
    <p:sldId id="318" r:id="rId5"/>
    <p:sldId id="319" r:id="rId6"/>
    <p:sldId id="320" r:id="rId7"/>
    <p:sldId id="347" r:id="rId8"/>
    <p:sldId id="350" r:id="rId9"/>
    <p:sldId id="353" r:id="rId10"/>
    <p:sldId id="385" r:id="rId11"/>
    <p:sldId id="364" r:id="rId12"/>
    <p:sldId id="365" r:id="rId13"/>
    <p:sldId id="366" r:id="rId14"/>
    <p:sldId id="386" r:id="rId15"/>
    <p:sldId id="367" r:id="rId16"/>
    <p:sldId id="368" r:id="rId17"/>
    <p:sldId id="369" r:id="rId18"/>
    <p:sldId id="370" r:id="rId19"/>
    <p:sldId id="387" r:id="rId20"/>
    <p:sldId id="371" r:id="rId21"/>
    <p:sldId id="388" r:id="rId22"/>
    <p:sldId id="372" r:id="rId23"/>
    <p:sldId id="373" r:id="rId24"/>
    <p:sldId id="374" r:id="rId25"/>
    <p:sldId id="375" r:id="rId26"/>
    <p:sldId id="376" r:id="rId27"/>
    <p:sldId id="377" r:id="rId28"/>
    <p:sldId id="378" r:id="rId29"/>
    <p:sldId id="379" r:id="rId30"/>
    <p:sldId id="380" r:id="rId31"/>
    <p:sldId id="381" r:id="rId32"/>
    <p:sldId id="382" r:id="rId33"/>
    <p:sldId id="383" r:id="rId34"/>
    <p:sldId id="384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733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8189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591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609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070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2328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244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80EC881-C8CC-4E75-B01E-514F6CA39D9F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429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19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996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C881-C8CC-4E75-B01E-514F6CA39D9F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33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80EC881-C8CC-4E75-B01E-514F6CA39D9F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731BDA-FDB6-4E72-8BC3-83A56295639A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99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884420"/>
            <a:ext cx="10058400" cy="3440692"/>
          </a:xfrm>
        </p:spPr>
        <p:txBody>
          <a:bodyPr>
            <a:normAutofit/>
          </a:bodyPr>
          <a:lstStyle/>
          <a:p>
            <a:pPr algn="ctr"/>
            <a:r>
              <a:rPr lang="pt-BR" sz="6600" dirty="0"/>
              <a:t>Linguagem de Programação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pt-BR" dirty="0"/>
              <a:t>Tecnologia em Análise e Desenvolvimento de Sistemas</a:t>
            </a:r>
          </a:p>
          <a:p>
            <a:endParaRPr lang="pt-BR" sz="1800" cap="none" dirty="0"/>
          </a:p>
          <a:p>
            <a:pPr algn="ctr"/>
            <a:r>
              <a:rPr lang="pt-BR" sz="1800" cap="none" dirty="0"/>
              <a:t>Tiago Alexandre </a:t>
            </a:r>
            <a:r>
              <a:rPr lang="pt-BR" sz="1800" cap="none" dirty="0" err="1"/>
              <a:t>Dócusse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1905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Enumerações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É um tipo abstrato de dados (normalmente baseado em um inteiro) utilizado para facilitar a visualização de código;</a:t>
            </a:r>
          </a:p>
          <a:p>
            <a:r>
              <a:rPr lang="pt-BR" sz="3200" dirty="0"/>
              <a:t>Atribui um valor numérico para uma quantidade finita de constantes.</a:t>
            </a:r>
          </a:p>
          <a:p>
            <a:endParaRPr lang="pt-BR" sz="2800" dirty="0"/>
          </a:p>
        </p:txBody>
      </p:sp>
      <p:sp>
        <p:nvSpPr>
          <p:cNvPr id="5" name="Retângulo 4"/>
          <p:cNvSpPr/>
          <p:nvPr/>
        </p:nvSpPr>
        <p:spPr>
          <a:xfrm>
            <a:off x="1097280" y="3857414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enum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Naipes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Paus,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Copas,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Espadas,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Ouros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154741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Enumerações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Utilizações:</a:t>
            </a: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3810585" y="2769753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Naipes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 = </a:t>
            </a:r>
            <a:r>
              <a:rPr lang="pt-BR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Naipes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.Copas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Retângulo 4"/>
          <p:cNvSpPr/>
          <p:nvPr/>
        </p:nvSpPr>
        <p:spPr>
          <a:xfrm>
            <a:off x="1097280" y="389476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(n == </a:t>
            </a:r>
            <a:r>
              <a:rPr lang="pt-BR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Naipes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.Ouros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6" name="Retângulo 5"/>
          <p:cNvSpPr/>
          <p:nvPr/>
        </p:nvSpPr>
        <p:spPr>
          <a:xfrm>
            <a:off x="6858585" y="3857414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switch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(n)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Naipes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.Paus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524467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Enumerações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Utilizações</a:t>
            </a:r>
            <a:endParaRPr lang="pt-BR" sz="2400" dirty="0"/>
          </a:p>
        </p:txBody>
      </p:sp>
      <p:sp>
        <p:nvSpPr>
          <p:cNvPr id="7" name="Retângulo 6"/>
          <p:cNvSpPr/>
          <p:nvPr/>
        </p:nvSpPr>
        <p:spPr>
          <a:xfrm>
            <a:off x="1097280" y="2627375"/>
            <a:ext cx="762050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Naipes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 = </a:t>
            </a:r>
            <a:r>
              <a:rPr lang="pt-BR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Naipes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.Paus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x &lt;= </a:t>
            </a:r>
            <a:r>
              <a:rPr lang="pt-BR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Naipes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.Ouros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x++)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000" dirty="0"/>
          </a:p>
        </p:txBody>
      </p:sp>
      <p:sp>
        <p:nvSpPr>
          <p:cNvPr id="8" name="Retângulo 7"/>
          <p:cNvSpPr/>
          <p:nvPr/>
        </p:nvSpPr>
        <p:spPr>
          <a:xfrm>
            <a:off x="1097280" y="4545655"/>
            <a:ext cx="872411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Naipes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y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Enum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.GetValues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typeof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Naipes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263959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Enumerações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Internamente, cada item da enumeração é armazenado como um número, iniciando-se do zero e sendo acrescentado em 1 unidade;</a:t>
            </a:r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1097280" y="3578912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enum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Naipes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Paus,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Copas,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Espadas,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Ouros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4488137" y="43272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0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794631" y="467475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1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4658216" y="505369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2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641384" y="543262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3</a:t>
            </a:r>
          </a:p>
        </p:txBody>
      </p:sp>
      <p:cxnSp>
        <p:nvCxnSpPr>
          <p:cNvPr id="10" name="Conector de seta reta 9"/>
          <p:cNvCxnSpPr>
            <a:cxnSpLocks/>
            <a:stCxn id="5" idx="1"/>
          </p:cNvCxnSpPr>
          <p:nvPr/>
        </p:nvCxnSpPr>
        <p:spPr>
          <a:xfrm rot="10800000" flipV="1">
            <a:off x="2872509" y="4558079"/>
            <a:ext cx="1615628" cy="12798"/>
          </a:xfrm>
          <a:prstGeom prst="curvedConnector3">
            <a:avLst/>
          </a:prstGeom>
          <a:ln>
            <a:solidFill>
              <a:schemeClr val="dk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cxnSpLocks/>
            <a:stCxn id="6" idx="1"/>
          </p:cNvCxnSpPr>
          <p:nvPr/>
        </p:nvCxnSpPr>
        <p:spPr>
          <a:xfrm rot="10800000" flipV="1">
            <a:off x="3029527" y="4905586"/>
            <a:ext cx="1765104" cy="5645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cxnSpLocks/>
            <a:stCxn id="7" idx="1"/>
          </p:cNvCxnSpPr>
          <p:nvPr/>
        </p:nvCxnSpPr>
        <p:spPr>
          <a:xfrm rot="10800000" flipV="1">
            <a:off x="3269674" y="5284522"/>
            <a:ext cx="1388543" cy="8708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cxnSpLocks/>
            <a:stCxn id="8" idx="1"/>
          </p:cNvCxnSpPr>
          <p:nvPr/>
        </p:nvCxnSpPr>
        <p:spPr>
          <a:xfrm rot="10800000" flipV="1">
            <a:off x="2798618" y="5663458"/>
            <a:ext cx="1842766" cy="3063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282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Enumerações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É possível definir os valores internos de uma enumeração:</a:t>
            </a:r>
          </a:p>
          <a:p>
            <a:endParaRPr lang="pt-BR" sz="3200" dirty="0"/>
          </a:p>
          <a:p>
            <a:endParaRPr lang="pt-BR" sz="3200" dirty="0"/>
          </a:p>
        </p:txBody>
      </p:sp>
      <p:sp>
        <p:nvSpPr>
          <p:cNvPr id="9" name="Retângulo 8"/>
          <p:cNvSpPr/>
          <p:nvPr/>
        </p:nvSpPr>
        <p:spPr>
          <a:xfrm>
            <a:off x="1097280" y="2404951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enum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NumeraçãoJogadores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Goleiro = 1,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Lateral_Esquerdo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6,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Zagueiro_Central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3,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Zagueiro_Quarto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4,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Lateral_Direito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2,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Volante_Primeiro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5,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Volante_Segundo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8,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Meia_Esquerda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10,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Meia_Direita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11,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Atacante = 7,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Centro_Avante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9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214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1) Tipo de conta bancária (Corrente, Poupança e Salário).</a:t>
            </a:r>
          </a:p>
          <a:p>
            <a:r>
              <a:rPr lang="pt-BR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995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parciais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Permite a criação de uma classe em arquivos “diferentes”.</a:t>
            </a:r>
          </a:p>
        </p:txBody>
      </p:sp>
      <p:sp>
        <p:nvSpPr>
          <p:cNvPr id="4" name="Retângulo 3"/>
          <p:cNvSpPr/>
          <p:nvPr/>
        </p:nvSpPr>
        <p:spPr>
          <a:xfrm>
            <a:off x="526473" y="2575856"/>
            <a:ext cx="10982035" cy="4893647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ClasseParcial</a:t>
            </a:r>
            <a:endParaRPr lang="pt-BR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2400" dirty="0">
                <a:solidFill>
                  <a:srgbClr val="008000"/>
                </a:solidFill>
                <a:latin typeface="Consolas" panose="020B0609020204030204" pitchFamily="49" charset="0"/>
              </a:rPr>
              <a:t>//Atributos</a:t>
            </a:r>
            <a:endParaRPr lang="pt-BR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Atributo1;</a:t>
            </a:r>
          </a:p>
          <a:p>
            <a:endParaRPr lang="pt-BR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Atributo2;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pt-BR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pt-BR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pt-BR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pt-BR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ClasseParcial</a:t>
            </a:r>
            <a:endParaRPr lang="pt-BR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2400" dirty="0">
                <a:solidFill>
                  <a:srgbClr val="008000"/>
                </a:solidFill>
                <a:latin typeface="Consolas" panose="020B0609020204030204" pitchFamily="49" charset="0"/>
              </a:rPr>
              <a:t>//Métodos</a:t>
            </a:r>
            <a:endParaRPr lang="pt-BR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Método1() { }</a:t>
            </a:r>
          </a:p>
          <a:p>
            <a:endParaRPr lang="pt-BR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Método2() { }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618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parciais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Utilizado principalmente ao criar um formulário (</a:t>
            </a:r>
            <a:r>
              <a:rPr lang="pt-BR" sz="3200" dirty="0" err="1"/>
              <a:t>Windows.Form</a:t>
            </a:r>
            <a:r>
              <a:rPr lang="pt-BR" sz="3200" dirty="0"/>
              <a:t>) ou página (ASP.NET)</a:t>
            </a:r>
          </a:p>
          <a:p>
            <a:pPr lvl="1"/>
            <a:endParaRPr lang="pt-BR" sz="2000" dirty="0"/>
          </a:p>
          <a:p>
            <a:pPr lvl="1"/>
            <a:r>
              <a:rPr lang="pt-BR" sz="2800" dirty="0"/>
              <a:t>Form1.cs</a:t>
            </a:r>
          </a:p>
          <a:p>
            <a:pPr lvl="1"/>
            <a:endParaRPr lang="pt-BR" sz="2000" dirty="0"/>
          </a:p>
          <a:p>
            <a:pPr lvl="1"/>
            <a:endParaRPr lang="pt-BR" sz="2000" dirty="0"/>
          </a:p>
          <a:p>
            <a:pPr lvl="1"/>
            <a:r>
              <a:rPr lang="pt-BR" sz="2800" dirty="0"/>
              <a:t>Form1.Designer.cs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97280" y="3589998"/>
            <a:ext cx="59618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Form</a:t>
            </a:r>
            <a:endParaRPr lang="pt-BR" sz="2400" dirty="0"/>
          </a:p>
        </p:txBody>
      </p:sp>
      <p:sp>
        <p:nvSpPr>
          <p:cNvPr id="5" name="Retângulo 4"/>
          <p:cNvSpPr/>
          <p:nvPr/>
        </p:nvSpPr>
        <p:spPr>
          <a:xfrm>
            <a:off x="1291244" y="4834199"/>
            <a:ext cx="3413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442486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dados anuláveis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000" dirty="0"/>
              <a:t>  Exemplo: um sistema armazena informações sobre seus usuários (ID e Nome e Data de Nascimento), sendo ID e Nome obrigatórios e Data de Nascimento opcional. Tal sistema foi modelado da seguinte forma?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1097280" y="3580615"/>
            <a:ext cx="61514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Usuario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ID;</a:t>
            </a:r>
          </a:p>
          <a:p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Nome;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DateTime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Nascimento;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43803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dados anuláveis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Como representar um objeto do tipo </a:t>
            </a:r>
            <a:r>
              <a:rPr lang="pt-BR" sz="3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Usuario</a:t>
            </a:r>
            <a:r>
              <a:rPr lang="pt-BR" sz="3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3200" dirty="0"/>
              <a:t>que não possui data de nascimento informada?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2400" dirty="0"/>
          </a:p>
          <a:p>
            <a:pPr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79530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dados anuláveis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São tipos de dados baseados nos tipos de dados convencionais;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Utilizados quando desejamos utilizar armazenar um valor nulo (</a:t>
            </a:r>
            <a:r>
              <a:rPr lang="pt-BR" sz="3200" dirty="0" err="1"/>
              <a:t>null</a:t>
            </a:r>
            <a:r>
              <a:rPr lang="pt-BR" sz="3200" dirty="0"/>
              <a:t>) para atributos de tipos de dados convencionais;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Utilização: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787489" y="4819699"/>
            <a:ext cx="6677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&lt;</a:t>
            </a:r>
            <a:r>
              <a:rPr lang="pt-BR" sz="2400" dirty="0" err="1"/>
              <a:t>modificador_acesso</a:t>
            </a:r>
            <a:r>
              <a:rPr lang="pt-BR" sz="2400" dirty="0"/>
              <a:t>&gt; &lt;</a:t>
            </a:r>
            <a:r>
              <a:rPr lang="pt-BR" sz="2400" dirty="0" err="1"/>
              <a:t>tipo_dados</a:t>
            </a:r>
            <a:r>
              <a:rPr lang="pt-BR" sz="2400" dirty="0"/>
              <a:t>&gt;</a:t>
            </a:r>
            <a:r>
              <a:rPr lang="pt-BR" sz="2400" b="1" dirty="0"/>
              <a:t>?</a:t>
            </a:r>
            <a:r>
              <a:rPr lang="pt-BR" sz="2400" dirty="0"/>
              <a:t> &lt;atributo&gt; ....</a:t>
            </a:r>
          </a:p>
        </p:txBody>
      </p:sp>
    </p:spTree>
    <p:extLst>
      <p:ext uri="{BB962C8B-B14F-4D97-AF65-F5344CB8AC3E}">
        <p14:creationId xmlns:p14="http://schemas.microsoft.com/office/powerpoint/2010/main" val="118338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dados anuláveis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266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Exemplo: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Atributos anuláveis podem ter valor nulo;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5" name="Retângulo 4"/>
          <p:cNvSpPr/>
          <p:nvPr/>
        </p:nvSpPr>
        <p:spPr>
          <a:xfrm>
            <a:off x="1302329" y="2274838"/>
            <a:ext cx="61514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Usuario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ID;</a:t>
            </a:r>
          </a:p>
          <a:p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Nome;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DateTime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Nascimento;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71241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dados anuláveis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266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Utilização normal;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Caso deseje ter acesso exclusivamente ao valor do tipo de dados convencional, utilizar o atributo </a:t>
            </a:r>
            <a:r>
              <a:rPr lang="pt-BR" sz="3200" dirty="0" err="1"/>
              <a:t>Value</a:t>
            </a:r>
            <a:r>
              <a:rPr lang="pt-BR" sz="32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Atributo </a:t>
            </a:r>
            <a:r>
              <a:rPr lang="pt-BR" sz="3200" dirty="0" err="1"/>
              <a:t>HasValue</a:t>
            </a:r>
            <a:r>
              <a:rPr lang="pt-BR" sz="3200" dirty="0"/>
              <a:t> indica se o objeto do tipo de dados anulável</a:t>
            </a:r>
            <a:r>
              <a:rPr lang="pt-BR" sz="3200" i="1" dirty="0"/>
              <a:t> </a:t>
            </a:r>
            <a:r>
              <a:rPr lang="pt-BR" sz="3200" dirty="0"/>
              <a:t>possui um valor atribuído.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53720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dados anuláveis</a:t>
            </a:r>
          </a:p>
        </p:txBody>
      </p:sp>
      <p:sp>
        <p:nvSpPr>
          <p:cNvPr id="6" name="Retângulo 5"/>
          <p:cNvSpPr/>
          <p:nvPr/>
        </p:nvSpPr>
        <p:spPr>
          <a:xfrm>
            <a:off x="1097280" y="2106321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 x;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 =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pt-BR" sz="2400" dirty="0"/>
          </a:p>
        </p:txBody>
      </p:sp>
      <p:sp>
        <p:nvSpPr>
          <p:cNvPr id="7" name="Retângulo 6"/>
          <p:cNvSpPr/>
          <p:nvPr/>
        </p:nvSpPr>
        <p:spPr>
          <a:xfrm>
            <a:off x="1097280" y="3429769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DateTime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 d =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pt-BR" sz="2400" dirty="0"/>
          </a:p>
        </p:txBody>
      </p:sp>
      <p:sp>
        <p:nvSpPr>
          <p:cNvPr id="8" name="Retângulo 7"/>
          <p:cNvSpPr/>
          <p:nvPr/>
        </p:nvSpPr>
        <p:spPr>
          <a:xfrm>
            <a:off x="1097280" y="4523662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 Nota =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Nota = 7.5f;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880577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Exceções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São disparadas sempre que um erro é encontrado pelo programa;</a:t>
            </a:r>
          </a:p>
          <a:p>
            <a:r>
              <a:rPr lang="pt-BR" sz="3200" dirty="0"/>
              <a:t>Exemplo: transformar palavras em inteiros:</a:t>
            </a:r>
          </a:p>
          <a:p>
            <a:endParaRPr lang="pt-BR" sz="3200" dirty="0"/>
          </a:p>
          <a:p>
            <a:r>
              <a:rPr lang="pt-BR" sz="3200" dirty="0"/>
              <a:t>Neste caso, uma exceção é disparada para informar que ouve um erro ao tentar transformar “palavra” em número inteiro.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3078480" y="349741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 =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"palavra"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92428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Exceções	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O que pode gerar exceções?</a:t>
            </a:r>
          </a:p>
          <a:p>
            <a:pPr lvl="1"/>
            <a:r>
              <a:rPr lang="pt-BR" sz="2800" dirty="0"/>
              <a:t>Divisão por zero;</a:t>
            </a:r>
          </a:p>
          <a:p>
            <a:pPr lvl="1"/>
            <a:r>
              <a:rPr lang="pt-BR" sz="2800" dirty="0"/>
              <a:t>Falha na conexão com banco de dados;</a:t>
            </a:r>
          </a:p>
          <a:p>
            <a:pPr lvl="1"/>
            <a:r>
              <a:rPr lang="pt-BR" sz="2800" dirty="0"/>
              <a:t>Erro no comando executado no banco de dados;</a:t>
            </a:r>
          </a:p>
          <a:p>
            <a:pPr lvl="1"/>
            <a:r>
              <a:rPr lang="pt-BR" sz="2800" i="1" dirty="0" err="1"/>
              <a:t>Casting</a:t>
            </a:r>
            <a:r>
              <a:rPr lang="pt-BR" sz="2800" i="1" dirty="0"/>
              <a:t> </a:t>
            </a:r>
            <a:r>
              <a:rPr lang="pt-BR" sz="2800" dirty="0"/>
              <a:t>inválido;</a:t>
            </a:r>
            <a:endParaRPr lang="pt-BR" sz="2800" i="1" dirty="0"/>
          </a:p>
          <a:p>
            <a:pPr lvl="1"/>
            <a:r>
              <a:rPr lang="pt-BR" sz="2800" dirty="0"/>
              <a:t>Entre outros.</a:t>
            </a:r>
          </a:p>
          <a:p>
            <a:r>
              <a:rPr lang="pt-BR" sz="3200" dirty="0"/>
              <a:t>É possível também disparar exceções de acordo com a necessidade do código;</a:t>
            </a:r>
          </a:p>
        </p:txBody>
      </p:sp>
    </p:spTree>
    <p:extLst>
      <p:ext uri="{BB962C8B-B14F-4D97-AF65-F5344CB8AC3E}">
        <p14:creationId xmlns:p14="http://schemas.microsoft.com/office/powerpoint/2010/main" val="1831819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Tratamento de exceções	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3393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2F2B20"/>
                </a:solidFill>
                <a:latin typeface="Calibri" panose="020F0502020204030204" pitchFamily="34" charset="0"/>
              </a:rPr>
              <a:t>Ao tratar exceções, evita-se que o sistema seja encerrado ou se comporte de maneira incorreta;</a:t>
            </a:r>
          </a:p>
          <a:p>
            <a:r>
              <a:rPr lang="pt-BR" sz="3200" dirty="0">
                <a:solidFill>
                  <a:srgbClr val="2F2B20"/>
                </a:solidFill>
                <a:latin typeface="Calibri" panose="020F0502020204030204" pitchFamily="34" charset="0"/>
              </a:rPr>
              <a:t>A CLR possui um modelo de tratamento de exceções, baseado na representação de exceções como objetos.</a:t>
            </a:r>
            <a:endParaRPr lang="en-GB" sz="3200" dirty="0">
              <a:solidFill>
                <a:srgbClr val="2F2B20"/>
              </a:solidFill>
              <a:latin typeface="Calibri" panose="020F0502020204030204" pitchFamily="34" charset="0"/>
            </a:endParaRPr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4110227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Tratamento de exceções	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3393"/>
          </a:xfrm>
        </p:spPr>
        <p:txBody>
          <a:bodyPr>
            <a:normAutofit/>
          </a:bodyPr>
          <a:lstStyle/>
          <a:p>
            <a:pPr>
              <a:spcBef>
                <a:spcPts val="438"/>
              </a:spcBef>
              <a:buClr>
                <a:srgbClr val="A9A57C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F2B20"/>
                </a:solidFill>
                <a:latin typeface="Calibri" panose="020F0502020204030204" pitchFamily="34" charset="0"/>
              </a:rPr>
              <a:t>Exception</a:t>
            </a:r>
          </a:p>
          <a:p>
            <a:pPr lvl="1">
              <a:spcAft>
                <a:spcPts val="1138"/>
              </a:spcAft>
              <a:buSzPct val="45000"/>
              <a:buFont typeface="Wingdings" panose="05000000000000000000" pitchFamily="2" charset="2"/>
              <a:buChar char=""/>
            </a:pPr>
            <a:r>
              <a:rPr lang="pt-BR" sz="2800" dirty="0">
                <a:solidFill>
                  <a:srgbClr val="2F2B20"/>
                </a:solidFill>
                <a:latin typeface="Calibri" panose="020F0502020204030204" pitchFamily="34" charset="0"/>
              </a:rPr>
              <a:t>Classe base de todas as exceções;</a:t>
            </a:r>
          </a:p>
          <a:p>
            <a:pPr lvl="1">
              <a:spcAft>
                <a:spcPts val="1138"/>
              </a:spcAft>
              <a:buSzPct val="45000"/>
              <a:buFont typeface="Wingdings" panose="05000000000000000000" pitchFamily="2" charset="2"/>
              <a:buChar char=""/>
            </a:pPr>
            <a:r>
              <a:rPr lang="pt-BR" sz="2800" dirty="0">
                <a:solidFill>
                  <a:srgbClr val="2F2B20"/>
                </a:solidFill>
                <a:latin typeface="Calibri" panose="020F0502020204030204" pitchFamily="34" charset="0"/>
              </a:rPr>
              <a:t>Existem exceções derivadas dela:</a:t>
            </a:r>
          </a:p>
          <a:p>
            <a:pPr lvl="2">
              <a:spcAft>
                <a:spcPts val="850"/>
              </a:spcAft>
              <a:buSzPct val="75000"/>
              <a:buFont typeface="Symbol" panose="05050102010706020507" pitchFamily="18" charset="2"/>
              <a:buChar char=""/>
            </a:pPr>
            <a:r>
              <a:rPr lang="pt-BR" sz="2400" dirty="0" err="1">
                <a:solidFill>
                  <a:srgbClr val="2F2B20"/>
                </a:solidFill>
                <a:latin typeface="Calibri" panose="020F0502020204030204" pitchFamily="34" charset="0"/>
              </a:rPr>
              <a:t>NotImplementedException</a:t>
            </a:r>
            <a:r>
              <a:rPr lang="pt-BR" sz="2400" dirty="0">
                <a:solidFill>
                  <a:srgbClr val="2F2B20"/>
                </a:solidFill>
                <a:latin typeface="Calibri" panose="020F0502020204030204" pitchFamily="34" charset="0"/>
              </a:rPr>
              <a:t>;</a:t>
            </a:r>
          </a:p>
          <a:p>
            <a:pPr lvl="2">
              <a:spcAft>
                <a:spcPts val="850"/>
              </a:spcAft>
              <a:buSzPct val="75000"/>
              <a:buFont typeface="Symbol" panose="05050102010706020507" pitchFamily="18" charset="2"/>
              <a:buChar char=""/>
            </a:pPr>
            <a:r>
              <a:rPr lang="pt-BR" sz="2400" dirty="0" err="1">
                <a:solidFill>
                  <a:srgbClr val="2F2B20"/>
                </a:solidFill>
                <a:latin typeface="Calibri" panose="020F0502020204030204" pitchFamily="34" charset="0"/>
              </a:rPr>
              <a:t>DivideByZeroException</a:t>
            </a:r>
            <a:r>
              <a:rPr lang="pt-BR" sz="2400" dirty="0">
                <a:solidFill>
                  <a:srgbClr val="2F2B20"/>
                </a:solidFill>
                <a:latin typeface="Calibri" panose="020F0502020204030204" pitchFamily="34" charset="0"/>
              </a:rPr>
              <a:t>;</a:t>
            </a:r>
          </a:p>
          <a:p>
            <a:pPr lvl="2">
              <a:spcAft>
                <a:spcPts val="850"/>
              </a:spcAft>
              <a:buSzPct val="75000"/>
              <a:buFont typeface="Symbol" panose="05050102010706020507" pitchFamily="18" charset="2"/>
              <a:buChar char=""/>
            </a:pPr>
            <a:r>
              <a:rPr lang="pt-BR" sz="2400" dirty="0" err="1">
                <a:solidFill>
                  <a:srgbClr val="2F2B20"/>
                </a:solidFill>
                <a:latin typeface="Calibri" panose="020F0502020204030204" pitchFamily="34" charset="0"/>
              </a:rPr>
              <a:t>ViewStateException</a:t>
            </a:r>
            <a:r>
              <a:rPr lang="pt-BR" sz="2400" dirty="0">
                <a:solidFill>
                  <a:srgbClr val="2F2B20"/>
                </a:solidFill>
                <a:latin typeface="Calibri" panose="020F0502020204030204" pitchFamily="34" charset="0"/>
              </a:rPr>
              <a:t>;</a:t>
            </a:r>
          </a:p>
          <a:p>
            <a:pPr lvl="2">
              <a:spcAft>
                <a:spcPts val="850"/>
              </a:spcAft>
              <a:buSzPct val="75000"/>
              <a:buFont typeface="Symbol" panose="05050102010706020507" pitchFamily="18" charset="2"/>
              <a:buChar char=""/>
            </a:pPr>
            <a:r>
              <a:rPr lang="pt-BR" sz="2400" dirty="0">
                <a:solidFill>
                  <a:srgbClr val="2F2B20"/>
                </a:solidFill>
                <a:latin typeface="Calibri" panose="020F0502020204030204" pitchFamily="34" charset="0"/>
              </a:rPr>
              <a:t>Etc.</a:t>
            </a:r>
          </a:p>
          <a:p>
            <a:endParaRPr lang="en-GB" sz="1800" dirty="0">
              <a:solidFill>
                <a:srgbClr val="2F2B20"/>
              </a:solidFill>
              <a:latin typeface="Calibri" panose="020F0502020204030204" pitchFamily="34" charset="0"/>
            </a:endParaRPr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778155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Tratamento de Exceções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1800" indent="-323850">
              <a:buSzPct val="45000"/>
              <a:buFont typeface="Wingdings" panose="05000000000000000000" pitchFamily="2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pt-BR" sz="3200" dirty="0"/>
              <a:t>Para capturar uma exceção, usamos a palavra reservada </a:t>
            </a:r>
            <a:r>
              <a:rPr lang="pt-BR" sz="3200" b="1" dirty="0" err="1"/>
              <a:t>try</a:t>
            </a:r>
            <a:r>
              <a:rPr lang="pt-BR" sz="3200" b="1" dirty="0"/>
              <a:t> </a:t>
            </a:r>
            <a:r>
              <a:rPr lang="pt-BR" sz="3200" dirty="0"/>
              <a:t>para indicar que determinado trecho de código deve ser monitorado para possíveis exceções;</a:t>
            </a:r>
          </a:p>
          <a:p>
            <a:pPr marL="431800" indent="-323850">
              <a:buSzPct val="45000"/>
              <a:buFont typeface="Wingdings" panose="05000000000000000000" pitchFamily="2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pt-BR" sz="3200" dirty="0"/>
              <a:t>Se uma exceção é disparada em um trecho sem a utilização do </a:t>
            </a:r>
            <a:r>
              <a:rPr lang="pt-BR" sz="3200" b="1" dirty="0" err="1"/>
              <a:t>try</a:t>
            </a:r>
            <a:r>
              <a:rPr lang="pt-BR" sz="3200" dirty="0"/>
              <a:t>, o programa é encerrado ou se comporta de forma anormal, pois a exceção não foi tratada;</a:t>
            </a:r>
          </a:p>
          <a:p>
            <a:pPr marL="431800" indent="-323850">
              <a:buSzPct val="45000"/>
              <a:buFont typeface="Wingdings" panose="05000000000000000000" pitchFamily="2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pt-BR" sz="3200" dirty="0"/>
              <a:t>Um bloco </a:t>
            </a:r>
            <a:r>
              <a:rPr lang="pt-BR" sz="3200" dirty="0" err="1"/>
              <a:t>try</a:t>
            </a:r>
            <a:r>
              <a:rPr lang="pt-BR" sz="3200" dirty="0"/>
              <a:t> é feito da seguinte forma</a:t>
            </a:r>
            <a:r>
              <a:rPr lang="en-GB" sz="3200" dirty="0"/>
              <a:t>: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446372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Tratamento de Exceções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35710" y="2015803"/>
            <a:ext cx="10619970" cy="2703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9536" rIns="90000" bIns="45000"/>
          <a:lstStyle>
            <a:lvl1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98000"/>
              </a:lnSpc>
            </a:pP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r>
              <a:rPr lang="pt-BR" sz="24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98000"/>
              </a:lnSpc>
            </a:pPr>
            <a:r>
              <a:rPr lang="pt-BR" sz="2400" dirty="0">
                <a:latin typeface="Consolas" panose="020B0609020204030204" pitchFamily="49" charset="0"/>
              </a:rPr>
              <a:t>  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//comandos a serem gerenciados</a:t>
            </a:r>
          </a:p>
          <a:p>
            <a:pPr>
              <a:lnSpc>
                <a:spcPct val="98000"/>
              </a:lnSpc>
            </a:pPr>
            <a:r>
              <a:rPr lang="pt-BR" sz="24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98000"/>
              </a:lnSpc>
            </a:pPr>
            <a:r>
              <a:rPr lang="pt-BR" sz="24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pt-BR" sz="24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98000"/>
              </a:lnSpc>
            </a:pP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//comandos executados apenas se alguma exceção for disparada</a:t>
            </a:r>
          </a:p>
          <a:p>
            <a:pPr>
              <a:lnSpc>
                <a:spcPct val="98000"/>
              </a:lnSpc>
            </a:pPr>
            <a:r>
              <a:rPr lang="pt-BR" sz="24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98000"/>
              </a:lnSpc>
            </a:pP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finally</a:t>
            </a:r>
            <a:r>
              <a:rPr lang="pt-BR" sz="24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98000"/>
              </a:lnSpc>
            </a:pP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//comandos sempre executados</a:t>
            </a:r>
          </a:p>
          <a:p>
            <a:pPr>
              <a:lnSpc>
                <a:spcPct val="98000"/>
              </a:lnSpc>
            </a:pPr>
            <a:r>
              <a:rPr lang="pt-BR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4133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Tratamento de Exceções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31800" indent="-323850">
              <a:buSzPct val="45000"/>
              <a:buFont typeface="Wingdings" panose="05000000000000000000" pitchFamily="2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pt-BR" sz="3200" dirty="0" err="1"/>
              <a:t>try</a:t>
            </a:r>
            <a:r>
              <a:rPr lang="pt-BR" sz="3200" dirty="0"/>
              <a:t>: Indica o código que deve ser monitorado em caso do disparo de uma exceção;</a:t>
            </a:r>
          </a:p>
          <a:p>
            <a:pPr marL="431800" indent="-323850">
              <a:buSzPct val="45000"/>
              <a:buFont typeface="Wingdings" panose="05000000000000000000" pitchFamily="2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pt-BR" sz="3200" dirty="0"/>
              <a:t>catch: Indica as ações que serão tomadas se uma exceção for disparada;</a:t>
            </a:r>
          </a:p>
          <a:p>
            <a:pPr marL="431800" indent="-323850">
              <a:buSzPct val="45000"/>
              <a:buFont typeface="Wingdings" panose="05000000000000000000" pitchFamily="2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pt-BR" sz="3200" dirty="0" err="1"/>
              <a:t>finally</a:t>
            </a:r>
            <a:r>
              <a:rPr lang="pt-BR" sz="3200" dirty="0"/>
              <a:t>: Indica as ações que serão tomadas após a execução do bloco, independentemente se uma exceção foi disparada ou não.</a:t>
            </a:r>
          </a:p>
          <a:p>
            <a:pPr marL="431800" indent="-323850">
              <a:buSzPct val="45000"/>
              <a:buFont typeface="Wingdings" panose="05000000000000000000" pitchFamily="2" charset="2"/>
              <a:buChar char="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pt-BR" sz="3200" dirty="0"/>
              <a:t>O </a:t>
            </a:r>
            <a:r>
              <a:rPr lang="pt-BR" sz="3200" b="1" dirty="0" err="1"/>
              <a:t>try</a:t>
            </a:r>
            <a:r>
              <a:rPr lang="pt-BR" sz="3200" dirty="0"/>
              <a:t> não pode ser utilizado sozinho, ele deve ser utilizado com apenas o </a:t>
            </a:r>
            <a:r>
              <a:rPr lang="pt-BR" sz="3200" b="1" dirty="0"/>
              <a:t>catch</a:t>
            </a:r>
            <a:r>
              <a:rPr lang="pt-BR" sz="3200" dirty="0"/>
              <a:t>, ou apenas o </a:t>
            </a:r>
            <a:r>
              <a:rPr lang="pt-BR" sz="3200" b="1" dirty="0" err="1"/>
              <a:t>finally</a:t>
            </a:r>
            <a:r>
              <a:rPr lang="pt-BR" sz="3200" dirty="0"/>
              <a:t>, ou os dois juntos.</a:t>
            </a: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429636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279236" y="2137177"/>
            <a:ext cx="881610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x;</a:t>
            </a: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x =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"palavra"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pt-BR" sz="2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//erro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425254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942320" cy="4023360"/>
          </a:xfrm>
        </p:spPr>
        <p:txBody>
          <a:bodyPr>
            <a:normAutofit/>
          </a:bodyPr>
          <a:lstStyle/>
          <a:p>
            <a:r>
              <a:rPr lang="pt-BR" sz="3200" dirty="0"/>
              <a:t>Se uma exceção é disparada, as linhas abaixo da linha onde a exceção foi disparada não são executadas;</a:t>
            </a:r>
          </a:p>
          <a:p>
            <a:pPr lvl="1"/>
            <a:r>
              <a:rPr lang="pt-BR" sz="2800" dirty="0"/>
              <a:t>Nesse caso, passa-se a execução para o catch (se utilizado), depois para o </a:t>
            </a:r>
            <a:r>
              <a:rPr lang="pt-BR" sz="2800" dirty="0" err="1"/>
              <a:t>finally</a:t>
            </a:r>
            <a:r>
              <a:rPr lang="pt-BR" sz="2800" dirty="0"/>
              <a:t> (se utilizado);</a:t>
            </a:r>
          </a:p>
          <a:p>
            <a:endParaRPr lang="pt-BR" sz="3200" dirty="0"/>
          </a:p>
        </p:txBody>
      </p:sp>
      <p:sp>
        <p:nvSpPr>
          <p:cNvPr id="4" name="Retângulo 3"/>
          <p:cNvSpPr/>
          <p:nvPr/>
        </p:nvSpPr>
        <p:spPr>
          <a:xfrm>
            <a:off x="4388294" y="3043718"/>
            <a:ext cx="749890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x =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"palavra"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pt-BR" sz="2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//sucesso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pt-BR" sz="2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//erro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119271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Retângulo 3"/>
          <p:cNvSpPr/>
          <p:nvPr/>
        </p:nvSpPr>
        <p:spPr>
          <a:xfrm>
            <a:off x="-39189" y="1724297"/>
            <a:ext cx="817734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erro =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(!erro)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erro =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pt-B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"Digite um número: 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entrada = </a:t>
            </a:r>
            <a:r>
              <a:rPr lang="pt-B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x =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(entrada);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pt-B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"ERRO."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erro =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}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finally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pt-BR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.Clear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050713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Capturando detalhes das exceções</a:t>
            </a:r>
          </a:p>
        </p:txBody>
      </p:sp>
      <p:sp>
        <p:nvSpPr>
          <p:cNvPr id="5" name="Retângulo 4"/>
          <p:cNvSpPr/>
          <p:nvPr/>
        </p:nvSpPr>
        <p:spPr>
          <a:xfrm>
            <a:off x="1984477" y="2297643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Exception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e.Message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514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Capturando mais de uma exceção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226979" y="2000353"/>
            <a:ext cx="795092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a, b;</a:t>
            </a:r>
          </a:p>
          <a:p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a =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b =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"Erro na entrada de dados!"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2529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Capturando mais de uma exceção</a:t>
            </a:r>
          </a:p>
        </p:txBody>
      </p:sp>
      <p:sp>
        <p:nvSpPr>
          <p:cNvPr id="4" name="Retângulo 3"/>
          <p:cNvSpPr/>
          <p:nvPr/>
        </p:nvSpPr>
        <p:spPr>
          <a:xfrm>
            <a:off x="796833" y="1937384"/>
            <a:ext cx="9431383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a, b;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a =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		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"Erro na primeira entrada!"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b =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		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"Erro na segunda entrada!"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760487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Capturando mais de uma exceção</a:t>
            </a:r>
          </a:p>
        </p:txBody>
      </p:sp>
      <p:sp>
        <p:nvSpPr>
          <p:cNvPr id="4" name="Retângulo 3"/>
          <p:cNvSpPr/>
          <p:nvPr/>
        </p:nvSpPr>
        <p:spPr>
          <a:xfrm>
            <a:off x="0" y="1913938"/>
            <a:ext cx="8046720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a, b = 0;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b =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		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"Erro na entrada!"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                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a = 1 / b;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		</a:t>
            </a:r>
            <a:r>
              <a:rPr lang="pt-BR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"Não pode dividir por zero!"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40600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Capturando mais de uma exceção</a:t>
            </a:r>
          </a:p>
        </p:txBody>
      </p:sp>
      <p:sp>
        <p:nvSpPr>
          <p:cNvPr id="4" name="Retângulo 3"/>
          <p:cNvSpPr/>
          <p:nvPr/>
        </p:nvSpPr>
        <p:spPr>
          <a:xfrm>
            <a:off x="-117565" y="1989804"/>
            <a:ext cx="820347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a, b = 0;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b =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a = 1 / b;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FormatException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		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"Erro na entrada!"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DivideByZeroException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"Não pode dividir por zero!"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3696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Disparo de exceções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3200" dirty="0"/>
              <a:t>Normalmente, nas bibliotecas que criamos, podemos disparar exceções para indicar erros na entrada/saída/processamento de dados;</a:t>
            </a:r>
          </a:p>
          <a:p>
            <a:r>
              <a:rPr lang="pt-BR" sz="3200" dirty="0"/>
              <a:t>Dessa forma, códigos que utilizam esses métodos deve utilizar </a:t>
            </a:r>
            <a:r>
              <a:rPr lang="pt-BR" sz="3200" dirty="0" err="1"/>
              <a:t>try</a:t>
            </a:r>
            <a:r>
              <a:rPr lang="pt-BR" sz="3200" dirty="0"/>
              <a:t>-catch-</a:t>
            </a:r>
            <a:r>
              <a:rPr lang="pt-BR" sz="3200" dirty="0" err="1"/>
              <a:t>finally</a:t>
            </a:r>
            <a:r>
              <a:rPr lang="pt-BR" sz="3200" dirty="0"/>
              <a:t> para tratar essas exceções;</a:t>
            </a:r>
          </a:p>
          <a:p>
            <a:r>
              <a:rPr lang="pt-BR" sz="3200" dirty="0"/>
              <a:t>Para disparar exceções:</a:t>
            </a:r>
          </a:p>
          <a:p>
            <a:r>
              <a:rPr lang="pt-BR" sz="3200" dirty="0">
                <a:latin typeface="Consolas" panose="020B0609020204030204" pitchFamily="49" charset="0"/>
              </a:rPr>
              <a:t>  </a:t>
            </a:r>
            <a:r>
              <a:rPr lang="pt-BR" sz="3200" dirty="0" err="1">
                <a:latin typeface="Consolas" panose="020B0609020204030204" pitchFamily="49" charset="0"/>
              </a:rPr>
              <a:t>throw</a:t>
            </a:r>
            <a:r>
              <a:rPr lang="pt-BR" sz="3200" dirty="0">
                <a:latin typeface="Consolas" panose="020B0609020204030204" pitchFamily="49" charset="0"/>
              </a:rPr>
              <a:t> new </a:t>
            </a:r>
            <a:r>
              <a:rPr lang="pt-BR" sz="3200" dirty="0" err="1">
                <a:latin typeface="Consolas" panose="020B0609020204030204" pitchFamily="49" charset="0"/>
              </a:rPr>
              <a:t>Exception</a:t>
            </a:r>
            <a:r>
              <a:rPr lang="pt-BR" sz="3200" dirty="0">
                <a:latin typeface="Consolas" panose="020B0609020204030204" pitchFamily="49" charset="0"/>
              </a:rPr>
              <a:t>();</a:t>
            </a:r>
          </a:p>
          <a:p>
            <a:pPr marL="0">
              <a:buNone/>
            </a:pPr>
            <a:r>
              <a:rPr lang="pt-BR" sz="3200" dirty="0">
                <a:latin typeface="Consolas" panose="020B0609020204030204" pitchFamily="49" charset="0"/>
              </a:rPr>
              <a:t>   </a:t>
            </a:r>
            <a:r>
              <a:rPr lang="pt-BR" sz="3200" dirty="0" err="1">
                <a:latin typeface="Consolas" panose="020B0609020204030204" pitchFamily="49" charset="0"/>
              </a:rPr>
              <a:t>throw</a:t>
            </a:r>
            <a:r>
              <a:rPr lang="pt-BR" sz="3200" dirty="0">
                <a:latin typeface="Consolas" panose="020B0609020204030204" pitchFamily="49" charset="0"/>
              </a:rPr>
              <a:t> new </a:t>
            </a:r>
            <a:r>
              <a:rPr lang="pt-BR" sz="3200" dirty="0" err="1">
                <a:latin typeface="Consolas" panose="020B0609020204030204" pitchFamily="49" charset="0"/>
              </a:rPr>
              <a:t>Exception</a:t>
            </a:r>
            <a:r>
              <a:rPr lang="pt-BR" sz="3200" dirty="0">
                <a:latin typeface="Consolas" panose="020B0609020204030204" pitchFamily="49" charset="0"/>
              </a:rPr>
              <a:t>(“Mensagem”);</a:t>
            </a:r>
          </a:p>
        </p:txBody>
      </p:sp>
    </p:spTree>
    <p:extLst>
      <p:ext uri="{BB962C8B-B14F-4D97-AF65-F5344CB8AC3E}">
        <p14:creationId xmlns:p14="http://schemas.microsoft.com/office/powerpoint/2010/main" val="3351138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227909" y="3318583"/>
            <a:ext cx="954894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Calculadora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SOMA(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a, 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b)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(a &gt;= 8 || b &gt;= 8)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throw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Exception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"Dados de entrada inválidos!"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 + b;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1227909" y="1894114"/>
            <a:ext cx="94183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Criar uma classe calculadora que possui um método estático SOMA que recebe números inteiros menores que 8 e retorna o resultado da soma entre eles.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1245297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Criação de exceções personalizadas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Criar classes que herdam de </a:t>
            </a:r>
            <a:r>
              <a:rPr lang="pt-BR" sz="2800" dirty="0" err="1"/>
              <a:t>Exception</a:t>
            </a:r>
            <a:r>
              <a:rPr lang="pt-BR" sz="2800" dirty="0"/>
              <a:t>.</a:t>
            </a:r>
          </a:p>
        </p:txBody>
      </p:sp>
      <p:sp>
        <p:nvSpPr>
          <p:cNvPr id="4" name="Retângulo 3"/>
          <p:cNvSpPr/>
          <p:nvPr/>
        </p:nvSpPr>
        <p:spPr>
          <a:xfrm>
            <a:off x="836024" y="4255200"/>
            <a:ext cx="103196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EntradaInvalidaException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Exception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EntradaInvalidaException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mensagem) :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(mensagem)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 }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836024" y="2526549"/>
            <a:ext cx="103196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EntradaInvalidaException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Exception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58061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2583" y="1845734"/>
            <a:ext cx="11055926" cy="4462702"/>
          </a:xfrm>
        </p:spPr>
        <p:txBody>
          <a:bodyPr>
            <a:normAutofit lnSpcReduction="10000"/>
          </a:bodyPr>
          <a:lstStyle/>
          <a:p>
            <a:r>
              <a:rPr lang="pt-BR" sz="3200" dirty="0"/>
              <a:t>Criar uma classe estática calculadora que possui quatro métodos: Somar, Subtrair, Multiplicar e Dividir, cada um recebendo 2 números inteiros não-negativos e retornando, respectivamente, a soma, subtração do primeiro pelo segundo, multiplicação e divisão do primeiro pelo segundo. Todos os métodos devem validar as entradas. Em seguida, criar um programa que pergunta ao usuário qual operação ele quer realizar, lê dois números inteiros e mostra o resultado da operação, ou uma mensagem caso algum erro aconteça. O programa deve validar se os números informados são realmente números ou não.</a:t>
            </a:r>
          </a:p>
        </p:txBody>
      </p:sp>
    </p:spTree>
    <p:extLst>
      <p:ext uri="{BB962C8B-B14F-4D97-AF65-F5344CB8AC3E}">
        <p14:creationId xmlns:p14="http://schemas.microsoft.com/office/powerpoint/2010/main" val="369920712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1269</TotalTime>
  <Words>1755</Words>
  <Application>Microsoft Office PowerPoint</Application>
  <PresentationFormat>Widescreen</PresentationFormat>
  <Paragraphs>334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Consolas</vt:lpstr>
      <vt:lpstr>Symbol</vt:lpstr>
      <vt:lpstr>Wingdings</vt:lpstr>
      <vt:lpstr>Retrospectiva</vt:lpstr>
      <vt:lpstr>Linguagem de Programação 2</vt:lpstr>
      <vt:lpstr>Enumerações</vt:lpstr>
      <vt:lpstr>Enumerações</vt:lpstr>
      <vt:lpstr>Enumerações</vt:lpstr>
      <vt:lpstr>Enumerações</vt:lpstr>
      <vt:lpstr>Enumerações</vt:lpstr>
      <vt:lpstr>Exemplo</vt:lpstr>
      <vt:lpstr>Classes parciais</vt:lpstr>
      <vt:lpstr>Classes parciais</vt:lpstr>
      <vt:lpstr>Tipos de dados anuláveis</vt:lpstr>
      <vt:lpstr>Tipos de dados anuláveis</vt:lpstr>
      <vt:lpstr>Tipos de dados anuláveis</vt:lpstr>
      <vt:lpstr>Tipos de dados anuláveis</vt:lpstr>
      <vt:lpstr>Tipos de dados anuláveis</vt:lpstr>
      <vt:lpstr>Tipos de dados anuláveis</vt:lpstr>
      <vt:lpstr>Exceções</vt:lpstr>
      <vt:lpstr>Exceções </vt:lpstr>
      <vt:lpstr>Tratamento de exceções </vt:lpstr>
      <vt:lpstr>Tratamento de exceções </vt:lpstr>
      <vt:lpstr>Tratamento de Exceções</vt:lpstr>
      <vt:lpstr>Tratamento de Exceções</vt:lpstr>
      <vt:lpstr>Tratamento de Exceções</vt:lpstr>
      <vt:lpstr>Exemplo</vt:lpstr>
      <vt:lpstr>Exemplo</vt:lpstr>
      <vt:lpstr>Exemplo</vt:lpstr>
      <vt:lpstr>Capturando detalhes das exceções</vt:lpstr>
      <vt:lpstr>Capturando mais de uma exceção</vt:lpstr>
      <vt:lpstr>Capturando mais de uma exceção</vt:lpstr>
      <vt:lpstr>Capturando mais de uma exceção</vt:lpstr>
      <vt:lpstr>Capturando mais de uma exceção</vt:lpstr>
      <vt:lpstr>Disparo de exceções</vt:lpstr>
      <vt:lpstr>Exemplo</vt:lpstr>
      <vt:lpstr>Criação de exceções personalizadas</vt:lpstr>
      <vt:lpstr>Exercício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Linguagem de Programação II</dc:title>
  <dc:creator>Windows User</dc:creator>
  <cp:lastModifiedBy>Tiago Docusse</cp:lastModifiedBy>
  <cp:revision>175</cp:revision>
  <dcterms:created xsi:type="dcterms:W3CDTF">2014-08-05T13:32:52Z</dcterms:created>
  <dcterms:modified xsi:type="dcterms:W3CDTF">2026-03-16T11:41:53Z</dcterms:modified>
</cp:coreProperties>
</file>