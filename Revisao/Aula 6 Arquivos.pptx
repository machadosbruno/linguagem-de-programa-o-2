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346" r:id="rId2"/>
    <p:sldId id="384" r:id="rId3"/>
    <p:sldId id="385" r:id="rId4"/>
    <p:sldId id="386" r:id="rId5"/>
    <p:sldId id="387" r:id="rId6"/>
    <p:sldId id="388" r:id="rId7"/>
    <p:sldId id="393" r:id="rId8"/>
    <p:sldId id="390" r:id="rId9"/>
    <p:sldId id="394" r:id="rId10"/>
    <p:sldId id="391" r:id="rId11"/>
    <p:sldId id="395" r:id="rId12"/>
    <p:sldId id="392" r:id="rId13"/>
    <p:sldId id="396" r:id="rId14"/>
    <p:sldId id="389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C881-C8CC-4E75-B01E-514F6CA39D9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1BDA-FDB6-4E72-8BC3-83A56295639A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733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C881-C8CC-4E75-B01E-514F6CA39D9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1BDA-FDB6-4E72-8BC3-83A5629563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8189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C881-C8CC-4E75-B01E-514F6CA39D9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1BDA-FDB6-4E72-8BC3-83A56295639A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591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C881-C8CC-4E75-B01E-514F6CA39D9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1BDA-FDB6-4E72-8BC3-83A5629563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2609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C881-C8CC-4E75-B01E-514F6CA39D9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1BDA-FDB6-4E72-8BC3-83A5629563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070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C881-C8CC-4E75-B01E-514F6CA39D9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1BDA-FDB6-4E72-8BC3-83A5629563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2328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C881-C8CC-4E75-B01E-514F6CA39D9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1BDA-FDB6-4E72-8BC3-83A5629563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244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80EC881-C8CC-4E75-B01E-514F6CA39D9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731BDA-FDB6-4E72-8BC3-83A5629563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7429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C881-C8CC-4E75-B01E-514F6CA39D9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1BDA-FDB6-4E72-8BC3-83A5629563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919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C881-C8CC-4E75-B01E-514F6CA39D9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1BDA-FDB6-4E72-8BC3-83A5629563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4996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C881-C8CC-4E75-B01E-514F6CA39D9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1BDA-FDB6-4E72-8BC3-83A5629563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233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80EC881-C8CC-4E75-B01E-514F6CA39D9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4731BDA-FDB6-4E72-8BC3-83A56295639A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599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884420"/>
            <a:ext cx="10058400" cy="3440692"/>
          </a:xfrm>
        </p:spPr>
        <p:txBody>
          <a:bodyPr>
            <a:normAutofit/>
          </a:bodyPr>
          <a:lstStyle/>
          <a:p>
            <a:pPr algn="ctr"/>
            <a:r>
              <a:rPr lang="pt-BR" sz="6600" dirty="0"/>
              <a:t>Linguagem de Programação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pt-BR" dirty="0"/>
              <a:t>Tecnologia em Análise e Desenvolvimento de Sistemas</a:t>
            </a:r>
          </a:p>
          <a:p>
            <a:endParaRPr lang="pt-BR" sz="1800" cap="none" dirty="0"/>
          </a:p>
          <a:p>
            <a:pPr algn="ctr"/>
            <a:r>
              <a:rPr lang="pt-BR" sz="1800" cap="none" dirty="0"/>
              <a:t>Tiago Alexandre </a:t>
            </a:r>
            <a:r>
              <a:rPr lang="pt-BR" sz="1800" cap="none" dirty="0" err="1"/>
              <a:t>Dócusse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1905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Arquivos são utilizados para o armazenamento de informações permanentes no HD ou em dispositivos USB;</a:t>
            </a:r>
          </a:p>
          <a:p>
            <a:endParaRPr lang="pt-BR" sz="3200" dirty="0"/>
          </a:p>
          <a:p>
            <a:r>
              <a:rPr lang="pt-BR" sz="3200" dirty="0"/>
              <a:t>Dois tipos de acessos básicos:</a:t>
            </a:r>
          </a:p>
          <a:p>
            <a:pPr lvl="1"/>
            <a:r>
              <a:rPr lang="pt-BR" sz="2800" dirty="0"/>
              <a:t>Modo texto;</a:t>
            </a:r>
          </a:p>
          <a:p>
            <a:pPr lvl="1"/>
            <a:r>
              <a:rPr lang="pt-BR" sz="2800" dirty="0"/>
              <a:t>Modo binário.</a:t>
            </a:r>
          </a:p>
        </p:txBody>
      </p:sp>
    </p:spTree>
    <p:extLst>
      <p:ext uri="{BB962C8B-B14F-4D97-AF65-F5344CB8AC3E}">
        <p14:creationId xmlns:p14="http://schemas.microsoft.com/office/powerpoint/2010/main" val="3273492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Arquivos – Modo Texto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Utilizado para armazenamento de informações descritas como </a:t>
            </a:r>
            <a:r>
              <a:rPr lang="pt-BR" sz="3200" i="1" dirty="0" err="1"/>
              <a:t>string</a:t>
            </a:r>
            <a:r>
              <a:rPr lang="pt-BR" sz="3200" dirty="0"/>
              <a:t>;</a:t>
            </a:r>
            <a:endParaRPr lang="pt-BR" sz="3200" i="1" dirty="0"/>
          </a:p>
          <a:p>
            <a:r>
              <a:rPr lang="pt-BR" sz="3200" dirty="0"/>
              <a:t>Para leitura, utiliza-se um objeto do tipo </a:t>
            </a:r>
            <a:r>
              <a:rPr lang="pt-BR" sz="3200" dirty="0" err="1"/>
              <a:t>StreamReader</a:t>
            </a:r>
            <a:r>
              <a:rPr lang="pt-BR" sz="3200" dirty="0"/>
              <a:t>;</a:t>
            </a:r>
          </a:p>
          <a:p>
            <a:r>
              <a:rPr lang="pt-BR" sz="3200" dirty="0"/>
              <a:t>Para escrita, utiliza-se um objeto do tipo </a:t>
            </a:r>
            <a:r>
              <a:rPr lang="pt-BR" sz="3200" dirty="0" err="1"/>
              <a:t>StreamWriter</a:t>
            </a:r>
            <a:r>
              <a:rPr lang="pt-BR" sz="3200" dirty="0"/>
              <a:t>;</a:t>
            </a:r>
          </a:p>
          <a:p>
            <a:endParaRPr lang="pt-BR" sz="2800" i="1" dirty="0"/>
          </a:p>
        </p:txBody>
      </p:sp>
    </p:spTree>
    <p:extLst>
      <p:ext uri="{BB962C8B-B14F-4D97-AF65-F5344CB8AC3E}">
        <p14:creationId xmlns:p14="http://schemas.microsoft.com/office/powerpoint/2010/main" val="2360973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- Escrita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3735976"/>
            <a:ext cx="10058400" cy="2133117"/>
          </a:xfrm>
        </p:spPr>
        <p:txBody>
          <a:bodyPr>
            <a:normAutofit/>
          </a:bodyPr>
          <a:lstStyle/>
          <a:p>
            <a:endParaRPr lang="pt-BR" sz="3200" dirty="0"/>
          </a:p>
          <a:p>
            <a:r>
              <a:rPr lang="pt-BR" sz="3200" dirty="0" err="1"/>
              <a:t>WriteLine</a:t>
            </a:r>
            <a:r>
              <a:rPr lang="pt-BR" sz="3200" dirty="0"/>
              <a:t>: escreve o parâmetro no arquivo;</a:t>
            </a:r>
          </a:p>
          <a:p>
            <a:r>
              <a:rPr lang="pt-BR" sz="3200" dirty="0"/>
              <a:t>Close: fecha o arquivo.</a:t>
            </a:r>
          </a:p>
        </p:txBody>
      </p:sp>
      <p:sp>
        <p:nvSpPr>
          <p:cNvPr id="5" name="Retângulo 4"/>
          <p:cNvSpPr/>
          <p:nvPr/>
        </p:nvSpPr>
        <p:spPr>
          <a:xfrm>
            <a:off x="1036320" y="1741231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StreamWriter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StreamWriter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"dados.txt"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sw.WriteLine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"www.ifsp.edu.br"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sw.WriteLine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"Instituto Federal de São Paulo"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sw.WriteLine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80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sw.Close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507009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- Leitura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4454434"/>
            <a:ext cx="10058400" cy="1414660"/>
          </a:xfrm>
        </p:spPr>
        <p:txBody>
          <a:bodyPr>
            <a:normAutofit/>
          </a:bodyPr>
          <a:lstStyle/>
          <a:p>
            <a:r>
              <a:rPr lang="pt-BR" sz="3200" dirty="0" err="1"/>
              <a:t>ReadLine</a:t>
            </a:r>
            <a:r>
              <a:rPr lang="pt-BR" sz="3200" dirty="0"/>
              <a:t>: lê do arquivo;</a:t>
            </a:r>
          </a:p>
          <a:p>
            <a:r>
              <a:rPr lang="pt-BR" sz="3200" dirty="0"/>
              <a:t>Close: fecha o arquivo.</a:t>
            </a:r>
          </a:p>
        </p:txBody>
      </p:sp>
      <p:sp>
        <p:nvSpPr>
          <p:cNvPr id="4" name="Retângulo 3"/>
          <p:cNvSpPr/>
          <p:nvPr/>
        </p:nvSpPr>
        <p:spPr>
          <a:xfrm>
            <a:off x="1181331" y="1941735"/>
            <a:ext cx="987459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StreamReader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StreamReader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"dados.txt"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endereco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sr.ReadLine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nome = 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sr.ReadLine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porta =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.Parse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sr.ReadLine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</a:p>
          <a:p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sr.Close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811609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úteis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2800" dirty="0" err="1"/>
              <a:t>File.Exists</a:t>
            </a:r>
            <a:r>
              <a:rPr lang="pt-BR" sz="2800" dirty="0"/>
              <a:t> – retorna se o arquivo especificado existe;</a:t>
            </a:r>
          </a:p>
          <a:p>
            <a:r>
              <a:rPr lang="pt-BR" sz="2800" dirty="0" err="1"/>
              <a:t>File.Delete</a:t>
            </a:r>
            <a:r>
              <a:rPr lang="pt-BR" sz="2800" dirty="0"/>
              <a:t> – apaga o arquivo especificado;</a:t>
            </a:r>
          </a:p>
          <a:p>
            <a:r>
              <a:rPr lang="pt-BR" sz="2800" dirty="0" err="1"/>
              <a:t>File.ReadAllText</a:t>
            </a:r>
            <a:r>
              <a:rPr lang="pt-BR" sz="2800" dirty="0"/>
              <a:t> – lê todas as linhas de um arquivo para uma </a:t>
            </a:r>
            <a:r>
              <a:rPr lang="pt-BR" sz="2800" dirty="0" err="1"/>
              <a:t>string</a:t>
            </a:r>
            <a:r>
              <a:rPr lang="pt-BR" sz="2800" dirty="0"/>
              <a:t>;</a:t>
            </a:r>
          </a:p>
          <a:p>
            <a:r>
              <a:rPr lang="pt-BR" sz="2800" dirty="0" err="1"/>
              <a:t>File.ReadAllLines</a:t>
            </a:r>
            <a:r>
              <a:rPr lang="pt-BR" sz="2800" dirty="0"/>
              <a:t> – lê todas as linhas de um arquivo para um vetor de </a:t>
            </a:r>
            <a:r>
              <a:rPr lang="pt-BR" sz="2800" dirty="0" err="1"/>
              <a:t>string</a:t>
            </a:r>
            <a:r>
              <a:rPr lang="pt-BR" sz="2800" dirty="0"/>
              <a:t>;</a:t>
            </a:r>
          </a:p>
          <a:p>
            <a:r>
              <a:rPr lang="pt-BR" sz="2800" dirty="0" err="1"/>
              <a:t>File.WriteAllText</a:t>
            </a:r>
            <a:r>
              <a:rPr lang="pt-BR" sz="2800" dirty="0"/>
              <a:t> – escreve o conteúdo de uma </a:t>
            </a:r>
            <a:r>
              <a:rPr lang="pt-BR" sz="2800" dirty="0" err="1"/>
              <a:t>string</a:t>
            </a:r>
            <a:r>
              <a:rPr lang="pt-BR" sz="2800" dirty="0"/>
              <a:t> em um arquivo;</a:t>
            </a:r>
          </a:p>
          <a:p>
            <a:r>
              <a:rPr lang="pt-BR" sz="2800" dirty="0" err="1"/>
              <a:t>File.WriteAllLines</a:t>
            </a:r>
            <a:r>
              <a:rPr lang="pt-BR" sz="2800" dirty="0"/>
              <a:t> – escreve o conteúdo de um vetor de </a:t>
            </a:r>
            <a:r>
              <a:rPr lang="pt-BR" sz="2800" dirty="0" err="1"/>
              <a:t>string</a:t>
            </a:r>
            <a:r>
              <a:rPr lang="pt-BR" sz="2800" dirty="0"/>
              <a:t> em um arquivo.</a:t>
            </a:r>
          </a:p>
        </p:txBody>
      </p:sp>
    </p:spTree>
    <p:extLst>
      <p:ext uri="{BB962C8B-B14F-4D97-AF65-F5344CB8AC3E}">
        <p14:creationId xmlns:p14="http://schemas.microsoft.com/office/powerpoint/2010/main" val="2410897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úteis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 err="1"/>
              <a:t>Directory.CreateDirectory</a:t>
            </a:r>
            <a:r>
              <a:rPr lang="pt-BR" sz="3200" dirty="0"/>
              <a:t> – cria uma pasta;</a:t>
            </a:r>
          </a:p>
          <a:p>
            <a:r>
              <a:rPr lang="pt-BR" sz="3200" dirty="0" err="1"/>
              <a:t>Directory.Exists</a:t>
            </a:r>
            <a:r>
              <a:rPr lang="pt-BR" sz="3200" dirty="0"/>
              <a:t> – verifica se uma pasta existe;</a:t>
            </a:r>
          </a:p>
          <a:p>
            <a:r>
              <a:rPr lang="pt-BR" sz="3200" dirty="0" err="1"/>
              <a:t>Directory.Delete</a:t>
            </a:r>
            <a:r>
              <a:rPr lang="pt-BR" sz="3200" dirty="0"/>
              <a:t> – apaga uma pasta;</a:t>
            </a:r>
          </a:p>
          <a:p>
            <a:r>
              <a:rPr lang="pt-BR" sz="3200" dirty="0" err="1"/>
              <a:t>Directory.GetFiles</a:t>
            </a:r>
            <a:r>
              <a:rPr lang="pt-BR" sz="3200" dirty="0"/>
              <a:t> – retorna um vetor de </a:t>
            </a:r>
            <a:r>
              <a:rPr lang="pt-BR" sz="3200" dirty="0" err="1"/>
              <a:t>string</a:t>
            </a:r>
            <a:r>
              <a:rPr lang="pt-BR" sz="3200" dirty="0"/>
              <a:t> contendo o nome de todos os arquivos dentro de uma pasta.</a:t>
            </a:r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393324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Arquivos – Modo binário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Utilizado quando deseja-se armazenar informações utilizando seus </a:t>
            </a:r>
            <a:r>
              <a:rPr lang="pt-BR" sz="2800" i="1" dirty="0"/>
              <a:t>bytes</a:t>
            </a:r>
            <a:r>
              <a:rPr lang="pt-BR" sz="2800" dirty="0"/>
              <a:t>, sem transformá-las para </a:t>
            </a:r>
            <a:r>
              <a:rPr lang="pt-BR" sz="2800" i="1" dirty="0" err="1"/>
              <a:t>string</a:t>
            </a:r>
            <a:r>
              <a:rPr lang="pt-BR" sz="2800" dirty="0"/>
              <a:t>.</a:t>
            </a:r>
          </a:p>
          <a:p>
            <a:r>
              <a:rPr lang="pt-BR" sz="2800" dirty="0"/>
              <a:t>Para abrir um arquivo neste modo, informe o caminho no primeiro parâmetro:</a:t>
            </a:r>
          </a:p>
          <a:p>
            <a:endParaRPr lang="pt-BR" sz="2800" dirty="0"/>
          </a:p>
          <a:p>
            <a:endParaRPr lang="pt-BR" sz="2800" dirty="0"/>
          </a:p>
        </p:txBody>
      </p:sp>
      <p:sp>
        <p:nvSpPr>
          <p:cNvPr id="4" name="Retângulo 3"/>
          <p:cNvSpPr/>
          <p:nvPr/>
        </p:nvSpPr>
        <p:spPr>
          <a:xfrm>
            <a:off x="1097280" y="3441915"/>
            <a:ext cx="102819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FileStream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FileStream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"path"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FileMode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.Create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229233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Arquivos – Modo binário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O segundo parâmetro é um </a:t>
            </a:r>
            <a:r>
              <a:rPr lang="pt-BR" sz="3200" dirty="0" err="1"/>
              <a:t>enum</a:t>
            </a:r>
            <a:r>
              <a:rPr lang="pt-BR" sz="3200" dirty="0"/>
              <a:t> do tipo </a:t>
            </a:r>
            <a:r>
              <a:rPr lang="pt-BR" sz="3200" dirty="0" err="1"/>
              <a:t>FileMode</a:t>
            </a:r>
            <a:r>
              <a:rPr lang="pt-BR" sz="3200" dirty="0"/>
              <a:t>, podendo ser:</a:t>
            </a:r>
          </a:p>
          <a:p>
            <a:pPr lvl="1"/>
            <a:r>
              <a:rPr lang="pt-BR" sz="2800" dirty="0" err="1"/>
              <a:t>Append</a:t>
            </a:r>
            <a:r>
              <a:rPr lang="pt-BR" sz="2800" dirty="0"/>
              <a:t> : adicionar dados ao fim do arquivo;</a:t>
            </a:r>
          </a:p>
          <a:p>
            <a:pPr lvl="1"/>
            <a:r>
              <a:rPr lang="pt-BR" sz="2800" dirty="0" err="1"/>
              <a:t>Create</a:t>
            </a:r>
            <a:r>
              <a:rPr lang="pt-BR" sz="2800" dirty="0"/>
              <a:t> : cria um novo arquivo (sobrescreve se já existe);</a:t>
            </a:r>
          </a:p>
          <a:p>
            <a:pPr lvl="1"/>
            <a:r>
              <a:rPr lang="pt-BR" sz="2800" dirty="0" err="1"/>
              <a:t>CreateNew</a:t>
            </a:r>
            <a:r>
              <a:rPr lang="pt-BR" sz="2800" dirty="0"/>
              <a:t> : cria um novo arquivo (dispara exceção se já existe);</a:t>
            </a:r>
          </a:p>
          <a:p>
            <a:pPr lvl="1"/>
            <a:r>
              <a:rPr lang="pt-BR" sz="2800" dirty="0"/>
              <a:t>Open : abre (dispara exceção se não existe);</a:t>
            </a:r>
          </a:p>
          <a:p>
            <a:pPr lvl="1"/>
            <a:r>
              <a:rPr lang="pt-BR" sz="2800" dirty="0" err="1"/>
              <a:t>OpenOrCreate</a:t>
            </a:r>
            <a:r>
              <a:rPr lang="pt-BR" sz="2800" dirty="0"/>
              <a:t> : abre (cria se não existe);</a:t>
            </a:r>
          </a:p>
          <a:p>
            <a:pPr lvl="1"/>
            <a:r>
              <a:rPr lang="pt-BR" sz="2800" dirty="0" err="1"/>
              <a:t>Truncate</a:t>
            </a:r>
            <a:r>
              <a:rPr lang="pt-BR" sz="2800" dirty="0"/>
              <a:t> : zera o arquivo (dispara exceção se tentar ler).</a:t>
            </a:r>
          </a:p>
        </p:txBody>
      </p:sp>
    </p:spTree>
    <p:extLst>
      <p:ext uri="{BB962C8B-B14F-4D97-AF65-F5344CB8AC3E}">
        <p14:creationId xmlns:p14="http://schemas.microsoft.com/office/powerpoint/2010/main" val="1538672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Arquivos – Modo binário - Escrita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939637"/>
            <a:ext cx="10058400" cy="4021820"/>
          </a:xfrm>
        </p:spPr>
        <p:txBody>
          <a:bodyPr>
            <a:normAutofit/>
          </a:bodyPr>
          <a:lstStyle/>
          <a:p>
            <a:r>
              <a:rPr lang="pt-BR" sz="3200" dirty="0" err="1"/>
              <a:t>WriteByte</a:t>
            </a:r>
            <a:r>
              <a:rPr lang="pt-BR" sz="3200" dirty="0"/>
              <a:t> : armazena um </a:t>
            </a:r>
            <a:r>
              <a:rPr lang="pt-BR" sz="3200" i="1" dirty="0"/>
              <a:t>byte </a:t>
            </a:r>
            <a:r>
              <a:rPr lang="pt-BR" sz="3200" dirty="0"/>
              <a:t>no arquivo;</a:t>
            </a:r>
          </a:p>
          <a:p>
            <a:pPr marL="0" indent="0">
              <a:buNone/>
            </a:pPr>
            <a:endParaRPr lang="pt-BR" sz="3200" dirty="0"/>
          </a:p>
        </p:txBody>
      </p:sp>
      <p:sp>
        <p:nvSpPr>
          <p:cNvPr id="6" name="Retângulo 5"/>
          <p:cNvSpPr/>
          <p:nvPr/>
        </p:nvSpPr>
        <p:spPr>
          <a:xfrm>
            <a:off x="1097280" y="2529225"/>
            <a:ext cx="1048861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FileStream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fs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FileStream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"file.dat"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FileMode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.Create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byte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 = 2;</a:t>
            </a:r>
          </a:p>
          <a:p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fs.WriteByte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(b);</a:t>
            </a:r>
          </a:p>
          <a:p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fs.Close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300634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Arquivos – Modo binário - Escrita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Write : armazena um vetor de </a:t>
            </a:r>
            <a:r>
              <a:rPr lang="pt-BR" sz="3200" i="1" dirty="0"/>
              <a:t>bytes </a:t>
            </a:r>
            <a:r>
              <a:rPr lang="pt-BR" sz="3200" dirty="0"/>
              <a:t>no arquivo (0 – </a:t>
            </a:r>
            <a:r>
              <a:rPr lang="pt-BR" sz="3200" i="1" dirty="0"/>
              <a:t>offset</a:t>
            </a:r>
            <a:r>
              <a:rPr lang="pt-BR" sz="3200" dirty="0"/>
              <a:t> , 3 – quantidade de </a:t>
            </a:r>
            <a:r>
              <a:rPr lang="pt-BR" sz="3200" i="1" dirty="0"/>
              <a:t>bytes</a:t>
            </a:r>
            <a:r>
              <a:rPr lang="pt-BR" sz="3200" dirty="0"/>
              <a:t> a ser escrita).</a:t>
            </a:r>
          </a:p>
        </p:txBody>
      </p:sp>
      <p:sp>
        <p:nvSpPr>
          <p:cNvPr id="5" name="Retângulo 4"/>
          <p:cNvSpPr/>
          <p:nvPr/>
        </p:nvSpPr>
        <p:spPr>
          <a:xfrm>
            <a:off x="1036320" y="2962411"/>
            <a:ext cx="1076386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FileStream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fs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FileStream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"file.dat"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FileMode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.Create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byte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b =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byte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{ 1, 2, 3 };</a:t>
            </a:r>
          </a:p>
          <a:p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fs.Write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(b, 0, 3);</a:t>
            </a:r>
          </a:p>
          <a:p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fs.Close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534927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Arquivos – Modo binário - Leitura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 err="1"/>
              <a:t>ReadByte</a:t>
            </a:r>
            <a:r>
              <a:rPr lang="pt-BR" sz="3200" dirty="0"/>
              <a:t>: lê um </a:t>
            </a:r>
            <a:r>
              <a:rPr lang="pt-BR" sz="3200" i="1" dirty="0"/>
              <a:t>byte</a:t>
            </a:r>
            <a:r>
              <a:rPr lang="pt-BR" sz="3200" dirty="0"/>
              <a:t> do arquivo;</a:t>
            </a:r>
          </a:p>
        </p:txBody>
      </p:sp>
      <p:sp>
        <p:nvSpPr>
          <p:cNvPr id="4" name="Retângulo 3"/>
          <p:cNvSpPr/>
          <p:nvPr/>
        </p:nvSpPr>
        <p:spPr>
          <a:xfrm>
            <a:off x="1097280" y="2513214"/>
            <a:ext cx="104389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FileStream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fs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FileStream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"file.dat"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FileMode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.Open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 = 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fs.ReadByte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fs.Close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305232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Arquivos – Modo binário - Leitura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 err="1"/>
              <a:t>Read</a:t>
            </a:r>
            <a:r>
              <a:rPr lang="pt-BR" sz="3200" dirty="0"/>
              <a:t>: lê para um vetor de byte (0 – </a:t>
            </a:r>
            <a:r>
              <a:rPr lang="pt-BR" sz="3200" i="1" dirty="0"/>
              <a:t>offset</a:t>
            </a:r>
            <a:r>
              <a:rPr lang="pt-BR" sz="3200" dirty="0"/>
              <a:t>, 3 – quantidade de </a:t>
            </a:r>
            <a:r>
              <a:rPr lang="pt-BR" sz="3200" i="1" dirty="0"/>
              <a:t>bytes </a:t>
            </a:r>
            <a:r>
              <a:rPr lang="pt-BR" sz="3200" dirty="0"/>
              <a:t>a ser lida).</a:t>
            </a:r>
          </a:p>
        </p:txBody>
      </p:sp>
      <p:sp>
        <p:nvSpPr>
          <p:cNvPr id="5" name="Retângulo 4"/>
          <p:cNvSpPr/>
          <p:nvPr/>
        </p:nvSpPr>
        <p:spPr>
          <a:xfrm>
            <a:off x="1097281" y="2924541"/>
            <a:ext cx="100583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FileStream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FileStream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"file.dat"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FileMode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.Open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byte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b =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byte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[3];</a:t>
            </a:r>
          </a:p>
          <a:p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fs.Read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(b, 0, 3);</a:t>
            </a:r>
          </a:p>
          <a:p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fs.Close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332549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b="0" i="0" dirty="0">
                <a:solidFill>
                  <a:srgbClr val="001A1E"/>
                </a:solidFill>
                <a:effectLst/>
                <a:latin typeface="-apple-system"/>
              </a:rPr>
              <a:t>Criar um programa que leia os valores de livros (ISBN, Título, Autor e ano de publicação) e armazene esses valores de forma permanente. Ao iniciar o programa, exibir um menu ao usuário, permitindo a ele consultar os livros cadastrados, adicionar novos livros, atualizar os dados de um livro já cadastrado e remover um livro cadastrado.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113657714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1229</TotalTime>
  <Words>735</Words>
  <Application>Microsoft Office PowerPoint</Application>
  <PresentationFormat>Widescreen</PresentationFormat>
  <Paragraphs>81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-apple-system</vt:lpstr>
      <vt:lpstr>Calibri</vt:lpstr>
      <vt:lpstr>Calibri Light</vt:lpstr>
      <vt:lpstr>Consolas</vt:lpstr>
      <vt:lpstr>Retrospectiva</vt:lpstr>
      <vt:lpstr>Linguagem de Programação 2</vt:lpstr>
      <vt:lpstr>Arquivos</vt:lpstr>
      <vt:lpstr>Arquivos – Modo Texto</vt:lpstr>
      <vt:lpstr>Exemplo - Escrita</vt:lpstr>
      <vt:lpstr>Exemplo - Leitura</vt:lpstr>
      <vt:lpstr>Métodos úteis</vt:lpstr>
      <vt:lpstr>Métodos úteis</vt:lpstr>
      <vt:lpstr>Arquivos – Modo binário</vt:lpstr>
      <vt:lpstr>Arquivos – Modo binário</vt:lpstr>
      <vt:lpstr>Arquivos – Modo binário - Escrita</vt:lpstr>
      <vt:lpstr>Arquivos – Modo binário - Escrita</vt:lpstr>
      <vt:lpstr>Arquivos – Modo binário - Leitura</vt:lpstr>
      <vt:lpstr>Arquivos – Modo binário - Leitura</vt:lpstr>
      <vt:lpstr>Exercício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Linguagem de Programação II</dc:title>
  <dc:creator>Windows User</dc:creator>
  <cp:lastModifiedBy>Tiago Docusse</cp:lastModifiedBy>
  <cp:revision>172</cp:revision>
  <dcterms:created xsi:type="dcterms:W3CDTF">2014-08-05T13:32:52Z</dcterms:created>
  <dcterms:modified xsi:type="dcterms:W3CDTF">2026-03-24T01:25:24Z</dcterms:modified>
</cp:coreProperties>
</file>