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306" r:id="rId6"/>
    <p:sldId id="307" r:id="rId7"/>
    <p:sldId id="308" r:id="rId8"/>
    <p:sldId id="262" r:id="rId9"/>
    <p:sldId id="263" r:id="rId10"/>
    <p:sldId id="267" r:id="rId11"/>
    <p:sldId id="268" r:id="rId12"/>
    <p:sldId id="269" r:id="rId13"/>
    <p:sldId id="313" r:id="rId14"/>
    <p:sldId id="270" r:id="rId15"/>
    <p:sldId id="314" r:id="rId16"/>
    <p:sldId id="271" r:id="rId17"/>
    <p:sldId id="272" r:id="rId18"/>
    <p:sldId id="274" r:id="rId19"/>
    <p:sldId id="275" r:id="rId20"/>
    <p:sldId id="315" r:id="rId21"/>
    <p:sldId id="276" r:id="rId22"/>
    <p:sldId id="309" r:id="rId23"/>
    <p:sldId id="310" r:id="rId24"/>
    <p:sldId id="277" r:id="rId25"/>
    <p:sldId id="279" r:id="rId26"/>
    <p:sldId id="280" r:id="rId27"/>
    <p:sldId id="281" r:id="rId28"/>
    <p:sldId id="316" r:id="rId29"/>
    <p:sldId id="282" r:id="rId30"/>
    <p:sldId id="283" r:id="rId31"/>
    <p:sldId id="284" r:id="rId32"/>
    <p:sldId id="285" r:id="rId33"/>
    <p:sldId id="311" r:id="rId34"/>
    <p:sldId id="287" r:id="rId35"/>
    <p:sldId id="288" r:id="rId36"/>
    <p:sldId id="289" r:id="rId37"/>
    <p:sldId id="290" r:id="rId38"/>
    <p:sldId id="317" r:id="rId39"/>
    <p:sldId id="291" r:id="rId40"/>
    <p:sldId id="293" r:id="rId41"/>
    <p:sldId id="318" r:id="rId42"/>
    <p:sldId id="295" r:id="rId43"/>
    <p:sldId id="319" r:id="rId44"/>
    <p:sldId id="297" r:id="rId45"/>
    <p:sldId id="320" r:id="rId46"/>
    <p:sldId id="298" r:id="rId47"/>
    <p:sldId id="321" r:id="rId48"/>
    <p:sldId id="299" r:id="rId49"/>
    <p:sldId id="300" r:id="rId50"/>
    <p:sldId id="301" r:id="rId51"/>
    <p:sldId id="322" r:id="rId52"/>
    <p:sldId id="302" r:id="rId53"/>
    <p:sldId id="323" r:id="rId54"/>
    <p:sldId id="303" r:id="rId55"/>
    <p:sldId id="324" r:id="rId56"/>
    <p:sldId id="304" r:id="rId57"/>
    <p:sldId id="312" r:id="rId5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069CB8-F204-4D06-B913-C5A26A89888A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BB376-B19C-488D-ABEB-03C7E6E9E3E0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9637A9-119A-49DA-BD12-AAC58B377D80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6F077B-A50F-4D64-8574-E2D6A98A5553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E2A62-1983-43A1-A163-D8AA46534C80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8F3E3B-34E3-4345-B2A1-994B83598A9C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816C96-82A1-4D77-8ADA-627AC6FE3D65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02C1E-28F2-47E9-802D-339E64E2F920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24271A48-F18A-45B3-BC05-1E27DA3F88AF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747F8-9654-4282-85D2-65F41AAE7A75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6E300-0A13-4A81-945A-7333C271A069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671962-1EA4-46E7-BCB0-F36CE46D1A59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DC5B261-8843-42D1-AAFC-05E20E2D9B97}" type="datetimeFigureOut">
              <a:rPr lang="en-US" dirty="0"/>
              <a:t>2/23/2026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‹nº›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6600" dirty="0"/>
              <a:t>Linguagem de Programação 2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pt-BR" dirty="0"/>
              <a:t>Tecnologia em Análise e Desenvolvimento de Sistemas</a:t>
            </a:r>
          </a:p>
          <a:p>
            <a:endParaRPr lang="pt-BR" sz="1800" cap="none" dirty="0"/>
          </a:p>
          <a:p>
            <a:pPr algn="ctr"/>
            <a:r>
              <a:rPr lang="pt-BR" sz="1800" cap="none" dirty="0"/>
              <a:t>Tiago Alexandre </a:t>
            </a:r>
            <a:r>
              <a:rPr lang="pt-BR" sz="1800" cap="none" dirty="0" err="1"/>
              <a:t>Dócusse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4665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Classes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Armazenam informações e ações sobre um conjunto de entidades modelado.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Informações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Atributos;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Ações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Métodos;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Em C#, também é possível utilizar propriedades para trabalhar com atributos/métodos.</a:t>
            </a:r>
          </a:p>
        </p:txBody>
      </p:sp>
    </p:spTree>
    <p:extLst>
      <p:ext uri="{BB962C8B-B14F-4D97-AF65-F5344CB8AC3E}">
        <p14:creationId xmlns:p14="http://schemas.microsoft.com/office/powerpoint/2010/main" val="1731121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Declaração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2924810"/>
            <a:ext cx="10058400" cy="2232042"/>
          </a:xfrm>
        </p:spPr>
        <p:txBody>
          <a:bodyPr>
            <a:normAutofit/>
          </a:bodyPr>
          <a:lstStyle/>
          <a:p>
            <a:r>
              <a:rPr lang="pt-BR" sz="2800" dirty="0"/>
              <a:t>Atributos e métodos pertencentes à classe devem ser declarados dentro do seu escopo:</a:t>
            </a:r>
          </a:p>
          <a:p>
            <a:endParaRPr lang="pt-BR" sz="2800" dirty="0"/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1097280" y="1737360"/>
            <a:ext cx="4572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MinhaClasse</a:t>
            </a:r>
            <a:endParaRPr lang="en-US" sz="2400" dirty="0">
              <a:solidFill>
                <a:srgbClr val="2B91AF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{        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}</a:t>
            </a: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097280" y="3680284"/>
            <a:ext cx="4572000" cy="173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Usuário</a:t>
            </a:r>
            <a:endParaRPr lang="en-US" sz="2400" dirty="0">
              <a:solidFill>
                <a:srgbClr val="2B91AF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	</a:t>
            </a:r>
            <a:r>
              <a:rPr lang="en-US" sz="2400" dirty="0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nome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	String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senha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	</a:t>
            </a:r>
            <a:r>
              <a:rPr lang="en-US" sz="2400" dirty="0" err="1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prioridade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	void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Exibir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() { }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87253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Declaração</a:t>
            </a:r>
          </a:p>
        </p:txBody>
      </p:sp>
      <p:sp>
        <p:nvSpPr>
          <p:cNvPr id="5" name="Retângulo 4"/>
          <p:cNvSpPr/>
          <p:nvPr/>
        </p:nvSpPr>
        <p:spPr>
          <a:xfrm>
            <a:off x="5757918" y="810226"/>
            <a:ext cx="4294496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  <a:endParaRPr lang="pt-BR" sz="2400" dirty="0">
              <a:solidFill>
                <a:srgbClr val="0000FF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Login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true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bool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Logoff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false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pic>
        <p:nvPicPr>
          <p:cNvPr id="8" name="Imagem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9285" y="2461913"/>
            <a:ext cx="2338172" cy="2187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1744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Pacotes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São estruturas lógicas de agrupamento de classes (e outros componentes) de linguagens orientadas a objetos;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Em C# : </a:t>
            </a:r>
            <a:r>
              <a:rPr lang="pt-BR" sz="3200" dirty="0" err="1"/>
              <a:t>namespace</a:t>
            </a:r>
            <a:r>
              <a:rPr lang="pt-BR" sz="32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Cada projeto faz parte de um </a:t>
            </a:r>
            <a:r>
              <a:rPr lang="pt-BR" sz="3200" dirty="0" err="1"/>
              <a:t>namespace</a:t>
            </a:r>
            <a:r>
              <a:rPr lang="pt-BR" sz="3200" dirty="0"/>
              <a:t> (pode ter mais de um </a:t>
            </a:r>
            <a:r>
              <a:rPr lang="pt-BR" sz="3200" dirty="0" err="1"/>
              <a:t>namespace</a:t>
            </a:r>
            <a:r>
              <a:rPr lang="pt-BR" sz="3200" dirty="0"/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Devemos importar os </a:t>
            </a:r>
            <a:r>
              <a:rPr lang="pt-BR" sz="3200" dirty="0" err="1"/>
              <a:t>namespaces</a:t>
            </a:r>
            <a:r>
              <a:rPr lang="pt-BR" sz="3200" dirty="0"/>
              <a:t> de classes que não fazem parte do </a:t>
            </a:r>
            <a:r>
              <a:rPr lang="pt-BR" sz="3200" dirty="0" err="1"/>
              <a:t>namespace</a:t>
            </a:r>
            <a:r>
              <a:rPr lang="pt-BR" sz="3200" dirty="0"/>
              <a:t> do projeto atual.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939287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Pacotes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68400" y="1737360"/>
            <a:ext cx="9987280" cy="393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System;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System.Collections.Generic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System.Linq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using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System.Text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endParaRPr lang="en-US" sz="2000" dirty="0">
              <a:solidFill>
                <a:srgbClr val="000000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namespace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ConsoleApplication1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class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000" dirty="0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Program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</a:t>
            </a: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static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void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Main(</a:t>
            </a:r>
            <a:r>
              <a:rPr lang="en-US" sz="20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string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[] </a:t>
            </a:r>
            <a:r>
              <a:rPr lang="en-US" sz="20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args</a:t>
            </a: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}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0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724759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Pacotes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System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 err="1"/>
              <a:t>Namespace</a:t>
            </a:r>
            <a:r>
              <a:rPr lang="pt-BR" sz="2400" dirty="0"/>
              <a:t> padrão do .NET;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A classe Console (utilizada para fazer a entrada e saída de dados do teclado/monitor) está definida nesse </a:t>
            </a:r>
            <a:r>
              <a:rPr lang="pt-BR" sz="2800" dirty="0" err="1"/>
              <a:t>namespace</a:t>
            </a:r>
            <a:r>
              <a:rPr lang="pt-BR" sz="28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Para acessar uma classe de um </a:t>
            </a:r>
            <a:r>
              <a:rPr lang="pt-BR" sz="2800" dirty="0" err="1"/>
              <a:t>namespace</a:t>
            </a:r>
            <a:r>
              <a:rPr lang="pt-BR" sz="2800" dirty="0"/>
              <a:t>, utiliza-se um ponto entre o nome do </a:t>
            </a:r>
            <a:r>
              <a:rPr lang="pt-BR" sz="2800" dirty="0" err="1"/>
              <a:t>namespace</a:t>
            </a:r>
            <a:r>
              <a:rPr lang="pt-BR" sz="2800" dirty="0"/>
              <a:t> e o nome da classe, desde que a </a:t>
            </a:r>
            <a:r>
              <a:rPr lang="pt-BR" sz="2800" dirty="0" err="1"/>
              <a:t>dll</a:t>
            </a:r>
            <a:r>
              <a:rPr lang="pt-BR" sz="2800" dirty="0"/>
              <a:t> da biblioteca onde o </a:t>
            </a:r>
            <a:r>
              <a:rPr lang="pt-BR" sz="2800" dirty="0" err="1"/>
              <a:t>namespace</a:t>
            </a:r>
            <a:r>
              <a:rPr lang="pt-BR" sz="2800" dirty="0"/>
              <a:t> está esteja referenciada pelo projeto atual.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</a:t>
            </a:r>
            <a:r>
              <a:rPr lang="pt-BR" sz="2800" dirty="0" err="1"/>
              <a:t>System.Console.WriteLine</a:t>
            </a:r>
            <a:r>
              <a:rPr lang="pt-BR" sz="2800" dirty="0"/>
              <a:t>(“</a:t>
            </a:r>
            <a:r>
              <a:rPr lang="pt-BR" sz="2800" dirty="0" err="1"/>
              <a:t>ifsp</a:t>
            </a:r>
            <a:r>
              <a:rPr lang="pt-BR" sz="2800" dirty="0"/>
              <a:t>”);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0280875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Objeto é o resultado da instanciação de uma determinada classe;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Um objeto não instanciado é um objeto nulo (</a:t>
            </a:r>
            <a:r>
              <a:rPr lang="pt-BR" sz="3200" dirty="0" err="1"/>
              <a:t>null</a:t>
            </a:r>
            <a:r>
              <a:rPr lang="pt-BR" sz="3200" dirty="0"/>
              <a:t>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Equivalente a uma variável em uma linguagem estruturada;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Um objeto nunca é igual ao outro (OID);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 classe é um “molde” de como serão os objetos (instâncias) dessa classe, quando forem alocados em memória.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575482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Objetos</a:t>
            </a:r>
          </a:p>
        </p:txBody>
      </p:sp>
      <p:pic>
        <p:nvPicPr>
          <p:cNvPr id="7" name="Espaço Reservado para Conteúdo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8058" y="1999964"/>
            <a:ext cx="7081371" cy="4337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4140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 de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Objetos devem ser declarados (com ou sem tipo definido) e instanciados;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Declaração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Informa ao compilador quais objetos existem;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Instanciação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Reserva o espaço em memória para um objeto daquela classe e retorna seu endereço de memória.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 instanciação é feita utilizando a palavra reservada </a:t>
            </a:r>
            <a:r>
              <a:rPr lang="pt-BR" sz="3200" b="1" dirty="0"/>
              <a:t>new</a:t>
            </a:r>
            <a:r>
              <a:rPr lang="pt-BR" sz="3200" dirty="0"/>
              <a:t>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239082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 de objetos</a:t>
            </a:r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258888" y="1843671"/>
            <a:ext cx="3792083" cy="3930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endParaRPr lang="en-US" sz="2400" dirty="0">
              <a:solidFill>
                <a:srgbClr val="2B91AF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</a:t>
            </a:r>
            <a:r>
              <a:rPr lang="en-US" sz="2400" dirty="0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Nome;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</a:t>
            </a:r>
            <a:r>
              <a:rPr lang="en-US" sz="2400" dirty="0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Senha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</a:t>
            </a:r>
            <a:r>
              <a:rPr lang="en-US" sz="2400" dirty="0" err="1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Prioridade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}</a:t>
            </a:r>
          </a:p>
        </p:txBody>
      </p:sp>
      <p:sp>
        <p:nvSpPr>
          <p:cNvPr id="5" name="Retângulo 4"/>
          <p:cNvSpPr/>
          <p:nvPr/>
        </p:nvSpPr>
        <p:spPr>
          <a:xfrm>
            <a:off x="5279736" y="1843671"/>
            <a:ext cx="7204536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class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Programa</a:t>
            </a:r>
            <a:endParaRPr lang="en-US" sz="2400" dirty="0">
              <a:solidFill>
                <a:srgbClr val="2B91AF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    static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void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Main(</a:t>
            </a: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[] </a:t>
            </a:r>
            <a:r>
              <a:rPr lang="en-US" sz="24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args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)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{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u1 = </a:t>
            </a: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();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u2, u3;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endParaRPr lang="en-US" sz="2400" dirty="0">
              <a:solidFill>
                <a:srgbClr val="000000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u2 = </a:t>
            </a: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4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();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    u3 = </a:t>
            </a:r>
            <a:r>
              <a:rPr lang="en-US" sz="24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new</a:t>
            </a: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();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   }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4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342086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 de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Para acessar um atributo/método/propriedade de um objeto, utiliza-se um ponto entre o nome do objeto e o nome do atributo/método/propriedade;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  <p:sp>
        <p:nvSpPr>
          <p:cNvPr id="4" name="Retângulo 3"/>
          <p:cNvSpPr/>
          <p:nvPr/>
        </p:nvSpPr>
        <p:spPr>
          <a:xfrm>
            <a:off x="1097280" y="3594874"/>
            <a:ext cx="999744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pt-BR" sz="2800" dirty="0">
                <a:solidFill>
                  <a:srgbClr val="008000"/>
                </a:solidFill>
                <a:latin typeface="Consolas" panose="020B0609020204030204" pitchFamily="49" charset="0"/>
              </a:rPr>
              <a:t>/*Apenas exemplo sem considerar a visibilidade*/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endParaRPr lang="en-US" sz="2800" dirty="0">
              <a:solidFill>
                <a:srgbClr val="2B91AF"/>
              </a:solidFill>
              <a:latin typeface="Consolas" charset="0"/>
              <a:ea typeface="DejaVu Sans" charset="0"/>
              <a:cs typeface="DejaVu Sans" charset="0"/>
            </a:endParaRP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8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u1 = </a:t>
            </a:r>
            <a:r>
              <a:rPr lang="en-US" sz="28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new</a:t>
            </a: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 </a:t>
            </a:r>
            <a:r>
              <a:rPr lang="en-US" sz="28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Usuario</a:t>
            </a: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();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800" dirty="0" err="1">
                <a:solidFill>
                  <a:srgbClr val="2B91AF"/>
                </a:solidFill>
                <a:latin typeface="Consolas" charset="0"/>
                <a:ea typeface="DejaVu Sans" charset="0"/>
                <a:cs typeface="DejaVu Sans" charset="0"/>
              </a:rPr>
              <a:t>Console</a:t>
            </a:r>
            <a:r>
              <a:rPr lang="en-US" sz="2800" dirty="0" err="1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.WriteLine</a:t>
            </a: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(u1.Nome);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u1.Login();</a:t>
            </a:r>
          </a:p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u1.Idade = 2;</a:t>
            </a:r>
          </a:p>
        </p:txBody>
      </p:sp>
    </p:spTree>
    <p:extLst>
      <p:ext uri="{BB962C8B-B14F-4D97-AF65-F5344CB8AC3E}">
        <p14:creationId xmlns:p14="http://schemas.microsoft.com/office/powerpoint/2010/main" val="1336688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Instanciação de objetos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79" y="1845734"/>
            <a:ext cx="10441577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 Se um objeto não for instanciado, ele terá valor padrão </a:t>
            </a:r>
            <a:r>
              <a:rPr lang="pt-BR" sz="3200" i="1" dirty="0" err="1"/>
              <a:t>null</a:t>
            </a:r>
            <a:r>
              <a:rPr lang="pt-BR" sz="3200" dirty="0"/>
              <a:t> (nulo);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Ao tentar acessar algum atributo de um objeto nulo,  ocorrerá um erro no programa;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Para marcar um objeto como não existente, ou para marcá-lo com valor que ainda não foi atribuído, ou para “removê-lo” da memória, atribui-se </a:t>
            </a:r>
            <a:r>
              <a:rPr lang="pt-BR" sz="3200" i="1" dirty="0" err="1"/>
              <a:t>null</a:t>
            </a:r>
            <a:r>
              <a:rPr lang="pt-BR" sz="3200" dirty="0"/>
              <a:t> a esse objeto.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  <p:sp>
        <p:nvSpPr>
          <p:cNvPr id="5" name="Retângulo 4"/>
          <p:cNvSpPr/>
          <p:nvPr/>
        </p:nvSpPr>
        <p:spPr>
          <a:xfrm>
            <a:off x="1097279" y="5454248"/>
            <a:ext cx="21563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0000"/>
              </a:lnSpc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</a:tabLst>
            </a:pP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u1 = </a:t>
            </a:r>
            <a:r>
              <a:rPr lang="en-US" sz="2800" dirty="0">
                <a:solidFill>
                  <a:srgbClr val="0000FF"/>
                </a:solidFill>
                <a:latin typeface="Consolas" charset="0"/>
                <a:ea typeface="DejaVu Sans" charset="0"/>
                <a:cs typeface="DejaVu Sans" charset="0"/>
              </a:rPr>
              <a:t>null</a:t>
            </a:r>
            <a:r>
              <a:rPr lang="en-US" sz="2800" dirty="0">
                <a:solidFill>
                  <a:srgbClr val="000000"/>
                </a:solidFill>
                <a:latin typeface="Consolas" charset="0"/>
                <a:ea typeface="DejaVu Sans" charset="0"/>
                <a:cs typeface="DejaVu Sans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5690203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Para criar um programa executável, devemos: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Criar uma classe;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Criar um método estático </a:t>
            </a:r>
            <a:r>
              <a:rPr lang="pt-BR" sz="2800" dirty="0" err="1"/>
              <a:t>Main</a:t>
            </a:r>
            <a:r>
              <a:rPr lang="pt-BR" sz="2800" dirty="0"/>
              <a:t> dentro dessa classe;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Um método é como uma função, porém, sua execução é feita, normalmente, através de um objeto daquela classe.</a:t>
            </a:r>
          </a:p>
          <a:p>
            <a:pPr marL="0" indent="0">
              <a:buNone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6077860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Sintaxe geral:</a:t>
            </a:r>
          </a:p>
          <a:p>
            <a:pPr marL="0" indent="0">
              <a:buNone/>
            </a:pPr>
            <a:r>
              <a:rPr lang="pt-BR" sz="3200" dirty="0"/>
              <a:t>&lt;</a:t>
            </a:r>
            <a:r>
              <a:rPr lang="pt-BR" sz="3200" dirty="0" err="1"/>
              <a:t>tipo_retorno</a:t>
            </a:r>
            <a:r>
              <a:rPr lang="pt-BR" sz="3200" dirty="0"/>
              <a:t>&gt; Nome (&lt;parâmetros&gt;)</a:t>
            </a:r>
          </a:p>
          <a:p>
            <a:pPr marL="0" indent="0">
              <a:buNone/>
            </a:pPr>
            <a:r>
              <a:rPr lang="pt-BR" sz="3200" dirty="0"/>
              <a:t>{</a:t>
            </a:r>
          </a:p>
          <a:p>
            <a:pPr marL="0" indent="0">
              <a:buNone/>
            </a:pPr>
            <a:r>
              <a:rPr lang="pt-BR" sz="3200" dirty="0"/>
              <a:t>}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Não esquecer que os métodos devem ser declarados dentro do escopo da classe ao qual pertence.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950329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</a:t>
            </a:r>
          </a:p>
        </p:txBody>
      </p:sp>
      <p:sp>
        <p:nvSpPr>
          <p:cNvPr id="4" name="Retângulo 4"/>
          <p:cNvSpPr>
            <a:spLocks noChangeArrowheads="1"/>
          </p:cNvSpPr>
          <p:nvPr/>
        </p:nvSpPr>
        <p:spPr bwMode="auto">
          <a:xfrm>
            <a:off x="1097280" y="1739305"/>
            <a:ext cx="9733280" cy="48936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using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System;</a:t>
            </a: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namespace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ConsoleApplication1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latin typeface="Consolas" charset="0"/>
              </a:rPr>
              <a:t>MinhaClasse</a:t>
            </a:r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pt-BR" sz="2400" dirty="0" err="1">
                <a:solidFill>
                  <a:srgbClr val="000000"/>
                </a:solidFill>
                <a:latin typeface="Consolas" charset="0"/>
              </a:rPr>
              <a:t>SomarNumeros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a,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b)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   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a + b;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	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}</a:t>
            </a: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60878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construtor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É o método responsável por inicializar os parâmetros iniciais de um objeto;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Pode ser utilizado o padrão (apenas instancia o objeto) ou um definido pelo usuário (inicializa atributos do objeto);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 instanciação de um objeto é feita utilizando um construtor.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150156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construtor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Construtor padrão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“Criado” automaticamente;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Apenas instancia o objeto na memória.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Exemplo:</a:t>
            </a:r>
          </a:p>
        </p:txBody>
      </p:sp>
      <p:sp>
        <p:nvSpPr>
          <p:cNvPr id="4" name="Retângulo 4"/>
          <p:cNvSpPr>
            <a:spLocks noChangeArrowheads="1"/>
          </p:cNvSpPr>
          <p:nvPr/>
        </p:nvSpPr>
        <p:spPr bwMode="auto">
          <a:xfrm>
            <a:off x="1097280" y="4040015"/>
            <a:ext cx="457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2B91AF"/>
                </a:solidFill>
                <a:latin typeface="Consolas" charset="0"/>
              </a:rPr>
              <a:t>MinhaClasse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x;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x = </a:t>
            </a:r>
            <a:r>
              <a:rPr lang="pt-BR" sz="2400" dirty="0">
                <a:solidFill>
                  <a:srgbClr val="0000FF"/>
                </a:solidFill>
                <a:latin typeface="Consolas" charset="0"/>
              </a:rPr>
              <a:t>new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latin typeface="Consolas" charset="0"/>
              </a:rPr>
              <a:t>MinhaClasse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1676186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construtor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Construtor definido pelo desenvolvedor;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Deve possuir o mesmo nome da classe;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Não deve possuir retorno;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É possível ter vários métodos construtores, desde que os parâmetros sejam diferentes em tipo/ordem.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4250735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construtor</a:t>
            </a:r>
          </a:p>
        </p:txBody>
      </p:sp>
      <p:sp>
        <p:nvSpPr>
          <p:cNvPr id="4" name="Retângulo 6"/>
          <p:cNvSpPr>
            <a:spLocks noChangeArrowheads="1"/>
          </p:cNvSpPr>
          <p:nvPr/>
        </p:nvSpPr>
        <p:spPr bwMode="auto">
          <a:xfrm>
            <a:off x="1097280" y="1737360"/>
            <a:ext cx="5383212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pt-BR" sz="2200" dirty="0" err="1">
                <a:solidFill>
                  <a:srgbClr val="0000FF"/>
                </a:solidFill>
                <a:latin typeface="Consolas" charset="0"/>
              </a:rPr>
              <a:t>using</a:t>
            </a:r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System;</a:t>
            </a:r>
          </a:p>
          <a:p>
            <a:r>
              <a:rPr lang="pt-BR" sz="2200" dirty="0" err="1">
                <a:solidFill>
                  <a:srgbClr val="0000FF"/>
                </a:solidFill>
                <a:latin typeface="Consolas" charset="0"/>
              </a:rPr>
              <a:t>namespace</a:t>
            </a:r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ConsoleApplication1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{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pt-BR" sz="2200" dirty="0" err="1">
                <a:solidFill>
                  <a:srgbClr val="0000FF"/>
                </a:solidFill>
                <a:latin typeface="Consolas" charset="0"/>
              </a:rPr>
              <a:t>class</a:t>
            </a:r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pt-BR" sz="2200" dirty="0" err="1">
                <a:solidFill>
                  <a:srgbClr val="2B91AF"/>
                </a:solidFill>
                <a:latin typeface="Consolas" charset="0"/>
              </a:rPr>
              <a:t>MinhaClasse</a:t>
            </a:r>
            <a:endParaRPr lang="pt-BR" sz="2200" dirty="0">
              <a:solidFill>
                <a:srgbClr val="000000"/>
              </a:solidFill>
              <a:latin typeface="Consolas" charset="0"/>
            </a:endParaRP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{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    </a:t>
            </a:r>
            <a:r>
              <a:rPr lang="pt-BR" sz="22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numero1, numero2;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    </a:t>
            </a:r>
            <a:r>
              <a:rPr lang="pt-BR" sz="2200" dirty="0" err="1">
                <a:solidFill>
                  <a:srgbClr val="000000"/>
                </a:solidFill>
                <a:latin typeface="Consolas" charset="0"/>
              </a:rPr>
              <a:t>MinhaClasse</a:t>
            </a:r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    {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        numero1 = 0;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        numero2 = 0;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    }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    }</a:t>
            </a:r>
          </a:p>
          <a:p>
            <a:r>
              <a:rPr lang="pt-BR" sz="2200" dirty="0">
                <a:solidFill>
                  <a:srgbClr val="000000"/>
                </a:solidFill>
                <a:latin typeface="Consolas" charset="0"/>
              </a:rPr>
              <a:t>}</a:t>
            </a:r>
          </a:p>
          <a:p>
            <a:endParaRPr lang="pt-BR" sz="2200" dirty="0">
              <a:solidFill>
                <a:srgbClr val="000000"/>
              </a:solidFill>
              <a:latin typeface="Consola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0070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construtor</a:t>
            </a:r>
          </a:p>
        </p:txBody>
      </p:sp>
      <p:sp>
        <p:nvSpPr>
          <p:cNvPr id="4" name="Retângulo 5"/>
          <p:cNvSpPr>
            <a:spLocks noChangeArrowheads="1"/>
          </p:cNvSpPr>
          <p:nvPr/>
        </p:nvSpPr>
        <p:spPr bwMode="auto">
          <a:xfrm>
            <a:off x="0" y="1932569"/>
            <a:ext cx="12192000" cy="56323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2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using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System;</a:t>
            </a:r>
          </a:p>
          <a:p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namespace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ConsoleApplication1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latin typeface="Consolas" charset="0"/>
              </a:rPr>
              <a:t>MinhaClasse</a:t>
            </a:r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numero1, numero2;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</a:t>
            </a:r>
            <a:r>
              <a:rPr lang="pt-BR" sz="2400" dirty="0" err="1">
                <a:solidFill>
                  <a:srgbClr val="000000"/>
                </a:solidFill>
                <a:latin typeface="Consolas" charset="0"/>
              </a:rPr>
              <a:t>MinhaClasse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()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    numero1 = 0;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    numero2 = 0;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}</a:t>
            </a: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endParaRPr lang="pt-BR" sz="2400" dirty="0">
              <a:solidFill>
                <a:srgbClr val="000000"/>
              </a:solidFill>
              <a:latin typeface="Consolas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</a:t>
            </a:r>
            <a:r>
              <a:rPr lang="pt-BR" sz="2400" dirty="0" err="1">
                <a:solidFill>
                  <a:srgbClr val="000000"/>
                </a:solidFill>
                <a:latin typeface="Consolas" charset="0"/>
              </a:rPr>
              <a:t>MinhaClasse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(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n1, </a:t>
            </a:r>
            <a:r>
              <a:rPr lang="pt-BR" sz="2400" dirty="0" err="1">
                <a:solidFill>
                  <a:srgbClr val="0000FF"/>
                </a:solidFill>
                <a:latin typeface="Consolas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n2)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    numero1 = n1;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    numero2 = n2;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    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    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392423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 destrutor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É o método executado quando o objeto deixa de existir na memória;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Não pode ser chamado através de código. Ele é executado de acordo com a implementação do coletor de lixo 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Utilizado quando deseja-se executar alguma operação antes de o objeto deixar de existir na memória.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09624431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97279" y="1965333"/>
            <a:ext cx="9492344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latin typeface="Consolas" panose="020B0609020204030204" pitchFamily="49" charset="0"/>
              </a:rPr>
              <a:t>Aluno</a:t>
            </a:r>
            <a:endParaRPr lang="pt-BR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Autenticado;</a:t>
            </a:r>
          </a:p>
          <a:p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Autenticar() {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2400" dirty="0">
                <a:solidFill>
                  <a:srgbClr val="008000"/>
                </a:solidFill>
                <a:latin typeface="Consolas" panose="020B0609020204030204" pitchFamily="49" charset="0"/>
              </a:rPr>
              <a:t>/*TODO*/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bool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Sair() { 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pt-BR" sz="2400" dirty="0">
                <a:solidFill>
                  <a:srgbClr val="008000"/>
                </a:solidFill>
                <a:latin typeface="Consolas" panose="020B0609020204030204" pitchFamily="49" charset="0"/>
              </a:rPr>
              <a:t>/*TODO*/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 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	~Aluno()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	{</a:t>
            </a:r>
          </a:p>
          <a:p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pt-BR" sz="2400" dirty="0" err="1">
                <a:solidFill>
                  <a:srgbClr val="0000FF"/>
                </a:solidFill>
                <a:latin typeface="Consolas" panose="020B0609020204030204" pitchFamily="49" charset="0"/>
              </a:rPr>
              <a:t>if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(Autenticado == </a:t>
            </a:r>
            <a:r>
              <a:rPr lang="pt-BR" sz="2400" dirty="0">
                <a:solidFill>
                  <a:srgbClr val="0000FF"/>
                </a:solidFill>
                <a:latin typeface="Consolas" panose="020B0609020204030204" pitchFamily="49" charset="0"/>
              </a:rPr>
              <a:t>false</a:t>
            </a:r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			Sair();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	}</a:t>
            </a:r>
          </a:p>
          <a:p>
            <a:r>
              <a:rPr lang="pt-BR" sz="2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3242152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Organização de código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Normalmente temos uma classe para o programa principal que executa o método </a:t>
            </a:r>
            <a:r>
              <a:rPr lang="pt-BR" sz="2800" dirty="0" err="1"/>
              <a:t>Main</a:t>
            </a:r>
            <a:r>
              <a:rPr lang="pt-BR" sz="28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As demais classes não devem possuir um método </a:t>
            </a:r>
            <a:r>
              <a:rPr lang="pt-BR" sz="2800" dirty="0" err="1"/>
              <a:t>Main</a:t>
            </a:r>
            <a:r>
              <a:rPr lang="pt-BR" sz="28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Utilizar um arquivo por classe utilizada (arquivo com o nome da classe);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2800" dirty="0"/>
              <a:t> Exemplo: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Classe Pessoa : </a:t>
            </a:r>
            <a:r>
              <a:rPr lang="pt-BR" sz="2400" dirty="0" err="1"/>
              <a:t>pessoa.cs</a:t>
            </a:r>
            <a:r>
              <a:rPr lang="pt-BR" sz="2400" dirty="0"/>
              <a:t>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Classe Emprego: </a:t>
            </a:r>
            <a:r>
              <a:rPr lang="pt-BR" sz="2400" dirty="0" err="1"/>
              <a:t>emprego.cs</a:t>
            </a:r>
            <a:r>
              <a:rPr lang="pt-BR" sz="2400" dirty="0"/>
              <a:t>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Formulário de inserção de pessoa: </a:t>
            </a:r>
            <a:r>
              <a:rPr lang="pt-BR" sz="2400" dirty="0" err="1"/>
              <a:t>frmPessoaInserir.cs</a:t>
            </a:r>
            <a:r>
              <a:rPr lang="pt-BR" sz="2400" dirty="0"/>
              <a:t>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400" dirty="0"/>
              <a:t>Etc.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800" dirty="0"/>
          </a:p>
          <a:p>
            <a:pPr>
              <a:buFont typeface="Wingdings" panose="05000000000000000000" pitchFamily="2" charset="2"/>
              <a:buChar char="§"/>
            </a:pPr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30392451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600" dirty="0"/>
              <a:t> O encapsulamento define quais dados serão representados em uma classe, e seu respectivo nível de acesso.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3200" dirty="0"/>
              <a:t>Atributos: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400" dirty="0"/>
              <a:t>&lt;modificador&gt; &lt;tipo&gt; &lt;nome&gt;;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3200" dirty="0"/>
              <a:t>Métodos: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400" dirty="0"/>
              <a:t>&lt;modificador&gt; &lt;retorno&gt; &lt;nome&gt; (&lt;entrada)&gt; { ...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3200" dirty="0"/>
              <a:t>Classe: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400" dirty="0"/>
              <a:t>&lt;modificador&gt; </a:t>
            </a:r>
            <a:r>
              <a:rPr lang="pt-BR" sz="2400" dirty="0" err="1"/>
              <a:t>class</a:t>
            </a:r>
            <a:r>
              <a:rPr lang="pt-BR" sz="2400" dirty="0"/>
              <a:t> &lt;nome&gt; { ...</a:t>
            </a:r>
          </a:p>
          <a:p>
            <a:pPr lvl="1"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3554688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Encapsulamento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02336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Modificadores de acesso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Indicam a visibilidade de um atributo/método/propriedade/etc.</a:t>
            </a:r>
            <a:endParaRPr lang="pt-BR" sz="4000" dirty="0"/>
          </a:p>
        </p:txBody>
      </p:sp>
      <p:graphicFrame>
        <p:nvGraphicFramePr>
          <p:cNvPr id="4" name="Tabela 4">
            <a:extLst>
              <a:ext uri="{FF2B5EF4-FFF2-40B4-BE49-F238E27FC236}">
                <a16:creationId xmlns:a16="http://schemas.microsoft.com/office/drawing/2014/main" id="{13CE5C28-FB37-C698-509E-FBD4FBC93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9529943"/>
              </p:ext>
            </p:extLst>
          </p:nvPr>
        </p:nvGraphicFramePr>
        <p:xfrm>
          <a:off x="926537" y="2792305"/>
          <a:ext cx="10338925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2502">
                  <a:extLst>
                    <a:ext uri="{9D8B030D-6E8A-4147-A177-3AD203B41FA5}">
                      <a16:colId xmlns:a16="http://schemas.microsoft.com/office/drawing/2014/main" val="2349967198"/>
                    </a:ext>
                  </a:extLst>
                </a:gridCol>
                <a:gridCol w="7846423">
                  <a:extLst>
                    <a:ext uri="{9D8B030D-6E8A-4147-A177-3AD203B41FA5}">
                      <a16:colId xmlns:a16="http://schemas.microsoft.com/office/drawing/2014/main" val="77247600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2400" dirty="0"/>
                        <a:t>Modificador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Descrição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06332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 err="1"/>
                        <a:t>public</a:t>
                      </a:r>
                      <a:endParaRPr lang="pt-B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2400" dirty="0"/>
                        <a:t>Acessível por todo o código-fonte que tenha acesso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2584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 err="1"/>
                        <a:t>private</a:t>
                      </a:r>
                      <a:endParaRPr lang="pt-B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Acessível apenas pelo tipo onde foram definidos; </a:t>
                      </a:r>
                      <a:r>
                        <a:rPr lang="pt-BR" sz="2400" b="1" dirty="0"/>
                        <a:t>(Padrão)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17913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 err="1"/>
                        <a:t>protected</a:t>
                      </a:r>
                      <a:endParaRPr lang="pt-B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Acessível apenas pelo tipo onde foram definidos </a:t>
                      </a:r>
                      <a:r>
                        <a:rPr lang="pt-BR" sz="2400" b="1" dirty="0"/>
                        <a:t>e</a:t>
                      </a:r>
                      <a:r>
                        <a:rPr lang="pt-BR" sz="2400" dirty="0"/>
                        <a:t> tipos derivados</a:t>
                      </a:r>
                      <a:endParaRPr lang="pt-BR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0950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 err="1"/>
                        <a:t>internal</a:t>
                      </a:r>
                      <a:endParaRPr lang="pt-B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Acessível apenas dentro do mesmo </a:t>
                      </a:r>
                      <a:r>
                        <a:rPr lang="pt-BR" sz="2400" i="1" dirty="0" err="1"/>
                        <a:t>assembly</a:t>
                      </a:r>
                      <a:endParaRPr lang="pt-BR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85398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pt-BR" sz="2400" b="1" dirty="0" err="1"/>
                        <a:t>protected</a:t>
                      </a:r>
                      <a:r>
                        <a:rPr lang="pt-BR" sz="2400" b="1" dirty="0"/>
                        <a:t> </a:t>
                      </a:r>
                      <a:r>
                        <a:rPr lang="pt-BR" sz="2400" b="1" dirty="0" err="1"/>
                        <a:t>internal</a:t>
                      </a:r>
                      <a:endParaRPr lang="pt-BR" sz="2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400" dirty="0"/>
                        <a:t>Acessível pelo tipo onde foram definidos e tipos derivados </a:t>
                      </a:r>
                      <a:r>
                        <a:rPr lang="pt-BR" sz="2400" b="1" dirty="0"/>
                        <a:t>ou</a:t>
                      </a:r>
                      <a:r>
                        <a:rPr lang="pt-BR" sz="2400" dirty="0"/>
                        <a:t> dentro do mesmo </a:t>
                      </a:r>
                      <a:r>
                        <a:rPr lang="pt-BR" sz="2400" i="1" dirty="0" err="1"/>
                        <a:t>assembly</a:t>
                      </a:r>
                      <a:endParaRPr lang="pt-BR" sz="24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28813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34571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138375" y="183595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1097280" y="3405618"/>
            <a:ext cx="1047641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Aluno é uma classe acessível por todo código, juntamente com o atributo Nome.</a:t>
            </a:r>
          </a:p>
        </p:txBody>
      </p:sp>
    </p:spTree>
    <p:extLst>
      <p:ext uri="{BB962C8B-B14F-4D97-AF65-F5344CB8AC3E}">
        <p14:creationId xmlns:p14="http://schemas.microsoft.com/office/powerpoint/2010/main" val="3881264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1138375" y="1880963"/>
            <a:ext cx="5514974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Livro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097280" y="3819955"/>
            <a:ext cx="10632447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Livro é uma classe pública acessível por todo o código, juntamente com o atributo Nome. No entanto, ID é um atributo privado da classe Livro, e só pode ser acessado pelos próprios objetos desta classe.</a:t>
            </a:r>
          </a:p>
        </p:txBody>
      </p:sp>
    </p:spTree>
    <p:extLst>
      <p:ext uri="{BB962C8B-B14F-4D97-AF65-F5344CB8AC3E}">
        <p14:creationId xmlns:p14="http://schemas.microsoft.com/office/powerpoint/2010/main" val="24586252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2074694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Filho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Funcionario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Filho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Dependente;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1097280" y="5643682"/>
            <a:ext cx="10058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Utilização correta dos modificadores de acesso.</a:t>
            </a:r>
          </a:p>
        </p:txBody>
      </p:sp>
    </p:spTree>
    <p:extLst>
      <p:ext uri="{BB962C8B-B14F-4D97-AF65-F5344CB8AC3E}">
        <p14:creationId xmlns:p14="http://schemas.microsoft.com/office/powerpoint/2010/main" val="406480911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877055"/>
            <a:ext cx="6096000" cy="34163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Filho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Funcionario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Filho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Dependente;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1097280" y="5433070"/>
            <a:ext cx="104677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dirty="0"/>
              <a:t>Atributo não pode possuir acessibilidade inferior à classe em que está declarado.</a:t>
            </a:r>
          </a:p>
        </p:txBody>
      </p:sp>
    </p:spTree>
    <p:extLst>
      <p:ext uri="{BB962C8B-B14F-4D97-AF65-F5344CB8AC3E}">
        <p14:creationId xmlns:p14="http://schemas.microsoft.com/office/powerpoint/2010/main" val="25097153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Por que utilizar modificadores de acesso?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Sistemas são construídos em módulos/camadas;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Classes/Módulos/Camadas são reaproveitadas, sendo utilizadas também por outros(as):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Classes;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Módulos;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Camadas;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Desenvolvidos por você, sua equipe ou outras pessoas/equipes.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31455132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827658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Senha;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Autenticador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LoginUsuarioAtualmenteLogado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Autenticar(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//todo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648040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827658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Login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Senha;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Autenticador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LoginUsuarioAtualmenteLogado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Autenticar(</a:t>
            </a:r>
            <a:r>
              <a:rPr lang="pt-BR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Usuario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pt-BR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user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dirty="0">
                <a:solidFill>
                  <a:srgbClr val="008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//todo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  <p:cxnSp>
        <p:nvCxnSpPr>
          <p:cNvPr id="5" name="Conector de seta reta 4"/>
          <p:cNvCxnSpPr/>
          <p:nvPr/>
        </p:nvCxnSpPr>
        <p:spPr>
          <a:xfrm flipH="1">
            <a:off x="5398354" y="2762795"/>
            <a:ext cx="1719618" cy="1569492"/>
          </a:xfrm>
          <a:prstGeom prst="straightConnector1">
            <a:avLst/>
          </a:prstGeom>
          <a:ln w="508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/>
          <p:cNvSpPr txBox="1"/>
          <p:nvPr/>
        </p:nvSpPr>
        <p:spPr>
          <a:xfrm>
            <a:off x="7184300" y="2162631"/>
            <a:ext cx="445906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2400" dirty="0">
                <a:solidFill>
                  <a:srgbClr val="FF0000"/>
                </a:solidFill>
              </a:rPr>
              <a:t>Possibilidade de alterar o </a:t>
            </a:r>
            <a:r>
              <a:rPr lang="pt-BR" sz="2400" dirty="0" err="1">
                <a:solidFill>
                  <a:srgbClr val="FF0000"/>
                </a:solidFill>
              </a:rPr>
              <a:t>login</a:t>
            </a:r>
            <a:r>
              <a:rPr lang="pt-BR" sz="2400" dirty="0">
                <a:solidFill>
                  <a:srgbClr val="FF0000"/>
                </a:solidFill>
              </a:rPr>
              <a:t> do usuário atualmente </a:t>
            </a:r>
            <a:r>
              <a:rPr lang="pt-BR" sz="2400" dirty="0" err="1">
                <a:solidFill>
                  <a:srgbClr val="FF0000"/>
                </a:solidFill>
              </a:rPr>
              <a:t>logado</a:t>
            </a:r>
            <a:r>
              <a:rPr lang="pt-BR" sz="2400" dirty="0">
                <a:solidFill>
                  <a:srgbClr val="FF0000"/>
                </a:solidFill>
              </a:rPr>
              <a:t> no sistema, de forma externa ao autenticador.</a:t>
            </a:r>
          </a:p>
        </p:txBody>
      </p:sp>
    </p:spTree>
    <p:extLst>
      <p:ext uri="{BB962C8B-B14F-4D97-AF65-F5344CB8AC3E}">
        <p14:creationId xmlns:p14="http://schemas.microsoft.com/office/powerpoint/2010/main" val="42490073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Instruções gerais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Tudo que for de uso exclusivo da própria classe, definir como </a:t>
            </a:r>
            <a:r>
              <a:rPr lang="pt-BR" sz="3200" b="1" dirty="0" err="1"/>
              <a:t>private</a:t>
            </a:r>
            <a:r>
              <a:rPr lang="pt-BR" sz="32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Declarar como </a:t>
            </a:r>
            <a:r>
              <a:rPr lang="pt-BR" sz="3200" b="1" dirty="0" err="1"/>
              <a:t>internal</a:t>
            </a:r>
            <a:r>
              <a:rPr lang="pt-BR" sz="3200" dirty="0"/>
              <a:t> o que for necessário para o próprio </a:t>
            </a:r>
            <a:r>
              <a:rPr lang="pt-BR" sz="3200" i="1" dirty="0" err="1"/>
              <a:t>assembly</a:t>
            </a:r>
            <a:r>
              <a:rPr lang="pt-BR" sz="3200" dirty="0"/>
              <a:t>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Declarar como </a:t>
            </a:r>
            <a:r>
              <a:rPr lang="pt-BR" sz="3200" b="1" dirty="0" err="1"/>
              <a:t>public</a:t>
            </a:r>
            <a:r>
              <a:rPr lang="pt-BR" sz="3200" i="1" dirty="0"/>
              <a:t> </a:t>
            </a:r>
            <a:r>
              <a:rPr lang="pt-BR" sz="3200" dirty="0"/>
              <a:t>apenas o que fizer parte da interface de comunicação das classes com o ambiente externo, podendo ser alterados por qualquer trecho de código.</a:t>
            </a:r>
          </a:p>
        </p:txBody>
      </p:sp>
    </p:spTree>
    <p:extLst>
      <p:ext uri="{BB962C8B-B14F-4D97-AF65-F5344CB8AC3E}">
        <p14:creationId xmlns:p14="http://schemas.microsoft.com/office/powerpoint/2010/main" val="145617278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a atributos por meio de métodos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Imagine a seguinte situação: Deve-se criar uma classe Aluno com seu número de inscrição e nome, e ao acessar o seu atributo nome em forma de leitura, o mesmo deve ser acessado com as letras em caixa alta.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Como fazer?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Neste tipo de situação, não é possível utilizar apenas um atributo para realizar essa condição, sendo necessária a utilização de métodos para realizar tal acesso.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828983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indireto a atributos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Utiliza-se dois métodos (normalmente públicos) para acessar atributos (que normalmente são </a:t>
            </a:r>
            <a:r>
              <a:rPr lang="pt-BR" sz="3200" i="1" dirty="0" err="1"/>
              <a:t>private</a:t>
            </a:r>
            <a:r>
              <a:rPr lang="pt-BR" sz="3200" dirty="0"/>
              <a:t>):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GET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400" dirty="0"/>
              <a:t>Permite acesso de leitura ao valor do atributo;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800" dirty="0"/>
              <a:t>SET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pt-BR" sz="2400" dirty="0"/>
              <a:t>Permite acesso de escrita ao atributo;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285426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Retângulo 2"/>
          <p:cNvSpPr/>
          <p:nvPr/>
        </p:nvSpPr>
        <p:spPr>
          <a:xfrm>
            <a:off x="1097280" y="2238095"/>
            <a:ext cx="6096000" cy="163121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Usuário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Senha;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  <p:sp>
        <p:nvSpPr>
          <p:cNvPr id="5" name="CaixaDeTexto 4"/>
          <p:cNvSpPr txBox="1"/>
          <p:nvPr/>
        </p:nvSpPr>
        <p:spPr>
          <a:xfrm>
            <a:off x="1097280" y="1737360"/>
            <a:ext cx="415671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Acesso direto ao atributo </a:t>
            </a:r>
            <a:r>
              <a:rPr lang="pt-BR" sz="2400" i="1" dirty="0"/>
              <a:t>Senha</a:t>
            </a:r>
          </a:p>
        </p:txBody>
      </p:sp>
    </p:spTree>
    <p:extLst>
      <p:ext uri="{BB962C8B-B14F-4D97-AF65-F5344CB8AC3E}">
        <p14:creationId xmlns:p14="http://schemas.microsoft.com/office/powerpoint/2010/main" val="23214381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2170722"/>
            <a:ext cx="660826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Usuário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Senha;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GetSenha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Senha;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SetSenha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NovaSenha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Senha =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NovaSenha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  <p:sp>
        <p:nvSpPr>
          <p:cNvPr id="7" name="CaixaDeTexto 6"/>
          <p:cNvSpPr txBox="1"/>
          <p:nvPr/>
        </p:nvSpPr>
        <p:spPr>
          <a:xfrm>
            <a:off x="1097280" y="1737360"/>
            <a:ext cx="43891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Acesso indireto ao atributo </a:t>
            </a:r>
            <a:r>
              <a:rPr lang="pt-BR" sz="2400" i="1" dirty="0"/>
              <a:t>Senha</a:t>
            </a:r>
          </a:p>
        </p:txBody>
      </p:sp>
    </p:spTree>
    <p:extLst>
      <p:ext uri="{BB962C8B-B14F-4D97-AF65-F5344CB8AC3E}">
        <p14:creationId xmlns:p14="http://schemas.microsoft.com/office/powerpoint/2010/main" val="355096241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Acesso indireto a atributos 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Possibilidade de permitir um dos seguintes acessos a atributos: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3200" dirty="0"/>
              <a:t>Leitura;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3200" dirty="0"/>
              <a:t>Escrita;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3200" dirty="0"/>
              <a:t>Leitura e Escrita;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Possibilidade de impor regrar de acesso para um atributo.</a:t>
            </a:r>
          </a:p>
          <a:p>
            <a:pPr>
              <a:buFont typeface="Wingdings" panose="05000000000000000000" pitchFamily="2" charset="2"/>
              <a:buChar char="§"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94354149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Criar uma classe Aluno com número de inscrição e nome, e ao acessar o seu atributo nome em forma de leitura, o mesmo deve ser acessado com as letras em caixa alta.</a:t>
            </a:r>
          </a:p>
          <a:p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12661270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737360"/>
            <a:ext cx="6096000" cy="46782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SetNome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_Nome)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Nome = _Nome;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GetNome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Nome.ToUpper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203488060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Uma classe Avaliação possui um atributo </a:t>
            </a:r>
            <a:r>
              <a:rPr lang="pt-BR" sz="3200" b="1" dirty="0"/>
              <a:t>nota</a:t>
            </a:r>
            <a:r>
              <a:rPr lang="pt-BR" sz="3200" dirty="0"/>
              <a:t> do tipo real que não pode ter valor superior a 10 ou inferior a 0.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92570045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737360"/>
            <a:ext cx="6096000" cy="46782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Avaliação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Nota;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GetNota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Nota;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SetNota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_Nota)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it-IT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it-IT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it-IT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(_Nota &gt;= 0 &amp;&amp; _Nota &lt;= 10)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Nota = _Nota;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3130245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Uma classe Aluno deve armazenar internamente quantas vezes o atributo ID foi alterado.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380919049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737360"/>
            <a:ext cx="6096000" cy="470898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Contador = 0;</a:t>
            </a:r>
          </a:p>
          <a:p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GetID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SetID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_ID)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ID = _ID;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Contador++;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996025262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É uma “simplificação” da criação de métodos GET e SET para atributos;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Utilização da seguinte forma:</a:t>
            </a:r>
          </a:p>
          <a:p>
            <a:pPr marL="0" indent="0" algn="ctr">
              <a:buNone/>
            </a:pPr>
            <a:r>
              <a:rPr lang="pt-BR" sz="3200" dirty="0"/>
              <a:t>&lt;modificador&gt; &lt;tipo&gt; &lt;nome&gt; {</a:t>
            </a:r>
            <a:r>
              <a:rPr lang="pt-BR" sz="3200" dirty="0" err="1"/>
              <a:t>get</a:t>
            </a:r>
            <a:r>
              <a:rPr lang="pt-BR" sz="3200" dirty="0"/>
              <a:t>; set;}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Dessa forma, é criado automaticamente um atributo </a:t>
            </a:r>
            <a:r>
              <a:rPr lang="pt-BR" sz="3200" i="1" dirty="0" err="1"/>
              <a:t>private</a:t>
            </a:r>
            <a:r>
              <a:rPr lang="pt-BR" sz="3200" dirty="0"/>
              <a:t>, e o usuário da classe o acessa automaticamente através de métodos </a:t>
            </a:r>
            <a:r>
              <a:rPr lang="pt-BR" sz="3200" dirty="0" err="1"/>
              <a:t>get</a:t>
            </a:r>
            <a:r>
              <a:rPr lang="pt-BR" sz="3200" dirty="0"/>
              <a:t> e set.</a:t>
            </a:r>
            <a:endParaRPr lang="pt-BR" sz="3200" i="1" dirty="0"/>
          </a:p>
          <a:p>
            <a:pPr>
              <a:buFont typeface="Wingdings" panose="05000000000000000000" pitchFamily="2" charset="2"/>
              <a:buChar char="§"/>
            </a:pPr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9793698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911718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7" name="Retângulo 6"/>
          <p:cNvSpPr/>
          <p:nvPr/>
        </p:nvSpPr>
        <p:spPr>
          <a:xfrm>
            <a:off x="1097280" y="3909945"/>
            <a:ext cx="6096000" cy="156966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8" name="CaixaDeTexto 7"/>
          <p:cNvSpPr txBox="1"/>
          <p:nvPr/>
        </p:nvSpPr>
        <p:spPr>
          <a:xfrm>
            <a:off x="1097280" y="5479605"/>
            <a:ext cx="100515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Neste caso a propriedade ID é apenas leitura (pode ser alterada apenas dentro </a:t>
            </a:r>
          </a:p>
          <a:p>
            <a:r>
              <a:rPr lang="pt-BR" sz="2400" dirty="0"/>
              <a:t>do construtor da própria classe e com inicialização em linha).</a:t>
            </a:r>
          </a:p>
        </p:txBody>
      </p:sp>
    </p:spTree>
    <p:extLst>
      <p:ext uri="{BB962C8B-B14F-4D97-AF65-F5344CB8AC3E}">
        <p14:creationId xmlns:p14="http://schemas.microsoft.com/office/powerpoint/2010/main" val="311303894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Exemplos</a:t>
            </a:r>
          </a:p>
        </p:txBody>
      </p:sp>
      <p:sp>
        <p:nvSpPr>
          <p:cNvPr id="5" name="Retângulo 4"/>
          <p:cNvSpPr/>
          <p:nvPr/>
        </p:nvSpPr>
        <p:spPr>
          <a:xfrm>
            <a:off x="1097280" y="1970883"/>
            <a:ext cx="939142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4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Professor</a:t>
            </a:r>
            <a:endParaRPr lang="pt-BR" sz="24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 {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en-US" sz="24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r>
              <a:rPr lang="en-US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 }</a:t>
            </a:r>
          </a:p>
          <a:p>
            <a:r>
              <a:rPr lang="pt-BR" sz="24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400" dirty="0"/>
          </a:p>
        </p:txBody>
      </p:sp>
      <p:sp>
        <p:nvSpPr>
          <p:cNvPr id="6" name="CaixaDeTexto 5"/>
          <p:cNvSpPr txBox="1"/>
          <p:nvPr/>
        </p:nvSpPr>
        <p:spPr>
          <a:xfrm>
            <a:off x="1097280" y="3804844"/>
            <a:ext cx="82832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dirty="0"/>
              <a:t>Neste caso a propriedade Nome pode ser alterada fora da classe.</a:t>
            </a:r>
          </a:p>
        </p:txBody>
      </p:sp>
    </p:spTree>
    <p:extLst>
      <p:ext uri="{BB962C8B-B14F-4D97-AF65-F5344CB8AC3E}">
        <p14:creationId xmlns:p14="http://schemas.microsoft.com/office/powerpoint/2010/main" val="413376551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Propriedades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No entanto, se é necessário adicionar código às propriedades, deve-se utilizar sua declaração antiga:</a:t>
            </a:r>
          </a:p>
          <a:p>
            <a:r>
              <a:rPr lang="pt-BR" sz="3200" dirty="0"/>
              <a:t>&lt;modificador&gt; &lt;tipo&gt; &lt;nome&gt;</a:t>
            </a:r>
          </a:p>
          <a:p>
            <a:r>
              <a:rPr lang="pt-BR" sz="3200" dirty="0"/>
              <a:t>{</a:t>
            </a:r>
          </a:p>
          <a:p>
            <a:pPr marL="201168" lvl="1" indent="0">
              <a:buNone/>
            </a:pPr>
            <a:r>
              <a:rPr lang="pt-BR" sz="2800" dirty="0"/>
              <a:t>    </a:t>
            </a:r>
            <a:r>
              <a:rPr lang="pt-BR" sz="2800" dirty="0" err="1"/>
              <a:t>get</a:t>
            </a:r>
            <a:r>
              <a:rPr lang="pt-BR" sz="2800" dirty="0"/>
              <a:t> { //implementação }</a:t>
            </a:r>
          </a:p>
          <a:p>
            <a:pPr marL="201168" lvl="1" indent="0">
              <a:buNone/>
            </a:pPr>
            <a:r>
              <a:rPr lang="pt-BR" sz="2800" dirty="0"/>
              <a:t>    set { //implementação }</a:t>
            </a:r>
          </a:p>
          <a:p>
            <a:r>
              <a:rPr lang="pt-BR" sz="3200" dirty="0"/>
              <a:t>}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14219254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Deve-se criar uma classe Aluno com seu número de inscrição e nome, e ao acessar o seu atributo nome em forma de leitura, o mesmo deve ser acessado com as letras em caixa alta.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44054275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737360"/>
            <a:ext cx="6096000" cy="467820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_Nome;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string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Nome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</a:t>
            </a:r>
            <a:r>
              <a:rPr lang="pt-BR" sz="20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Nome.ToUpper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_Nome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347617817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Uma classe Avaliação possui um atributo </a:t>
            </a:r>
            <a:r>
              <a:rPr lang="pt-BR" sz="3200" b="1" dirty="0"/>
              <a:t>nota</a:t>
            </a:r>
            <a:r>
              <a:rPr lang="pt-BR" sz="3200" dirty="0"/>
              <a:t> do tipo real que não pode ter valor superior a 10 ou inferior a 0.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7738734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737360"/>
            <a:ext cx="6096000" cy="501675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Avaliação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_Nota;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float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Nota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_Nota;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pt-BR" sz="20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if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(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&gt;= 0 &amp;&amp; </a:t>
            </a:r>
            <a:r>
              <a:rPr lang="en-US" sz="20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en-US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&lt;= 10)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_Nota = </a:t>
            </a:r>
            <a:r>
              <a:rPr lang="pt-BR" sz="20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20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2000" dirty="0"/>
          </a:p>
        </p:txBody>
      </p:sp>
    </p:spTree>
    <p:extLst>
      <p:ext uri="{BB962C8B-B14F-4D97-AF65-F5344CB8AC3E}">
        <p14:creationId xmlns:p14="http://schemas.microsoft.com/office/powerpoint/2010/main" val="115110001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3200" dirty="0"/>
              <a:t> A classe “Aluno” deve armazenar internamente quantas vezes o atributo ID foi alterado.</a:t>
            </a:r>
          </a:p>
          <a:p>
            <a:endParaRPr lang="pt-BR" sz="3200" dirty="0"/>
          </a:p>
        </p:txBody>
      </p:sp>
    </p:spTree>
    <p:extLst>
      <p:ext uri="{BB962C8B-B14F-4D97-AF65-F5344CB8AC3E}">
        <p14:creationId xmlns:p14="http://schemas.microsoft.com/office/powerpoint/2010/main" val="232477371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4" name="Retângulo 3"/>
          <p:cNvSpPr/>
          <p:nvPr/>
        </p:nvSpPr>
        <p:spPr>
          <a:xfrm>
            <a:off x="1097280" y="1737360"/>
            <a:ext cx="6096000" cy="480131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Aluno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_ID;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Contador = 0;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ID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_ID;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</a:t>
            </a:r>
            <a:endParaRPr lang="pt-BR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{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_ID = </a:t>
            </a:r>
            <a:r>
              <a:rPr lang="pt-BR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value</a:t>
            </a:r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Contador++;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6583809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151778"/>
          </a:xfrm>
        </p:spPr>
        <p:txBody>
          <a:bodyPr>
            <a:noAutofit/>
          </a:bodyPr>
          <a:lstStyle/>
          <a:p>
            <a:r>
              <a:rPr lang="pt-BR" sz="3600" dirty="0"/>
              <a:t>Diferença entre acesso a propriedades e a métodos</a:t>
            </a:r>
          </a:p>
        </p:txBody>
      </p:sp>
      <p:sp>
        <p:nvSpPr>
          <p:cNvPr id="4" name="Retângulo 3"/>
          <p:cNvSpPr/>
          <p:nvPr/>
        </p:nvSpPr>
        <p:spPr>
          <a:xfrm>
            <a:off x="1221863" y="1736331"/>
            <a:ext cx="6096000" cy="35394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Classe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private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_ID;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	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GetID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return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_ID;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void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SetID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NovoID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_ID = 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NovoID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5" name="Retângulo 4"/>
          <p:cNvSpPr/>
          <p:nvPr/>
        </p:nvSpPr>
        <p:spPr>
          <a:xfrm>
            <a:off x="1221863" y="5240995"/>
            <a:ext cx="42234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</a:p>
          <a:p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c.SetID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(2);</a:t>
            </a:r>
          </a:p>
          <a:p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</a:t>
            </a:r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c.GetID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()); </a:t>
            </a:r>
            <a:endParaRPr lang="pt-BR" sz="1600" dirty="0"/>
          </a:p>
        </p:txBody>
      </p:sp>
      <p:sp>
        <p:nvSpPr>
          <p:cNvPr id="7" name="Retângulo 6"/>
          <p:cNvSpPr/>
          <p:nvPr/>
        </p:nvSpPr>
        <p:spPr>
          <a:xfrm>
            <a:off x="6223665" y="3980037"/>
            <a:ext cx="4749135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Classe</a:t>
            </a:r>
            <a:endParaRPr lang="pt-BR" sz="1600" dirty="0">
              <a:solidFill>
                <a:srgbClr val="000000"/>
              </a:solidFill>
              <a:highlight>
                <a:srgbClr val="FFFFFF"/>
              </a:highlight>
              <a:latin typeface="Consolas" panose="020B0609020204030204" pitchFamily="49" charset="0"/>
            </a:endParaRP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{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</a:t>
            </a:r>
            <a:r>
              <a:rPr lang="pt-BR" sz="1600" dirty="0" err="1">
                <a:highlight>
                  <a:srgbClr val="FFFFFF"/>
                </a:highlight>
                <a:latin typeface="Consolas" panose="020B0609020204030204" pitchFamily="49" charset="0"/>
              </a:rPr>
              <a:t>public</a:t>
            </a:r>
            <a:r>
              <a:rPr lang="pt-BR" sz="1600" dirty="0"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 err="1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int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>
                <a:highlight>
                  <a:srgbClr val="FFFFFF"/>
                </a:highlight>
                <a:latin typeface="Consolas" panose="020B0609020204030204" pitchFamily="49" charset="0"/>
              </a:rPr>
              <a:t>ID {</a:t>
            </a:r>
            <a:r>
              <a:rPr lang="pt-BR" sz="1600" dirty="0" err="1">
                <a:highlight>
                  <a:srgbClr val="FFFFFF"/>
                </a:highlight>
                <a:latin typeface="Consolas" panose="020B0609020204030204" pitchFamily="49" charset="0"/>
              </a:rPr>
              <a:t>get;set</a:t>
            </a:r>
            <a:r>
              <a:rPr lang="pt-BR" sz="1600" dirty="0">
                <a:highlight>
                  <a:srgbClr val="FFFFFF"/>
                </a:highlight>
                <a:latin typeface="Consolas" panose="020B0609020204030204" pitchFamily="49" charset="0"/>
              </a:rPr>
              <a:t>;}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}</a:t>
            </a:r>
            <a:endParaRPr lang="pt-BR" sz="1600" dirty="0"/>
          </a:p>
        </p:txBody>
      </p:sp>
      <p:sp>
        <p:nvSpPr>
          <p:cNvPr id="8" name="Retângulo 7"/>
          <p:cNvSpPr/>
          <p:nvPr/>
        </p:nvSpPr>
        <p:spPr>
          <a:xfrm>
            <a:off x="6223665" y="5206229"/>
            <a:ext cx="422343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c = </a:t>
            </a:r>
            <a:r>
              <a:rPr lang="pt-BR" sz="1600" dirty="0">
                <a:solidFill>
                  <a:srgbClr val="0000F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new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</a:t>
            </a:r>
            <a:r>
              <a:rPr lang="pt-BR" sz="1600" dirty="0">
                <a:solidFill>
                  <a:srgbClr val="2B91AF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Classe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                </a:t>
            </a:r>
          </a:p>
          <a:p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c.ID = 2;</a:t>
            </a:r>
          </a:p>
          <a:p>
            <a:r>
              <a:rPr lang="pt-BR" sz="1600" dirty="0" err="1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Console.WriteLine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Consolas" panose="020B0609020204030204" pitchFamily="49" charset="0"/>
              </a:rPr>
              <a:t>(c.ID); 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7808027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3542142-4F0F-46E7-BEA3-5B53A8EA48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114" y="92279"/>
            <a:ext cx="10058400" cy="722292"/>
          </a:xfrm>
        </p:spPr>
        <p:txBody>
          <a:bodyPr/>
          <a:lstStyle/>
          <a:p>
            <a:r>
              <a:rPr lang="pt-BR" dirty="0"/>
              <a:t>Exercício</a:t>
            </a:r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9043F2FD-499C-4777-ABBC-8B77DD5B2A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8114" y="729841"/>
            <a:ext cx="11836866" cy="5629013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pt-BR" sz="2400" dirty="0"/>
              <a:t> Um aluno (prontuário, nome e data de nascimento) pode retirar um livro (ISBN, título e ano de publicação) da biblioteca. Ao retirar o livro, o mesmo deve ser marcado como locado, e ao devolver o livro, o mesmo deve ser marcado como disponível.</a:t>
            </a:r>
          </a:p>
          <a:p>
            <a:r>
              <a:rPr lang="pt-BR" sz="2400" dirty="0"/>
              <a:t>Fazer:</a:t>
            </a:r>
          </a:p>
          <a:p>
            <a:pPr lvl="1"/>
            <a:r>
              <a:rPr lang="pt-BR" sz="2000" dirty="0"/>
              <a:t>Modelagem das classes;</a:t>
            </a:r>
          </a:p>
          <a:p>
            <a:pPr lvl="1"/>
            <a:r>
              <a:rPr lang="pt-BR" sz="2000" dirty="0"/>
              <a:t>Implementar métodos Retirar e Devolver livro (apenas marcar/desmarcar livro como locado);</a:t>
            </a:r>
          </a:p>
          <a:p>
            <a:pPr lvl="1"/>
            <a:r>
              <a:rPr lang="pt-BR" sz="2000" dirty="0"/>
              <a:t>Criar um construtor para Aluno, informando apenas seu prontuário;</a:t>
            </a:r>
          </a:p>
          <a:p>
            <a:pPr lvl="1"/>
            <a:r>
              <a:rPr lang="pt-BR" sz="2000" dirty="0"/>
              <a:t>Criar um construtor para Aluno, informando-se todos os seus dados;</a:t>
            </a:r>
          </a:p>
          <a:p>
            <a:pPr lvl="1"/>
            <a:r>
              <a:rPr lang="pt-BR" sz="2000" dirty="0"/>
              <a:t>Criar um construtor para Livro, informando-se apenas seu ISBN;</a:t>
            </a:r>
          </a:p>
          <a:p>
            <a:pPr lvl="1"/>
            <a:r>
              <a:rPr lang="pt-BR" sz="2000" dirty="0"/>
              <a:t>Criar um construtor para Livro, informando-se todos os seus dados;</a:t>
            </a:r>
          </a:p>
          <a:p>
            <a:r>
              <a:rPr lang="pt-BR" sz="2400" dirty="0"/>
              <a:t>Regras:</a:t>
            </a:r>
          </a:p>
          <a:p>
            <a:pPr lvl="1"/>
            <a:r>
              <a:rPr lang="pt-BR" sz="2000" dirty="0"/>
              <a:t>Nenhum atributo pode ser acessado diretamente;</a:t>
            </a:r>
          </a:p>
          <a:p>
            <a:pPr lvl="1"/>
            <a:r>
              <a:rPr lang="pt-BR" sz="2000" dirty="0"/>
              <a:t>A data de nascimento do aluno não pode, em nenhum momento, ser um valor inferior a 31/12/1930;</a:t>
            </a:r>
          </a:p>
          <a:p>
            <a:pPr lvl="1"/>
            <a:r>
              <a:rPr lang="pt-BR" sz="2000" dirty="0"/>
              <a:t>O ano de publicação do livro não pode ser superior ao ano atual;</a:t>
            </a:r>
          </a:p>
          <a:p>
            <a:pPr lvl="1"/>
            <a:endParaRPr lang="pt-BR" sz="2000" dirty="0"/>
          </a:p>
          <a:p>
            <a:pPr marL="0" indent="0">
              <a:buNone/>
            </a:pPr>
            <a:endParaRPr lang="pt-BR" sz="2400" dirty="0"/>
          </a:p>
        </p:txBody>
      </p:sp>
    </p:spTree>
    <p:extLst>
      <p:ext uri="{BB962C8B-B14F-4D97-AF65-F5344CB8AC3E}">
        <p14:creationId xmlns:p14="http://schemas.microsoft.com/office/powerpoint/2010/main" val="214264373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iva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892</TotalTime>
  <Words>2825</Words>
  <Application>Microsoft Office PowerPoint</Application>
  <PresentationFormat>Widescreen</PresentationFormat>
  <Paragraphs>546</Paragraphs>
  <Slides>57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57</vt:i4>
      </vt:variant>
    </vt:vector>
  </HeadingPairs>
  <TitlesOfParts>
    <vt:vector size="62" baseType="lpstr">
      <vt:lpstr>Calibri</vt:lpstr>
      <vt:lpstr>Calibri Light</vt:lpstr>
      <vt:lpstr>Consolas</vt:lpstr>
      <vt:lpstr>Wingdings</vt:lpstr>
      <vt:lpstr>Retrospectiva</vt:lpstr>
      <vt:lpstr>Linguagem de Programação 2</vt:lpstr>
      <vt:lpstr>Classes</vt:lpstr>
      <vt:lpstr>Declaração</vt:lpstr>
      <vt:lpstr>Declaração</vt:lpstr>
      <vt:lpstr>Pacotes</vt:lpstr>
      <vt:lpstr>Pacotes</vt:lpstr>
      <vt:lpstr>Pacotes</vt:lpstr>
      <vt:lpstr>Objetos</vt:lpstr>
      <vt:lpstr>Objetos</vt:lpstr>
      <vt:lpstr>Instanciação de Objetos</vt:lpstr>
      <vt:lpstr>Instanciação de objetos</vt:lpstr>
      <vt:lpstr>Instanciação de objetos</vt:lpstr>
      <vt:lpstr>Instanciação de objetos</vt:lpstr>
      <vt:lpstr>Métodos</vt:lpstr>
      <vt:lpstr>Métodos</vt:lpstr>
      <vt:lpstr>Métodos</vt:lpstr>
      <vt:lpstr>Método construtor</vt:lpstr>
      <vt:lpstr>Método construtor</vt:lpstr>
      <vt:lpstr>Método construtor</vt:lpstr>
      <vt:lpstr>Método construtor</vt:lpstr>
      <vt:lpstr>Método construtor</vt:lpstr>
      <vt:lpstr>Método destrutor</vt:lpstr>
      <vt:lpstr>Exemplo</vt:lpstr>
      <vt:lpstr>Organização de código</vt:lpstr>
      <vt:lpstr>Encapsulamento</vt:lpstr>
      <vt:lpstr>Encapsulamento</vt:lpstr>
      <vt:lpstr>Exemplos</vt:lpstr>
      <vt:lpstr>Exemplos</vt:lpstr>
      <vt:lpstr>Exemplos</vt:lpstr>
      <vt:lpstr>Exemplos</vt:lpstr>
      <vt:lpstr>Por que utilizar modificadores de acesso?</vt:lpstr>
      <vt:lpstr>Exemplo</vt:lpstr>
      <vt:lpstr>Exemplo</vt:lpstr>
      <vt:lpstr>Instruções gerais</vt:lpstr>
      <vt:lpstr>Acesso a atributos por meio de métodos</vt:lpstr>
      <vt:lpstr>Acesso indireto a atributos</vt:lpstr>
      <vt:lpstr>Exemplo</vt:lpstr>
      <vt:lpstr>Exemplo</vt:lpstr>
      <vt:lpstr>Acesso indireto a atributos </vt:lpstr>
      <vt:lpstr>Exemplo</vt:lpstr>
      <vt:lpstr>Exemplo</vt:lpstr>
      <vt:lpstr>Exemplo</vt:lpstr>
      <vt:lpstr>Exemplo</vt:lpstr>
      <vt:lpstr>Exemplo</vt:lpstr>
      <vt:lpstr>Exemplo</vt:lpstr>
      <vt:lpstr>Propriedades</vt:lpstr>
      <vt:lpstr>Exemplos</vt:lpstr>
      <vt:lpstr>Exemplos</vt:lpstr>
      <vt:lpstr>Propriedades</vt:lpstr>
      <vt:lpstr>Exemplo</vt:lpstr>
      <vt:lpstr>Exemplo</vt:lpstr>
      <vt:lpstr>Exemplo</vt:lpstr>
      <vt:lpstr>Exemplo</vt:lpstr>
      <vt:lpstr>Exemplo</vt:lpstr>
      <vt:lpstr>Exemplo</vt:lpstr>
      <vt:lpstr>Diferença entre acesso a propriedades e a métodos</vt:lpstr>
      <vt:lpstr>Exercício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Linguagem de Programação II</dc:title>
  <dc:creator>CMI</dc:creator>
  <cp:lastModifiedBy>Tiago Docusse</cp:lastModifiedBy>
  <cp:revision>87</cp:revision>
  <dcterms:created xsi:type="dcterms:W3CDTF">2016-08-02T20:00:03Z</dcterms:created>
  <dcterms:modified xsi:type="dcterms:W3CDTF">2026-02-23T11:54:36Z</dcterms:modified>
</cp:coreProperties>
</file>