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52" r:id="rId2"/>
  </p:sldMasterIdLst>
  <p:notesMasterIdLst>
    <p:notesMasterId r:id="rId9"/>
  </p:notesMasterIdLst>
  <p:sldIdLst>
    <p:sldId id="326" r:id="rId3"/>
    <p:sldId id="327" r:id="rId4"/>
    <p:sldId id="258" r:id="rId5"/>
    <p:sldId id="298" r:id="rId6"/>
    <p:sldId id="261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00000"/>
    <a:srgbClr val="006000"/>
    <a:srgbClr val="F8F8F8"/>
    <a:srgbClr val="007000"/>
    <a:srgbClr val="006600"/>
    <a:srgbClr val="006C00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B1B01-5CCD-4768-AB5B-5546B2879E97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E879A-A105-4CE8-9918-236137BA33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51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E879A-A105-4CE8-9918-236137BA33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959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1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1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02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612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61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89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716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329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1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785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482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084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483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66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60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52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66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Informações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Terça-feira, 19:00 – 22:15;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Laboratório G.</a:t>
            </a:r>
            <a:endParaRPr lang="pt-BR" sz="2000" dirty="0"/>
          </a:p>
          <a:p>
            <a:endParaRPr lang="pt-BR" sz="2800" dirty="0"/>
          </a:p>
          <a:p>
            <a:r>
              <a:rPr lang="pt-BR" sz="2800" dirty="0"/>
              <a:t>Objetivos</a:t>
            </a:r>
          </a:p>
          <a:p>
            <a:pPr lvl="1"/>
            <a:r>
              <a:rPr lang="pt-BR" sz="2400" dirty="0"/>
              <a:t>Utilizar uma linguagem orientada a objetos para desenvolver </a:t>
            </a:r>
            <a:r>
              <a:rPr lang="pt-BR" sz="2400" i="1" dirty="0"/>
              <a:t>softwares</a:t>
            </a:r>
            <a:r>
              <a:rPr lang="pt-BR" sz="2400" dirty="0"/>
              <a:t> utilizando o conceito de camadas.</a:t>
            </a:r>
            <a:endParaRPr lang="pt-BR" sz="2400" dirty="0">
              <a:solidFill>
                <a:schemeClr val="tx1"/>
              </a:solidFill>
            </a:endParaRPr>
          </a:p>
          <a:p>
            <a:pPr lvl="1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55337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837043"/>
          </a:xfrm>
        </p:spPr>
        <p:txBody>
          <a:bodyPr>
            <a:noAutofit/>
          </a:bodyPr>
          <a:lstStyle/>
          <a:p>
            <a:r>
              <a:rPr lang="pt-BR" sz="2400" dirty="0"/>
              <a:t>Básica</a:t>
            </a:r>
          </a:p>
          <a:p>
            <a:pPr lvl="1"/>
            <a:r>
              <a:rPr lang="pt-BR" sz="1400" dirty="0">
                <a:solidFill>
                  <a:schemeClr val="tx1"/>
                </a:solidFill>
              </a:rPr>
              <a:t>DEITEL, P.; DEITEL, H. </a:t>
            </a:r>
            <a:r>
              <a:rPr lang="pt-BR" sz="1400" b="1" dirty="0">
                <a:solidFill>
                  <a:schemeClr val="tx1"/>
                </a:solidFill>
              </a:rPr>
              <a:t>Java</a:t>
            </a:r>
            <a:r>
              <a:rPr lang="pt-BR" sz="1400" dirty="0">
                <a:solidFill>
                  <a:schemeClr val="tx1"/>
                </a:solidFill>
              </a:rPr>
              <a:t>: como programar. 8. ed. São Paulo: Pearson </a:t>
            </a:r>
            <a:r>
              <a:rPr lang="pt-BR" sz="1400" dirty="0" err="1">
                <a:solidFill>
                  <a:schemeClr val="tx1"/>
                </a:solidFill>
              </a:rPr>
              <a:t>Education</a:t>
            </a:r>
            <a:r>
              <a:rPr lang="pt-BR" sz="1400" dirty="0">
                <a:solidFill>
                  <a:schemeClr val="tx1"/>
                </a:solidFill>
              </a:rPr>
              <a:t> do Brasil, 2010. 1144 p.</a:t>
            </a:r>
          </a:p>
          <a:p>
            <a:pPr lvl="1"/>
            <a:r>
              <a:rPr lang="pt-BR" sz="1400" dirty="0">
                <a:solidFill>
                  <a:schemeClr val="tx1"/>
                </a:solidFill>
              </a:rPr>
              <a:t>ROBINSON, S. et al. </a:t>
            </a:r>
            <a:r>
              <a:rPr lang="pt-BR" sz="1400" b="1" dirty="0">
                <a:solidFill>
                  <a:schemeClr val="tx1"/>
                </a:solidFill>
              </a:rPr>
              <a:t>Professional C# programando</a:t>
            </a:r>
            <a:r>
              <a:rPr lang="pt-BR" sz="1400" dirty="0">
                <a:solidFill>
                  <a:schemeClr val="tx1"/>
                </a:solidFill>
              </a:rPr>
              <a:t>: de programador para programador. São Paulo: Pearson </a:t>
            </a:r>
            <a:r>
              <a:rPr lang="pt-BR" sz="1400" dirty="0" err="1">
                <a:solidFill>
                  <a:schemeClr val="tx1"/>
                </a:solidFill>
              </a:rPr>
              <a:t>Education</a:t>
            </a:r>
            <a:r>
              <a:rPr lang="pt-BR" sz="1400" dirty="0">
                <a:solidFill>
                  <a:schemeClr val="tx1"/>
                </a:solidFill>
              </a:rPr>
              <a:t>, 2004. 1124 p.</a:t>
            </a:r>
          </a:p>
          <a:p>
            <a:pPr lvl="1"/>
            <a:r>
              <a:rPr lang="pt-BR" sz="1400" dirty="0">
                <a:solidFill>
                  <a:schemeClr val="tx1"/>
                </a:solidFill>
              </a:rPr>
              <a:t>SILVA FILHO, A. M. da. </a:t>
            </a:r>
            <a:r>
              <a:rPr lang="pt-BR" sz="1400" b="1" dirty="0">
                <a:solidFill>
                  <a:schemeClr val="tx1"/>
                </a:solidFill>
              </a:rPr>
              <a:t>Introdução à programação orientada a objetos com C++</a:t>
            </a:r>
            <a:r>
              <a:rPr lang="pt-BR" sz="1400" dirty="0">
                <a:solidFill>
                  <a:schemeClr val="tx1"/>
                </a:solidFill>
              </a:rPr>
              <a:t>. Rio de Janeiro: </a:t>
            </a:r>
            <a:r>
              <a:rPr lang="pt-BR" sz="1400" dirty="0" err="1">
                <a:solidFill>
                  <a:schemeClr val="tx1"/>
                </a:solidFill>
              </a:rPr>
              <a:t>Elsevir</a:t>
            </a:r>
            <a:r>
              <a:rPr lang="pt-BR" sz="1400" dirty="0">
                <a:solidFill>
                  <a:schemeClr val="tx1"/>
                </a:solidFill>
              </a:rPr>
              <a:t>, 2010. 283 p.</a:t>
            </a:r>
            <a:endParaRPr lang="pt-BR" sz="2000" dirty="0">
              <a:solidFill>
                <a:schemeClr val="tx1"/>
              </a:solidFill>
            </a:endParaRPr>
          </a:p>
          <a:p>
            <a:r>
              <a:rPr lang="pt-BR" sz="2400" dirty="0"/>
              <a:t>Complementar	</a:t>
            </a:r>
          </a:p>
          <a:p>
            <a:pPr lvl="1"/>
            <a:r>
              <a:rPr lang="pt-BR" sz="1400" dirty="0">
                <a:solidFill>
                  <a:schemeClr val="tx1"/>
                </a:solidFill>
              </a:rPr>
              <a:t>BOOCH, G.; RUMBAUGH, J.; JACOBSON, I. </a:t>
            </a:r>
            <a:r>
              <a:rPr lang="pt-BR" sz="1400" b="1" dirty="0">
                <a:solidFill>
                  <a:schemeClr val="tx1"/>
                </a:solidFill>
              </a:rPr>
              <a:t>UML</a:t>
            </a:r>
            <a:r>
              <a:rPr lang="pt-BR" sz="1400" dirty="0">
                <a:solidFill>
                  <a:schemeClr val="tx1"/>
                </a:solidFill>
              </a:rPr>
              <a:t>: guia do usuário. 2. ed. Rio de Janeiro: Elsevier, 2012. 521 p.</a:t>
            </a:r>
          </a:p>
          <a:p>
            <a:pPr lvl="1"/>
            <a:r>
              <a:rPr lang="pt-BR" sz="1400" dirty="0"/>
              <a:t>LIMA, A. da S. </a:t>
            </a:r>
            <a:r>
              <a:rPr lang="pt-BR" sz="1400" b="1" dirty="0"/>
              <a:t>Especificações técnicas de software</a:t>
            </a:r>
            <a:r>
              <a:rPr lang="pt-BR" sz="1400" dirty="0"/>
              <a:t>. São Paulo: Érica, 2012. 384 p. </a:t>
            </a:r>
            <a:endParaRPr lang="pt-BR" sz="1400" dirty="0">
              <a:solidFill>
                <a:schemeClr val="tx1"/>
              </a:solidFill>
            </a:endParaRPr>
          </a:p>
          <a:p>
            <a:pPr lvl="1"/>
            <a:r>
              <a:rPr lang="pt-BR" sz="1400" dirty="0">
                <a:solidFill>
                  <a:schemeClr val="tx1"/>
                </a:solidFill>
              </a:rPr>
              <a:t>PREISS, B. R. </a:t>
            </a:r>
            <a:r>
              <a:rPr lang="pt-BR" sz="1400" b="1" dirty="0">
                <a:solidFill>
                  <a:schemeClr val="tx1"/>
                </a:solidFill>
              </a:rPr>
              <a:t>Estruturas de dados e algoritmos</a:t>
            </a:r>
            <a:r>
              <a:rPr lang="pt-BR" sz="1400" dirty="0">
                <a:solidFill>
                  <a:schemeClr val="tx1"/>
                </a:solidFill>
              </a:rPr>
              <a:t>: padrões de projetos orientados a objetos com Java. Rio de Janeiro: Campus, 2000. 566 p.</a:t>
            </a:r>
          </a:p>
          <a:p>
            <a:pPr lvl="1"/>
            <a:r>
              <a:rPr lang="pt-BR" sz="1400" dirty="0">
                <a:solidFill>
                  <a:schemeClr val="tx1"/>
                </a:solidFill>
              </a:rPr>
              <a:t>SHARP, J. </a:t>
            </a:r>
            <a:r>
              <a:rPr lang="pt-BR" sz="1400" b="1" dirty="0">
                <a:solidFill>
                  <a:schemeClr val="tx1"/>
                </a:solidFill>
              </a:rPr>
              <a:t>Microsoft Visual C# 2010</a:t>
            </a:r>
            <a:r>
              <a:rPr lang="pt-BR" sz="1400" dirty="0">
                <a:solidFill>
                  <a:schemeClr val="tx1"/>
                </a:solidFill>
              </a:rPr>
              <a:t>: passo a passo. São Paulo: Bookman, 2011. 775 p.</a:t>
            </a:r>
          </a:p>
          <a:p>
            <a:pPr lvl="1"/>
            <a:r>
              <a:rPr lang="pt-BR" sz="1400" dirty="0">
                <a:solidFill>
                  <a:schemeClr val="tx1"/>
                </a:solidFill>
              </a:rPr>
              <a:t> SOMMERVILLE, Ian. </a:t>
            </a:r>
            <a:r>
              <a:rPr lang="pt-BR" sz="1400" b="1" dirty="0">
                <a:solidFill>
                  <a:schemeClr val="tx1"/>
                </a:solidFill>
              </a:rPr>
              <a:t>Engenharia de software</a:t>
            </a:r>
            <a:r>
              <a:rPr lang="pt-BR" sz="1400" dirty="0">
                <a:solidFill>
                  <a:schemeClr val="tx1"/>
                </a:solidFill>
              </a:rPr>
              <a:t>. 9. ed. São Paulo: Pearson Prentice Hall, 2011. 529 p.</a:t>
            </a:r>
            <a:endParaRPr lang="pt-BR" sz="2000" dirty="0">
              <a:solidFill>
                <a:schemeClr val="tx1"/>
              </a:solidFill>
            </a:endParaRPr>
          </a:p>
          <a:p>
            <a:pPr lvl="1"/>
            <a:endParaRPr lang="pt-BR" sz="20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524D50-B4A9-4BF2-89C0-6E3F0ABCC2D9}"/>
              </a:ext>
            </a:extLst>
          </p:cNvPr>
          <p:cNvSpPr/>
          <p:nvPr/>
        </p:nvSpPr>
        <p:spPr>
          <a:xfrm>
            <a:off x="3394900" y="6034131"/>
            <a:ext cx="4775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https://docs.microsoft.com/pt-br/dotnet/csharp/</a:t>
            </a:r>
          </a:p>
        </p:txBody>
      </p:sp>
    </p:spTree>
    <p:extLst>
      <p:ext uri="{BB962C8B-B14F-4D97-AF65-F5344CB8AC3E}">
        <p14:creationId xmlns:p14="http://schemas.microsoft.com/office/powerpoint/2010/main" val="162525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Conteúdo Programático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1872" y="1737360"/>
            <a:ext cx="8595360" cy="50529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600" dirty="0"/>
              <a:t>Introdução à linguagem de programação;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600" dirty="0"/>
              <a:t>Conceitos básicos de orientação a objetos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Classes;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Objetos;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Atributos;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Métodos;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Encapsulamento;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400" dirty="0"/>
              <a:t>Herança e polimorfismo;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600" dirty="0"/>
              <a:t>Acesso a banco de dados;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600" dirty="0"/>
              <a:t>Desenvolvimento de sistemas multicamadas;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600" dirty="0"/>
              <a:t>Padrões de projeto para desenvolvimento de sistemas orientados a objetos;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600" dirty="0"/>
              <a:t>Controle e manutenção de versões de </a:t>
            </a:r>
            <a:r>
              <a:rPr lang="pt-BR" sz="1600" i="1" dirty="0"/>
              <a:t>software</a:t>
            </a:r>
            <a:r>
              <a:rPr lang="pt-BR" sz="1600" dirty="0"/>
              <a:t>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1600" dirty="0"/>
              <a:t>Entrega de </a:t>
            </a:r>
            <a:r>
              <a:rPr lang="pt-BR" sz="1600" i="1" dirty="0"/>
              <a:t>software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7437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786015"/>
          </a:xfrm>
        </p:spPr>
        <p:txBody>
          <a:bodyPr>
            <a:normAutofit/>
          </a:bodyPr>
          <a:lstStyle/>
          <a:p>
            <a:r>
              <a:rPr lang="pt-BR" sz="4800" dirty="0"/>
              <a:t>Plano de aulas provisório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9551431-5651-42B1-A136-33F74719F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49903"/>
              </p:ext>
            </p:extLst>
          </p:nvPr>
        </p:nvGraphicFramePr>
        <p:xfrm>
          <a:off x="64656" y="693651"/>
          <a:ext cx="11665526" cy="56254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999">
                  <a:extLst>
                    <a:ext uri="{9D8B030D-6E8A-4147-A177-3AD203B41FA5}">
                      <a16:colId xmlns:a16="http://schemas.microsoft.com/office/drawing/2014/main" val="1292508996"/>
                    </a:ext>
                  </a:extLst>
                </a:gridCol>
                <a:gridCol w="10649527">
                  <a:extLst>
                    <a:ext uri="{9D8B030D-6E8A-4147-A177-3AD203B41FA5}">
                      <a16:colId xmlns:a16="http://schemas.microsoft.com/office/drawing/2014/main" val="18626665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Dia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Conteúdo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5047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10/fev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Apresentação da disciplina. Apresentação do plano de ensino. Introdução à disciplina. Revisão de conceitos. Introdução ao ambiente de programação e à linguagem utilizada.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5826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fev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Classes, objetos, atributos e métodos. Encapsulamento.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37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03/mar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Atributos e métodos estáticos. Herança. Métodos virtuais e abstratos. Classes abstratas.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68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10/mar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Sobrecarga de operadores e polimorfirsmo.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732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17/mar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Enumerações e exceções.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437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24/mar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Gerenciamento de arquivos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8818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31/mar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Exercícios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148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</a:t>
                      </a:r>
                      <a:r>
                        <a:rPr lang="pt-B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Avaliação 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672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14/abr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 avaliação 1. Desenvolvimento de sistemas multicamadas. Padrão MVC.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89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banco de dados utilizando MVC.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3525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banco de dados utilizando MVC.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8665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banco de dados utilizando MVC.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4738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16/</a:t>
                      </a:r>
                      <a:r>
                        <a:rPr lang="pt-BR" sz="16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Exercícios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485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banco de dados utilizando MVC.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5053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Controle e manutenção de versões de software.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435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Entrega de software.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9255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Exercícios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664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</a:t>
                      </a:r>
                      <a:r>
                        <a:rPr lang="pt-B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Avaliação 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3705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 avaliação 2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9893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 disciplina.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814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62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Avaliação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261871" y="1828800"/>
                <a:ext cx="8931995" cy="4351337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A avaliação da disciplina (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) englobará:</a:t>
                </a:r>
              </a:p>
              <a:p>
                <a:pPr lvl="1"/>
                <a:r>
                  <a:rPr lang="pt-BR" sz="2600" dirty="0">
                    <a:solidFill>
                      <a:srgbClr val="003300"/>
                    </a:solidFill>
                  </a:rPr>
                  <a:t>Avaliação teórica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rgbClr val="003300"/>
                    </a:solidFill>
                  </a:rPr>
                  <a:t>);</a:t>
                </a:r>
              </a:p>
              <a:p>
                <a:pPr lvl="1"/>
                <a:r>
                  <a:rPr lang="pt-BR" sz="2600" dirty="0">
                    <a:solidFill>
                      <a:srgbClr val="003300"/>
                    </a:solidFill>
                  </a:rPr>
                  <a:t>Avaliação prática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rgbClr val="003300"/>
                    </a:solidFill>
                  </a:rPr>
                  <a:t>);</a:t>
                </a:r>
                <a:endParaRPr lang="pt-BR" sz="2200" dirty="0">
                  <a:solidFill>
                    <a:schemeClr val="tx1"/>
                  </a:solidFill>
                </a:endParaRPr>
              </a:p>
              <a:p>
                <a:endParaRPr lang="pt-BR" sz="2600" dirty="0"/>
              </a:p>
              <a:p>
                <a:pPr lvl="1"/>
                <a:endParaRPr lang="pt-BR" sz="2400" dirty="0">
                  <a:solidFill>
                    <a:schemeClr val="tx1"/>
                  </a:solidFill>
                </a:endParaRPr>
              </a:p>
              <a:p>
                <a:pPr marL="274320" lvl="1" indent="0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1" y="1828800"/>
                <a:ext cx="8931995" cy="4351337"/>
              </a:xfrm>
              <a:blipFill>
                <a:blip r:embed="rId2"/>
                <a:stretch>
                  <a:fillRect l="-819" t="-18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4042249" y="3601152"/>
                <a:ext cx="217784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49" y="3601152"/>
                <a:ext cx="2177840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775465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1469</TotalTime>
  <Words>573</Words>
  <Application>Microsoft Office PowerPoint</Application>
  <PresentationFormat>Widescreen</PresentationFormat>
  <Paragraphs>86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Calibri</vt:lpstr>
      <vt:lpstr>Calibri Light</vt:lpstr>
      <vt:lpstr>Cambria Math</vt:lpstr>
      <vt:lpstr>Wingdings</vt:lpstr>
      <vt:lpstr>Wingdings 2</vt:lpstr>
      <vt:lpstr>HDOfficeLightV0</vt:lpstr>
      <vt:lpstr>Retrospectiva</vt:lpstr>
      <vt:lpstr>Linguagem de Programação 2</vt:lpstr>
      <vt:lpstr>Informações da disciplina</vt:lpstr>
      <vt:lpstr>Bibliografia</vt:lpstr>
      <vt:lpstr>Conteúdo Programático</vt:lpstr>
      <vt:lpstr>Plano de aulas provisório</vt:lpstr>
      <vt:lpstr>Avaliação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creator>aluno</dc:creator>
  <cp:lastModifiedBy>Tiago Docusse</cp:lastModifiedBy>
  <cp:revision>158</cp:revision>
  <dcterms:created xsi:type="dcterms:W3CDTF">2017-07-05T21:06:24Z</dcterms:created>
  <dcterms:modified xsi:type="dcterms:W3CDTF">2026-02-10T01:48:28Z</dcterms:modified>
</cp:coreProperties>
</file>