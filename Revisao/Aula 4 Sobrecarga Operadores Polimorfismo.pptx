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sldIdLst>
    <p:sldId id="317" r:id="rId2"/>
    <p:sldId id="396" r:id="rId3"/>
    <p:sldId id="366" r:id="rId4"/>
    <p:sldId id="367" r:id="rId5"/>
    <p:sldId id="368" r:id="rId6"/>
    <p:sldId id="394" r:id="rId7"/>
    <p:sldId id="309" r:id="rId8"/>
    <p:sldId id="310" r:id="rId9"/>
    <p:sldId id="312" r:id="rId10"/>
    <p:sldId id="313" r:id="rId11"/>
    <p:sldId id="314" r:id="rId12"/>
    <p:sldId id="315" r:id="rId13"/>
    <p:sldId id="327" r:id="rId14"/>
    <p:sldId id="328" r:id="rId15"/>
    <p:sldId id="326" r:id="rId16"/>
    <p:sldId id="329" r:id="rId17"/>
    <p:sldId id="330" r:id="rId18"/>
    <p:sldId id="318" r:id="rId19"/>
    <p:sldId id="319" r:id="rId20"/>
    <p:sldId id="320" r:id="rId21"/>
    <p:sldId id="321" r:id="rId22"/>
    <p:sldId id="331" r:id="rId23"/>
    <p:sldId id="395" r:id="rId24"/>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50" autoAdjust="0"/>
    <p:restoredTop sz="94660"/>
  </p:normalViewPr>
  <p:slideViewPr>
    <p:cSldViewPr snapToGrid="0">
      <p:cViewPr varScale="1">
        <p:scale>
          <a:sx n="104" d="100"/>
          <a:sy n="104" d="100"/>
        </p:scale>
        <p:origin x="85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pt-BR"/>
              <a:t>Clique para editar o título mestre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A80EC881-C8CC-4E75-B01E-514F6CA39D9F}" type="datetimeFigureOut">
              <a:rPr lang="pt-BR" smtClean="0"/>
              <a:t>06/03/2026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94731BDA-FDB6-4E72-8BC3-83A56295639A}" type="slidenum">
              <a:rPr lang="pt-BR" smtClean="0"/>
              <a:t>‹nº›</a:t>
            </a:fld>
            <a:endParaRPr lang="pt-B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0633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A80EC881-C8CC-4E75-B01E-514F6CA39D9F}" type="datetimeFigureOut">
              <a:rPr lang="pt-BR" smtClean="0"/>
              <a:t>06/03/2026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94731BDA-FDB6-4E72-8BC3-83A56295639A}" type="slidenum">
              <a:rPr lang="pt-BR" smtClean="0"/>
              <a:t>‹nº›</a:t>
            </a:fld>
            <a:endParaRPr lang="pt-BR"/>
          </a:p>
        </p:txBody>
      </p:sp>
    </p:spTree>
    <p:extLst>
      <p:ext uri="{BB962C8B-B14F-4D97-AF65-F5344CB8AC3E}">
        <p14:creationId xmlns:p14="http://schemas.microsoft.com/office/powerpoint/2010/main" val="28311434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Cabeçalho da Seção">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pt-BR"/>
              <a:t>Clique para editar o título mestre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 texto mestre</a:t>
            </a:r>
          </a:p>
        </p:txBody>
      </p:sp>
      <p:sp>
        <p:nvSpPr>
          <p:cNvPr id="4" name="Date Placeholder 3"/>
          <p:cNvSpPr>
            <a:spLocks noGrp="1"/>
          </p:cNvSpPr>
          <p:nvPr>
            <p:ph type="dt" sz="half" idx="10"/>
          </p:nvPr>
        </p:nvSpPr>
        <p:spPr/>
        <p:txBody>
          <a:bodyPr/>
          <a:lstStyle/>
          <a:p>
            <a:fld id="{A80EC881-C8CC-4E75-B01E-514F6CA39D9F}" type="datetimeFigureOut">
              <a:rPr lang="pt-BR" smtClean="0"/>
              <a:t>06/03/2026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94731BDA-FDB6-4E72-8BC3-83A56295639A}" type="slidenum">
              <a:rPr lang="pt-BR" smtClean="0"/>
              <a:t>‹nº›</a:t>
            </a:fld>
            <a:endParaRPr lang="pt-B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1216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pt-BR"/>
              <a:t>Clique para editar o título mestre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A80EC881-C8CC-4E75-B01E-514F6CA39D9F}" type="datetimeFigureOut">
              <a:rPr lang="pt-BR" smtClean="0"/>
              <a:t>06/03/2026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94731BDA-FDB6-4E72-8BC3-83A56295639A}" type="slidenum">
              <a:rPr lang="pt-BR" smtClean="0"/>
              <a:t>‹nº›</a:t>
            </a:fld>
            <a:endParaRPr lang="pt-BR"/>
          </a:p>
        </p:txBody>
      </p:sp>
    </p:spTree>
    <p:extLst>
      <p:ext uri="{BB962C8B-B14F-4D97-AF65-F5344CB8AC3E}">
        <p14:creationId xmlns:p14="http://schemas.microsoft.com/office/powerpoint/2010/main" val="14560294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Content Placeholder 3"/>
          <p:cNvSpPr>
            <a:spLocks noGrp="1"/>
          </p:cNvSpPr>
          <p:nvPr>
            <p:ph sz="half" idx="2"/>
          </p:nvPr>
        </p:nvSpPr>
        <p:spPr>
          <a:xfrm>
            <a:off x="1097280" y="2582334"/>
            <a:ext cx="4937760" cy="3378200"/>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Content Placeholder 5"/>
          <p:cNvSpPr>
            <a:spLocks noGrp="1"/>
          </p:cNvSpPr>
          <p:nvPr>
            <p:ph sz="quarter" idx="4"/>
          </p:nvPr>
        </p:nvSpPr>
        <p:spPr>
          <a:xfrm>
            <a:off x="6217920" y="2582334"/>
            <a:ext cx="4937760" cy="3378200"/>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A80EC881-C8CC-4E75-B01E-514F6CA39D9F}" type="datetimeFigureOut">
              <a:rPr lang="pt-BR" smtClean="0"/>
              <a:t>06/03/2026</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94731BDA-FDB6-4E72-8BC3-83A56295639A}" type="slidenum">
              <a:rPr lang="pt-BR" smtClean="0"/>
              <a:t>‹nº›</a:t>
            </a:fld>
            <a:endParaRPr lang="pt-BR"/>
          </a:p>
        </p:txBody>
      </p:sp>
    </p:spTree>
    <p:extLst>
      <p:ext uri="{BB962C8B-B14F-4D97-AF65-F5344CB8AC3E}">
        <p14:creationId xmlns:p14="http://schemas.microsoft.com/office/powerpoint/2010/main" val="419923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A80EC881-C8CC-4E75-B01E-514F6CA39D9F}" type="datetimeFigureOut">
              <a:rPr lang="pt-BR" smtClean="0"/>
              <a:t>06/03/2026</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94731BDA-FDB6-4E72-8BC3-83A56295639A}" type="slidenum">
              <a:rPr lang="pt-BR" smtClean="0"/>
              <a:t>‹nº›</a:t>
            </a:fld>
            <a:endParaRPr lang="pt-BR"/>
          </a:p>
        </p:txBody>
      </p:sp>
    </p:spTree>
    <p:extLst>
      <p:ext uri="{BB962C8B-B14F-4D97-AF65-F5344CB8AC3E}">
        <p14:creationId xmlns:p14="http://schemas.microsoft.com/office/powerpoint/2010/main" val="1090288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m br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80EC881-C8CC-4E75-B01E-514F6CA39D9F}" type="datetimeFigureOut">
              <a:rPr lang="pt-BR" smtClean="0"/>
              <a:t>06/03/2026</a:t>
            </a:fld>
            <a:endParaRPr lang="pt-B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pt-BR"/>
          </a:p>
        </p:txBody>
      </p:sp>
      <p:sp>
        <p:nvSpPr>
          <p:cNvPr id="9" name="Slide Number Placeholder 8"/>
          <p:cNvSpPr>
            <a:spLocks noGrp="1"/>
          </p:cNvSpPr>
          <p:nvPr>
            <p:ph type="sldNum" sz="quarter" idx="12"/>
          </p:nvPr>
        </p:nvSpPr>
        <p:spPr/>
        <p:txBody>
          <a:bodyPr/>
          <a:lstStyle/>
          <a:p>
            <a:fld id="{94731BDA-FDB6-4E72-8BC3-83A56295639A}" type="slidenum">
              <a:rPr lang="pt-BR" smtClean="0"/>
              <a:t>‹nº›</a:t>
            </a:fld>
            <a:endParaRPr lang="pt-BR"/>
          </a:p>
        </p:txBody>
      </p:sp>
    </p:spTree>
    <p:extLst>
      <p:ext uri="{BB962C8B-B14F-4D97-AF65-F5344CB8AC3E}">
        <p14:creationId xmlns:p14="http://schemas.microsoft.com/office/powerpoint/2010/main" val="4041560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údo com Legenda">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pt-BR"/>
              <a:t>Clique para editar o título mestre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80EC881-C8CC-4E75-B01E-514F6CA39D9F}" type="datetimeFigureOut">
              <a:rPr lang="pt-BR" smtClean="0"/>
              <a:t>06/03/2026</a:t>
            </a:fld>
            <a:endParaRPr lang="pt-BR"/>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pt-B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4731BDA-FDB6-4E72-8BC3-83A56295639A}" type="slidenum">
              <a:rPr lang="pt-BR" smtClean="0"/>
              <a:t>‹nº›</a:t>
            </a:fld>
            <a:endParaRPr lang="pt-BR"/>
          </a:p>
        </p:txBody>
      </p:sp>
    </p:spTree>
    <p:extLst>
      <p:ext uri="{BB962C8B-B14F-4D97-AF65-F5344CB8AC3E}">
        <p14:creationId xmlns:p14="http://schemas.microsoft.com/office/powerpoint/2010/main" val="3646280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m com Legenda">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Date Placeholder 4"/>
          <p:cNvSpPr>
            <a:spLocks noGrp="1"/>
          </p:cNvSpPr>
          <p:nvPr>
            <p:ph type="dt" sz="half" idx="10"/>
          </p:nvPr>
        </p:nvSpPr>
        <p:spPr/>
        <p:txBody>
          <a:bodyPr/>
          <a:lstStyle/>
          <a:p>
            <a:fld id="{A80EC881-C8CC-4E75-B01E-514F6CA39D9F}" type="datetimeFigureOut">
              <a:rPr lang="pt-BR" smtClean="0"/>
              <a:t>06/03/2026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94731BDA-FDB6-4E72-8BC3-83A56295639A}" type="slidenum">
              <a:rPr lang="pt-BR" smtClean="0"/>
              <a:t>‹nº›</a:t>
            </a:fld>
            <a:endParaRPr lang="pt-BR"/>
          </a:p>
        </p:txBody>
      </p:sp>
    </p:spTree>
    <p:extLst>
      <p:ext uri="{BB962C8B-B14F-4D97-AF65-F5344CB8AC3E}">
        <p14:creationId xmlns:p14="http://schemas.microsoft.com/office/powerpoint/2010/main" val="19022918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A80EC881-C8CC-4E75-B01E-514F6CA39D9F}" type="datetimeFigureOut">
              <a:rPr lang="pt-BR" smtClean="0"/>
              <a:t>06/03/2026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94731BDA-FDB6-4E72-8BC3-83A56295639A}" type="slidenum">
              <a:rPr lang="pt-BR" smtClean="0"/>
              <a:t>‹nº›</a:t>
            </a:fld>
            <a:endParaRPr lang="pt-BR"/>
          </a:p>
        </p:txBody>
      </p:sp>
    </p:spTree>
    <p:extLst>
      <p:ext uri="{BB962C8B-B14F-4D97-AF65-F5344CB8AC3E}">
        <p14:creationId xmlns:p14="http://schemas.microsoft.com/office/powerpoint/2010/main" val="550647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e texto verticais">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A80EC881-C8CC-4E75-B01E-514F6CA39D9F}" type="datetimeFigureOut">
              <a:rPr lang="pt-BR" smtClean="0"/>
              <a:t>06/03/2026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94731BDA-FDB6-4E72-8BC3-83A56295639A}" type="slidenum">
              <a:rPr lang="pt-BR" smtClean="0"/>
              <a:t>‹nº›</a:t>
            </a:fld>
            <a:endParaRPr lang="pt-BR"/>
          </a:p>
        </p:txBody>
      </p:sp>
    </p:spTree>
    <p:extLst>
      <p:ext uri="{BB962C8B-B14F-4D97-AF65-F5344CB8AC3E}">
        <p14:creationId xmlns:p14="http://schemas.microsoft.com/office/powerpoint/2010/main" val="33368064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pt-BR"/>
              <a:t>Clique para editar o título mestre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80EC881-C8CC-4E75-B01E-514F6CA39D9F}" type="datetimeFigureOut">
              <a:rPr lang="pt-BR" smtClean="0"/>
              <a:t>06/03/2026</a:t>
            </a:fld>
            <a:endParaRPr lang="pt-B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pt-B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94731BDA-FDB6-4E72-8BC3-83A56295639A}" type="slidenum">
              <a:rPr lang="pt-BR" smtClean="0"/>
              <a:t>‹nº›</a:t>
            </a:fld>
            <a:endParaRPr lang="pt-BR"/>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521116"/>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normAutofit/>
          </a:bodyPr>
          <a:lstStyle/>
          <a:p>
            <a:pPr algn="ctr"/>
            <a:r>
              <a:rPr lang="pt-BR" sz="6600" dirty="0"/>
              <a:t>Linguagem de Programação 2</a:t>
            </a:r>
          </a:p>
        </p:txBody>
      </p:sp>
      <p:sp>
        <p:nvSpPr>
          <p:cNvPr id="3" name="Subtítulo 2"/>
          <p:cNvSpPr>
            <a:spLocks noGrp="1"/>
          </p:cNvSpPr>
          <p:nvPr>
            <p:ph type="subTitle" idx="1"/>
          </p:nvPr>
        </p:nvSpPr>
        <p:spPr/>
        <p:txBody>
          <a:bodyPr>
            <a:normAutofit fontScale="92500" lnSpcReduction="10000"/>
          </a:bodyPr>
          <a:lstStyle/>
          <a:p>
            <a:pPr algn="ctr"/>
            <a:r>
              <a:rPr lang="pt-BR" dirty="0"/>
              <a:t>Tecnologia em Análise e Desenvolvimento de Sistemas</a:t>
            </a:r>
          </a:p>
          <a:p>
            <a:endParaRPr lang="pt-BR" sz="1800" cap="none" dirty="0"/>
          </a:p>
          <a:p>
            <a:pPr algn="ctr"/>
            <a:r>
              <a:rPr lang="pt-BR" sz="1800" cap="none" dirty="0"/>
              <a:t>Tiago Alexandre </a:t>
            </a:r>
            <a:r>
              <a:rPr lang="pt-BR" sz="1800" cap="none" dirty="0" err="1"/>
              <a:t>Dócusse</a:t>
            </a:r>
            <a:endParaRPr lang="pt-BR" dirty="0"/>
          </a:p>
        </p:txBody>
      </p:sp>
    </p:spTree>
    <p:extLst>
      <p:ext uri="{BB962C8B-B14F-4D97-AF65-F5344CB8AC3E}">
        <p14:creationId xmlns:p14="http://schemas.microsoft.com/office/powerpoint/2010/main" val="31922431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Sobrecarga de operadores</a:t>
            </a:r>
          </a:p>
        </p:txBody>
      </p:sp>
      <p:sp>
        <p:nvSpPr>
          <p:cNvPr id="3" name="Espaço Reservado para Conteúdo 2"/>
          <p:cNvSpPr>
            <a:spLocks noGrp="1"/>
          </p:cNvSpPr>
          <p:nvPr>
            <p:ph idx="1"/>
          </p:nvPr>
        </p:nvSpPr>
        <p:spPr/>
        <p:txBody>
          <a:bodyPr>
            <a:normAutofit/>
          </a:bodyPr>
          <a:lstStyle/>
          <a:p>
            <a:r>
              <a:rPr lang="pt-BR" sz="3200" dirty="0"/>
              <a:t>Utilização de operadores para realizar operações entre objetos de tipos criados pelo programador.</a:t>
            </a:r>
          </a:p>
          <a:p>
            <a:endParaRPr lang="pt-BR" sz="3200" dirty="0"/>
          </a:p>
          <a:p>
            <a:r>
              <a:rPr lang="pt-BR" sz="3200" dirty="0"/>
              <a:t>Exemplo: Criar uma classe para armazenar o valor de um horário (hora e minuto). Criar métodos para somar/subtrair objetos deste tipo.</a:t>
            </a:r>
          </a:p>
        </p:txBody>
      </p:sp>
    </p:spTree>
    <p:extLst>
      <p:ext uri="{BB962C8B-B14F-4D97-AF65-F5344CB8AC3E}">
        <p14:creationId xmlns:p14="http://schemas.microsoft.com/office/powerpoint/2010/main" val="458459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163287" y="0"/>
            <a:ext cx="11114314" cy="6186309"/>
          </a:xfrm>
          <a:prstGeom prst="rect">
            <a:avLst/>
          </a:prstGeom>
        </p:spPr>
        <p:txBody>
          <a:bodyPr wrap="square">
            <a:spAutoFit/>
          </a:bodyPr>
          <a:lstStyle/>
          <a:p>
            <a:r>
              <a:rPr lang="pt-BR" sz="1600" dirty="0" err="1">
                <a:solidFill>
                  <a:srgbClr val="0000FF"/>
                </a:solidFill>
                <a:latin typeface="Consolas" panose="020B0609020204030204" pitchFamily="49" charset="0"/>
              </a:rPr>
              <a:t>class</a:t>
            </a:r>
            <a:r>
              <a:rPr lang="pt-BR" sz="1600" dirty="0">
                <a:solidFill>
                  <a:srgbClr val="000000"/>
                </a:solidFill>
                <a:latin typeface="Consolas" panose="020B0609020204030204" pitchFamily="49" charset="0"/>
              </a:rPr>
              <a:t> </a:t>
            </a:r>
            <a:r>
              <a:rPr lang="pt-BR" sz="1600" dirty="0" err="1">
                <a:solidFill>
                  <a:srgbClr val="2B91AF"/>
                </a:solidFill>
                <a:latin typeface="Consolas" panose="020B0609020204030204" pitchFamily="49" charset="0"/>
              </a:rPr>
              <a:t>Horario</a:t>
            </a:r>
            <a:endParaRPr lang="pt-BR" sz="1600" dirty="0">
              <a:solidFill>
                <a:srgbClr val="000000"/>
              </a:solidFill>
              <a:latin typeface="Consolas" panose="020B0609020204030204" pitchFamily="49" charset="0"/>
            </a:endParaRPr>
          </a:p>
          <a:p>
            <a:r>
              <a:rPr lang="pt-BR" sz="1600" dirty="0">
                <a:solidFill>
                  <a:srgbClr val="000000"/>
                </a:solidFill>
                <a:latin typeface="Consolas" panose="020B0609020204030204" pitchFamily="49" charset="0"/>
              </a:rPr>
              <a:t>    {</a:t>
            </a:r>
          </a:p>
          <a:p>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public</a:t>
            </a:r>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int</a:t>
            </a:r>
            <a:r>
              <a:rPr lang="pt-BR" sz="1600" dirty="0">
                <a:solidFill>
                  <a:srgbClr val="000000"/>
                </a:solidFill>
                <a:latin typeface="Consolas" panose="020B0609020204030204" pitchFamily="49" charset="0"/>
              </a:rPr>
              <a:t> Horas;</a:t>
            </a:r>
          </a:p>
          <a:p>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public</a:t>
            </a:r>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int</a:t>
            </a:r>
            <a:r>
              <a:rPr lang="pt-BR" sz="1600" dirty="0">
                <a:solidFill>
                  <a:srgbClr val="000000"/>
                </a:solidFill>
                <a:latin typeface="Consolas" panose="020B0609020204030204" pitchFamily="49" charset="0"/>
              </a:rPr>
              <a:t> Minutos;</a:t>
            </a:r>
          </a:p>
          <a:p>
            <a:endParaRPr lang="pt-BR" sz="1600" dirty="0">
              <a:solidFill>
                <a:srgbClr val="000000"/>
              </a:solidFill>
              <a:latin typeface="Consolas" panose="020B0609020204030204" pitchFamily="49" charset="0"/>
            </a:endParaRPr>
          </a:p>
          <a:p>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public</a:t>
            </a:r>
            <a:r>
              <a:rPr lang="pt-BR" sz="1600" dirty="0">
                <a:solidFill>
                  <a:srgbClr val="000000"/>
                </a:solidFill>
                <a:latin typeface="Consolas" panose="020B0609020204030204" pitchFamily="49" charset="0"/>
              </a:rPr>
              <a:t> </a:t>
            </a:r>
            <a:r>
              <a:rPr lang="pt-BR" sz="1600" dirty="0" err="1">
                <a:solidFill>
                  <a:srgbClr val="000000"/>
                </a:solidFill>
                <a:latin typeface="Consolas" panose="020B0609020204030204" pitchFamily="49" charset="0"/>
              </a:rPr>
              <a:t>Horario</a:t>
            </a:r>
            <a:r>
              <a:rPr lang="pt-BR" sz="1600" dirty="0">
                <a:solidFill>
                  <a:srgbClr val="000000"/>
                </a:solidFill>
                <a:latin typeface="Consolas" panose="020B0609020204030204" pitchFamily="49" charset="0"/>
              </a:rPr>
              <a:t>(</a:t>
            </a:r>
            <a:r>
              <a:rPr lang="pt-BR" sz="1600" dirty="0" err="1">
                <a:solidFill>
                  <a:srgbClr val="0000FF"/>
                </a:solidFill>
                <a:latin typeface="Consolas" panose="020B0609020204030204" pitchFamily="49" charset="0"/>
              </a:rPr>
              <a:t>int</a:t>
            </a:r>
            <a:r>
              <a:rPr lang="pt-BR" sz="1600" dirty="0">
                <a:solidFill>
                  <a:srgbClr val="000000"/>
                </a:solidFill>
                <a:latin typeface="Consolas" panose="020B0609020204030204" pitchFamily="49" charset="0"/>
              </a:rPr>
              <a:t> _Horas, </a:t>
            </a:r>
            <a:r>
              <a:rPr lang="pt-BR" sz="1600" dirty="0" err="1">
                <a:solidFill>
                  <a:srgbClr val="0000FF"/>
                </a:solidFill>
                <a:latin typeface="Consolas" panose="020B0609020204030204" pitchFamily="49" charset="0"/>
              </a:rPr>
              <a:t>int</a:t>
            </a:r>
            <a:r>
              <a:rPr lang="pt-BR" sz="1600" dirty="0">
                <a:solidFill>
                  <a:srgbClr val="000000"/>
                </a:solidFill>
                <a:latin typeface="Consolas" panose="020B0609020204030204" pitchFamily="49" charset="0"/>
              </a:rPr>
              <a:t> _Minutos)</a:t>
            </a:r>
          </a:p>
          <a:p>
            <a:r>
              <a:rPr lang="pt-BR" sz="1600" dirty="0">
                <a:solidFill>
                  <a:srgbClr val="000000"/>
                </a:solidFill>
                <a:latin typeface="Consolas" panose="020B0609020204030204" pitchFamily="49" charset="0"/>
              </a:rPr>
              <a:t>        {</a:t>
            </a:r>
          </a:p>
          <a:p>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this</a:t>
            </a:r>
            <a:r>
              <a:rPr lang="pt-BR" sz="1600" dirty="0" err="1">
                <a:solidFill>
                  <a:srgbClr val="000000"/>
                </a:solidFill>
                <a:latin typeface="Consolas" panose="020B0609020204030204" pitchFamily="49" charset="0"/>
              </a:rPr>
              <a:t>.Horas</a:t>
            </a:r>
            <a:r>
              <a:rPr lang="pt-BR" sz="1600" dirty="0">
                <a:solidFill>
                  <a:srgbClr val="000000"/>
                </a:solidFill>
                <a:latin typeface="Consolas" panose="020B0609020204030204" pitchFamily="49" charset="0"/>
              </a:rPr>
              <a:t> = _Horas;</a:t>
            </a:r>
          </a:p>
          <a:p>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this</a:t>
            </a:r>
            <a:r>
              <a:rPr lang="pt-BR" sz="1600" dirty="0" err="1">
                <a:solidFill>
                  <a:srgbClr val="000000"/>
                </a:solidFill>
                <a:latin typeface="Consolas" panose="020B0609020204030204" pitchFamily="49" charset="0"/>
              </a:rPr>
              <a:t>.Minutos</a:t>
            </a:r>
            <a:r>
              <a:rPr lang="pt-BR" sz="1600" dirty="0">
                <a:solidFill>
                  <a:srgbClr val="000000"/>
                </a:solidFill>
                <a:latin typeface="Consolas" panose="020B0609020204030204" pitchFamily="49" charset="0"/>
              </a:rPr>
              <a:t> = _Minutos;</a:t>
            </a:r>
          </a:p>
          <a:p>
            <a:r>
              <a:rPr lang="pt-BR" sz="1600" dirty="0">
                <a:solidFill>
                  <a:srgbClr val="000000"/>
                </a:solidFill>
                <a:latin typeface="Consolas" panose="020B0609020204030204" pitchFamily="49" charset="0"/>
              </a:rPr>
              <a:t>        }</a:t>
            </a:r>
          </a:p>
          <a:p>
            <a:endParaRPr lang="pt-BR" sz="1600" dirty="0">
              <a:solidFill>
                <a:srgbClr val="000000"/>
              </a:solidFill>
              <a:latin typeface="Consolas" panose="020B0609020204030204" pitchFamily="49" charset="0"/>
            </a:endParaRPr>
          </a:p>
          <a:p>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public</a:t>
            </a:r>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static</a:t>
            </a:r>
            <a:r>
              <a:rPr lang="pt-BR" sz="1600" dirty="0">
                <a:solidFill>
                  <a:srgbClr val="000000"/>
                </a:solidFill>
                <a:latin typeface="Consolas" panose="020B0609020204030204" pitchFamily="49" charset="0"/>
              </a:rPr>
              <a:t> </a:t>
            </a:r>
            <a:r>
              <a:rPr lang="pt-BR" sz="1600" dirty="0" err="1">
                <a:solidFill>
                  <a:srgbClr val="2B91AF"/>
                </a:solidFill>
                <a:latin typeface="Consolas" panose="020B0609020204030204" pitchFamily="49" charset="0"/>
              </a:rPr>
              <a:t>Horario</a:t>
            </a:r>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operator</a:t>
            </a:r>
            <a:r>
              <a:rPr lang="pt-BR" sz="1600" dirty="0">
                <a:solidFill>
                  <a:srgbClr val="000000"/>
                </a:solidFill>
                <a:latin typeface="Consolas" panose="020B0609020204030204" pitchFamily="49" charset="0"/>
              </a:rPr>
              <a:t> +(</a:t>
            </a:r>
            <a:r>
              <a:rPr lang="pt-BR" sz="1600" dirty="0" err="1">
                <a:solidFill>
                  <a:srgbClr val="2B91AF"/>
                </a:solidFill>
                <a:latin typeface="Consolas" panose="020B0609020204030204" pitchFamily="49" charset="0"/>
              </a:rPr>
              <a:t>Horario</a:t>
            </a:r>
            <a:r>
              <a:rPr lang="pt-BR" sz="1600" dirty="0">
                <a:solidFill>
                  <a:srgbClr val="000000"/>
                </a:solidFill>
                <a:latin typeface="Consolas" panose="020B0609020204030204" pitchFamily="49" charset="0"/>
              </a:rPr>
              <a:t> a, </a:t>
            </a:r>
            <a:r>
              <a:rPr lang="pt-BR" sz="1600" dirty="0" err="1">
                <a:solidFill>
                  <a:srgbClr val="2B91AF"/>
                </a:solidFill>
                <a:latin typeface="Consolas" panose="020B0609020204030204" pitchFamily="49" charset="0"/>
              </a:rPr>
              <a:t>Horario</a:t>
            </a:r>
            <a:r>
              <a:rPr lang="pt-BR" sz="1600" dirty="0">
                <a:solidFill>
                  <a:srgbClr val="000000"/>
                </a:solidFill>
                <a:latin typeface="Consolas" panose="020B0609020204030204" pitchFamily="49" charset="0"/>
              </a:rPr>
              <a:t> b)</a:t>
            </a:r>
          </a:p>
          <a:p>
            <a:r>
              <a:rPr lang="pt-BR" sz="1600" dirty="0">
                <a:solidFill>
                  <a:srgbClr val="000000"/>
                </a:solidFill>
                <a:latin typeface="Consolas" panose="020B0609020204030204" pitchFamily="49" charset="0"/>
              </a:rPr>
              <a:t>        {</a:t>
            </a:r>
          </a:p>
          <a:p>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int</a:t>
            </a:r>
            <a:r>
              <a:rPr lang="pt-BR" sz="1600" dirty="0">
                <a:solidFill>
                  <a:srgbClr val="000000"/>
                </a:solidFill>
                <a:latin typeface="Consolas" panose="020B0609020204030204" pitchFamily="49" charset="0"/>
              </a:rPr>
              <a:t> Minutos = </a:t>
            </a:r>
            <a:r>
              <a:rPr lang="pt-BR" sz="1600" dirty="0" err="1">
                <a:solidFill>
                  <a:srgbClr val="000000"/>
                </a:solidFill>
                <a:latin typeface="Consolas" panose="020B0609020204030204" pitchFamily="49" charset="0"/>
              </a:rPr>
              <a:t>a.Minutos</a:t>
            </a:r>
            <a:r>
              <a:rPr lang="pt-BR" sz="1600" dirty="0">
                <a:solidFill>
                  <a:srgbClr val="000000"/>
                </a:solidFill>
                <a:latin typeface="Consolas" panose="020B0609020204030204" pitchFamily="49" charset="0"/>
              </a:rPr>
              <a:t> + </a:t>
            </a:r>
            <a:r>
              <a:rPr lang="pt-BR" sz="1600" dirty="0" err="1">
                <a:solidFill>
                  <a:srgbClr val="000000"/>
                </a:solidFill>
                <a:latin typeface="Consolas" panose="020B0609020204030204" pitchFamily="49" charset="0"/>
              </a:rPr>
              <a:t>b.Minutos</a:t>
            </a:r>
            <a:r>
              <a:rPr lang="pt-BR" sz="1600" dirty="0">
                <a:solidFill>
                  <a:srgbClr val="000000"/>
                </a:solidFill>
                <a:latin typeface="Consolas" panose="020B0609020204030204" pitchFamily="49" charset="0"/>
              </a:rPr>
              <a:t>;</a:t>
            </a:r>
          </a:p>
          <a:p>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int</a:t>
            </a:r>
            <a:r>
              <a:rPr lang="pt-BR" sz="1600" dirty="0">
                <a:solidFill>
                  <a:srgbClr val="000000"/>
                </a:solidFill>
                <a:latin typeface="Consolas" panose="020B0609020204030204" pitchFamily="49" charset="0"/>
              </a:rPr>
              <a:t> Hora = </a:t>
            </a:r>
            <a:r>
              <a:rPr lang="pt-BR" sz="1600" dirty="0" err="1">
                <a:solidFill>
                  <a:srgbClr val="000000"/>
                </a:solidFill>
                <a:latin typeface="Consolas" panose="020B0609020204030204" pitchFamily="49" charset="0"/>
              </a:rPr>
              <a:t>a.Horas</a:t>
            </a:r>
            <a:r>
              <a:rPr lang="pt-BR" sz="1600" dirty="0">
                <a:solidFill>
                  <a:srgbClr val="000000"/>
                </a:solidFill>
                <a:latin typeface="Consolas" panose="020B0609020204030204" pitchFamily="49" charset="0"/>
              </a:rPr>
              <a:t> + </a:t>
            </a:r>
            <a:r>
              <a:rPr lang="pt-BR" sz="1600" dirty="0" err="1">
                <a:solidFill>
                  <a:srgbClr val="000000"/>
                </a:solidFill>
                <a:latin typeface="Consolas" panose="020B0609020204030204" pitchFamily="49" charset="0"/>
              </a:rPr>
              <a:t>b.Horas</a:t>
            </a:r>
            <a:r>
              <a:rPr lang="pt-BR" sz="1600" dirty="0">
                <a:solidFill>
                  <a:srgbClr val="000000"/>
                </a:solidFill>
                <a:latin typeface="Consolas" panose="020B0609020204030204" pitchFamily="49" charset="0"/>
              </a:rPr>
              <a:t>;</a:t>
            </a:r>
          </a:p>
          <a:p>
            <a:endParaRPr lang="pt-BR" sz="1600" dirty="0">
              <a:solidFill>
                <a:srgbClr val="000000"/>
              </a:solidFill>
              <a:latin typeface="Consolas" panose="020B0609020204030204" pitchFamily="49" charset="0"/>
            </a:endParaRPr>
          </a:p>
          <a:p>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while</a:t>
            </a:r>
            <a:r>
              <a:rPr lang="pt-BR" sz="1600" dirty="0">
                <a:solidFill>
                  <a:srgbClr val="000000"/>
                </a:solidFill>
                <a:latin typeface="Consolas" panose="020B0609020204030204" pitchFamily="49" charset="0"/>
              </a:rPr>
              <a:t> (Minutos &gt;= 60)</a:t>
            </a:r>
          </a:p>
          <a:p>
            <a:r>
              <a:rPr lang="pt-BR" sz="1600" dirty="0">
                <a:solidFill>
                  <a:srgbClr val="000000"/>
                </a:solidFill>
                <a:latin typeface="Consolas" panose="020B0609020204030204" pitchFamily="49" charset="0"/>
              </a:rPr>
              <a:t>            {</a:t>
            </a:r>
          </a:p>
          <a:p>
            <a:r>
              <a:rPr lang="pt-BR" sz="1600" dirty="0">
                <a:solidFill>
                  <a:srgbClr val="000000"/>
                </a:solidFill>
                <a:latin typeface="Consolas" panose="020B0609020204030204" pitchFamily="49" charset="0"/>
              </a:rPr>
              <a:t>                Hora++;</a:t>
            </a:r>
          </a:p>
          <a:p>
            <a:r>
              <a:rPr lang="pt-BR" sz="1600" dirty="0">
                <a:solidFill>
                  <a:srgbClr val="000000"/>
                </a:solidFill>
                <a:latin typeface="Consolas" panose="020B0609020204030204" pitchFamily="49" charset="0"/>
              </a:rPr>
              <a:t>                Minutos -= 60;</a:t>
            </a:r>
          </a:p>
          <a:p>
            <a:r>
              <a:rPr lang="pt-BR" sz="1600" dirty="0">
                <a:solidFill>
                  <a:srgbClr val="000000"/>
                </a:solidFill>
                <a:latin typeface="Consolas" panose="020B0609020204030204" pitchFamily="49" charset="0"/>
              </a:rPr>
              <a:t>            }</a:t>
            </a:r>
          </a:p>
          <a:p>
            <a:endParaRPr lang="pt-BR" sz="1600" dirty="0">
              <a:solidFill>
                <a:srgbClr val="000000"/>
              </a:solidFill>
              <a:latin typeface="Consolas" panose="020B0609020204030204" pitchFamily="49" charset="0"/>
            </a:endParaRPr>
          </a:p>
          <a:p>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return</a:t>
            </a:r>
            <a:r>
              <a:rPr lang="pt-BR" sz="1600" dirty="0">
                <a:solidFill>
                  <a:srgbClr val="000000"/>
                </a:solidFill>
                <a:latin typeface="Consolas" panose="020B0609020204030204" pitchFamily="49" charset="0"/>
              </a:rPr>
              <a:t> </a:t>
            </a:r>
            <a:r>
              <a:rPr lang="pt-BR" sz="1600" dirty="0">
                <a:solidFill>
                  <a:srgbClr val="0000FF"/>
                </a:solidFill>
                <a:latin typeface="Consolas" panose="020B0609020204030204" pitchFamily="49" charset="0"/>
              </a:rPr>
              <a:t>new</a:t>
            </a:r>
            <a:r>
              <a:rPr lang="pt-BR" sz="1600" dirty="0">
                <a:solidFill>
                  <a:srgbClr val="000000"/>
                </a:solidFill>
                <a:latin typeface="Consolas" panose="020B0609020204030204" pitchFamily="49" charset="0"/>
              </a:rPr>
              <a:t> </a:t>
            </a:r>
            <a:r>
              <a:rPr lang="pt-BR" sz="1600" dirty="0" err="1">
                <a:solidFill>
                  <a:srgbClr val="2B91AF"/>
                </a:solidFill>
                <a:latin typeface="Consolas" panose="020B0609020204030204" pitchFamily="49" charset="0"/>
              </a:rPr>
              <a:t>Horario</a:t>
            </a:r>
            <a:r>
              <a:rPr lang="pt-BR" sz="1600" dirty="0">
                <a:solidFill>
                  <a:srgbClr val="000000"/>
                </a:solidFill>
                <a:latin typeface="Consolas" panose="020B0609020204030204" pitchFamily="49" charset="0"/>
              </a:rPr>
              <a:t>(Hora, Minutos);</a:t>
            </a:r>
          </a:p>
          <a:p>
            <a:r>
              <a:rPr lang="pt-BR" sz="1600" dirty="0">
                <a:solidFill>
                  <a:srgbClr val="000000"/>
                </a:solidFill>
                <a:latin typeface="Consolas" panose="020B0609020204030204" pitchFamily="49" charset="0"/>
              </a:rPr>
              <a:t>        }</a:t>
            </a:r>
            <a:endParaRPr lang="pt-BR" sz="1600" dirty="0"/>
          </a:p>
        </p:txBody>
      </p:sp>
    </p:spTree>
    <p:extLst>
      <p:ext uri="{BB962C8B-B14F-4D97-AF65-F5344CB8AC3E}">
        <p14:creationId xmlns:p14="http://schemas.microsoft.com/office/powerpoint/2010/main" val="1513569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p:cNvSpPr/>
          <p:nvPr/>
        </p:nvSpPr>
        <p:spPr>
          <a:xfrm>
            <a:off x="152400" y="207059"/>
            <a:ext cx="10646229" cy="5509200"/>
          </a:xfrm>
          <a:prstGeom prst="rect">
            <a:avLst/>
          </a:prstGeom>
        </p:spPr>
        <p:txBody>
          <a:bodyPr wrap="square">
            <a:spAutoFit/>
          </a:bodyPr>
          <a:lstStyle/>
          <a:p>
            <a:r>
              <a:rPr lang="pt-BR" sz="1600" dirty="0" err="1">
                <a:solidFill>
                  <a:srgbClr val="0000FF"/>
                </a:solidFill>
                <a:latin typeface="Consolas" panose="020B0609020204030204" pitchFamily="49" charset="0"/>
              </a:rPr>
              <a:t>public</a:t>
            </a:r>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static</a:t>
            </a:r>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bool</a:t>
            </a:r>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operator</a:t>
            </a:r>
            <a:r>
              <a:rPr lang="pt-BR" sz="1600" dirty="0">
                <a:solidFill>
                  <a:srgbClr val="000000"/>
                </a:solidFill>
                <a:latin typeface="Consolas" panose="020B0609020204030204" pitchFamily="49" charset="0"/>
              </a:rPr>
              <a:t> &gt;(</a:t>
            </a:r>
            <a:r>
              <a:rPr lang="pt-BR" sz="1600" dirty="0" err="1">
                <a:solidFill>
                  <a:srgbClr val="2B91AF"/>
                </a:solidFill>
                <a:latin typeface="Consolas" panose="020B0609020204030204" pitchFamily="49" charset="0"/>
              </a:rPr>
              <a:t>Horario</a:t>
            </a:r>
            <a:r>
              <a:rPr lang="pt-BR" sz="1600" dirty="0">
                <a:solidFill>
                  <a:srgbClr val="000000"/>
                </a:solidFill>
                <a:latin typeface="Consolas" panose="020B0609020204030204" pitchFamily="49" charset="0"/>
              </a:rPr>
              <a:t> a, </a:t>
            </a:r>
            <a:r>
              <a:rPr lang="pt-BR" sz="1600" dirty="0" err="1">
                <a:solidFill>
                  <a:srgbClr val="2B91AF"/>
                </a:solidFill>
                <a:latin typeface="Consolas" panose="020B0609020204030204" pitchFamily="49" charset="0"/>
              </a:rPr>
              <a:t>Horario</a:t>
            </a:r>
            <a:r>
              <a:rPr lang="pt-BR" sz="1600" dirty="0">
                <a:solidFill>
                  <a:srgbClr val="000000"/>
                </a:solidFill>
                <a:latin typeface="Consolas" panose="020B0609020204030204" pitchFamily="49" charset="0"/>
              </a:rPr>
              <a:t> b)</a:t>
            </a:r>
          </a:p>
          <a:p>
            <a:r>
              <a:rPr lang="pt-BR" sz="1600" dirty="0">
                <a:solidFill>
                  <a:srgbClr val="000000"/>
                </a:solidFill>
                <a:latin typeface="Consolas" panose="020B0609020204030204" pitchFamily="49" charset="0"/>
              </a:rPr>
              <a:t>        {</a:t>
            </a:r>
          </a:p>
          <a:p>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if</a:t>
            </a:r>
            <a:r>
              <a:rPr lang="pt-BR" sz="1600" dirty="0">
                <a:solidFill>
                  <a:srgbClr val="000000"/>
                </a:solidFill>
                <a:latin typeface="Consolas" panose="020B0609020204030204" pitchFamily="49" charset="0"/>
              </a:rPr>
              <a:t> (</a:t>
            </a:r>
            <a:r>
              <a:rPr lang="pt-BR" sz="1600" dirty="0" err="1">
                <a:solidFill>
                  <a:srgbClr val="000000"/>
                </a:solidFill>
                <a:latin typeface="Consolas" panose="020B0609020204030204" pitchFamily="49" charset="0"/>
              </a:rPr>
              <a:t>a.Horas</a:t>
            </a:r>
            <a:r>
              <a:rPr lang="pt-BR" sz="1600" dirty="0">
                <a:solidFill>
                  <a:srgbClr val="000000"/>
                </a:solidFill>
                <a:latin typeface="Consolas" panose="020B0609020204030204" pitchFamily="49" charset="0"/>
              </a:rPr>
              <a:t> * 60 + </a:t>
            </a:r>
            <a:r>
              <a:rPr lang="pt-BR" sz="1600" dirty="0" err="1">
                <a:solidFill>
                  <a:srgbClr val="000000"/>
                </a:solidFill>
                <a:latin typeface="Consolas" panose="020B0609020204030204" pitchFamily="49" charset="0"/>
              </a:rPr>
              <a:t>a.Minutos</a:t>
            </a:r>
            <a:r>
              <a:rPr lang="pt-BR" sz="1600" dirty="0">
                <a:solidFill>
                  <a:srgbClr val="000000"/>
                </a:solidFill>
                <a:latin typeface="Consolas" panose="020B0609020204030204" pitchFamily="49" charset="0"/>
              </a:rPr>
              <a:t> &gt; </a:t>
            </a:r>
            <a:r>
              <a:rPr lang="pt-BR" sz="1600" dirty="0" err="1">
                <a:solidFill>
                  <a:srgbClr val="000000"/>
                </a:solidFill>
                <a:latin typeface="Consolas" panose="020B0609020204030204" pitchFamily="49" charset="0"/>
              </a:rPr>
              <a:t>b.Horas</a:t>
            </a:r>
            <a:r>
              <a:rPr lang="pt-BR" sz="1600" dirty="0">
                <a:solidFill>
                  <a:srgbClr val="000000"/>
                </a:solidFill>
                <a:latin typeface="Consolas" panose="020B0609020204030204" pitchFamily="49" charset="0"/>
              </a:rPr>
              <a:t> * 60 + </a:t>
            </a:r>
            <a:r>
              <a:rPr lang="pt-BR" sz="1600" dirty="0" err="1">
                <a:solidFill>
                  <a:srgbClr val="000000"/>
                </a:solidFill>
                <a:latin typeface="Consolas" panose="020B0609020204030204" pitchFamily="49" charset="0"/>
              </a:rPr>
              <a:t>b.Minutos</a:t>
            </a:r>
            <a:r>
              <a:rPr lang="pt-BR" sz="1600" dirty="0">
                <a:solidFill>
                  <a:srgbClr val="000000"/>
                </a:solidFill>
                <a:latin typeface="Consolas" panose="020B0609020204030204" pitchFamily="49" charset="0"/>
              </a:rPr>
              <a:t>)</a:t>
            </a:r>
          </a:p>
          <a:p>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return</a:t>
            </a:r>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true</a:t>
            </a:r>
            <a:r>
              <a:rPr lang="pt-BR" sz="1600" dirty="0">
                <a:solidFill>
                  <a:srgbClr val="000000"/>
                </a:solidFill>
                <a:latin typeface="Consolas" panose="020B0609020204030204" pitchFamily="49" charset="0"/>
              </a:rPr>
              <a:t>;</a:t>
            </a:r>
          </a:p>
          <a:p>
            <a:endParaRPr lang="pt-BR" sz="1600" dirty="0">
              <a:solidFill>
                <a:srgbClr val="000000"/>
              </a:solidFill>
              <a:latin typeface="Consolas" panose="020B0609020204030204" pitchFamily="49" charset="0"/>
            </a:endParaRPr>
          </a:p>
          <a:p>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return</a:t>
            </a:r>
            <a:r>
              <a:rPr lang="pt-BR" sz="1600" dirty="0">
                <a:solidFill>
                  <a:srgbClr val="000000"/>
                </a:solidFill>
                <a:latin typeface="Consolas" panose="020B0609020204030204" pitchFamily="49" charset="0"/>
              </a:rPr>
              <a:t> </a:t>
            </a:r>
            <a:r>
              <a:rPr lang="pt-BR" sz="1600" dirty="0">
                <a:solidFill>
                  <a:srgbClr val="0000FF"/>
                </a:solidFill>
                <a:latin typeface="Consolas" panose="020B0609020204030204" pitchFamily="49" charset="0"/>
              </a:rPr>
              <a:t>false</a:t>
            </a:r>
            <a:r>
              <a:rPr lang="pt-BR" sz="1600" dirty="0">
                <a:solidFill>
                  <a:srgbClr val="000000"/>
                </a:solidFill>
                <a:latin typeface="Consolas" panose="020B0609020204030204" pitchFamily="49" charset="0"/>
              </a:rPr>
              <a:t>;</a:t>
            </a:r>
          </a:p>
          <a:p>
            <a:r>
              <a:rPr lang="pt-BR" sz="1600" dirty="0">
                <a:solidFill>
                  <a:srgbClr val="000000"/>
                </a:solidFill>
                <a:latin typeface="Consolas" panose="020B0609020204030204" pitchFamily="49" charset="0"/>
              </a:rPr>
              <a:t>        }</a:t>
            </a:r>
          </a:p>
          <a:p>
            <a:endParaRPr lang="pt-BR" sz="1600" dirty="0">
              <a:solidFill>
                <a:srgbClr val="000000"/>
              </a:solidFill>
              <a:latin typeface="Consolas" panose="020B0609020204030204" pitchFamily="49" charset="0"/>
            </a:endParaRPr>
          </a:p>
          <a:p>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public</a:t>
            </a:r>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static</a:t>
            </a:r>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bool</a:t>
            </a:r>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operator</a:t>
            </a:r>
            <a:r>
              <a:rPr lang="pt-BR" sz="1600" dirty="0">
                <a:solidFill>
                  <a:srgbClr val="000000"/>
                </a:solidFill>
                <a:latin typeface="Consolas" panose="020B0609020204030204" pitchFamily="49" charset="0"/>
              </a:rPr>
              <a:t> &lt;(</a:t>
            </a:r>
            <a:r>
              <a:rPr lang="pt-BR" sz="1600" dirty="0" err="1">
                <a:solidFill>
                  <a:srgbClr val="2B91AF"/>
                </a:solidFill>
                <a:latin typeface="Consolas" panose="020B0609020204030204" pitchFamily="49" charset="0"/>
              </a:rPr>
              <a:t>Horario</a:t>
            </a:r>
            <a:r>
              <a:rPr lang="pt-BR" sz="1600" dirty="0">
                <a:solidFill>
                  <a:srgbClr val="000000"/>
                </a:solidFill>
                <a:latin typeface="Consolas" panose="020B0609020204030204" pitchFamily="49" charset="0"/>
              </a:rPr>
              <a:t> a, </a:t>
            </a:r>
            <a:r>
              <a:rPr lang="pt-BR" sz="1600" dirty="0" err="1">
                <a:solidFill>
                  <a:srgbClr val="2B91AF"/>
                </a:solidFill>
                <a:latin typeface="Consolas" panose="020B0609020204030204" pitchFamily="49" charset="0"/>
              </a:rPr>
              <a:t>Horario</a:t>
            </a:r>
            <a:r>
              <a:rPr lang="pt-BR" sz="1600" dirty="0">
                <a:solidFill>
                  <a:srgbClr val="000000"/>
                </a:solidFill>
                <a:latin typeface="Consolas" panose="020B0609020204030204" pitchFamily="49" charset="0"/>
              </a:rPr>
              <a:t> b)</a:t>
            </a:r>
          </a:p>
          <a:p>
            <a:r>
              <a:rPr lang="pt-BR" sz="1600" dirty="0">
                <a:solidFill>
                  <a:srgbClr val="000000"/>
                </a:solidFill>
                <a:latin typeface="Consolas" panose="020B0609020204030204" pitchFamily="49" charset="0"/>
              </a:rPr>
              <a:t>        {</a:t>
            </a:r>
          </a:p>
          <a:p>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if</a:t>
            </a:r>
            <a:r>
              <a:rPr lang="pt-BR" sz="1600" dirty="0">
                <a:solidFill>
                  <a:srgbClr val="000000"/>
                </a:solidFill>
                <a:latin typeface="Consolas" panose="020B0609020204030204" pitchFamily="49" charset="0"/>
              </a:rPr>
              <a:t> (</a:t>
            </a:r>
            <a:r>
              <a:rPr lang="pt-BR" sz="1600" dirty="0" err="1">
                <a:solidFill>
                  <a:srgbClr val="000000"/>
                </a:solidFill>
                <a:latin typeface="Consolas" panose="020B0609020204030204" pitchFamily="49" charset="0"/>
              </a:rPr>
              <a:t>a.Horas</a:t>
            </a:r>
            <a:r>
              <a:rPr lang="pt-BR" sz="1600" dirty="0">
                <a:solidFill>
                  <a:srgbClr val="000000"/>
                </a:solidFill>
                <a:latin typeface="Consolas" panose="020B0609020204030204" pitchFamily="49" charset="0"/>
              </a:rPr>
              <a:t> * 60 + </a:t>
            </a:r>
            <a:r>
              <a:rPr lang="pt-BR" sz="1600" dirty="0" err="1">
                <a:solidFill>
                  <a:srgbClr val="000000"/>
                </a:solidFill>
                <a:latin typeface="Consolas" panose="020B0609020204030204" pitchFamily="49" charset="0"/>
              </a:rPr>
              <a:t>a.Minutos</a:t>
            </a:r>
            <a:r>
              <a:rPr lang="pt-BR" sz="1600" dirty="0">
                <a:solidFill>
                  <a:srgbClr val="000000"/>
                </a:solidFill>
                <a:latin typeface="Consolas" panose="020B0609020204030204" pitchFamily="49" charset="0"/>
              </a:rPr>
              <a:t> &lt; </a:t>
            </a:r>
            <a:r>
              <a:rPr lang="pt-BR" sz="1600" dirty="0" err="1">
                <a:solidFill>
                  <a:srgbClr val="000000"/>
                </a:solidFill>
                <a:latin typeface="Consolas" panose="020B0609020204030204" pitchFamily="49" charset="0"/>
              </a:rPr>
              <a:t>b.Horas</a:t>
            </a:r>
            <a:r>
              <a:rPr lang="pt-BR" sz="1600" dirty="0">
                <a:solidFill>
                  <a:srgbClr val="000000"/>
                </a:solidFill>
                <a:latin typeface="Consolas" panose="020B0609020204030204" pitchFamily="49" charset="0"/>
              </a:rPr>
              <a:t> * 60 + </a:t>
            </a:r>
            <a:r>
              <a:rPr lang="pt-BR" sz="1600" dirty="0" err="1">
                <a:solidFill>
                  <a:srgbClr val="000000"/>
                </a:solidFill>
                <a:latin typeface="Consolas" panose="020B0609020204030204" pitchFamily="49" charset="0"/>
              </a:rPr>
              <a:t>b.Minutos</a:t>
            </a:r>
            <a:r>
              <a:rPr lang="pt-BR" sz="1600" dirty="0">
                <a:solidFill>
                  <a:srgbClr val="000000"/>
                </a:solidFill>
                <a:latin typeface="Consolas" panose="020B0609020204030204" pitchFamily="49" charset="0"/>
              </a:rPr>
              <a:t>)</a:t>
            </a:r>
          </a:p>
          <a:p>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return</a:t>
            </a:r>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true</a:t>
            </a:r>
            <a:r>
              <a:rPr lang="pt-BR" sz="1600" dirty="0">
                <a:solidFill>
                  <a:srgbClr val="000000"/>
                </a:solidFill>
                <a:latin typeface="Consolas" panose="020B0609020204030204" pitchFamily="49" charset="0"/>
              </a:rPr>
              <a:t>;</a:t>
            </a:r>
          </a:p>
          <a:p>
            <a:endParaRPr lang="pt-BR" sz="1600" dirty="0">
              <a:solidFill>
                <a:srgbClr val="000000"/>
              </a:solidFill>
              <a:latin typeface="Consolas" panose="020B0609020204030204" pitchFamily="49" charset="0"/>
            </a:endParaRPr>
          </a:p>
          <a:p>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return</a:t>
            </a:r>
            <a:r>
              <a:rPr lang="pt-BR" sz="1600" dirty="0">
                <a:solidFill>
                  <a:srgbClr val="000000"/>
                </a:solidFill>
                <a:latin typeface="Consolas" panose="020B0609020204030204" pitchFamily="49" charset="0"/>
              </a:rPr>
              <a:t> </a:t>
            </a:r>
            <a:r>
              <a:rPr lang="pt-BR" sz="1600" dirty="0">
                <a:solidFill>
                  <a:srgbClr val="0000FF"/>
                </a:solidFill>
                <a:latin typeface="Consolas" panose="020B0609020204030204" pitchFamily="49" charset="0"/>
              </a:rPr>
              <a:t>false</a:t>
            </a:r>
            <a:r>
              <a:rPr lang="pt-BR" sz="1600" dirty="0">
                <a:solidFill>
                  <a:srgbClr val="000000"/>
                </a:solidFill>
                <a:latin typeface="Consolas" panose="020B0609020204030204" pitchFamily="49" charset="0"/>
              </a:rPr>
              <a:t>;</a:t>
            </a:r>
          </a:p>
          <a:p>
            <a:r>
              <a:rPr lang="pt-BR" sz="1600" dirty="0">
                <a:solidFill>
                  <a:srgbClr val="000000"/>
                </a:solidFill>
                <a:latin typeface="Consolas" panose="020B0609020204030204" pitchFamily="49" charset="0"/>
              </a:rPr>
              <a:t>        }</a:t>
            </a:r>
          </a:p>
          <a:p>
            <a:endParaRPr lang="pt-BR" sz="1600" dirty="0">
              <a:solidFill>
                <a:srgbClr val="000000"/>
              </a:solidFill>
              <a:latin typeface="Consolas" panose="020B0609020204030204" pitchFamily="49" charset="0"/>
            </a:endParaRPr>
          </a:p>
          <a:p>
            <a:endParaRPr lang="pt-BR" sz="1600" dirty="0">
              <a:solidFill>
                <a:srgbClr val="000000"/>
              </a:solidFill>
              <a:latin typeface="Consolas" panose="020B0609020204030204" pitchFamily="49" charset="0"/>
            </a:endParaRPr>
          </a:p>
          <a:p>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public</a:t>
            </a:r>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override</a:t>
            </a:r>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string</a:t>
            </a:r>
            <a:r>
              <a:rPr lang="pt-BR" sz="1600" dirty="0">
                <a:solidFill>
                  <a:srgbClr val="000000"/>
                </a:solidFill>
                <a:latin typeface="Consolas" panose="020B0609020204030204" pitchFamily="49" charset="0"/>
              </a:rPr>
              <a:t> </a:t>
            </a:r>
            <a:r>
              <a:rPr lang="pt-BR" sz="1600" dirty="0" err="1">
                <a:solidFill>
                  <a:srgbClr val="000000"/>
                </a:solidFill>
                <a:latin typeface="Consolas" panose="020B0609020204030204" pitchFamily="49" charset="0"/>
              </a:rPr>
              <a:t>ToString</a:t>
            </a:r>
            <a:r>
              <a:rPr lang="pt-BR" sz="1600" dirty="0">
                <a:solidFill>
                  <a:srgbClr val="000000"/>
                </a:solidFill>
                <a:latin typeface="Consolas" panose="020B0609020204030204" pitchFamily="49" charset="0"/>
              </a:rPr>
              <a:t>()</a:t>
            </a:r>
          </a:p>
          <a:p>
            <a:r>
              <a:rPr lang="pt-BR" sz="1600" dirty="0">
                <a:solidFill>
                  <a:srgbClr val="000000"/>
                </a:solidFill>
                <a:latin typeface="Consolas" panose="020B0609020204030204" pitchFamily="49" charset="0"/>
              </a:rPr>
              <a:t>        {</a:t>
            </a:r>
          </a:p>
          <a:p>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return</a:t>
            </a:r>
            <a:r>
              <a:rPr lang="pt-BR" sz="1600" dirty="0">
                <a:solidFill>
                  <a:srgbClr val="000000"/>
                </a:solidFill>
                <a:latin typeface="Consolas" panose="020B0609020204030204" pitchFamily="49" charset="0"/>
              </a:rPr>
              <a:t> </a:t>
            </a:r>
            <a:r>
              <a:rPr lang="pt-BR" sz="1600" dirty="0" err="1">
                <a:solidFill>
                  <a:srgbClr val="000000"/>
                </a:solidFill>
                <a:latin typeface="Consolas" panose="020B0609020204030204" pitchFamily="49" charset="0"/>
              </a:rPr>
              <a:t>Horas.ToString</a:t>
            </a:r>
            <a:r>
              <a:rPr lang="pt-BR" sz="1600" dirty="0">
                <a:solidFill>
                  <a:srgbClr val="000000"/>
                </a:solidFill>
                <a:latin typeface="Consolas" panose="020B0609020204030204" pitchFamily="49" charset="0"/>
              </a:rPr>
              <a:t>(</a:t>
            </a:r>
            <a:r>
              <a:rPr lang="pt-BR" sz="1600" dirty="0">
                <a:solidFill>
                  <a:srgbClr val="A31515"/>
                </a:solidFill>
                <a:latin typeface="Consolas" panose="020B0609020204030204" pitchFamily="49" charset="0"/>
              </a:rPr>
              <a:t>"00"</a:t>
            </a:r>
            <a:r>
              <a:rPr lang="pt-BR" sz="1600" dirty="0">
                <a:solidFill>
                  <a:srgbClr val="000000"/>
                </a:solidFill>
                <a:latin typeface="Consolas" panose="020B0609020204030204" pitchFamily="49" charset="0"/>
              </a:rPr>
              <a:t>) + </a:t>
            </a:r>
            <a:r>
              <a:rPr lang="pt-BR" sz="1600" dirty="0">
                <a:solidFill>
                  <a:srgbClr val="A31515"/>
                </a:solidFill>
                <a:latin typeface="Consolas" panose="020B0609020204030204" pitchFamily="49" charset="0"/>
              </a:rPr>
              <a:t>":"</a:t>
            </a:r>
            <a:r>
              <a:rPr lang="pt-BR" sz="1600" dirty="0">
                <a:solidFill>
                  <a:srgbClr val="000000"/>
                </a:solidFill>
                <a:latin typeface="Consolas" panose="020B0609020204030204" pitchFamily="49" charset="0"/>
              </a:rPr>
              <a:t> + </a:t>
            </a:r>
            <a:r>
              <a:rPr lang="pt-BR" sz="1600" dirty="0" err="1">
                <a:solidFill>
                  <a:srgbClr val="000000"/>
                </a:solidFill>
                <a:latin typeface="Consolas" panose="020B0609020204030204" pitchFamily="49" charset="0"/>
              </a:rPr>
              <a:t>Minutos.ToString</a:t>
            </a:r>
            <a:r>
              <a:rPr lang="pt-BR" sz="1600" dirty="0">
                <a:solidFill>
                  <a:srgbClr val="000000"/>
                </a:solidFill>
                <a:latin typeface="Consolas" panose="020B0609020204030204" pitchFamily="49" charset="0"/>
              </a:rPr>
              <a:t>(</a:t>
            </a:r>
            <a:r>
              <a:rPr lang="pt-BR" sz="1600" dirty="0">
                <a:solidFill>
                  <a:srgbClr val="A31515"/>
                </a:solidFill>
                <a:latin typeface="Consolas" panose="020B0609020204030204" pitchFamily="49" charset="0"/>
              </a:rPr>
              <a:t>"00"</a:t>
            </a:r>
            <a:r>
              <a:rPr lang="pt-BR" sz="1600" dirty="0">
                <a:solidFill>
                  <a:srgbClr val="000000"/>
                </a:solidFill>
                <a:latin typeface="Consolas" panose="020B0609020204030204" pitchFamily="49" charset="0"/>
              </a:rPr>
              <a:t>);</a:t>
            </a:r>
          </a:p>
          <a:p>
            <a:r>
              <a:rPr lang="pt-BR" sz="1600" dirty="0">
                <a:solidFill>
                  <a:srgbClr val="000000"/>
                </a:solidFill>
                <a:latin typeface="Consolas" panose="020B0609020204030204" pitchFamily="49" charset="0"/>
              </a:rPr>
              <a:t>        }</a:t>
            </a:r>
            <a:endParaRPr lang="pt-BR" sz="1600" dirty="0"/>
          </a:p>
          <a:p>
            <a:endParaRPr lang="pt-BR" sz="1600" dirty="0"/>
          </a:p>
        </p:txBody>
      </p:sp>
    </p:spTree>
    <p:extLst>
      <p:ext uri="{BB962C8B-B14F-4D97-AF65-F5344CB8AC3E}">
        <p14:creationId xmlns:p14="http://schemas.microsoft.com/office/powerpoint/2010/main" val="16975173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p:cNvSpPr/>
          <p:nvPr/>
        </p:nvSpPr>
        <p:spPr>
          <a:xfrm>
            <a:off x="206829" y="163286"/>
            <a:ext cx="11419115" cy="6355586"/>
          </a:xfrm>
          <a:prstGeom prst="rect">
            <a:avLst/>
          </a:prstGeom>
        </p:spPr>
        <p:txBody>
          <a:bodyPr wrap="square">
            <a:spAutoFit/>
          </a:bodyPr>
          <a:lstStyle/>
          <a:p>
            <a:r>
              <a:rPr lang="pt-BR" sz="1100" dirty="0" err="1">
                <a:solidFill>
                  <a:srgbClr val="0000FF"/>
                </a:solidFill>
                <a:latin typeface="Consolas" panose="020B0609020204030204" pitchFamily="49" charset="0"/>
              </a:rPr>
              <a:t>public</a:t>
            </a:r>
            <a:r>
              <a:rPr lang="pt-BR" sz="1100" dirty="0">
                <a:solidFill>
                  <a:srgbClr val="000000"/>
                </a:solidFill>
                <a:latin typeface="Consolas" panose="020B0609020204030204" pitchFamily="49" charset="0"/>
              </a:rPr>
              <a:t> </a:t>
            </a:r>
            <a:r>
              <a:rPr lang="pt-BR" sz="1100" dirty="0" err="1">
                <a:solidFill>
                  <a:srgbClr val="0000FF"/>
                </a:solidFill>
                <a:latin typeface="Consolas" panose="020B0609020204030204" pitchFamily="49" charset="0"/>
              </a:rPr>
              <a:t>static</a:t>
            </a:r>
            <a:r>
              <a:rPr lang="pt-BR" sz="1100" dirty="0">
                <a:solidFill>
                  <a:srgbClr val="000000"/>
                </a:solidFill>
                <a:latin typeface="Consolas" panose="020B0609020204030204" pitchFamily="49" charset="0"/>
              </a:rPr>
              <a:t> </a:t>
            </a:r>
            <a:r>
              <a:rPr lang="pt-BR" sz="1100" dirty="0" err="1">
                <a:solidFill>
                  <a:srgbClr val="2B91AF"/>
                </a:solidFill>
                <a:latin typeface="Consolas" panose="020B0609020204030204" pitchFamily="49" charset="0"/>
              </a:rPr>
              <a:t>Horario</a:t>
            </a:r>
            <a:r>
              <a:rPr lang="pt-BR" sz="1100" dirty="0">
                <a:solidFill>
                  <a:srgbClr val="000000"/>
                </a:solidFill>
                <a:latin typeface="Consolas" panose="020B0609020204030204" pitchFamily="49" charset="0"/>
              </a:rPr>
              <a:t> </a:t>
            </a:r>
            <a:r>
              <a:rPr lang="pt-BR" sz="1100" dirty="0" err="1">
                <a:solidFill>
                  <a:srgbClr val="0000FF"/>
                </a:solidFill>
                <a:latin typeface="Consolas" panose="020B0609020204030204" pitchFamily="49" charset="0"/>
              </a:rPr>
              <a:t>operator</a:t>
            </a:r>
            <a:r>
              <a:rPr lang="pt-BR" sz="1100" dirty="0">
                <a:solidFill>
                  <a:srgbClr val="000000"/>
                </a:solidFill>
                <a:latin typeface="Consolas" panose="020B0609020204030204" pitchFamily="49" charset="0"/>
              </a:rPr>
              <a:t> -(</a:t>
            </a:r>
            <a:r>
              <a:rPr lang="pt-BR" sz="1100" dirty="0" err="1">
                <a:solidFill>
                  <a:srgbClr val="2B91AF"/>
                </a:solidFill>
                <a:latin typeface="Consolas" panose="020B0609020204030204" pitchFamily="49" charset="0"/>
              </a:rPr>
              <a:t>Horario</a:t>
            </a:r>
            <a:r>
              <a:rPr lang="pt-BR" sz="1100" dirty="0">
                <a:solidFill>
                  <a:srgbClr val="000000"/>
                </a:solidFill>
                <a:latin typeface="Consolas" panose="020B0609020204030204" pitchFamily="49" charset="0"/>
              </a:rPr>
              <a:t> a, </a:t>
            </a:r>
            <a:r>
              <a:rPr lang="pt-BR" sz="1100" dirty="0" err="1">
                <a:solidFill>
                  <a:srgbClr val="2B91AF"/>
                </a:solidFill>
                <a:latin typeface="Consolas" panose="020B0609020204030204" pitchFamily="49" charset="0"/>
              </a:rPr>
              <a:t>Horario</a:t>
            </a:r>
            <a:r>
              <a:rPr lang="pt-BR" sz="1100" dirty="0">
                <a:solidFill>
                  <a:srgbClr val="000000"/>
                </a:solidFill>
                <a:latin typeface="Consolas" panose="020B0609020204030204" pitchFamily="49" charset="0"/>
              </a:rPr>
              <a:t> b)</a:t>
            </a:r>
          </a:p>
          <a:p>
            <a:r>
              <a:rPr lang="pt-BR" sz="1100" dirty="0">
                <a:solidFill>
                  <a:srgbClr val="000000"/>
                </a:solidFill>
                <a:latin typeface="Consolas" panose="020B0609020204030204" pitchFamily="49" charset="0"/>
              </a:rPr>
              <a:t>        {</a:t>
            </a:r>
          </a:p>
          <a:p>
            <a:r>
              <a:rPr lang="pt-BR" sz="1100" dirty="0">
                <a:solidFill>
                  <a:srgbClr val="000000"/>
                </a:solidFill>
                <a:latin typeface="Consolas" panose="020B0609020204030204" pitchFamily="49" charset="0"/>
              </a:rPr>
              <a:t>            </a:t>
            </a:r>
            <a:r>
              <a:rPr lang="pt-BR" sz="1100" dirty="0" err="1">
                <a:solidFill>
                  <a:srgbClr val="0000FF"/>
                </a:solidFill>
                <a:latin typeface="Consolas" panose="020B0609020204030204" pitchFamily="49" charset="0"/>
              </a:rPr>
              <a:t>if</a:t>
            </a:r>
            <a:r>
              <a:rPr lang="pt-BR" sz="1100" dirty="0">
                <a:solidFill>
                  <a:srgbClr val="000000"/>
                </a:solidFill>
                <a:latin typeface="Consolas" panose="020B0609020204030204" pitchFamily="49" charset="0"/>
              </a:rPr>
              <a:t> (a &gt; b)</a:t>
            </a:r>
          </a:p>
          <a:p>
            <a:r>
              <a:rPr lang="pt-BR" sz="1100" dirty="0">
                <a:solidFill>
                  <a:srgbClr val="000000"/>
                </a:solidFill>
                <a:latin typeface="Consolas" panose="020B0609020204030204" pitchFamily="49" charset="0"/>
              </a:rPr>
              <a:t>            {</a:t>
            </a:r>
          </a:p>
          <a:p>
            <a:r>
              <a:rPr lang="pt-BR" sz="1100" dirty="0">
                <a:solidFill>
                  <a:srgbClr val="000000"/>
                </a:solidFill>
                <a:latin typeface="Consolas" panose="020B0609020204030204" pitchFamily="49" charset="0"/>
              </a:rPr>
              <a:t>                </a:t>
            </a:r>
            <a:r>
              <a:rPr lang="pt-BR" sz="1100" dirty="0" err="1">
                <a:solidFill>
                  <a:srgbClr val="0000FF"/>
                </a:solidFill>
                <a:latin typeface="Consolas" panose="020B0609020204030204" pitchFamily="49" charset="0"/>
              </a:rPr>
              <a:t>int</a:t>
            </a:r>
            <a:r>
              <a:rPr lang="pt-BR" sz="1100" dirty="0">
                <a:solidFill>
                  <a:srgbClr val="000000"/>
                </a:solidFill>
                <a:latin typeface="Consolas" panose="020B0609020204030204" pitchFamily="49" charset="0"/>
              </a:rPr>
              <a:t> m = 0, h = 0;</a:t>
            </a:r>
          </a:p>
          <a:p>
            <a:r>
              <a:rPr lang="pt-BR" sz="1100" dirty="0">
                <a:solidFill>
                  <a:srgbClr val="000000"/>
                </a:solidFill>
                <a:latin typeface="Consolas" panose="020B0609020204030204" pitchFamily="49" charset="0"/>
              </a:rPr>
              <a:t>                h = </a:t>
            </a:r>
            <a:r>
              <a:rPr lang="pt-BR" sz="1100" dirty="0" err="1">
                <a:solidFill>
                  <a:srgbClr val="000000"/>
                </a:solidFill>
                <a:latin typeface="Consolas" panose="020B0609020204030204" pitchFamily="49" charset="0"/>
              </a:rPr>
              <a:t>a.Horas</a:t>
            </a:r>
            <a:r>
              <a:rPr lang="pt-BR" sz="1100" dirty="0">
                <a:solidFill>
                  <a:srgbClr val="000000"/>
                </a:solidFill>
                <a:latin typeface="Consolas" panose="020B0609020204030204" pitchFamily="49" charset="0"/>
              </a:rPr>
              <a:t> - </a:t>
            </a:r>
            <a:r>
              <a:rPr lang="pt-BR" sz="1100" dirty="0" err="1">
                <a:solidFill>
                  <a:srgbClr val="000000"/>
                </a:solidFill>
                <a:latin typeface="Consolas" panose="020B0609020204030204" pitchFamily="49" charset="0"/>
              </a:rPr>
              <a:t>b.Horas</a:t>
            </a:r>
            <a:r>
              <a:rPr lang="pt-BR" sz="1100" dirty="0">
                <a:solidFill>
                  <a:srgbClr val="000000"/>
                </a:solidFill>
                <a:latin typeface="Consolas" panose="020B0609020204030204" pitchFamily="49" charset="0"/>
              </a:rPr>
              <a:t>;</a:t>
            </a:r>
          </a:p>
          <a:p>
            <a:endParaRPr lang="pt-BR" sz="1100" dirty="0">
              <a:solidFill>
                <a:srgbClr val="000000"/>
              </a:solidFill>
              <a:latin typeface="Consolas" panose="020B0609020204030204" pitchFamily="49" charset="0"/>
            </a:endParaRPr>
          </a:p>
          <a:p>
            <a:r>
              <a:rPr lang="pt-BR" sz="1100" dirty="0">
                <a:solidFill>
                  <a:srgbClr val="000000"/>
                </a:solidFill>
                <a:latin typeface="Consolas" panose="020B0609020204030204" pitchFamily="49" charset="0"/>
              </a:rPr>
              <a:t>                </a:t>
            </a:r>
            <a:r>
              <a:rPr lang="pt-BR" sz="1100" dirty="0" err="1">
                <a:solidFill>
                  <a:srgbClr val="0000FF"/>
                </a:solidFill>
                <a:latin typeface="Consolas" panose="020B0609020204030204" pitchFamily="49" charset="0"/>
              </a:rPr>
              <a:t>if</a:t>
            </a:r>
            <a:r>
              <a:rPr lang="pt-BR" sz="1100" dirty="0">
                <a:solidFill>
                  <a:srgbClr val="000000"/>
                </a:solidFill>
                <a:latin typeface="Consolas" panose="020B0609020204030204" pitchFamily="49" charset="0"/>
              </a:rPr>
              <a:t> (</a:t>
            </a:r>
            <a:r>
              <a:rPr lang="pt-BR" sz="1100" dirty="0" err="1">
                <a:solidFill>
                  <a:srgbClr val="000000"/>
                </a:solidFill>
                <a:latin typeface="Consolas" panose="020B0609020204030204" pitchFamily="49" charset="0"/>
              </a:rPr>
              <a:t>a.Minutos</a:t>
            </a:r>
            <a:r>
              <a:rPr lang="pt-BR" sz="1100" dirty="0">
                <a:solidFill>
                  <a:srgbClr val="000000"/>
                </a:solidFill>
                <a:latin typeface="Consolas" panose="020B0609020204030204" pitchFamily="49" charset="0"/>
              </a:rPr>
              <a:t> &gt; </a:t>
            </a:r>
            <a:r>
              <a:rPr lang="pt-BR" sz="1100" dirty="0" err="1">
                <a:solidFill>
                  <a:srgbClr val="000000"/>
                </a:solidFill>
                <a:latin typeface="Consolas" panose="020B0609020204030204" pitchFamily="49" charset="0"/>
              </a:rPr>
              <a:t>b.Minutos</a:t>
            </a:r>
            <a:r>
              <a:rPr lang="pt-BR" sz="1100" dirty="0">
                <a:solidFill>
                  <a:srgbClr val="000000"/>
                </a:solidFill>
                <a:latin typeface="Consolas" panose="020B0609020204030204" pitchFamily="49" charset="0"/>
              </a:rPr>
              <a:t>)</a:t>
            </a:r>
          </a:p>
          <a:p>
            <a:r>
              <a:rPr lang="pt-BR" sz="1100" dirty="0">
                <a:solidFill>
                  <a:srgbClr val="000000"/>
                </a:solidFill>
                <a:latin typeface="Consolas" panose="020B0609020204030204" pitchFamily="49" charset="0"/>
              </a:rPr>
              <a:t>                {</a:t>
            </a:r>
          </a:p>
          <a:p>
            <a:r>
              <a:rPr lang="pt-BR" sz="1100" dirty="0">
                <a:solidFill>
                  <a:srgbClr val="000000"/>
                </a:solidFill>
                <a:latin typeface="Consolas" panose="020B0609020204030204" pitchFamily="49" charset="0"/>
              </a:rPr>
              <a:t>                    m = </a:t>
            </a:r>
            <a:r>
              <a:rPr lang="pt-BR" sz="1100" dirty="0" err="1">
                <a:solidFill>
                  <a:srgbClr val="000000"/>
                </a:solidFill>
                <a:latin typeface="Consolas" panose="020B0609020204030204" pitchFamily="49" charset="0"/>
              </a:rPr>
              <a:t>a.Minutos</a:t>
            </a:r>
            <a:r>
              <a:rPr lang="pt-BR" sz="1100" dirty="0">
                <a:solidFill>
                  <a:srgbClr val="000000"/>
                </a:solidFill>
                <a:latin typeface="Consolas" panose="020B0609020204030204" pitchFamily="49" charset="0"/>
              </a:rPr>
              <a:t> - </a:t>
            </a:r>
            <a:r>
              <a:rPr lang="pt-BR" sz="1100" dirty="0" err="1">
                <a:solidFill>
                  <a:srgbClr val="000000"/>
                </a:solidFill>
                <a:latin typeface="Consolas" panose="020B0609020204030204" pitchFamily="49" charset="0"/>
              </a:rPr>
              <a:t>b.Minutos</a:t>
            </a:r>
            <a:r>
              <a:rPr lang="pt-BR" sz="1100" dirty="0">
                <a:solidFill>
                  <a:srgbClr val="000000"/>
                </a:solidFill>
                <a:latin typeface="Consolas" panose="020B0609020204030204" pitchFamily="49" charset="0"/>
              </a:rPr>
              <a:t>;</a:t>
            </a:r>
          </a:p>
          <a:p>
            <a:r>
              <a:rPr lang="pt-BR" sz="1100" dirty="0">
                <a:solidFill>
                  <a:srgbClr val="000000"/>
                </a:solidFill>
                <a:latin typeface="Consolas" panose="020B0609020204030204" pitchFamily="49" charset="0"/>
              </a:rPr>
              <a:t>                }</a:t>
            </a:r>
          </a:p>
          <a:p>
            <a:r>
              <a:rPr lang="pt-BR" sz="1100" dirty="0">
                <a:solidFill>
                  <a:srgbClr val="000000"/>
                </a:solidFill>
                <a:latin typeface="Consolas" panose="020B0609020204030204" pitchFamily="49" charset="0"/>
              </a:rPr>
              <a:t>                </a:t>
            </a:r>
            <a:r>
              <a:rPr lang="pt-BR" sz="1100" dirty="0" err="1">
                <a:solidFill>
                  <a:srgbClr val="0000FF"/>
                </a:solidFill>
                <a:latin typeface="Consolas" panose="020B0609020204030204" pitchFamily="49" charset="0"/>
              </a:rPr>
              <a:t>else</a:t>
            </a:r>
            <a:endParaRPr lang="pt-BR" sz="1100" dirty="0">
              <a:solidFill>
                <a:srgbClr val="000000"/>
              </a:solidFill>
              <a:latin typeface="Consolas" panose="020B0609020204030204" pitchFamily="49" charset="0"/>
            </a:endParaRPr>
          </a:p>
          <a:p>
            <a:r>
              <a:rPr lang="pt-BR" sz="1100" dirty="0">
                <a:solidFill>
                  <a:srgbClr val="000000"/>
                </a:solidFill>
                <a:latin typeface="Consolas" panose="020B0609020204030204" pitchFamily="49" charset="0"/>
              </a:rPr>
              <a:t>                {</a:t>
            </a:r>
          </a:p>
          <a:p>
            <a:r>
              <a:rPr lang="pt-BR" sz="1100" dirty="0">
                <a:solidFill>
                  <a:srgbClr val="000000"/>
                </a:solidFill>
                <a:latin typeface="Consolas" panose="020B0609020204030204" pitchFamily="49" charset="0"/>
              </a:rPr>
              <a:t>                    h--;</a:t>
            </a:r>
          </a:p>
          <a:p>
            <a:r>
              <a:rPr lang="pt-BR" sz="1100" dirty="0">
                <a:solidFill>
                  <a:srgbClr val="000000"/>
                </a:solidFill>
                <a:latin typeface="Consolas" panose="020B0609020204030204" pitchFamily="49" charset="0"/>
              </a:rPr>
              <a:t>                    m = 60 + </a:t>
            </a:r>
            <a:r>
              <a:rPr lang="pt-BR" sz="1100" dirty="0" err="1">
                <a:solidFill>
                  <a:srgbClr val="000000"/>
                </a:solidFill>
                <a:latin typeface="Consolas" panose="020B0609020204030204" pitchFamily="49" charset="0"/>
              </a:rPr>
              <a:t>a.Minutos</a:t>
            </a:r>
            <a:r>
              <a:rPr lang="pt-BR" sz="1100" dirty="0">
                <a:solidFill>
                  <a:srgbClr val="000000"/>
                </a:solidFill>
                <a:latin typeface="Consolas" panose="020B0609020204030204" pitchFamily="49" charset="0"/>
              </a:rPr>
              <a:t> - </a:t>
            </a:r>
            <a:r>
              <a:rPr lang="pt-BR" sz="1100" dirty="0" err="1">
                <a:solidFill>
                  <a:srgbClr val="000000"/>
                </a:solidFill>
                <a:latin typeface="Consolas" panose="020B0609020204030204" pitchFamily="49" charset="0"/>
              </a:rPr>
              <a:t>b.Minutos</a:t>
            </a:r>
            <a:r>
              <a:rPr lang="pt-BR" sz="1100" dirty="0">
                <a:solidFill>
                  <a:srgbClr val="000000"/>
                </a:solidFill>
                <a:latin typeface="Consolas" panose="020B0609020204030204" pitchFamily="49" charset="0"/>
              </a:rPr>
              <a:t>;</a:t>
            </a:r>
          </a:p>
          <a:p>
            <a:r>
              <a:rPr lang="pt-BR" sz="1100" dirty="0">
                <a:solidFill>
                  <a:srgbClr val="000000"/>
                </a:solidFill>
                <a:latin typeface="Consolas" panose="020B0609020204030204" pitchFamily="49" charset="0"/>
              </a:rPr>
              <a:t>                }</a:t>
            </a:r>
          </a:p>
          <a:p>
            <a:r>
              <a:rPr lang="pt-BR" sz="1100" dirty="0">
                <a:solidFill>
                  <a:srgbClr val="000000"/>
                </a:solidFill>
                <a:latin typeface="Consolas" panose="020B0609020204030204" pitchFamily="49" charset="0"/>
              </a:rPr>
              <a:t>                </a:t>
            </a:r>
            <a:r>
              <a:rPr lang="pt-BR" sz="1100" dirty="0" err="1">
                <a:solidFill>
                  <a:srgbClr val="0000FF"/>
                </a:solidFill>
                <a:latin typeface="Consolas" panose="020B0609020204030204" pitchFamily="49" charset="0"/>
              </a:rPr>
              <a:t>return</a:t>
            </a:r>
            <a:r>
              <a:rPr lang="pt-BR" sz="1100" dirty="0">
                <a:solidFill>
                  <a:srgbClr val="000000"/>
                </a:solidFill>
                <a:latin typeface="Consolas" panose="020B0609020204030204" pitchFamily="49" charset="0"/>
              </a:rPr>
              <a:t> </a:t>
            </a:r>
            <a:r>
              <a:rPr lang="pt-BR" sz="1100" dirty="0">
                <a:solidFill>
                  <a:srgbClr val="0000FF"/>
                </a:solidFill>
                <a:latin typeface="Consolas" panose="020B0609020204030204" pitchFamily="49" charset="0"/>
              </a:rPr>
              <a:t>new</a:t>
            </a:r>
            <a:r>
              <a:rPr lang="pt-BR" sz="1100" dirty="0">
                <a:solidFill>
                  <a:srgbClr val="000000"/>
                </a:solidFill>
                <a:latin typeface="Consolas" panose="020B0609020204030204" pitchFamily="49" charset="0"/>
              </a:rPr>
              <a:t> </a:t>
            </a:r>
            <a:r>
              <a:rPr lang="pt-BR" sz="1100" dirty="0" err="1">
                <a:solidFill>
                  <a:srgbClr val="2B91AF"/>
                </a:solidFill>
                <a:latin typeface="Consolas" panose="020B0609020204030204" pitchFamily="49" charset="0"/>
              </a:rPr>
              <a:t>Horario</a:t>
            </a:r>
            <a:r>
              <a:rPr lang="pt-BR" sz="1100" dirty="0">
                <a:solidFill>
                  <a:srgbClr val="000000"/>
                </a:solidFill>
                <a:latin typeface="Consolas" panose="020B0609020204030204" pitchFamily="49" charset="0"/>
              </a:rPr>
              <a:t>(h, m);</a:t>
            </a:r>
          </a:p>
          <a:p>
            <a:r>
              <a:rPr lang="pt-BR" sz="1100" dirty="0">
                <a:solidFill>
                  <a:srgbClr val="000000"/>
                </a:solidFill>
                <a:latin typeface="Consolas" panose="020B0609020204030204" pitchFamily="49" charset="0"/>
              </a:rPr>
              <a:t>            }</a:t>
            </a:r>
          </a:p>
          <a:p>
            <a:r>
              <a:rPr lang="pt-BR" sz="1100" dirty="0">
                <a:solidFill>
                  <a:srgbClr val="000000"/>
                </a:solidFill>
                <a:latin typeface="Consolas" panose="020B0609020204030204" pitchFamily="49" charset="0"/>
              </a:rPr>
              <a:t>            </a:t>
            </a:r>
            <a:r>
              <a:rPr lang="pt-BR" sz="1100" dirty="0" err="1">
                <a:solidFill>
                  <a:srgbClr val="0000FF"/>
                </a:solidFill>
                <a:latin typeface="Consolas" panose="020B0609020204030204" pitchFamily="49" charset="0"/>
              </a:rPr>
              <a:t>else</a:t>
            </a:r>
            <a:r>
              <a:rPr lang="pt-BR" sz="1100" dirty="0">
                <a:solidFill>
                  <a:srgbClr val="000000"/>
                </a:solidFill>
                <a:latin typeface="Consolas" panose="020B0609020204030204" pitchFamily="49" charset="0"/>
              </a:rPr>
              <a:t> </a:t>
            </a:r>
            <a:r>
              <a:rPr lang="pt-BR" sz="1100" dirty="0" err="1">
                <a:solidFill>
                  <a:srgbClr val="0000FF"/>
                </a:solidFill>
                <a:latin typeface="Consolas" panose="020B0609020204030204" pitchFamily="49" charset="0"/>
              </a:rPr>
              <a:t>if</a:t>
            </a:r>
            <a:r>
              <a:rPr lang="pt-BR" sz="1100" dirty="0">
                <a:solidFill>
                  <a:srgbClr val="000000"/>
                </a:solidFill>
                <a:latin typeface="Consolas" panose="020B0609020204030204" pitchFamily="49" charset="0"/>
              </a:rPr>
              <a:t> (a &lt; b)</a:t>
            </a:r>
          </a:p>
          <a:p>
            <a:r>
              <a:rPr lang="pt-BR" sz="1100" dirty="0">
                <a:solidFill>
                  <a:srgbClr val="000000"/>
                </a:solidFill>
                <a:latin typeface="Consolas" panose="020B0609020204030204" pitchFamily="49" charset="0"/>
              </a:rPr>
              <a:t>            {</a:t>
            </a:r>
          </a:p>
          <a:p>
            <a:r>
              <a:rPr lang="pt-BR" sz="1100" dirty="0">
                <a:solidFill>
                  <a:srgbClr val="000000"/>
                </a:solidFill>
                <a:latin typeface="Consolas" panose="020B0609020204030204" pitchFamily="49" charset="0"/>
              </a:rPr>
              <a:t>                </a:t>
            </a:r>
            <a:r>
              <a:rPr lang="pt-BR" sz="1100" dirty="0" err="1">
                <a:solidFill>
                  <a:srgbClr val="0000FF"/>
                </a:solidFill>
                <a:latin typeface="Consolas" panose="020B0609020204030204" pitchFamily="49" charset="0"/>
              </a:rPr>
              <a:t>int</a:t>
            </a:r>
            <a:r>
              <a:rPr lang="pt-BR" sz="1100" dirty="0">
                <a:solidFill>
                  <a:srgbClr val="000000"/>
                </a:solidFill>
                <a:latin typeface="Consolas" panose="020B0609020204030204" pitchFamily="49" charset="0"/>
              </a:rPr>
              <a:t> m = 0, h = 0;</a:t>
            </a:r>
          </a:p>
          <a:p>
            <a:r>
              <a:rPr lang="pt-BR" sz="1100" dirty="0">
                <a:solidFill>
                  <a:srgbClr val="000000"/>
                </a:solidFill>
                <a:latin typeface="Consolas" panose="020B0609020204030204" pitchFamily="49" charset="0"/>
              </a:rPr>
              <a:t>                h = </a:t>
            </a:r>
            <a:r>
              <a:rPr lang="pt-BR" sz="1100" dirty="0" err="1">
                <a:solidFill>
                  <a:srgbClr val="000000"/>
                </a:solidFill>
                <a:latin typeface="Consolas" panose="020B0609020204030204" pitchFamily="49" charset="0"/>
              </a:rPr>
              <a:t>b.Horas</a:t>
            </a:r>
            <a:r>
              <a:rPr lang="pt-BR" sz="1100" dirty="0">
                <a:solidFill>
                  <a:srgbClr val="000000"/>
                </a:solidFill>
                <a:latin typeface="Consolas" panose="020B0609020204030204" pitchFamily="49" charset="0"/>
              </a:rPr>
              <a:t> - </a:t>
            </a:r>
            <a:r>
              <a:rPr lang="pt-BR" sz="1100" dirty="0" err="1">
                <a:solidFill>
                  <a:srgbClr val="000000"/>
                </a:solidFill>
                <a:latin typeface="Consolas" panose="020B0609020204030204" pitchFamily="49" charset="0"/>
              </a:rPr>
              <a:t>a.Horas</a:t>
            </a:r>
            <a:r>
              <a:rPr lang="pt-BR" sz="1100" dirty="0">
                <a:solidFill>
                  <a:srgbClr val="000000"/>
                </a:solidFill>
                <a:latin typeface="Consolas" panose="020B0609020204030204" pitchFamily="49" charset="0"/>
              </a:rPr>
              <a:t>;</a:t>
            </a:r>
          </a:p>
          <a:p>
            <a:endParaRPr lang="pt-BR" sz="1100" dirty="0">
              <a:solidFill>
                <a:srgbClr val="000000"/>
              </a:solidFill>
              <a:latin typeface="Consolas" panose="020B0609020204030204" pitchFamily="49" charset="0"/>
            </a:endParaRPr>
          </a:p>
          <a:p>
            <a:r>
              <a:rPr lang="pt-BR" sz="1100" dirty="0">
                <a:solidFill>
                  <a:srgbClr val="000000"/>
                </a:solidFill>
                <a:latin typeface="Consolas" panose="020B0609020204030204" pitchFamily="49" charset="0"/>
              </a:rPr>
              <a:t>                </a:t>
            </a:r>
            <a:r>
              <a:rPr lang="pt-BR" sz="1100" dirty="0" err="1">
                <a:solidFill>
                  <a:srgbClr val="0000FF"/>
                </a:solidFill>
                <a:latin typeface="Consolas" panose="020B0609020204030204" pitchFamily="49" charset="0"/>
              </a:rPr>
              <a:t>if</a:t>
            </a:r>
            <a:r>
              <a:rPr lang="pt-BR" sz="1100" dirty="0">
                <a:solidFill>
                  <a:srgbClr val="000000"/>
                </a:solidFill>
                <a:latin typeface="Consolas" panose="020B0609020204030204" pitchFamily="49" charset="0"/>
              </a:rPr>
              <a:t> (</a:t>
            </a:r>
            <a:r>
              <a:rPr lang="pt-BR" sz="1100" dirty="0" err="1">
                <a:solidFill>
                  <a:srgbClr val="000000"/>
                </a:solidFill>
                <a:latin typeface="Consolas" panose="020B0609020204030204" pitchFamily="49" charset="0"/>
              </a:rPr>
              <a:t>b.Minutos</a:t>
            </a:r>
            <a:r>
              <a:rPr lang="pt-BR" sz="1100" dirty="0">
                <a:solidFill>
                  <a:srgbClr val="000000"/>
                </a:solidFill>
                <a:latin typeface="Consolas" panose="020B0609020204030204" pitchFamily="49" charset="0"/>
              </a:rPr>
              <a:t> &gt; </a:t>
            </a:r>
            <a:r>
              <a:rPr lang="pt-BR" sz="1100" dirty="0" err="1">
                <a:solidFill>
                  <a:srgbClr val="000000"/>
                </a:solidFill>
                <a:latin typeface="Consolas" panose="020B0609020204030204" pitchFamily="49" charset="0"/>
              </a:rPr>
              <a:t>a.Minutos</a:t>
            </a:r>
            <a:r>
              <a:rPr lang="pt-BR" sz="1100" dirty="0">
                <a:solidFill>
                  <a:srgbClr val="000000"/>
                </a:solidFill>
                <a:latin typeface="Consolas" panose="020B0609020204030204" pitchFamily="49" charset="0"/>
              </a:rPr>
              <a:t>)</a:t>
            </a:r>
          </a:p>
          <a:p>
            <a:r>
              <a:rPr lang="pt-BR" sz="1100" dirty="0">
                <a:solidFill>
                  <a:srgbClr val="000000"/>
                </a:solidFill>
                <a:latin typeface="Consolas" panose="020B0609020204030204" pitchFamily="49" charset="0"/>
              </a:rPr>
              <a:t>                {</a:t>
            </a:r>
          </a:p>
          <a:p>
            <a:r>
              <a:rPr lang="pt-BR" sz="1100" dirty="0">
                <a:solidFill>
                  <a:srgbClr val="000000"/>
                </a:solidFill>
                <a:latin typeface="Consolas" panose="020B0609020204030204" pitchFamily="49" charset="0"/>
              </a:rPr>
              <a:t>                    m = </a:t>
            </a:r>
            <a:r>
              <a:rPr lang="pt-BR" sz="1100" dirty="0" err="1">
                <a:solidFill>
                  <a:srgbClr val="000000"/>
                </a:solidFill>
                <a:latin typeface="Consolas" panose="020B0609020204030204" pitchFamily="49" charset="0"/>
              </a:rPr>
              <a:t>b.Minutos</a:t>
            </a:r>
            <a:r>
              <a:rPr lang="pt-BR" sz="1100" dirty="0">
                <a:solidFill>
                  <a:srgbClr val="000000"/>
                </a:solidFill>
                <a:latin typeface="Consolas" panose="020B0609020204030204" pitchFamily="49" charset="0"/>
              </a:rPr>
              <a:t> - </a:t>
            </a:r>
            <a:r>
              <a:rPr lang="pt-BR" sz="1100" dirty="0" err="1">
                <a:solidFill>
                  <a:srgbClr val="000000"/>
                </a:solidFill>
                <a:latin typeface="Consolas" panose="020B0609020204030204" pitchFamily="49" charset="0"/>
              </a:rPr>
              <a:t>a.Minutos</a:t>
            </a:r>
            <a:r>
              <a:rPr lang="pt-BR" sz="1100" dirty="0">
                <a:solidFill>
                  <a:srgbClr val="000000"/>
                </a:solidFill>
                <a:latin typeface="Consolas" panose="020B0609020204030204" pitchFamily="49" charset="0"/>
              </a:rPr>
              <a:t>;</a:t>
            </a:r>
          </a:p>
          <a:p>
            <a:r>
              <a:rPr lang="pt-BR" sz="1100" dirty="0">
                <a:solidFill>
                  <a:srgbClr val="000000"/>
                </a:solidFill>
                <a:latin typeface="Consolas" panose="020B0609020204030204" pitchFamily="49" charset="0"/>
              </a:rPr>
              <a:t>                }</a:t>
            </a:r>
          </a:p>
          <a:p>
            <a:r>
              <a:rPr lang="pt-BR" sz="1100" dirty="0">
                <a:solidFill>
                  <a:srgbClr val="000000"/>
                </a:solidFill>
                <a:latin typeface="Consolas" panose="020B0609020204030204" pitchFamily="49" charset="0"/>
              </a:rPr>
              <a:t>                </a:t>
            </a:r>
            <a:r>
              <a:rPr lang="pt-BR" sz="1100" dirty="0" err="1">
                <a:solidFill>
                  <a:srgbClr val="0000FF"/>
                </a:solidFill>
                <a:latin typeface="Consolas" panose="020B0609020204030204" pitchFamily="49" charset="0"/>
              </a:rPr>
              <a:t>else</a:t>
            </a:r>
            <a:endParaRPr lang="pt-BR" sz="1100" dirty="0">
              <a:solidFill>
                <a:srgbClr val="000000"/>
              </a:solidFill>
              <a:latin typeface="Consolas" panose="020B0609020204030204" pitchFamily="49" charset="0"/>
            </a:endParaRPr>
          </a:p>
          <a:p>
            <a:r>
              <a:rPr lang="pt-BR" sz="1100" dirty="0">
                <a:solidFill>
                  <a:srgbClr val="000000"/>
                </a:solidFill>
                <a:latin typeface="Consolas" panose="020B0609020204030204" pitchFamily="49" charset="0"/>
              </a:rPr>
              <a:t>                {</a:t>
            </a:r>
          </a:p>
          <a:p>
            <a:r>
              <a:rPr lang="pt-BR" sz="1100" dirty="0">
                <a:solidFill>
                  <a:srgbClr val="000000"/>
                </a:solidFill>
                <a:latin typeface="Consolas" panose="020B0609020204030204" pitchFamily="49" charset="0"/>
              </a:rPr>
              <a:t>                    h--;</a:t>
            </a:r>
          </a:p>
          <a:p>
            <a:r>
              <a:rPr lang="pt-BR" sz="1100" dirty="0">
                <a:solidFill>
                  <a:srgbClr val="000000"/>
                </a:solidFill>
                <a:latin typeface="Consolas" panose="020B0609020204030204" pitchFamily="49" charset="0"/>
              </a:rPr>
              <a:t>                    m = 60 + </a:t>
            </a:r>
            <a:r>
              <a:rPr lang="pt-BR" sz="1100" dirty="0" err="1">
                <a:solidFill>
                  <a:srgbClr val="000000"/>
                </a:solidFill>
                <a:latin typeface="Consolas" panose="020B0609020204030204" pitchFamily="49" charset="0"/>
              </a:rPr>
              <a:t>b.Minutos</a:t>
            </a:r>
            <a:r>
              <a:rPr lang="pt-BR" sz="1100" dirty="0">
                <a:solidFill>
                  <a:srgbClr val="000000"/>
                </a:solidFill>
                <a:latin typeface="Consolas" panose="020B0609020204030204" pitchFamily="49" charset="0"/>
              </a:rPr>
              <a:t> - </a:t>
            </a:r>
            <a:r>
              <a:rPr lang="pt-BR" sz="1100" dirty="0" err="1">
                <a:solidFill>
                  <a:srgbClr val="000000"/>
                </a:solidFill>
                <a:latin typeface="Consolas" panose="020B0609020204030204" pitchFamily="49" charset="0"/>
              </a:rPr>
              <a:t>a.Minutos</a:t>
            </a:r>
            <a:r>
              <a:rPr lang="pt-BR" sz="1100" dirty="0">
                <a:solidFill>
                  <a:srgbClr val="000000"/>
                </a:solidFill>
                <a:latin typeface="Consolas" panose="020B0609020204030204" pitchFamily="49" charset="0"/>
              </a:rPr>
              <a:t>;</a:t>
            </a:r>
          </a:p>
          <a:p>
            <a:r>
              <a:rPr lang="pt-BR" sz="1100" dirty="0">
                <a:solidFill>
                  <a:srgbClr val="000000"/>
                </a:solidFill>
                <a:latin typeface="Consolas" panose="020B0609020204030204" pitchFamily="49" charset="0"/>
              </a:rPr>
              <a:t>                }</a:t>
            </a:r>
          </a:p>
          <a:p>
            <a:r>
              <a:rPr lang="pt-BR" sz="1100" dirty="0">
                <a:solidFill>
                  <a:srgbClr val="000000"/>
                </a:solidFill>
                <a:latin typeface="Consolas" panose="020B0609020204030204" pitchFamily="49" charset="0"/>
              </a:rPr>
              <a:t>                </a:t>
            </a:r>
            <a:r>
              <a:rPr lang="pt-BR" sz="1100" dirty="0" err="1">
                <a:solidFill>
                  <a:srgbClr val="0000FF"/>
                </a:solidFill>
                <a:latin typeface="Consolas" panose="020B0609020204030204" pitchFamily="49" charset="0"/>
              </a:rPr>
              <a:t>return</a:t>
            </a:r>
            <a:r>
              <a:rPr lang="pt-BR" sz="1100" dirty="0">
                <a:solidFill>
                  <a:srgbClr val="000000"/>
                </a:solidFill>
                <a:latin typeface="Consolas" panose="020B0609020204030204" pitchFamily="49" charset="0"/>
              </a:rPr>
              <a:t> </a:t>
            </a:r>
            <a:r>
              <a:rPr lang="pt-BR" sz="1100" dirty="0">
                <a:solidFill>
                  <a:srgbClr val="0000FF"/>
                </a:solidFill>
                <a:latin typeface="Consolas" panose="020B0609020204030204" pitchFamily="49" charset="0"/>
              </a:rPr>
              <a:t>new</a:t>
            </a:r>
            <a:r>
              <a:rPr lang="pt-BR" sz="1100" dirty="0">
                <a:solidFill>
                  <a:srgbClr val="000000"/>
                </a:solidFill>
                <a:latin typeface="Consolas" panose="020B0609020204030204" pitchFamily="49" charset="0"/>
              </a:rPr>
              <a:t> </a:t>
            </a:r>
            <a:r>
              <a:rPr lang="pt-BR" sz="1100" dirty="0" err="1">
                <a:solidFill>
                  <a:srgbClr val="2B91AF"/>
                </a:solidFill>
                <a:latin typeface="Consolas" panose="020B0609020204030204" pitchFamily="49" charset="0"/>
              </a:rPr>
              <a:t>Horario</a:t>
            </a:r>
            <a:r>
              <a:rPr lang="pt-BR" sz="1100" dirty="0">
                <a:solidFill>
                  <a:srgbClr val="000000"/>
                </a:solidFill>
                <a:latin typeface="Consolas" panose="020B0609020204030204" pitchFamily="49" charset="0"/>
              </a:rPr>
              <a:t>(h, m);</a:t>
            </a:r>
          </a:p>
          <a:p>
            <a:r>
              <a:rPr lang="pt-BR" sz="1100" dirty="0">
                <a:solidFill>
                  <a:srgbClr val="000000"/>
                </a:solidFill>
                <a:latin typeface="Consolas" panose="020B0609020204030204" pitchFamily="49" charset="0"/>
              </a:rPr>
              <a:t>            }</a:t>
            </a:r>
          </a:p>
          <a:p>
            <a:r>
              <a:rPr lang="pt-BR" sz="1100" dirty="0">
                <a:solidFill>
                  <a:srgbClr val="000000"/>
                </a:solidFill>
                <a:latin typeface="Consolas" panose="020B0609020204030204" pitchFamily="49" charset="0"/>
              </a:rPr>
              <a:t>            </a:t>
            </a:r>
            <a:r>
              <a:rPr lang="pt-BR" sz="1100" dirty="0" err="1">
                <a:solidFill>
                  <a:srgbClr val="0000FF"/>
                </a:solidFill>
                <a:latin typeface="Consolas" panose="020B0609020204030204" pitchFamily="49" charset="0"/>
              </a:rPr>
              <a:t>else</a:t>
            </a:r>
            <a:endParaRPr lang="pt-BR" sz="1100" dirty="0">
              <a:solidFill>
                <a:srgbClr val="000000"/>
              </a:solidFill>
              <a:latin typeface="Consolas" panose="020B0609020204030204" pitchFamily="49" charset="0"/>
            </a:endParaRPr>
          </a:p>
          <a:p>
            <a:r>
              <a:rPr lang="pt-BR" sz="1100" dirty="0">
                <a:solidFill>
                  <a:srgbClr val="000000"/>
                </a:solidFill>
                <a:latin typeface="Consolas" panose="020B0609020204030204" pitchFamily="49" charset="0"/>
              </a:rPr>
              <a:t>                </a:t>
            </a:r>
            <a:r>
              <a:rPr lang="pt-BR" sz="1100" dirty="0" err="1">
                <a:solidFill>
                  <a:srgbClr val="0000FF"/>
                </a:solidFill>
                <a:latin typeface="Consolas" panose="020B0609020204030204" pitchFamily="49" charset="0"/>
              </a:rPr>
              <a:t>return</a:t>
            </a:r>
            <a:r>
              <a:rPr lang="pt-BR" sz="1100" dirty="0">
                <a:solidFill>
                  <a:srgbClr val="000000"/>
                </a:solidFill>
                <a:latin typeface="Consolas" panose="020B0609020204030204" pitchFamily="49" charset="0"/>
              </a:rPr>
              <a:t> </a:t>
            </a:r>
            <a:r>
              <a:rPr lang="pt-BR" sz="1100" dirty="0">
                <a:solidFill>
                  <a:srgbClr val="0000FF"/>
                </a:solidFill>
                <a:latin typeface="Consolas" panose="020B0609020204030204" pitchFamily="49" charset="0"/>
              </a:rPr>
              <a:t>new</a:t>
            </a:r>
            <a:r>
              <a:rPr lang="pt-BR" sz="1100" dirty="0">
                <a:solidFill>
                  <a:srgbClr val="000000"/>
                </a:solidFill>
                <a:latin typeface="Consolas" panose="020B0609020204030204" pitchFamily="49" charset="0"/>
              </a:rPr>
              <a:t> </a:t>
            </a:r>
            <a:r>
              <a:rPr lang="pt-BR" sz="1100" dirty="0" err="1">
                <a:solidFill>
                  <a:srgbClr val="2B91AF"/>
                </a:solidFill>
                <a:latin typeface="Consolas" panose="020B0609020204030204" pitchFamily="49" charset="0"/>
              </a:rPr>
              <a:t>Horario</a:t>
            </a:r>
            <a:r>
              <a:rPr lang="pt-BR" sz="1100" dirty="0">
                <a:solidFill>
                  <a:srgbClr val="000000"/>
                </a:solidFill>
                <a:latin typeface="Consolas" panose="020B0609020204030204" pitchFamily="49" charset="0"/>
              </a:rPr>
              <a:t>(0, 0);</a:t>
            </a:r>
          </a:p>
          <a:p>
            <a:r>
              <a:rPr lang="pt-BR" sz="1100" dirty="0">
                <a:solidFill>
                  <a:srgbClr val="000000"/>
                </a:solidFill>
                <a:latin typeface="Consolas" panose="020B0609020204030204" pitchFamily="49" charset="0"/>
              </a:rPr>
              <a:t>        }</a:t>
            </a:r>
            <a:endParaRPr lang="pt-BR" sz="1100" dirty="0"/>
          </a:p>
        </p:txBody>
      </p:sp>
    </p:spTree>
    <p:extLst>
      <p:ext uri="{BB962C8B-B14F-4D97-AF65-F5344CB8AC3E}">
        <p14:creationId xmlns:p14="http://schemas.microsoft.com/office/powerpoint/2010/main" val="21908482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Exercício</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a:xfrm>
                <a:off x="1097280" y="1845734"/>
                <a:ext cx="10058400" cy="4023360"/>
              </a:xfrm>
            </p:spPr>
            <p:txBody>
              <a:bodyPr>
                <a:noAutofit/>
              </a:bodyPr>
              <a:lstStyle/>
              <a:p>
                <a:r>
                  <a:rPr lang="pt-BR" sz="2800" dirty="0"/>
                  <a:t>Criar um tipo de dados chamado </a:t>
                </a:r>
                <a:r>
                  <a:rPr lang="pt-BR" sz="2800" dirty="0" err="1"/>
                  <a:t>NumeroComplexo</a:t>
                </a:r>
                <a:r>
                  <a:rPr lang="pt-BR" sz="2800" dirty="0"/>
                  <a:t>, que representa números complexos na forma </a:t>
                </a:r>
                <a14:m>
                  <m:oMath xmlns:m="http://schemas.openxmlformats.org/officeDocument/2006/math">
                    <m:r>
                      <a:rPr lang="pt-BR" sz="2800" b="0" i="1" smtClean="0">
                        <a:latin typeface="Cambria Math" panose="02040503050406030204" pitchFamily="18" charset="0"/>
                      </a:rPr>
                      <m:t>𝑎</m:t>
                    </m:r>
                    <m:r>
                      <a:rPr lang="pt-BR" sz="2800" b="0" i="1" smtClean="0">
                        <a:latin typeface="Cambria Math" panose="02040503050406030204" pitchFamily="18" charset="0"/>
                      </a:rPr>
                      <m:t>+</m:t>
                    </m:r>
                    <m:r>
                      <a:rPr lang="pt-BR" sz="2800" b="0" i="1" smtClean="0">
                        <a:latin typeface="Cambria Math" panose="02040503050406030204" pitchFamily="18" charset="0"/>
                      </a:rPr>
                      <m:t>𝑏𝑖</m:t>
                    </m:r>
                  </m:oMath>
                </a14:m>
                <a:r>
                  <a:rPr lang="pt-BR" sz="2800" dirty="0"/>
                  <a:t>, sendo </a:t>
                </a:r>
                <a14:m>
                  <m:oMath xmlns:m="http://schemas.openxmlformats.org/officeDocument/2006/math">
                    <m:r>
                      <a:rPr lang="pt-BR" sz="2800" b="0" i="1" smtClean="0">
                        <a:latin typeface="Cambria Math" panose="02040503050406030204" pitchFamily="18" charset="0"/>
                      </a:rPr>
                      <m:t>𝑖</m:t>
                    </m:r>
                    <m:r>
                      <a:rPr lang="pt-BR" sz="2800" b="0" i="1" smtClean="0">
                        <a:latin typeface="Cambria Math" panose="02040503050406030204" pitchFamily="18" charset="0"/>
                      </a:rPr>
                      <m:t>=</m:t>
                    </m:r>
                    <m:rad>
                      <m:radPr>
                        <m:degHide m:val="on"/>
                        <m:ctrlPr>
                          <a:rPr lang="pt-BR" sz="2800" b="0" i="1" smtClean="0">
                            <a:latin typeface="Cambria Math" panose="02040503050406030204" pitchFamily="18" charset="0"/>
                          </a:rPr>
                        </m:ctrlPr>
                      </m:radPr>
                      <m:deg/>
                      <m:e>
                        <m:r>
                          <a:rPr lang="pt-BR" sz="2800" b="0" i="1" smtClean="0">
                            <a:latin typeface="Cambria Math" panose="02040503050406030204" pitchFamily="18" charset="0"/>
                          </a:rPr>
                          <m:t>−1</m:t>
                        </m:r>
                      </m:e>
                    </m:rad>
                  </m:oMath>
                </a14:m>
                <a:r>
                  <a:rPr lang="pt-BR" sz="2800" dirty="0"/>
                  <a:t>. Criar as sobrecargas para a soma, subtração e multiplicação dos números complexos, bem como uma sobrecarga para o método </a:t>
                </a:r>
                <a:r>
                  <a:rPr lang="pt-BR" sz="2800" dirty="0" err="1"/>
                  <a:t>ToString</a:t>
                </a:r>
                <a:r>
                  <a:rPr lang="pt-BR" sz="2800" dirty="0"/>
                  <a:t>.</a:t>
                </a:r>
              </a:p>
              <a:p>
                <a:endParaRPr lang="pt-BR" sz="2800" dirty="0"/>
              </a:p>
              <a:p>
                <a:pPr>
                  <a:buFont typeface="Arial" panose="020B0604020202020204" pitchFamily="34" charset="0"/>
                  <a:buChar char="•"/>
                </a:pPr>
                <a:r>
                  <a:rPr lang="pt-BR" sz="2800" dirty="0"/>
                  <a:t> Se </a:t>
                </a:r>
                <a14:m>
                  <m:oMath xmlns:m="http://schemas.openxmlformats.org/officeDocument/2006/math">
                    <m:sSub>
                      <m:sSubPr>
                        <m:ctrlPr>
                          <a:rPr lang="pt-BR" sz="2800" i="1" smtClean="0">
                            <a:latin typeface="Cambria Math" panose="02040503050406030204" pitchFamily="18" charset="0"/>
                          </a:rPr>
                        </m:ctrlPr>
                      </m:sSubPr>
                      <m:e>
                        <m:r>
                          <a:rPr lang="pt-BR" sz="2800" b="0" i="1" smtClean="0">
                            <a:latin typeface="Cambria Math" panose="02040503050406030204" pitchFamily="18" charset="0"/>
                          </a:rPr>
                          <m:t>𝑐</m:t>
                        </m:r>
                      </m:e>
                      <m:sub>
                        <m:r>
                          <a:rPr lang="pt-BR" sz="2800" b="0" i="1" smtClean="0">
                            <a:latin typeface="Cambria Math" panose="02040503050406030204" pitchFamily="18" charset="0"/>
                          </a:rPr>
                          <m:t>1</m:t>
                        </m:r>
                      </m:sub>
                    </m:sSub>
                    <m:r>
                      <a:rPr lang="pt-BR" sz="2800" b="0" i="1" smtClean="0">
                        <a:latin typeface="Cambria Math" panose="02040503050406030204" pitchFamily="18" charset="0"/>
                      </a:rPr>
                      <m:t>=</m:t>
                    </m:r>
                    <m:r>
                      <a:rPr lang="pt-BR" sz="2800" b="0" i="1" smtClean="0">
                        <a:latin typeface="Cambria Math" panose="02040503050406030204" pitchFamily="18" charset="0"/>
                      </a:rPr>
                      <m:t>𝑎</m:t>
                    </m:r>
                    <m:r>
                      <a:rPr lang="pt-BR" sz="2800" b="0" i="1" smtClean="0">
                        <a:latin typeface="Cambria Math" panose="02040503050406030204" pitchFamily="18" charset="0"/>
                      </a:rPr>
                      <m:t>+</m:t>
                    </m:r>
                    <m:r>
                      <a:rPr lang="pt-BR" sz="2800" b="0" i="1" smtClean="0">
                        <a:latin typeface="Cambria Math" panose="02040503050406030204" pitchFamily="18" charset="0"/>
                      </a:rPr>
                      <m:t>𝑏𝑖</m:t>
                    </m:r>
                  </m:oMath>
                </a14:m>
                <a:r>
                  <a:rPr lang="pt-BR" sz="2800" dirty="0"/>
                  <a:t> e </a:t>
                </a:r>
                <a14:m>
                  <m:oMath xmlns:m="http://schemas.openxmlformats.org/officeDocument/2006/math">
                    <m:sSub>
                      <m:sSubPr>
                        <m:ctrlPr>
                          <a:rPr lang="pt-BR" sz="2800" i="1">
                            <a:latin typeface="Cambria Math" panose="02040503050406030204" pitchFamily="18" charset="0"/>
                          </a:rPr>
                        </m:ctrlPr>
                      </m:sSubPr>
                      <m:e>
                        <m:r>
                          <a:rPr lang="pt-BR" sz="2800" i="1">
                            <a:latin typeface="Cambria Math" panose="02040503050406030204" pitchFamily="18" charset="0"/>
                          </a:rPr>
                          <m:t>𝑐</m:t>
                        </m:r>
                      </m:e>
                      <m:sub>
                        <m:r>
                          <a:rPr lang="pt-BR" sz="2800" b="0" i="1" smtClean="0">
                            <a:latin typeface="Cambria Math" panose="02040503050406030204" pitchFamily="18" charset="0"/>
                          </a:rPr>
                          <m:t>2</m:t>
                        </m:r>
                      </m:sub>
                    </m:sSub>
                    <m:r>
                      <a:rPr lang="pt-BR" sz="2800" i="1">
                        <a:latin typeface="Cambria Math" panose="02040503050406030204" pitchFamily="18" charset="0"/>
                      </a:rPr>
                      <m:t>=</m:t>
                    </m:r>
                    <m:r>
                      <a:rPr lang="pt-BR" sz="2800" b="0" i="1" smtClean="0">
                        <a:latin typeface="Cambria Math" panose="02040503050406030204" pitchFamily="18" charset="0"/>
                      </a:rPr>
                      <m:t>𝑐</m:t>
                    </m:r>
                    <m:r>
                      <a:rPr lang="pt-BR" sz="2800" i="1">
                        <a:latin typeface="Cambria Math" panose="02040503050406030204" pitchFamily="18" charset="0"/>
                      </a:rPr>
                      <m:t>+</m:t>
                    </m:r>
                    <m:r>
                      <a:rPr lang="pt-BR" sz="2800" b="0" i="1" smtClean="0">
                        <a:latin typeface="Cambria Math" panose="02040503050406030204" pitchFamily="18" charset="0"/>
                      </a:rPr>
                      <m:t>𝑑</m:t>
                    </m:r>
                    <m:r>
                      <a:rPr lang="pt-BR" sz="2800" i="1">
                        <a:latin typeface="Cambria Math" panose="02040503050406030204" pitchFamily="18" charset="0"/>
                      </a:rPr>
                      <m:t>𝑖</m:t>
                    </m:r>
                  </m:oMath>
                </a14:m>
                <a:r>
                  <a:rPr lang="pt-BR" sz="2800" dirty="0"/>
                  <a:t>, então:</a:t>
                </a:r>
              </a:p>
              <a:p>
                <a:pPr lvl="1">
                  <a:buFont typeface="Arial" panose="020B0604020202020204" pitchFamily="34" charset="0"/>
                  <a:buChar char="•"/>
                </a:pPr>
                <a14:m>
                  <m:oMath xmlns:m="http://schemas.openxmlformats.org/officeDocument/2006/math">
                    <m:sSub>
                      <m:sSubPr>
                        <m:ctrlPr>
                          <a:rPr lang="pt-BR" sz="2400" i="1" smtClean="0">
                            <a:latin typeface="Cambria Math" panose="02040503050406030204" pitchFamily="18" charset="0"/>
                          </a:rPr>
                        </m:ctrlPr>
                      </m:sSubPr>
                      <m:e>
                        <m:r>
                          <a:rPr lang="pt-BR" sz="2400" b="0" i="1" smtClean="0">
                            <a:latin typeface="Cambria Math" panose="02040503050406030204" pitchFamily="18" charset="0"/>
                          </a:rPr>
                          <m:t>𝑐</m:t>
                        </m:r>
                      </m:e>
                      <m:sub>
                        <m:r>
                          <a:rPr lang="pt-BR" sz="2400" b="0" i="1" smtClean="0">
                            <a:latin typeface="Cambria Math" panose="02040503050406030204" pitchFamily="18" charset="0"/>
                          </a:rPr>
                          <m:t>1</m:t>
                        </m:r>
                      </m:sub>
                    </m:sSub>
                    <m:r>
                      <a:rPr lang="pt-BR" sz="2400" b="0" i="1" smtClean="0">
                        <a:latin typeface="Cambria Math" panose="02040503050406030204" pitchFamily="18" charset="0"/>
                      </a:rPr>
                      <m:t>+</m:t>
                    </m:r>
                    <m:sSub>
                      <m:sSubPr>
                        <m:ctrlPr>
                          <a:rPr lang="pt-BR" sz="2400" i="1">
                            <a:latin typeface="Cambria Math" panose="02040503050406030204" pitchFamily="18" charset="0"/>
                          </a:rPr>
                        </m:ctrlPr>
                      </m:sSubPr>
                      <m:e>
                        <m:r>
                          <a:rPr lang="pt-BR" sz="2400" i="1">
                            <a:latin typeface="Cambria Math" panose="02040503050406030204" pitchFamily="18" charset="0"/>
                          </a:rPr>
                          <m:t>𝑐</m:t>
                        </m:r>
                      </m:e>
                      <m:sub>
                        <m:r>
                          <a:rPr lang="pt-BR" sz="2400" b="0" i="1" smtClean="0">
                            <a:latin typeface="Cambria Math" panose="02040503050406030204" pitchFamily="18" charset="0"/>
                          </a:rPr>
                          <m:t>2</m:t>
                        </m:r>
                      </m:sub>
                    </m:sSub>
                    <m:r>
                      <a:rPr lang="pt-BR" sz="2400" b="0" i="1" smtClean="0">
                        <a:latin typeface="Cambria Math" panose="02040503050406030204" pitchFamily="18" charset="0"/>
                      </a:rPr>
                      <m:t>=</m:t>
                    </m:r>
                    <m:d>
                      <m:dPr>
                        <m:ctrlPr>
                          <a:rPr lang="pt-BR" sz="2400" b="0" i="1" smtClean="0">
                            <a:latin typeface="Cambria Math" panose="02040503050406030204" pitchFamily="18" charset="0"/>
                          </a:rPr>
                        </m:ctrlPr>
                      </m:dPr>
                      <m:e>
                        <m:r>
                          <a:rPr lang="pt-BR" sz="2400" b="0" i="1" smtClean="0">
                            <a:latin typeface="Cambria Math" panose="02040503050406030204" pitchFamily="18" charset="0"/>
                          </a:rPr>
                          <m:t>𝑎</m:t>
                        </m:r>
                        <m:r>
                          <a:rPr lang="pt-BR" sz="2400" b="0" i="1" smtClean="0">
                            <a:latin typeface="Cambria Math" panose="02040503050406030204" pitchFamily="18" charset="0"/>
                          </a:rPr>
                          <m:t>+</m:t>
                        </m:r>
                        <m:r>
                          <a:rPr lang="pt-BR" sz="2400" b="0" i="1" smtClean="0">
                            <a:latin typeface="Cambria Math" panose="02040503050406030204" pitchFamily="18" charset="0"/>
                          </a:rPr>
                          <m:t>𝑐</m:t>
                        </m:r>
                      </m:e>
                    </m:d>
                    <m:r>
                      <a:rPr lang="pt-BR" sz="2400" b="0" i="1" smtClean="0">
                        <a:latin typeface="Cambria Math" panose="02040503050406030204" pitchFamily="18" charset="0"/>
                      </a:rPr>
                      <m:t>+</m:t>
                    </m:r>
                    <m:d>
                      <m:dPr>
                        <m:ctrlPr>
                          <a:rPr lang="pt-BR" sz="2400" b="0" i="1" smtClean="0">
                            <a:latin typeface="Cambria Math" panose="02040503050406030204" pitchFamily="18" charset="0"/>
                          </a:rPr>
                        </m:ctrlPr>
                      </m:dPr>
                      <m:e>
                        <m:r>
                          <a:rPr lang="pt-BR" sz="2400" b="0" i="1" smtClean="0">
                            <a:latin typeface="Cambria Math" panose="02040503050406030204" pitchFamily="18" charset="0"/>
                          </a:rPr>
                          <m:t>𝑏</m:t>
                        </m:r>
                        <m:r>
                          <a:rPr lang="pt-BR" sz="2400" b="0" i="1" smtClean="0">
                            <a:latin typeface="Cambria Math" panose="02040503050406030204" pitchFamily="18" charset="0"/>
                          </a:rPr>
                          <m:t>+</m:t>
                        </m:r>
                        <m:r>
                          <a:rPr lang="pt-BR" sz="2400" b="0" i="1" smtClean="0">
                            <a:latin typeface="Cambria Math" panose="02040503050406030204" pitchFamily="18" charset="0"/>
                          </a:rPr>
                          <m:t>𝑑</m:t>
                        </m:r>
                      </m:e>
                    </m:d>
                    <m:r>
                      <a:rPr lang="pt-BR" sz="2400" b="0" i="1" smtClean="0">
                        <a:latin typeface="Cambria Math" panose="02040503050406030204" pitchFamily="18" charset="0"/>
                      </a:rPr>
                      <m:t>𝑖</m:t>
                    </m:r>
                  </m:oMath>
                </a14:m>
                <a:endParaRPr lang="pt-BR" sz="2400" b="0" dirty="0"/>
              </a:p>
              <a:p>
                <a:pPr lvl="1">
                  <a:buFont typeface="Arial" panose="020B0604020202020204" pitchFamily="34" charset="0"/>
                  <a:buChar char="•"/>
                </a:pPr>
                <a14:m>
                  <m:oMath xmlns:m="http://schemas.openxmlformats.org/officeDocument/2006/math">
                    <m:sSub>
                      <m:sSubPr>
                        <m:ctrlPr>
                          <a:rPr lang="pt-BR" sz="2400" i="1">
                            <a:latin typeface="Cambria Math" panose="02040503050406030204" pitchFamily="18" charset="0"/>
                          </a:rPr>
                        </m:ctrlPr>
                      </m:sSubPr>
                      <m:e>
                        <m:r>
                          <a:rPr lang="pt-BR" sz="2400" i="1">
                            <a:latin typeface="Cambria Math" panose="02040503050406030204" pitchFamily="18" charset="0"/>
                          </a:rPr>
                          <m:t>𝑐</m:t>
                        </m:r>
                      </m:e>
                      <m:sub>
                        <m:r>
                          <a:rPr lang="pt-BR" sz="2400" i="1">
                            <a:latin typeface="Cambria Math" panose="02040503050406030204" pitchFamily="18" charset="0"/>
                          </a:rPr>
                          <m:t>1</m:t>
                        </m:r>
                      </m:sub>
                    </m:sSub>
                    <m:r>
                      <a:rPr lang="pt-BR" sz="2400" b="0" i="1" smtClean="0">
                        <a:latin typeface="Cambria Math" panose="02040503050406030204" pitchFamily="18" charset="0"/>
                      </a:rPr>
                      <m:t>−</m:t>
                    </m:r>
                    <m:sSub>
                      <m:sSubPr>
                        <m:ctrlPr>
                          <a:rPr lang="pt-BR" sz="2400" i="1">
                            <a:latin typeface="Cambria Math" panose="02040503050406030204" pitchFamily="18" charset="0"/>
                          </a:rPr>
                        </m:ctrlPr>
                      </m:sSubPr>
                      <m:e>
                        <m:r>
                          <a:rPr lang="pt-BR" sz="2400" i="1">
                            <a:latin typeface="Cambria Math" panose="02040503050406030204" pitchFamily="18" charset="0"/>
                          </a:rPr>
                          <m:t>𝑐</m:t>
                        </m:r>
                      </m:e>
                      <m:sub>
                        <m:r>
                          <a:rPr lang="pt-BR" sz="2400" i="1">
                            <a:latin typeface="Cambria Math" panose="02040503050406030204" pitchFamily="18" charset="0"/>
                          </a:rPr>
                          <m:t>2</m:t>
                        </m:r>
                      </m:sub>
                    </m:sSub>
                    <m:r>
                      <a:rPr lang="pt-BR" sz="2400" i="1">
                        <a:latin typeface="Cambria Math" panose="02040503050406030204" pitchFamily="18" charset="0"/>
                      </a:rPr>
                      <m:t>=</m:t>
                    </m:r>
                    <m:d>
                      <m:dPr>
                        <m:ctrlPr>
                          <a:rPr lang="pt-BR" sz="2400" i="1">
                            <a:latin typeface="Cambria Math" panose="02040503050406030204" pitchFamily="18" charset="0"/>
                          </a:rPr>
                        </m:ctrlPr>
                      </m:dPr>
                      <m:e>
                        <m:r>
                          <a:rPr lang="pt-BR" sz="2400" i="1">
                            <a:latin typeface="Cambria Math" panose="02040503050406030204" pitchFamily="18" charset="0"/>
                          </a:rPr>
                          <m:t>𝑎</m:t>
                        </m:r>
                        <m:r>
                          <a:rPr lang="pt-BR" sz="2400" b="0" i="1" smtClean="0">
                            <a:latin typeface="Cambria Math" panose="02040503050406030204" pitchFamily="18" charset="0"/>
                          </a:rPr>
                          <m:t>−</m:t>
                        </m:r>
                        <m:r>
                          <a:rPr lang="pt-BR" sz="2400" i="1">
                            <a:latin typeface="Cambria Math" panose="02040503050406030204" pitchFamily="18" charset="0"/>
                          </a:rPr>
                          <m:t>𝑐</m:t>
                        </m:r>
                      </m:e>
                    </m:d>
                    <m:r>
                      <a:rPr lang="pt-BR" sz="2400" i="1">
                        <a:latin typeface="Cambria Math" panose="02040503050406030204" pitchFamily="18" charset="0"/>
                      </a:rPr>
                      <m:t>+</m:t>
                    </m:r>
                    <m:d>
                      <m:dPr>
                        <m:ctrlPr>
                          <a:rPr lang="pt-BR" sz="2400" i="1">
                            <a:latin typeface="Cambria Math" panose="02040503050406030204" pitchFamily="18" charset="0"/>
                          </a:rPr>
                        </m:ctrlPr>
                      </m:dPr>
                      <m:e>
                        <m:r>
                          <a:rPr lang="pt-BR" sz="2400" i="1">
                            <a:latin typeface="Cambria Math" panose="02040503050406030204" pitchFamily="18" charset="0"/>
                          </a:rPr>
                          <m:t>𝑏</m:t>
                        </m:r>
                        <m:r>
                          <a:rPr lang="pt-BR" sz="2400" b="0" i="1" smtClean="0">
                            <a:latin typeface="Cambria Math" panose="02040503050406030204" pitchFamily="18" charset="0"/>
                          </a:rPr>
                          <m:t>−</m:t>
                        </m:r>
                        <m:r>
                          <a:rPr lang="pt-BR" sz="2400" i="1">
                            <a:latin typeface="Cambria Math" panose="02040503050406030204" pitchFamily="18" charset="0"/>
                          </a:rPr>
                          <m:t>𝑑</m:t>
                        </m:r>
                      </m:e>
                    </m:d>
                    <m:r>
                      <a:rPr lang="pt-BR" sz="2400" i="1">
                        <a:latin typeface="Cambria Math" panose="02040503050406030204" pitchFamily="18" charset="0"/>
                      </a:rPr>
                      <m:t>𝑖</m:t>
                    </m:r>
                  </m:oMath>
                </a14:m>
                <a:endParaRPr lang="pt-BR" sz="2400" dirty="0"/>
              </a:p>
              <a:p>
                <a:pPr lvl="1">
                  <a:buFont typeface="Arial" panose="020B0604020202020204" pitchFamily="34" charset="0"/>
                  <a:buChar char="•"/>
                </a:pPr>
                <a14:m>
                  <m:oMath xmlns:m="http://schemas.openxmlformats.org/officeDocument/2006/math">
                    <m:sSub>
                      <m:sSubPr>
                        <m:ctrlPr>
                          <a:rPr lang="pt-BR" sz="2400" i="1">
                            <a:latin typeface="Cambria Math" panose="02040503050406030204" pitchFamily="18" charset="0"/>
                          </a:rPr>
                        </m:ctrlPr>
                      </m:sSubPr>
                      <m:e>
                        <m:r>
                          <a:rPr lang="pt-BR" sz="2400" i="1">
                            <a:latin typeface="Cambria Math" panose="02040503050406030204" pitchFamily="18" charset="0"/>
                          </a:rPr>
                          <m:t>𝑐</m:t>
                        </m:r>
                      </m:e>
                      <m:sub>
                        <m:r>
                          <a:rPr lang="pt-BR" sz="2400" i="1">
                            <a:latin typeface="Cambria Math" panose="02040503050406030204" pitchFamily="18" charset="0"/>
                          </a:rPr>
                          <m:t>1</m:t>
                        </m:r>
                      </m:sub>
                    </m:sSub>
                    <m:r>
                      <a:rPr lang="pt-BR" sz="2400" b="0" i="1" smtClean="0">
                        <a:latin typeface="Cambria Math" panose="02040503050406030204" pitchFamily="18" charset="0"/>
                      </a:rPr>
                      <m:t>∗</m:t>
                    </m:r>
                    <m:sSub>
                      <m:sSubPr>
                        <m:ctrlPr>
                          <a:rPr lang="pt-BR" sz="2400" i="1">
                            <a:latin typeface="Cambria Math" panose="02040503050406030204" pitchFamily="18" charset="0"/>
                          </a:rPr>
                        </m:ctrlPr>
                      </m:sSubPr>
                      <m:e>
                        <m:r>
                          <a:rPr lang="pt-BR" sz="2400" i="1">
                            <a:latin typeface="Cambria Math" panose="02040503050406030204" pitchFamily="18" charset="0"/>
                          </a:rPr>
                          <m:t>𝑐</m:t>
                        </m:r>
                      </m:e>
                      <m:sub>
                        <m:r>
                          <a:rPr lang="pt-BR" sz="2400" i="1">
                            <a:latin typeface="Cambria Math" panose="02040503050406030204" pitchFamily="18" charset="0"/>
                          </a:rPr>
                          <m:t>2</m:t>
                        </m:r>
                      </m:sub>
                    </m:sSub>
                    <m:r>
                      <a:rPr lang="pt-BR" sz="2400" i="1">
                        <a:latin typeface="Cambria Math" panose="02040503050406030204" pitchFamily="18" charset="0"/>
                      </a:rPr>
                      <m:t>=</m:t>
                    </m:r>
                    <m:r>
                      <a:rPr lang="pt-BR" sz="2400" b="0" i="1" smtClean="0">
                        <a:latin typeface="Cambria Math" panose="02040503050406030204" pitchFamily="18" charset="0"/>
                      </a:rPr>
                      <m:t>𝑎𝑐</m:t>
                    </m:r>
                    <m:r>
                      <a:rPr lang="pt-BR" sz="2400" b="0" i="1" smtClean="0">
                        <a:latin typeface="Cambria Math" panose="02040503050406030204" pitchFamily="18" charset="0"/>
                      </a:rPr>
                      <m:t>+</m:t>
                    </m:r>
                    <m:r>
                      <a:rPr lang="pt-BR" sz="2400" b="0" i="1" smtClean="0">
                        <a:latin typeface="Cambria Math" panose="02040503050406030204" pitchFamily="18" charset="0"/>
                      </a:rPr>
                      <m:t>𝑎𝑑𝑖</m:t>
                    </m:r>
                    <m:r>
                      <a:rPr lang="pt-BR" sz="2400" b="0" i="1" smtClean="0">
                        <a:latin typeface="Cambria Math" panose="02040503050406030204" pitchFamily="18" charset="0"/>
                      </a:rPr>
                      <m:t>+</m:t>
                    </m:r>
                    <m:r>
                      <a:rPr lang="pt-BR" sz="2400" b="0" i="1" smtClean="0">
                        <a:latin typeface="Cambria Math" panose="02040503050406030204" pitchFamily="18" charset="0"/>
                      </a:rPr>
                      <m:t>𝑏𝑐𝑖</m:t>
                    </m:r>
                    <m:r>
                      <a:rPr lang="pt-BR" sz="2400" b="0" i="1" smtClean="0">
                        <a:latin typeface="Cambria Math" panose="02040503050406030204" pitchFamily="18" charset="0"/>
                      </a:rPr>
                      <m:t>+</m:t>
                    </m:r>
                    <m:r>
                      <a:rPr lang="pt-BR" sz="2400" b="0" i="1" smtClean="0">
                        <a:latin typeface="Cambria Math" panose="02040503050406030204" pitchFamily="18" charset="0"/>
                      </a:rPr>
                      <m:t>𝑏𝑑</m:t>
                    </m:r>
                    <m:sSup>
                      <m:sSupPr>
                        <m:ctrlPr>
                          <a:rPr lang="pt-BR" sz="2400" b="0" i="1" smtClean="0">
                            <a:latin typeface="Cambria Math" panose="02040503050406030204" pitchFamily="18" charset="0"/>
                          </a:rPr>
                        </m:ctrlPr>
                      </m:sSupPr>
                      <m:e>
                        <m:r>
                          <a:rPr lang="pt-BR" sz="2400" b="0" i="1" smtClean="0">
                            <a:latin typeface="Cambria Math" panose="02040503050406030204" pitchFamily="18" charset="0"/>
                          </a:rPr>
                          <m:t>𝑖</m:t>
                        </m:r>
                      </m:e>
                      <m:sup>
                        <m:r>
                          <a:rPr lang="pt-BR" sz="2400" b="0" i="1" smtClean="0">
                            <a:latin typeface="Cambria Math" panose="02040503050406030204" pitchFamily="18" charset="0"/>
                          </a:rPr>
                          <m:t>2</m:t>
                        </m:r>
                      </m:sup>
                    </m:sSup>
                    <m:r>
                      <a:rPr lang="pt-BR" sz="2400" b="0" i="1" smtClean="0">
                        <a:latin typeface="Cambria Math" panose="02040503050406030204" pitchFamily="18" charset="0"/>
                      </a:rPr>
                      <m:t>=(</m:t>
                    </m:r>
                    <m:r>
                      <a:rPr lang="pt-BR" sz="2400" b="0" i="1" smtClean="0">
                        <a:latin typeface="Cambria Math" panose="02040503050406030204" pitchFamily="18" charset="0"/>
                      </a:rPr>
                      <m:t>𝑎𝑐</m:t>
                    </m:r>
                    <m:r>
                      <a:rPr lang="pt-BR" sz="2400" b="0" i="1" smtClean="0">
                        <a:latin typeface="Cambria Math" panose="02040503050406030204" pitchFamily="18" charset="0"/>
                      </a:rPr>
                      <m:t> −</m:t>
                    </m:r>
                    <m:r>
                      <a:rPr lang="pt-BR" sz="2400" b="0" i="1" smtClean="0">
                        <a:latin typeface="Cambria Math" panose="02040503050406030204" pitchFamily="18" charset="0"/>
                      </a:rPr>
                      <m:t>𝑏𝑑</m:t>
                    </m:r>
                    <m:r>
                      <a:rPr lang="pt-BR" sz="2400" b="0" i="1" smtClean="0">
                        <a:latin typeface="Cambria Math" panose="02040503050406030204" pitchFamily="18" charset="0"/>
                      </a:rPr>
                      <m:t>)+</m:t>
                    </m:r>
                    <m:d>
                      <m:dPr>
                        <m:ctrlPr>
                          <a:rPr lang="pt-BR" sz="2400" b="0" i="1" smtClean="0">
                            <a:latin typeface="Cambria Math" panose="02040503050406030204" pitchFamily="18" charset="0"/>
                          </a:rPr>
                        </m:ctrlPr>
                      </m:dPr>
                      <m:e>
                        <m:r>
                          <a:rPr lang="pt-BR" sz="2400" b="0" i="1" smtClean="0">
                            <a:latin typeface="Cambria Math" panose="02040503050406030204" pitchFamily="18" charset="0"/>
                          </a:rPr>
                          <m:t>𝑎𝑑</m:t>
                        </m:r>
                        <m:r>
                          <a:rPr lang="pt-BR" sz="2400" b="0" i="1" smtClean="0">
                            <a:latin typeface="Cambria Math" panose="02040503050406030204" pitchFamily="18" charset="0"/>
                          </a:rPr>
                          <m:t>+</m:t>
                        </m:r>
                        <m:r>
                          <a:rPr lang="pt-BR" sz="2400" b="0" i="1" smtClean="0">
                            <a:latin typeface="Cambria Math" panose="02040503050406030204" pitchFamily="18" charset="0"/>
                          </a:rPr>
                          <m:t>𝑏𝑐</m:t>
                        </m:r>
                      </m:e>
                    </m:d>
                    <m:r>
                      <a:rPr lang="pt-BR" sz="2400" b="0" i="1" smtClean="0">
                        <a:latin typeface="Cambria Math" panose="02040503050406030204" pitchFamily="18" charset="0"/>
                      </a:rPr>
                      <m:t>𝑖</m:t>
                    </m:r>
                  </m:oMath>
                </a14:m>
                <a:endParaRPr lang="pt-BR" sz="2400" dirty="0"/>
              </a:p>
              <a:p>
                <a:pPr lvl="1">
                  <a:buFont typeface="Arial" panose="020B0604020202020204" pitchFamily="34" charset="0"/>
                  <a:buChar char="•"/>
                </a:pPr>
                <a:endParaRPr lang="pt-BR" sz="2400"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xfrm>
                <a:off x="1097280" y="1845734"/>
                <a:ext cx="10058400" cy="4023360"/>
              </a:xfrm>
              <a:blipFill>
                <a:blip r:embed="rId2"/>
                <a:stretch>
                  <a:fillRect l="-2000" t="-2576" r="-909" b="-1818"/>
                </a:stretch>
              </a:blipFill>
            </p:spPr>
            <p:txBody>
              <a:bodyPr/>
              <a:lstStyle/>
              <a:p>
                <a:r>
                  <a:rPr lang="pt-BR">
                    <a:noFill/>
                  </a:rPr>
                  <a:t> </a:t>
                </a:r>
              </a:p>
            </p:txBody>
          </p:sp>
        </mc:Fallback>
      </mc:AlternateContent>
    </p:spTree>
    <p:extLst>
      <p:ext uri="{BB962C8B-B14F-4D97-AF65-F5344CB8AC3E}">
        <p14:creationId xmlns:p14="http://schemas.microsoft.com/office/powerpoint/2010/main" val="2820331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Polimorfismo</a:t>
            </a:r>
          </a:p>
        </p:txBody>
      </p:sp>
      <p:sp>
        <p:nvSpPr>
          <p:cNvPr id="3" name="Espaço Reservado para Conteúdo 2"/>
          <p:cNvSpPr>
            <a:spLocks noGrp="1"/>
          </p:cNvSpPr>
          <p:nvPr>
            <p:ph idx="1"/>
          </p:nvPr>
        </p:nvSpPr>
        <p:spPr/>
        <p:txBody>
          <a:bodyPr>
            <a:normAutofit/>
          </a:bodyPr>
          <a:lstStyle/>
          <a:p>
            <a:r>
              <a:rPr lang="pt-BR" sz="3200" dirty="0"/>
              <a:t>Existem várias formas de polimorfismo em uma linguagem orientada a objetos;</a:t>
            </a:r>
          </a:p>
          <a:p>
            <a:endParaRPr lang="pt-BR" sz="3200" dirty="0"/>
          </a:p>
          <a:p>
            <a:r>
              <a:rPr lang="pt-BR" sz="3200" dirty="0"/>
              <a:t>Polimorfismo</a:t>
            </a:r>
          </a:p>
          <a:p>
            <a:pPr lvl="1"/>
            <a:r>
              <a:rPr lang="pt-BR" sz="2800" dirty="0"/>
              <a:t>Muitas formas, ou seja, algo que pode possuir mais de uma forma.</a:t>
            </a:r>
          </a:p>
        </p:txBody>
      </p:sp>
    </p:spTree>
    <p:extLst>
      <p:ext uri="{BB962C8B-B14F-4D97-AF65-F5344CB8AC3E}">
        <p14:creationId xmlns:p14="http://schemas.microsoft.com/office/powerpoint/2010/main" val="2699433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Polimorfismo</a:t>
            </a:r>
          </a:p>
        </p:txBody>
      </p:sp>
      <p:sp>
        <p:nvSpPr>
          <p:cNvPr id="3" name="Espaço Reservado para Conteúdo 2"/>
          <p:cNvSpPr>
            <a:spLocks noGrp="1"/>
          </p:cNvSpPr>
          <p:nvPr>
            <p:ph idx="1"/>
          </p:nvPr>
        </p:nvSpPr>
        <p:spPr/>
        <p:txBody>
          <a:bodyPr vert="horz" lIns="0" tIns="45720" rIns="0" bIns="45720" rtlCol="0" anchor="t">
            <a:normAutofit/>
          </a:bodyPr>
          <a:lstStyle/>
          <a:p>
            <a:r>
              <a:rPr lang="pt-BR" sz="3200" dirty="0"/>
              <a:t>Tipo 1 – Ad Hoc (</a:t>
            </a:r>
            <a:r>
              <a:rPr lang="pt-BR" sz="3200" i="1" dirty="0" err="1"/>
              <a:t>Overloading</a:t>
            </a:r>
            <a:r>
              <a:rPr lang="pt-BR" sz="3200" dirty="0"/>
              <a:t>)</a:t>
            </a:r>
          </a:p>
          <a:p>
            <a:pPr marL="383540" lvl="1"/>
            <a:r>
              <a:rPr lang="pt-BR" sz="2800" dirty="0"/>
              <a:t>Métodos com o mesmo nome e com parâmetros diferentes;</a:t>
            </a:r>
          </a:p>
          <a:p>
            <a:pPr marL="383540" lvl="1"/>
            <a:r>
              <a:rPr lang="pt-BR" sz="2800" dirty="0"/>
              <a:t>Compilador sabe, através da passagem de parâmetro, qual dos diversos métodos com o mesmo nome deve executar;</a:t>
            </a:r>
          </a:p>
          <a:p>
            <a:endParaRPr lang="pt-BR" sz="3200" dirty="0"/>
          </a:p>
          <a:p>
            <a:r>
              <a:rPr lang="pt-BR" sz="3200" dirty="0"/>
              <a:t>Exemplo</a:t>
            </a:r>
          </a:p>
          <a:p>
            <a:pPr marL="383540" lvl="1"/>
            <a:r>
              <a:rPr lang="pt-BR" sz="2800" dirty="0" err="1"/>
              <a:t>Console.Write</a:t>
            </a:r>
            <a:r>
              <a:rPr lang="pt-BR" sz="2800" dirty="0"/>
              <a:t>;</a:t>
            </a:r>
          </a:p>
          <a:p>
            <a:pPr marL="383540" lvl="1"/>
            <a:r>
              <a:rPr lang="pt-BR" sz="2800" dirty="0"/>
              <a:t>Construtor</a:t>
            </a:r>
          </a:p>
        </p:txBody>
      </p:sp>
    </p:spTree>
    <p:extLst>
      <p:ext uri="{BB962C8B-B14F-4D97-AF65-F5344CB8AC3E}">
        <p14:creationId xmlns:p14="http://schemas.microsoft.com/office/powerpoint/2010/main" val="3704961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Polimorfismo</a:t>
            </a:r>
          </a:p>
        </p:txBody>
      </p:sp>
      <p:sp>
        <p:nvSpPr>
          <p:cNvPr id="3" name="Espaço Reservado para Conteúdo 2"/>
          <p:cNvSpPr>
            <a:spLocks noGrp="1"/>
          </p:cNvSpPr>
          <p:nvPr>
            <p:ph idx="1"/>
          </p:nvPr>
        </p:nvSpPr>
        <p:spPr/>
        <p:txBody>
          <a:bodyPr vert="horz" lIns="0" tIns="45720" rIns="0" bIns="45720" rtlCol="0" anchor="t">
            <a:normAutofit/>
          </a:bodyPr>
          <a:lstStyle/>
          <a:p>
            <a:r>
              <a:rPr lang="pt-BR" sz="3200" dirty="0"/>
              <a:t>Tipo 2 (</a:t>
            </a:r>
            <a:r>
              <a:rPr lang="pt-BR" sz="3200" i="1" dirty="0" err="1"/>
              <a:t>Overriding</a:t>
            </a:r>
            <a:r>
              <a:rPr lang="pt-BR" sz="3200" dirty="0"/>
              <a:t>)</a:t>
            </a:r>
          </a:p>
          <a:p>
            <a:pPr marL="383540" lvl="1"/>
            <a:r>
              <a:rPr lang="pt-BR" sz="2800" dirty="0"/>
              <a:t>Um objeto declarado como da classe base pode se comportar como um objeto de uma de suas classes derivadas.</a:t>
            </a:r>
          </a:p>
          <a:p>
            <a:pPr marL="383540" lvl="1"/>
            <a:endParaRPr lang="pt-BR" sz="2800" dirty="0"/>
          </a:p>
          <a:p>
            <a:pPr marL="383540" lvl="1"/>
            <a:r>
              <a:rPr lang="pt-BR" sz="2800" dirty="0"/>
              <a:t>O inverso não pode ocorrer.</a:t>
            </a:r>
          </a:p>
        </p:txBody>
      </p:sp>
    </p:spTree>
    <p:extLst>
      <p:ext uri="{BB962C8B-B14F-4D97-AF65-F5344CB8AC3E}">
        <p14:creationId xmlns:p14="http://schemas.microsoft.com/office/powerpoint/2010/main" val="3993567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0"/>
            <a:ext cx="10058400" cy="1450757"/>
          </a:xfrm>
        </p:spPr>
        <p:txBody>
          <a:bodyPr/>
          <a:lstStyle/>
          <a:p>
            <a:r>
              <a:rPr lang="pt-BR" dirty="0"/>
              <a:t>Polimorfismo</a:t>
            </a:r>
          </a:p>
        </p:txBody>
      </p:sp>
      <p:sp>
        <p:nvSpPr>
          <p:cNvPr id="5" name="Retângulo 4"/>
          <p:cNvSpPr/>
          <p:nvPr/>
        </p:nvSpPr>
        <p:spPr>
          <a:xfrm>
            <a:off x="108857" y="1325272"/>
            <a:ext cx="6694714" cy="4278094"/>
          </a:xfrm>
          <a:prstGeom prst="rect">
            <a:avLst/>
          </a:prstGeom>
        </p:spPr>
        <p:txBody>
          <a:bodyPr wrap="square">
            <a:spAutoFit/>
          </a:bodyPr>
          <a:lstStyle/>
          <a:p>
            <a:r>
              <a:rPr lang="pt-BR" sz="1600" dirty="0" err="1">
                <a:solidFill>
                  <a:srgbClr val="0000FF"/>
                </a:solidFill>
                <a:latin typeface="Consolas" panose="020B0609020204030204" pitchFamily="49" charset="0"/>
              </a:rPr>
              <a:t>public</a:t>
            </a:r>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class</a:t>
            </a:r>
            <a:r>
              <a:rPr lang="pt-BR" sz="1600" dirty="0">
                <a:solidFill>
                  <a:srgbClr val="000000"/>
                </a:solidFill>
                <a:latin typeface="Consolas" panose="020B0609020204030204" pitchFamily="49" charset="0"/>
              </a:rPr>
              <a:t> </a:t>
            </a:r>
            <a:r>
              <a:rPr lang="pt-BR" sz="1600" dirty="0">
                <a:solidFill>
                  <a:srgbClr val="2B91AF"/>
                </a:solidFill>
                <a:latin typeface="Consolas" panose="020B0609020204030204" pitchFamily="49" charset="0"/>
              </a:rPr>
              <a:t>Pessoa</a:t>
            </a:r>
            <a:endParaRPr lang="pt-BR" sz="1600" dirty="0">
              <a:solidFill>
                <a:srgbClr val="000000"/>
              </a:solidFill>
              <a:latin typeface="Consolas" panose="020B0609020204030204" pitchFamily="49" charset="0"/>
            </a:endParaRPr>
          </a:p>
          <a:p>
            <a:r>
              <a:rPr lang="pt-BR" sz="1600" dirty="0">
                <a:solidFill>
                  <a:srgbClr val="000000"/>
                </a:solidFill>
                <a:latin typeface="Consolas" panose="020B0609020204030204" pitchFamily="49" charset="0"/>
              </a:rPr>
              <a:t>{</a:t>
            </a:r>
          </a:p>
          <a:p>
            <a:r>
              <a:rPr lang="en-US" sz="1600" dirty="0">
                <a:solidFill>
                  <a:srgbClr val="0000FF"/>
                </a:solidFill>
                <a:latin typeface="Consolas" panose="020B0609020204030204" pitchFamily="49" charset="0"/>
              </a:rPr>
              <a:t>	public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string</a:t>
            </a:r>
            <a:r>
              <a:rPr lang="en-US" sz="1600" dirty="0">
                <a:solidFill>
                  <a:srgbClr val="000000"/>
                </a:solidFill>
                <a:latin typeface="Consolas" panose="020B0609020204030204" pitchFamily="49" charset="0"/>
              </a:rPr>
              <a:t> Nome { </a:t>
            </a:r>
            <a:r>
              <a:rPr lang="en-US" sz="1600" dirty="0">
                <a:solidFill>
                  <a:srgbClr val="0000FF"/>
                </a:solidFill>
                <a:latin typeface="Consolas" panose="020B0609020204030204" pitchFamily="49" charset="0"/>
              </a:rPr>
              <a:t>get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set</a:t>
            </a:r>
            <a:r>
              <a:rPr lang="en-US" sz="1600" dirty="0">
                <a:solidFill>
                  <a:srgbClr val="000000"/>
                </a:solidFill>
                <a:latin typeface="Consolas" panose="020B0609020204030204" pitchFamily="49" charset="0"/>
              </a:rPr>
              <a:t>; }</a:t>
            </a:r>
          </a:p>
          <a:p>
            <a:r>
              <a:rPr lang="pt-BR" sz="1600" dirty="0">
                <a:solidFill>
                  <a:srgbClr val="000000"/>
                </a:solidFill>
                <a:latin typeface="Consolas" panose="020B0609020204030204" pitchFamily="49" charset="0"/>
              </a:rPr>
              <a:t>}</a:t>
            </a:r>
          </a:p>
          <a:p>
            <a:endParaRPr lang="pt-BR" sz="1600" dirty="0">
              <a:solidFill>
                <a:srgbClr val="000000"/>
              </a:solidFill>
              <a:latin typeface="Consolas" panose="020B0609020204030204" pitchFamily="49" charset="0"/>
            </a:endParaRPr>
          </a:p>
          <a:p>
            <a:r>
              <a:rPr lang="pt-BR" sz="1600" dirty="0" err="1">
                <a:solidFill>
                  <a:srgbClr val="0000FF"/>
                </a:solidFill>
                <a:latin typeface="Consolas" panose="020B0609020204030204" pitchFamily="49" charset="0"/>
              </a:rPr>
              <a:t>public</a:t>
            </a:r>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class</a:t>
            </a:r>
            <a:r>
              <a:rPr lang="pt-BR" sz="1600" dirty="0">
                <a:solidFill>
                  <a:srgbClr val="000000"/>
                </a:solidFill>
                <a:latin typeface="Consolas" panose="020B0609020204030204" pitchFamily="49" charset="0"/>
              </a:rPr>
              <a:t> </a:t>
            </a:r>
            <a:r>
              <a:rPr lang="pt-BR" sz="1600" dirty="0">
                <a:solidFill>
                  <a:srgbClr val="2B91AF"/>
                </a:solidFill>
                <a:latin typeface="Consolas" panose="020B0609020204030204" pitchFamily="49" charset="0"/>
              </a:rPr>
              <a:t>Aluno</a:t>
            </a:r>
            <a:r>
              <a:rPr lang="pt-BR" sz="1600" dirty="0">
                <a:solidFill>
                  <a:srgbClr val="000000"/>
                </a:solidFill>
                <a:latin typeface="Consolas" panose="020B0609020204030204" pitchFamily="49" charset="0"/>
              </a:rPr>
              <a:t> : </a:t>
            </a:r>
            <a:r>
              <a:rPr lang="pt-BR" sz="1600" dirty="0">
                <a:solidFill>
                  <a:srgbClr val="2B91AF"/>
                </a:solidFill>
                <a:latin typeface="Consolas" panose="020B0609020204030204" pitchFamily="49" charset="0"/>
              </a:rPr>
              <a:t>Pessoa</a:t>
            </a:r>
            <a:endParaRPr lang="pt-BR" sz="1600" dirty="0">
              <a:solidFill>
                <a:srgbClr val="000000"/>
              </a:solidFill>
              <a:latin typeface="Consolas" panose="020B0609020204030204" pitchFamily="49" charset="0"/>
            </a:endParaRPr>
          </a:p>
          <a:p>
            <a:r>
              <a:rPr lang="pt-BR"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float</a:t>
            </a:r>
            <a:r>
              <a:rPr lang="en-US" sz="1600" dirty="0">
                <a:solidFill>
                  <a:srgbClr val="000000"/>
                </a:solidFill>
                <a:latin typeface="Consolas" panose="020B0609020204030204" pitchFamily="49" charset="0"/>
              </a:rPr>
              <a:t> Nota { </a:t>
            </a:r>
            <a:r>
              <a:rPr lang="en-US" sz="1600" dirty="0">
                <a:solidFill>
                  <a:srgbClr val="0000FF"/>
                </a:solidFill>
                <a:latin typeface="Consolas" panose="020B0609020204030204" pitchFamily="49" charset="0"/>
              </a:rPr>
              <a:t>get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set</a:t>
            </a:r>
            <a:r>
              <a:rPr lang="en-US" sz="1600" dirty="0">
                <a:solidFill>
                  <a:srgbClr val="000000"/>
                </a:solidFill>
                <a:latin typeface="Consolas" panose="020B0609020204030204" pitchFamily="49" charset="0"/>
              </a:rPr>
              <a:t>; }</a:t>
            </a:r>
          </a:p>
          <a:p>
            <a:r>
              <a:rPr lang="pt-BR" sz="1600" dirty="0">
                <a:solidFill>
                  <a:srgbClr val="000000"/>
                </a:solidFill>
                <a:latin typeface="Consolas" panose="020B0609020204030204" pitchFamily="49" charset="0"/>
              </a:rPr>
              <a:t>}</a:t>
            </a:r>
          </a:p>
          <a:p>
            <a:endParaRPr lang="pt-BR" sz="1600" dirty="0">
              <a:solidFill>
                <a:srgbClr val="000000"/>
              </a:solidFill>
              <a:latin typeface="Consolas" panose="020B0609020204030204" pitchFamily="49" charset="0"/>
            </a:endParaRPr>
          </a:p>
          <a:p>
            <a:r>
              <a:rPr lang="pt-BR" sz="1600" dirty="0" err="1">
                <a:solidFill>
                  <a:srgbClr val="0000FF"/>
                </a:solidFill>
                <a:latin typeface="Consolas" panose="020B0609020204030204" pitchFamily="49" charset="0"/>
              </a:rPr>
              <a:t>public</a:t>
            </a:r>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class</a:t>
            </a:r>
            <a:r>
              <a:rPr lang="pt-BR" sz="1600" dirty="0">
                <a:solidFill>
                  <a:srgbClr val="000000"/>
                </a:solidFill>
                <a:latin typeface="Consolas" panose="020B0609020204030204" pitchFamily="49" charset="0"/>
              </a:rPr>
              <a:t> </a:t>
            </a:r>
            <a:r>
              <a:rPr lang="pt-BR" sz="1600" dirty="0">
                <a:solidFill>
                  <a:srgbClr val="2B91AF"/>
                </a:solidFill>
                <a:latin typeface="Consolas" panose="020B0609020204030204" pitchFamily="49" charset="0"/>
              </a:rPr>
              <a:t>Professor</a:t>
            </a:r>
            <a:r>
              <a:rPr lang="pt-BR" sz="1600" dirty="0">
                <a:solidFill>
                  <a:srgbClr val="000000"/>
                </a:solidFill>
                <a:latin typeface="Consolas" panose="020B0609020204030204" pitchFamily="49" charset="0"/>
              </a:rPr>
              <a:t> : </a:t>
            </a:r>
            <a:r>
              <a:rPr lang="pt-BR" sz="1600" dirty="0">
                <a:solidFill>
                  <a:srgbClr val="2B91AF"/>
                </a:solidFill>
                <a:latin typeface="Consolas" panose="020B0609020204030204" pitchFamily="49" charset="0"/>
              </a:rPr>
              <a:t>Pessoa</a:t>
            </a:r>
            <a:endParaRPr lang="pt-BR" sz="1600" dirty="0">
              <a:solidFill>
                <a:srgbClr val="000000"/>
              </a:solidFill>
              <a:latin typeface="Consolas" panose="020B0609020204030204" pitchFamily="49" charset="0"/>
            </a:endParaRPr>
          </a:p>
          <a:p>
            <a:r>
              <a:rPr lang="pt-BR" sz="1600" dirty="0">
                <a:solidFill>
                  <a:srgbClr val="000000"/>
                </a:solidFill>
                <a:latin typeface="Consolas" panose="020B0609020204030204" pitchFamily="49" charset="0"/>
              </a:rPr>
              <a:t>{</a:t>
            </a:r>
          </a:p>
          <a:p>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public</a:t>
            </a:r>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void</a:t>
            </a:r>
            <a:r>
              <a:rPr lang="pt-BR" sz="1600" dirty="0">
                <a:solidFill>
                  <a:srgbClr val="000000"/>
                </a:solidFill>
                <a:latin typeface="Consolas" panose="020B0609020204030204" pitchFamily="49" charset="0"/>
              </a:rPr>
              <a:t> </a:t>
            </a:r>
            <a:r>
              <a:rPr lang="pt-BR" sz="1600" dirty="0" err="1">
                <a:solidFill>
                  <a:srgbClr val="000000"/>
                </a:solidFill>
                <a:latin typeface="Consolas" panose="020B0609020204030204" pitchFamily="49" charset="0"/>
              </a:rPr>
              <a:t>AlterarNota</a:t>
            </a:r>
            <a:r>
              <a:rPr lang="pt-BR" sz="1600" dirty="0">
                <a:solidFill>
                  <a:srgbClr val="000000"/>
                </a:solidFill>
                <a:latin typeface="Consolas" panose="020B0609020204030204" pitchFamily="49" charset="0"/>
              </a:rPr>
              <a:t>(</a:t>
            </a:r>
            <a:r>
              <a:rPr lang="pt-BR" sz="1600" dirty="0">
                <a:solidFill>
                  <a:srgbClr val="2B91AF"/>
                </a:solidFill>
                <a:latin typeface="Consolas" panose="020B0609020204030204" pitchFamily="49" charset="0"/>
              </a:rPr>
              <a:t>Aluno</a:t>
            </a:r>
            <a:r>
              <a:rPr lang="pt-BR" sz="1600" dirty="0">
                <a:solidFill>
                  <a:srgbClr val="000000"/>
                </a:solidFill>
                <a:latin typeface="Consolas" panose="020B0609020204030204" pitchFamily="49" charset="0"/>
              </a:rPr>
              <a:t> a, </a:t>
            </a:r>
            <a:r>
              <a:rPr lang="pt-BR" sz="1600" dirty="0" err="1">
                <a:solidFill>
                  <a:srgbClr val="0000FF"/>
                </a:solidFill>
                <a:latin typeface="Consolas" panose="020B0609020204030204" pitchFamily="49" charset="0"/>
              </a:rPr>
              <a:t>float</a:t>
            </a:r>
            <a:r>
              <a:rPr lang="pt-BR" sz="1600" dirty="0">
                <a:solidFill>
                  <a:srgbClr val="000000"/>
                </a:solidFill>
                <a:latin typeface="Consolas" panose="020B0609020204030204" pitchFamily="49" charset="0"/>
              </a:rPr>
              <a:t> </a:t>
            </a:r>
            <a:r>
              <a:rPr lang="pt-BR" sz="1600" dirty="0" err="1">
                <a:solidFill>
                  <a:srgbClr val="000000"/>
                </a:solidFill>
                <a:latin typeface="Consolas" panose="020B0609020204030204" pitchFamily="49" charset="0"/>
              </a:rPr>
              <a:t>novaNota</a:t>
            </a:r>
            <a:r>
              <a:rPr lang="pt-BR" sz="1600" dirty="0">
                <a:solidFill>
                  <a:srgbClr val="000000"/>
                </a:solidFill>
                <a:latin typeface="Consolas" panose="020B0609020204030204" pitchFamily="49" charset="0"/>
              </a:rPr>
              <a:t>)</a:t>
            </a:r>
          </a:p>
          <a:p>
            <a:r>
              <a:rPr lang="pt-BR" sz="1600" dirty="0">
                <a:solidFill>
                  <a:srgbClr val="000000"/>
                </a:solidFill>
                <a:latin typeface="Consolas" panose="020B0609020204030204" pitchFamily="49" charset="0"/>
              </a:rPr>
              <a:t>        {</a:t>
            </a:r>
          </a:p>
          <a:p>
            <a:r>
              <a:rPr lang="pt-BR" sz="1600" dirty="0">
                <a:solidFill>
                  <a:srgbClr val="000000"/>
                </a:solidFill>
                <a:latin typeface="Consolas" panose="020B0609020204030204" pitchFamily="49" charset="0"/>
              </a:rPr>
              <a:t>            </a:t>
            </a:r>
            <a:r>
              <a:rPr lang="pt-BR" sz="1600" dirty="0" err="1">
                <a:solidFill>
                  <a:srgbClr val="000000"/>
                </a:solidFill>
                <a:latin typeface="Consolas" panose="020B0609020204030204" pitchFamily="49" charset="0"/>
              </a:rPr>
              <a:t>a.Nota</a:t>
            </a:r>
            <a:r>
              <a:rPr lang="pt-BR" sz="1600" dirty="0">
                <a:solidFill>
                  <a:srgbClr val="000000"/>
                </a:solidFill>
                <a:latin typeface="Consolas" panose="020B0609020204030204" pitchFamily="49" charset="0"/>
              </a:rPr>
              <a:t> = </a:t>
            </a:r>
            <a:r>
              <a:rPr lang="pt-BR" sz="1600" dirty="0" err="1">
                <a:solidFill>
                  <a:srgbClr val="000000"/>
                </a:solidFill>
                <a:latin typeface="Consolas" panose="020B0609020204030204" pitchFamily="49" charset="0"/>
              </a:rPr>
              <a:t>novaNota</a:t>
            </a:r>
            <a:r>
              <a:rPr lang="pt-BR" sz="1600" dirty="0">
                <a:solidFill>
                  <a:srgbClr val="000000"/>
                </a:solidFill>
                <a:latin typeface="Consolas" panose="020B0609020204030204" pitchFamily="49" charset="0"/>
              </a:rPr>
              <a:t>;</a:t>
            </a:r>
          </a:p>
          <a:p>
            <a:r>
              <a:rPr lang="pt-BR" sz="1600" dirty="0">
                <a:solidFill>
                  <a:srgbClr val="000000"/>
                </a:solidFill>
                <a:latin typeface="Consolas" panose="020B0609020204030204" pitchFamily="49" charset="0"/>
              </a:rPr>
              <a:t>        }</a:t>
            </a:r>
          </a:p>
          <a:p>
            <a:r>
              <a:rPr lang="pt-BR" sz="1600" dirty="0">
                <a:solidFill>
                  <a:srgbClr val="000000"/>
                </a:solidFill>
                <a:latin typeface="Consolas" panose="020B0609020204030204" pitchFamily="49" charset="0"/>
              </a:rPr>
              <a:t>}</a:t>
            </a:r>
            <a:endParaRPr lang="pt-BR" sz="1600" dirty="0"/>
          </a:p>
        </p:txBody>
      </p:sp>
      <p:sp>
        <p:nvSpPr>
          <p:cNvPr id="6" name="Retângulo 5"/>
          <p:cNvSpPr/>
          <p:nvPr/>
        </p:nvSpPr>
        <p:spPr>
          <a:xfrm>
            <a:off x="6574971" y="2987265"/>
            <a:ext cx="6096000" cy="2616101"/>
          </a:xfrm>
          <a:prstGeom prst="rect">
            <a:avLst/>
          </a:prstGeom>
        </p:spPr>
        <p:txBody>
          <a:bodyPr>
            <a:spAutoFit/>
          </a:bodyPr>
          <a:lstStyle/>
          <a:p>
            <a:r>
              <a:rPr lang="pt-BR" sz="1600" dirty="0" err="1">
                <a:solidFill>
                  <a:srgbClr val="0000FF"/>
                </a:solidFill>
                <a:latin typeface="Consolas" panose="020B0609020204030204" pitchFamily="49" charset="0"/>
              </a:rPr>
              <a:t>public</a:t>
            </a:r>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class</a:t>
            </a:r>
            <a:r>
              <a:rPr lang="pt-BR" sz="1600" dirty="0">
                <a:solidFill>
                  <a:srgbClr val="000000"/>
                </a:solidFill>
                <a:latin typeface="Consolas" panose="020B0609020204030204" pitchFamily="49" charset="0"/>
              </a:rPr>
              <a:t> </a:t>
            </a:r>
            <a:r>
              <a:rPr lang="pt-BR" sz="1600" dirty="0" err="1">
                <a:solidFill>
                  <a:srgbClr val="2B91AF"/>
                </a:solidFill>
                <a:latin typeface="Consolas" panose="020B0609020204030204" pitchFamily="49" charset="0"/>
              </a:rPr>
              <a:t>Program</a:t>
            </a:r>
            <a:endParaRPr lang="pt-BR" sz="1600" dirty="0">
              <a:solidFill>
                <a:srgbClr val="000000"/>
              </a:solidFill>
              <a:latin typeface="Consolas" panose="020B0609020204030204" pitchFamily="49" charset="0"/>
            </a:endParaRPr>
          </a:p>
          <a:p>
            <a:r>
              <a:rPr lang="pt-BR"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static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void</a:t>
            </a:r>
            <a:r>
              <a:rPr lang="en-US" sz="1600" dirty="0">
                <a:solidFill>
                  <a:srgbClr val="000000"/>
                </a:solidFill>
                <a:latin typeface="Consolas" panose="020B0609020204030204" pitchFamily="49" charset="0"/>
              </a:rPr>
              <a:t> Main(</a:t>
            </a:r>
            <a:r>
              <a:rPr lang="en-US" sz="1600" dirty="0">
                <a:solidFill>
                  <a:srgbClr val="0000FF"/>
                </a:solidFill>
                <a:latin typeface="Consolas" panose="020B0609020204030204" pitchFamily="49" charset="0"/>
              </a:rPr>
              <a:t>string</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args</a:t>
            </a:r>
            <a:r>
              <a:rPr lang="en-US" sz="1600" dirty="0">
                <a:solidFill>
                  <a:srgbClr val="000000"/>
                </a:solidFill>
                <a:latin typeface="Consolas" panose="020B0609020204030204" pitchFamily="49" charset="0"/>
              </a:rPr>
              <a:t>)</a:t>
            </a:r>
          </a:p>
          <a:p>
            <a:r>
              <a:rPr lang="pt-BR" sz="1600" dirty="0">
                <a:solidFill>
                  <a:srgbClr val="000000"/>
                </a:solidFill>
                <a:latin typeface="Consolas" panose="020B0609020204030204" pitchFamily="49" charset="0"/>
              </a:rPr>
              <a:t>        {</a:t>
            </a:r>
          </a:p>
          <a:p>
            <a:r>
              <a:rPr lang="pt-BR" sz="1600" dirty="0">
                <a:solidFill>
                  <a:srgbClr val="000000"/>
                </a:solidFill>
                <a:latin typeface="Consolas" panose="020B0609020204030204" pitchFamily="49" charset="0"/>
              </a:rPr>
              <a:t>            Pessoa p;</a:t>
            </a:r>
          </a:p>
          <a:p>
            <a:endParaRPr lang="pt-BR" sz="1600" dirty="0">
              <a:solidFill>
                <a:srgbClr val="000000"/>
              </a:solidFill>
              <a:latin typeface="Consolas" panose="020B0609020204030204" pitchFamily="49" charset="0"/>
            </a:endParaRPr>
          </a:p>
          <a:p>
            <a:r>
              <a:rPr lang="pt-BR" sz="1600" dirty="0">
                <a:solidFill>
                  <a:srgbClr val="000000"/>
                </a:solidFill>
                <a:latin typeface="Consolas" panose="020B0609020204030204" pitchFamily="49" charset="0"/>
              </a:rPr>
              <a:t>            p = </a:t>
            </a:r>
            <a:r>
              <a:rPr lang="pt-BR" sz="1600" dirty="0">
                <a:solidFill>
                  <a:srgbClr val="0000FF"/>
                </a:solidFill>
                <a:latin typeface="Consolas" panose="020B0609020204030204" pitchFamily="49" charset="0"/>
              </a:rPr>
              <a:t>new</a:t>
            </a:r>
            <a:r>
              <a:rPr lang="pt-BR" sz="1600" dirty="0">
                <a:solidFill>
                  <a:srgbClr val="000000"/>
                </a:solidFill>
                <a:latin typeface="Consolas" panose="020B0609020204030204" pitchFamily="49" charset="0"/>
              </a:rPr>
              <a:t> Aluno();</a:t>
            </a:r>
          </a:p>
          <a:p>
            <a:r>
              <a:rPr lang="pt-BR" sz="1600" dirty="0">
                <a:solidFill>
                  <a:srgbClr val="000000"/>
                </a:solidFill>
                <a:latin typeface="Consolas" panose="020B0609020204030204" pitchFamily="49" charset="0"/>
              </a:rPr>
              <a:t>            p = </a:t>
            </a:r>
            <a:r>
              <a:rPr lang="pt-BR" sz="1600" dirty="0">
                <a:solidFill>
                  <a:srgbClr val="0000FF"/>
                </a:solidFill>
                <a:latin typeface="Consolas" panose="020B0609020204030204" pitchFamily="49" charset="0"/>
              </a:rPr>
              <a:t>new</a:t>
            </a:r>
            <a:r>
              <a:rPr lang="pt-BR" sz="1600" dirty="0">
                <a:solidFill>
                  <a:srgbClr val="000000"/>
                </a:solidFill>
                <a:latin typeface="Consolas" panose="020B0609020204030204" pitchFamily="49" charset="0"/>
              </a:rPr>
              <a:t> Professor();</a:t>
            </a:r>
          </a:p>
          <a:p>
            <a:r>
              <a:rPr lang="pt-BR" sz="1600" dirty="0">
                <a:solidFill>
                  <a:srgbClr val="000000"/>
                </a:solidFill>
                <a:latin typeface="Consolas" panose="020B0609020204030204" pitchFamily="49" charset="0"/>
              </a:rPr>
              <a:t>        }</a:t>
            </a:r>
          </a:p>
          <a:p>
            <a:r>
              <a:rPr lang="pt-BR" sz="1600" dirty="0">
                <a:solidFill>
                  <a:srgbClr val="000000"/>
                </a:solidFill>
                <a:latin typeface="Consolas" panose="020B0609020204030204" pitchFamily="49" charset="0"/>
              </a:rPr>
              <a:t>}</a:t>
            </a:r>
            <a:endParaRPr lang="pt-BR" sz="1600" dirty="0"/>
          </a:p>
        </p:txBody>
      </p:sp>
    </p:spTree>
    <p:extLst>
      <p:ext uri="{BB962C8B-B14F-4D97-AF65-F5344CB8AC3E}">
        <p14:creationId xmlns:p14="http://schemas.microsoft.com/office/powerpoint/2010/main" val="3922523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Polimorfismo</a:t>
            </a:r>
          </a:p>
        </p:txBody>
      </p:sp>
      <p:sp>
        <p:nvSpPr>
          <p:cNvPr id="3" name="Espaço Reservado para Conteúdo 2"/>
          <p:cNvSpPr>
            <a:spLocks noGrp="1"/>
          </p:cNvSpPr>
          <p:nvPr>
            <p:ph idx="1"/>
          </p:nvPr>
        </p:nvSpPr>
        <p:spPr/>
        <p:txBody>
          <a:bodyPr vert="horz" lIns="0" tIns="45720" rIns="0" bIns="45720" rtlCol="0" anchor="t">
            <a:normAutofit/>
          </a:bodyPr>
          <a:lstStyle/>
          <a:p>
            <a:r>
              <a:rPr lang="pt-BR" sz="3200" dirty="0"/>
              <a:t>No entanto, não é possível utilizar os membros da classe derivada;</a:t>
            </a:r>
          </a:p>
          <a:p>
            <a:r>
              <a:rPr lang="pt-BR" sz="3200" dirty="0"/>
              <a:t>Dessa forma, devemos fazer o </a:t>
            </a:r>
            <a:r>
              <a:rPr lang="pt-BR" sz="3200" i="1" dirty="0"/>
              <a:t>casting </a:t>
            </a:r>
            <a:r>
              <a:rPr lang="pt-BR" sz="3200" dirty="0"/>
              <a:t>do objeto para a classe derivada.</a:t>
            </a:r>
          </a:p>
        </p:txBody>
      </p:sp>
      <p:sp>
        <p:nvSpPr>
          <p:cNvPr id="5" name="Retângulo 4"/>
          <p:cNvSpPr/>
          <p:nvPr/>
        </p:nvSpPr>
        <p:spPr>
          <a:xfrm>
            <a:off x="4103717" y="3429000"/>
            <a:ext cx="6096000" cy="2893100"/>
          </a:xfrm>
          <a:prstGeom prst="rect">
            <a:avLst/>
          </a:prstGeom>
        </p:spPr>
        <p:txBody>
          <a:bodyPr>
            <a:spAutoFit/>
          </a:bodyPr>
          <a:lstStyle/>
          <a:p>
            <a:r>
              <a:rPr lang="pt-BR" sz="1600" dirty="0" err="1">
                <a:solidFill>
                  <a:srgbClr val="0000FF"/>
                </a:solidFill>
                <a:latin typeface="Consolas" panose="020B0609020204030204" pitchFamily="49" charset="0"/>
              </a:rPr>
              <a:t>public</a:t>
            </a:r>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class</a:t>
            </a:r>
            <a:r>
              <a:rPr lang="pt-BR" sz="1600" dirty="0">
                <a:solidFill>
                  <a:srgbClr val="000000"/>
                </a:solidFill>
                <a:latin typeface="Consolas" panose="020B0609020204030204" pitchFamily="49" charset="0"/>
              </a:rPr>
              <a:t> </a:t>
            </a:r>
            <a:r>
              <a:rPr lang="pt-BR" sz="1600" dirty="0" err="1">
                <a:solidFill>
                  <a:srgbClr val="2B91AF"/>
                </a:solidFill>
                <a:latin typeface="Consolas" panose="020B0609020204030204" pitchFamily="49" charset="0"/>
              </a:rPr>
              <a:t>Program</a:t>
            </a:r>
            <a:endParaRPr lang="pt-BR" sz="1600" dirty="0">
              <a:solidFill>
                <a:srgbClr val="000000"/>
              </a:solidFill>
              <a:latin typeface="Consolas" panose="020B0609020204030204" pitchFamily="49" charset="0"/>
            </a:endParaRPr>
          </a:p>
          <a:p>
            <a:r>
              <a:rPr lang="pt-BR"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static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void</a:t>
            </a:r>
            <a:r>
              <a:rPr lang="en-US" sz="1600" dirty="0">
                <a:solidFill>
                  <a:srgbClr val="000000"/>
                </a:solidFill>
                <a:latin typeface="Consolas" panose="020B0609020204030204" pitchFamily="49" charset="0"/>
              </a:rPr>
              <a:t> Main(</a:t>
            </a:r>
            <a:r>
              <a:rPr lang="en-US" sz="1600" dirty="0">
                <a:solidFill>
                  <a:srgbClr val="0000FF"/>
                </a:solidFill>
                <a:latin typeface="Consolas" panose="020B0609020204030204" pitchFamily="49" charset="0"/>
              </a:rPr>
              <a:t>string</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args</a:t>
            </a:r>
            <a:r>
              <a:rPr lang="en-US" sz="1600" dirty="0">
                <a:solidFill>
                  <a:srgbClr val="000000"/>
                </a:solidFill>
                <a:latin typeface="Consolas" panose="020B0609020204030204" pitchFamily="49" charset="0"/>
              </a:rPr>
              <a:t>)</a:t>
            </a:r>
          </a:p>
          <a:p>
            <a:r>
              <a:rPr lang="pt-BR" sz="1600" dirty="0">
                <a:solidFill>
                  <a:srgbClr val="000000"/>
                </a:solidFill>
                <a:latin typeface="Consolas" panose="020B0609020204030204" pitchFamily="49" charset="0"/>
              </a:rPr>
              <a:t>        {</a:t>
            </a:r>
          </a:p>
          <a:p>
            <a:r>
              <a:rPr lang="pt-BR" sz="1600" dirty="0">
                <a:solidFill>
                  <a:srgbClr val="000000"/>
                </a:solidFill>
                <a:latin typeface="Consolas" panose="020B0609020204030204" pitchFamily="49" charset="0"/>
              </a:rPr>
              <a:t>            Pessoa p;</a:t>
            </a:r>
          </a:p>
          <a:p>
            <a:endParaRPr lang="pt-BR" sz="1600" dirty="0">
              <a:solidFill>
                <a:srgbClr val="000000"/>
              </a:solidFill>
              <a:latin typeface="Consolas" panose="020B0609020204030204" pitchFamily="49" charset="0"/>
            </a:endParaRPr>
          </a:p>
          <a:p>
            <a:r>
              <a:rPr lang="pt-BR" sz="1600" dirty="0">
                <a:solidFill>
                  <a:srgbClr val="000000"/>
                </a:solidFill>
                <a:latin typeface="Consolas" panose="020B0609020204030204" pitchFamily="49" charset="0"/>
              </a:rPr>
              <a:t>            p = </a:t>
            </a:r>
            <a:r>
              <a:rPr lang="pt-BR" sz="1600" dirty="0">
                <a:solidFill>
                  <a:srgbClr val="0000FF"/>
                </a:solidFill>
                <a:latin typeface="Consolas" panose="020B0609020204030204" pitchFamily="49" charset="0"/>
              </a:rPr>
              <a:t>new</a:t>
            </a:r>
            <a:r>
              <a:rPr lang="pt-BR" sz="1600" dirty="0">
                <a:solidFill>
                  <a:srgbClr val="000000"/>
                </a:solidFill>
                <a:latin typeface="Consolas" panose="020B0609020204030204" pitchFamily="49" charset="0"/>
              </a:rPr>
              <a:t> Aluno();</a:t>
            </a:r>
          </a:p>
          <a:p>
            <a:endParaRPr lang="pt-BR" sz="1600" dirty="0">
              <a:solidFill>
                <a:srgbClr val="000000"/>
              </a:solidFill>
              <a:latin typeface="Consolas" panose="020B0609020204030204" pitchFamily="49" charset="0"/>
            </a:endParaRPr>
          </a:p>
          <a:p>
            <a:r>
              <a:rPr lang="pt-BR" sz="1600" dirty="0">
                <a:solidFill>
                  <a:srgbClr val="000000"/>
                </a:solidFill>
                <a:latin typeface="Consolas" panose="020B0609020204030204" pitchFamily="49" charset="0"/>
              </a:rPr>
              <a:t>            ((Aluno)p).Nota = 10;</a:t>
            </a:r>
          </a:p>
          <a:p>
            <a:r>
              <a:rPr lang="pt-BR" sz="1600" dirty="0">
                <a:solidFill>
                  <a:srgbClr val="000000"/>
                </a:solidFill>
                <a:latin typeface="Consolas" panose="020B0609020204030204" pitchFamily="49" charset="0"/>
              </a:rPr>
              <a:t>        }</a:t>
            </a:r>
          </a:p>
          <a:p>
            <a:r>
              <a:rPr lang="pt-BR" sz="1600" dirty="0">
                <a:solidFill>
                  <a:srgbClr val="000000"/>
                </a:solidFill>
                <a:latin typeface="Consolas" panose="020B0609020204030204" pitchFamily="49" charset="0"/>
              </a:rPr>
              <a:t>}</a:t>
            </a:r>
            <a:endParaRPr lang="pt-BR" sz="1600" dirty="0"/>
          </a:p>
        </p:txBody>
      </p:sp>
    </p:spTree>
    <p:extLst>
      <p:ext uri="{BB962C8B-B14F-4D97-AF65-F5344CB8AC3E}">
        <p14:creationId xmlns:p14="http://schemas.microsoft.com/office/powerpoint/2010/main" val="31827824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Polimorfismo</a:t>
            </a:r>
          </a:p>
        </p:txBody>
      </p:sp>
      <p:sp>
        <p:nvSpPr>
          <p:cNvPr id="3" name="Espaço Reservado para Conteúdo 2"/>
          <p:cNvSpPr>
            <a:spLocks noGrp="1"/>
          </p:cNvSpPr>
          <p:nvPr>
            <p:ph idx="1"/>
          </p:nvPr>
        </p:nvSpPr>
        <p:spPr>
          <a:xfrm>
            <a:off x="1097280" y="1377647"/>
            <a:ext cx="10058400" cy="4023360"/>
          </a:xfrm>
        </p:spPr>
        <p:txBody>
          <a:bodyPr vert="horz" lIns="0" tIns="45720" rIns="0" bIns="45720" rtlCol="0" anchor="t">
            <a:normAutofit/>
          </a:bodyPr>
          <a:lstStyle/>
          <a:p>
            <a:endParaRPr lang="pt-BR" sz="2400" dirty="0"/>
          </a:p>
          <a:p>
            <a:r>
              <a:rPr lang="pt-BR" sz="3200" dirty="0"/>
              <a:t>E se for necessário saber o tipo do objeto?</a:t>
            </a:r>
          </a:p>
          <a:p>
            <a:r>
              <a:rPr lang="pt-BR" sz="3200" dirty="0"/>
              <a:t>Utilizar o operador </a:t>
            </a:r>
            <a:r>
              <a:rPr lang="pt-BR" sz="3200" dirty="0" err="1"/>
              <a:t>is</a:t>
            </a:r>
            <a:r>
              <a:rPr lang="pt-BR" sz="3200" dirty="0"/>
              <a:t>.</a:t>
            </a:r>
          </a:p>
        </p:txBody>
      </p:sp>
      <p:sp>
        <p:nvSpPr>
          <p:cNvPr id="5" name="Retângulo 4"/>
          <p:cNvSpPr/>
          <p:nvPr/>
        </p:nvSpPr>
        <p:spPr>
          <a:xfrm>
            <a:off x="5059680" y="2513048"/>
            <a:ext cx="6096000" cy="4154984"/>
          </a:xfrm>
          <a:prstGeom prst="rect">
            <a:avLst/>
          </a:prstGeom>
        </p:spPr>
        <p:txBody>
          <a:bodyPr>
            <a:spAutoFit/>
          </a:bodyPr>
          <a:lstStyle/>
          <a:p>
            <a:r>
              <a:rPr lang="pt-BR" sz="2400" dirty="0" err="1">
                <a:solidFill>
                  <a:srgbClr val="0000FF"/>
                </a:solidFill>
                <a:latin typeface="Consolas" panose="020B0609020204030204" pitchFamily="49" charset="0"/>
              </a:rPr>
              <a:t>public</a:t>
            </a:r>
            <a:r>
              <a:rPr lang="pt-BR" sz="2400" dirty="0">
                <a:solidFill>
                  <a:srgbClr val="000000"/>
                </a:solidFill>
                <a:latin typeface="Consolas" panose="020B0609020204030204" pitchFamily="49" charset="0"/>
              </a:rPr>
              <a:t> </a:t>
            </a:r>
            <a:r>
              <a:rPr lang="pt-BR" sz="2400" dirty="0" err="1">
                <a:solidFill>
                  <a:srgbClr val="0000FF"/>
                </a:solidFill>
                <a:latin typeface="Consolas" panose="020B0609020204030204" pitchFamily="49" charset="0"/>
              </a:rPr>
              <a:t>void</a:t>
            </a:r>
            <a:r>
              <a:rPr lang="pt-BR" sz="2400" dirty="0">
                <a:solidFill>
                  <a:srgbClr val="000000"/>
                </a:solidFill>
                <a:latin typeface="Consolas" panose="020B0609020204030204" pitchFamily="49" charset="0"/>
              </a:rPr>
              <a:t> Menu(Pessoa p)</a:t>
            </a:r>
          </a:p>
          <a:p>
            <a:r>
              <a:rPr lang="pt-BR" sz="2400" dirty="0">
                <a:solidFill>
                  <a:srgbClr val="000000"/>
                </a:solidFill>
                <a:latin typeface="Consolas" panose="020B0609020204030204" pitchFamily="49" charset="0"/>
              </a:rPr>
              <a:t>{</a:t>
            </a:r>
          </a:p>
          <a:p>
            <a:r>
              <a:rPr lang="pt-BR" sz="2400" dirty="0">
                <a:solidFill>
                  <a:srgbClr val="000000"/>
                </a:solidFill>
                <a:latin typeface="Consolas" panose="020B0609020204030204" pitchFamily="49" charset="0"/>
              </a:rPr>
              <a:t>        </a:t>
            </a:r>
            <a:r>
              <a:rPr lang="pt-BR" sz="2400" dirty="0" err="1">
                <a:solidFill>
                  <a:srgbClr val="0000FF"/>
                </a:solidFill>
                <a:latin typeface="Consolas" panose="020B0609020204030204" pitchFamily="49" charset="0"/>
              </a:rPr>
              <a:t>if</a:t>
            </a:r>
            <a:r>
              <a:rPr lang="pt-BR" sz="2400" dirty="0">
                <a:solidFill>
                  <a:srgbClr val="000000"/>
                </a:solidFill>
                <a:latin typeface="Consolas" panose="020B0609020204030204" pitchFamily="49" charset="0"/>
              </a:rPr>
              <a:t> (p </a:t>
            </a:r>
            <a:r>
              <a:rPr lang="pt-BR" sz="2400" dirty="0" err="1">
                <a:solidFill>
                  <a:srgbClr val="0000FF"/>
                </a:solidFill>
                <a:latin typeface="Consolas" panose="020B0609020204030204" pitchFamily="49" charset="0"/>
              </a:rPr>
              <a:t>is</a:t>
            </a:r>
            <a:r>
              <a:rPr lang="pt-BR" sz="2400" dirty="0">
                <a:solidFill>
                  <a:srgbClr val="000000"/>
                </a:solidFill>
                <a:latin typeface="Consolas" panose="020B0609020204030204" pitchFamily="49" charset="0"/>
              </a:rPr>
              <a:t> Aluno)</a:t>
            </a:r>
          </a:p>
          <a:p>
            <a:r>
              <a:rPr lang="pt-BR" sz="2400" dirty="0">
                <a:solidFill>
                  <a:srgbClr val="000000"/>
                </a:solidFill>
                <a:latin typeface="Consolas" panose="020B0609020204030204" pitchFamily="49" charset="0"/>
              </a:rPr>
              <a:t>        {</a:t>
            </a:r>
          </a:p>
          <a:p>
            <a:r>
              <a:rPr lang="pt-BR" sz="2400" dirty="0">
                <a:solidFill>
                  <a:srgbClr val="000000"/>
                </a:solidFill>
                <a:latin typeface="Consolas" panose="020B0609020204030204" pitchFamily="49" charset="0"/>
              </a:rPr>
              <a:t>            ((Aluno)p).Nota = 10;</a:t>
            </a:r>
          </a:p>
          <a:p>
            <a:r>
              <a:rPr lang="pt-BR" sz="2400" dirty="0">
                <a:solidFill>
                  <a:srgbClr val="000000"/>
                </a:solidFill>
                <a:latin typeface="Consolas" panose="020B0609020204030204" pitchFamily="49" charset="0"/>
              </a:rPr>
              <a:t>        }</a:t>
            </a:r>
          </a:p>
          <a:p>
            <a:r>
              <a:rPr lang="en-US" sz="2400" dirty="0">
                <a:solidFill>
                  <a:srgbClr val="000000"/>
                </a:solidFill>
                <a:latin typeface="Consolas" panose="020B0609020204030204" pitchFamily="49" charset="0"/>
              </a:rPr>
              <a:t>        </a:t>
            </a:r>
            <a:r>
              <a:rPr lang="en-US" sz="2400" dirty="0">
                <a:solidFill>
                  <a:srgbClr val="0000FF"/>
                </a:solidFill>
                <a:latin typeface="Consolas" panose="020B0609020204030204" pitchFamily="49" charset="0"/>
              </a:rPr>
              <a:t>else</a:t>
            </a:r>
            <a:r>
              <a:rPr lang="en-US" sz="2400" dirty="0">
                <a:solidFill>
                  <a:srgbClr val="000000"/>
                </a:solidFill>
                <a:latin typeface="Consolas" panose="020B0609020204030204" pitchFamily="49" charset="0"/>
              </a:rPr>
              <a:t> </a:t>
            </a:r>
            <a:r>
              <a:rPr lang="en-US" sz="2400" dirty="0">
                <a:solidFill>
                  <a:srgbClr val="0000FF"/>
                </a:solidFill>
                <a:latin typeface="Consolas" panose="020B0609020204030204" pitchFamily="49" charset="0"/>
              </a:rPr>
              <a:t>if</a:t>
            </a:r>
            <a:r>
              <a:rPr lang="en-US" sz="2400" dirty="0">
                <a:solidFill>
                  <a:srgbClr val="000000"/>
                </a:solidFill>
                <a:latin typeface="Consolas" panose="020B0609020204030204" pitchFamily="49" charset="0"/>
              </a:rPr>
              <a:t> (p </a:t>
            </a:r>
            <a:r>
              <a:rPr lang="en-US" sz="2400" dirty="0">
                <a:solidFill>
                  <a:srgbClr val="0000FF"/>
                </a:solidFill>
                <a:latin typeface="Consolas" panose="020B0609020204030204" pitchFamily="49" charset="0"/>
              </a:rPr>
              <a:t>is</a:t>
            </a:r>
            <a:r>
              <a:rPr lang="en-US" sz="2400" dirty="0">
                <a:solidFill>
                  <a:srgbClr val="000000"/>
                </a:solidFill>
                <a:latin typeface="Consolas" panose="020B0609020204030204" pitchFamily="49" charset="0"/>
              </a:rPr>
              <a:t> Professor)</a:t>
            </a:r>
          </a:p>
          <a:p>
            <a:r>
              <a:rPr lang="pt-BR" sz="2400" dirty="0">
                <a:solidFill>
                  <a:srgbClr val="000000"/>
                </a:solidFill>
                <a:latin typeface="Consolas" panose="020B0609020204030204" pitchFamily="49" charset="0"/>
              </a:rPr>
              <a:t>        {</a:t>
            </a:r>
          </a:p>
          <a:p>
            <a:endParaRPr lang="pt-BR" sz="2400" dirty="0">
              <a:solidFill>
                <a:srgbClr val="000000"/>
              </a:solidFill>
              <a:latin typeface="Consolas" panose="020B0609020204030204" pitchFamily="49" charset="0"/>
            </a:endParaRPr>
          </a:p>
          <a:p>
            <a:r>
              <a:rPr lang="pt-BR" sz="2400" dirty="0">
                <a:solidFill>
                  <a:srgbClr val="000000"/>
                </a:solidFill>
                <a:latin typeface="Consolas" panose="020B0609020204030204" pitchFamily="49" charset="0"/>
              </a:rPr>
              <a:t>        }</a:t>
            </a:r>
          </a:p>
          <a:p>
            <a:r>
              <a:rPr lang="pt-BR" sz="2400" dirty="0">
                <a:solidFill>
                  <a:srgbClr val="000000"/>
                </a:solidFill>
                <a:latin typeface="Consolas" panose="020B0609020204030204" pitchFamily="49" charset="0"/>
              </a:rPr>
              <a:t>}</a:t>
            </a:r>
            <a:endParaRPr lang="pt-BR" sz="2400" dirty="0"/>
          </a:p>
        </p:txBody>
      </p:sp>
    </p:spTree>
    <p:extLst>
      <p:ext uri="{BB962C8B-B14F-4D97-AF65-F5344CB8AC3E}">
        <p14:creationId xmlns:p14="http://schemas.microsoft.com/office/powerpoint/2010/main" val="35963625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B6B83C-86E2-433F-ACAB-1429ADFC5E82}"/>
              </a:ext>
            </a:extLst>
          </p:cNvPr>
          <p:cNvSpPr>
            <a:spLocks noGrp="1"/>
          </p:cNvSpPr>
          <p:nvPr>
            <p:ph type="title"/>
          </p:nvPr>
        </p:nvSpPr>
        <p:spPr/>
        <p:txBody>
          <a:bodyPr/>
          <a:lstStyle/>
          <a:p>
            <a:r>
              <a:rPr lang="pt-BR" dirty="0"/>
              <a:t>Exercício</a:t>
            </a:r>
          </a:p>
        </p:txBody>
      </p:sp>
      <p:sp>
        <p:nvSpPr>
          <p:cNvPr id="3" name="Espaço Reservado para Conteúdo 2">
            <a:extLst>
              <a:ext uri="{FF2B5EF4-FFF2-40B4-BE49-F238E27FC236}">
                <a16:creationId xmlns:a16="http://schemas.microsoft.com/office/drawing/2014/main" id="{054D8D5A-20C6-4812-9ED8-A3C026D694AD}"/>
              </a:ext>
            </a:extLst>
          </p:cNvPr>
          <p:cNvSpPr>
            <a:spLocks noGrp="1"/>
          </p:cNvSpPr>
          <p:nvPr>
            <p:ph idx="1"/>
          </p:nvPr>
        </p:nvSpPr>
        <p:spPr/>
        <p:txBody>
          <a:bodyPr>
            <a:normAutofit/>
          </a:bodyPr>
          <a:lstStyle/>
          <a:p>
            <a:r>
              <a:rPr lang="pt-BR" sz="3200" dirty="0"/>
              <a:t>O acervo de uma biblioteca deve ser catalogado. Tal acervo é composto de livros (título, autor e ano de publicação) e revistas (título, número de edição e editora). Fazer um programa em que o usuário faz a inserção dos itens do acervo de uma biblioteca até informar que não existem mais itens para inserir. Ao término da inserção, exibir todos os itens em ordem alfabética (título). Utilizar apenas uma estrutura (vetor) para armazenar os itens da biblioteca.</a:t>
            </a:r>
          </a:p>
        </p:txBody>
      </p:sp>
    </p:spTree>
    <p:extLst>
      <p:ext uri="{BB962C8B-B14F-4D97-AF65-F5344CB8AC3E}">
        <p14:creationId xmlns:p14="http://schemas.microsoft.com/office/powerpoint/2010/main" val="99461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C9F9063-DBCB-441A-915F-976B66D32B93}"/>
              </a:ext>
            </a:extLst>
          </p:cNvPr>
          <p:cNvSpPr/>
          <p:nvPr/>
        </p:nvSpPr>
        <p:spPr>
          <a:xfrm>
            <a:off x="0" y="0"/>
            <a:ext cx="6096000" cy="6617196"/>
          </a:xfrm>
          <a:prstGeom prst="rect">
            <a:avLst/>
          </a:prstGeom>
        </p:spPr>
        <p:txBody>
          <a:bodyPr>
            <a:spAutoFit/>
          </a:bodyPr>
          <a:lstStyle/>
          <a:p>
            <a:r>
              <a:rPr lang="pt-BR" sz="800" dirty="0" err="1">
                <a:solidFill>
                  <a:srgbClr val="0000FF"/>
                </a:solidFill>
                <a:latin typeface="Consolas" panose="020B0609020204030204" pitchFamily="49" charset="0"/>
              </a:rPr>
              <a:t>using</a:t>
            </a:r>
            <a:r>
              <a:rPr lang="pt-BR" sz="800" dirty="0">
                <a:solidFill>
                  <a:srgbClr val="000000"/>
                </a:solidFill>
                <a:latin typeface="Consolas" panose="020B0609020204030204" pitchFamily="49" charset="0"/>
              </a:rPr>
              <a:t> System;</a:t>
            </a:r>
          </a:p>
          <a:p>
            <a:r>
              <a:rPr lang="pt-BR" sz="800" dirty="0" err="1">
                <a:solidFill>
                  <a:srgbClr val="0000FF"/>
                </a:solidFill>
                <a:latin typeface="Consolas" panose="020B0609020204030204" pitchFamily="49" charset="0"/>
              </a:rPr>
              <a:t>using</a:t>
            </a:r>
            <a:r>
              <a:rPr lang="pt-BR" sz="800" dirty="0">
                <a:solidFill>
                  <a:srgbClr val="000000"/>
                </a:solidFill>
                <a:latin typeface="Consolas" panose="020B0609020204030204" pitchFamily="49" charset="0"/>
              </a:rPr>
              <a:t> </a:t>
            </a:r>
            <a:r>
              <a:rPr lang="pt-BR" sz="800" dirty="0" err="1">
                <a:solidFill>
                  <a:srgbClr val="000000"/>
                </a:solidFill>
                <a:latin typeface="Consolas" panose="020B0609020204030204" pitchFamily="49" charset="0"/>
              </a:rPr>
              <a:t>System.Linq</a:t>
            </a:r>
            <a:r>
              <a:rPr lang="pt-BR" sz="800" dirty="0">
                <a:solidFill>
                  <a:srgbClr val="000000"/>
                </a:solidFill>
                <a:latin typeface="Consolas" panose="020B0609020204030204" pitchFamily="49" charset="0"/>
              </a:rPr>
              <a:t>;</a:t>
            </a:r>
          </a:p>
          <a:p>
            <a:endParaRPr lang="pt-BR" sz="800" dirty="0">
              <a:solidFill>
                <a:srgbClr val="000000"/>
              </a:solidFill>
              <a:latin typeface="Consolas" panose="020B0609020204030204" pitchFamily="49" charset="0"/>
            </a:endParaRPr>
          </a:p>
          <a:p>
            <a:r>
              <a:rPr lang="pt-BR" sz="800" dirty="0" err="1">
                <a:solidFill>
                  <a:srgbClr val="0000FF"/>
                </a:solidFill>
                <a:latin typeface="Consolas" panose="020B0609020204030204" pitchFamily="49" charset="0"/>
              </a:rPr>
              <a:t>namespace</a:t>
            </a:r>
            <a:r>
              <a:rPr lang="pt-BR" sz="800" dirty="0">
                <a:solidFill>
                  <a:srgbClr val="000000"/>
                </a:solidFill>
                <a:latin typeface="Consolas" panose="020B0609020204030204" pitchFamily="49" charset="0"/>
              </a:rPr>
              <a:t> exemplo</a:t>
            </a:r>
          </a:p>
          <a:p>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class</a:t>
            </a:r>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Program</a:t>
            </a:r>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p>
          <a:p>
            <a:r>
              <a:rPr lang="en-US" sz="800" dirty="0">
                <a:solidFill>
                  <a:srgbClr val="000000"/>
                </a:solidFill>
                <a:latin typeface="Consolas" panose="020B0609020204030204" pitchFamily="49" charset="0"/>
              </a:rPr>
              <a:t>        </a:t>
            </a:r>
            <a:r>
              <a:rPr lang="en-US" sz="800" dirty="0">
                <a:solidFill>
                  <a:srgbClr val="0000FF"/>
                </a:solidFill>
                <a:latin typeface="Consolas" panose="020B0609020204030204" pitchFamily="49" charset="0"/>
              </a:rPr>
              <a:t>static</a:t>
            </a:r>
            <a:r>
              <a:rPr lang="en-US" sz="800" dirty="0">
                <a:solidFill>
                  <a:srgbClr val="000000"/>
                </a:solidFill>
                <a:latin typeface="Consolas" panose="020B0609020204030204" pitchFamily="49" charset="0"/>
              </a:rPr>
              <a:t> </a:t>
            </a:r>
            <a:r>
              <a:rPr lang="en-US" sz="800" dirty="0">
                <a:solidFill>
                  <a:srgbClr val="0000FF"/>
                </a:solidFill>
                <a:latin typeface="Consolas" panose="020B0609020204030204" pitchFamily="49" charset="0"/>
              </a:rPr>
              <a:t>void</a:t>
            </a:r>
            <a:r>
              <a:rPr lang="en-US" sz="800" dirty="0">
                <a:solidFill>
                  <a:srgbClr val="000000"/>
                </a:solidFill>
                <a:latin typeface="Consolas" panose="020B0609020204030204" pitchFamily="49" charset="0"/>
              </a:rPr>
              <a:t> Main(</a:t>
            </a:r>
            <a:r>
              <a:rPr lang="en-US" sz="800" dirty="0">
                <a:solidFill>
                  <a:srgbClr val="0000FF"/>
                </a:solidFill>
                <a:latin typeface="Consolas" panose="020B0609020204030204" pitchFamily="49" charset="0"/>
              </a:rPr>
              <a:t>string</a:t>
            </a:r>
            <a:r>
              <a:rPr lang="en-US" sz="800" dirty="0">
                <a:solidFill>
                  <a:srgbClr val="000000"/>
                </a:solidFill>
                <a:latin typeface="Consolas" panose="020B0609020204030204" pitchFamily="49" charset="0"/>
              </a:rPr>
              <a:t>[] </a:t>
            </a:r>
            <a:r>
              <a:rPr lang="en-US" sz="800" dirty="0" err="1">
                <a:solidFill>
                  <a:srgbClr val="000000"/>
                </a:solidFill>
                <a:latin typeface="Consolas" panose="020B0609020204030204" pitchFamily="49" charset="0"/>
              </a:rPr>
              <a:t>args</a:t>
            </a:r>
            <a:r>
              <a:rPr lang="en-US"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ItemAcervo</a:t>
            </a:r>
            <a:r>
              <a:rPr lang="pt-BR" sz="800" dirty="0">
                <a:solidFill>
                  <a:srgbClr val="000000"/>
                </a:solidFill>
                <a:latin typeface="Consolas" panose="020B0609020204030204" pitchFamily="49" charset="0"/>
              </a:rPr>
              <a:t>[] acervo = </a:t>
            </a:r>
            <a:r>
              <a:rPr lang="pt-BR" sz="800" dirty="0">
                <a:solidFill>
                  <a:srgbClr val="0000FF"/>
                </a:solidFill>
                <a:latin typeface="Consolas" panose="020B0609020204030204" pitchFamily="49" charset="0"/>
              </a:rPr>
              <a:t>new</a:t>
            </a:r>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ItemAcervo</a:t>
            </a:r>
            <a:r>
              <a:rPr lang="pt-BR" sz="800" dirty="0">
                <a:solidFill>
                  <a:srgbClr val="000000"/>
                </a:solidFill>
                <a:latin typeface="Consolas" panose="020B0609020204030204" pitchFamily="49" charset="0"/>
              </a:rPr>
              <a:t>[1000];</a:t>
            </a:r>
          </a:p>
          <a:p>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int</a:t>
            </a:r>
            <a:r>
              <a:rPr lang="pt-BR" sz="800" dirty="0">
                <a:solidFill>
                  <a:srgbClr val="000000"/>
                </a:solidFill>
                <a:latin typeface="Consolas" panose="020B0609020204030204" pitchFamily="49" charset="0"/>
              </a:rPr>
              <a:t> atual = 0;</a:t>
            </a:r>
          </a:p>
          <a:p>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while</a:t>
            </a:r>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true</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string</a:t>
            </a:r>
            <a:r>
              <a:rPr lang="pt-BR" sz="800" dirty="0">
                <a:solidFill>
                  <a:srgbClr val="000000"/>
                </a:solidFill>
                <a:latin typeface="Consolas" panose="020B0609020204030204" pitchFamily="49" charset="0"/>
              </a:rPr>
              <a:t> </a:t>
            </a:r>
            <a:r>
              <a:rPr lang="pt-BR" sz="800" dirty="0" err="1">
                <a:solidFill>
                  <a:srgbClr val="000000"/>
                </a:solidFill>
                <a:latin typeface="Consolas" panose="020B0609020204030204" pitchFamily="49" charset="0"/>
              </a:rPr>
              <a:t>opcao</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Console</a:t>
            </a:r>
            <a:r>
              <a:rPr lang="pt-BR" sz="800" dirty="0" err="1">
                <a:solidFill>
                  <a:srgbClr val="000000"/>
                </a:solidFill>
                <a:latin typeface="Consolas" panose="020B0609020204030204" pitchFamily="49" charset="0"/>
              </a:rPr>
              <a:t>.Clear</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r>
              <a:rPr lang="pt-BR" sz="800" dirty="0">
                <a:solidFill>
                  <a:srgbClr val="0000FF"/>
                </a:solidFill>
                <a:latin typeface="Consolas" panose="020B0609020204030204" pitchFamily="49" charset="0"/>
              </a:rPr>
              <a:t>do</a:t>
            </a:r>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Console</a:t>
            </a:r>
            <a:r>
              <a:rPr lang="pt-BR" sz="800" dirty="0" err="1">
                <a:solidFill>
                  <a:srgbClr val="000000"/>
                </a:solidFill>
                <a:latin typeface="Consolas" panose="020B0609020204030204" pitchFamily="49" charset="0"/>
              </a:rPr>
              <a:t>.Write</a:t>
            </a:r>
            <a:r>
              <a:rPr lang="pt-BR" sz="800" dirty="0">
                <a:solidFill>
                  <a:srgbClr val="000000"/>
                </a:solidFill>
                <a:latin typeface="Consolas" panose="020B0609020204030204" pitchFamily="49" charset="0"/>
              </a:rPr>
              <a:t>(</a:t>
            </a:r>
            <a:r>
              <a:rPr lang="pt-BR" sz="800" dirty="0">
                <a:solidFill>
                  <a:srgbClr val="A31515"/>
                </a:solidFill>
                <a:latin typeface="Consolas" panose="020B0609020204030204" pitchFamily="49" charset="0"/>
              </a:rPr>
              <a:t>"1 - Livro, 2 - Revista, 3 - Fim : "</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r>
              <a:rPr lang="pt-BR" sz="800" dirty="0" err="1">
                <a:solidFill>
                  <a:srgbClr val="000000"/>
                </a:solidFill>
                <a:latin typeface="Consolas" panose="020B0609020204030204" pitchFamily="49" charset="0"/>
              </a:rPr>
              <a:t>opcao</a:t>
            </a:r>
            <a:r>
              <a:rPr lang="pt-BR" sz="800" dirty="0">
                <a:solidFill>
                  <a:srgbClr val="000000"/>
                </a:solidFill>
                <a:latin typeface="Consolas" panose="020B0609020204030204" pitchFamily="49" charset="0"/>
              </a:rPr>
              <a:t> = </a:t>
            </a:r>
            <a:r>
              <a:rPr lang="pt-BR" sz="800" dirty="0" err="1">
                <a:solidFill>
                  <a:srgbClr val="2B91AF"/>
                </a:solidFill>
                <a:latin typeface="Consolas" panose="020B0609020204030204" pitchFamily="49" charset="0"/>
              </a:rPr>
              <a:t>Console</a:t>
            </a:r>
            <a:r>
              <a:rPr lang="pt-BR" sz="800" dirty="0" err="1">
                <a:solidFill>
                  <a:srgbClr val="000000"/>
                </a:solidFill>
                <a:latin typeface="Consolas" panose="020B0609020204030204" pitchFamily="49" charset="0"/>
              </a:rPr>
              <a:t>.ReadLine</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 </a:t>
            </a:r>
            <a:r>
              <a:rPr lang="pt-BR" sz="800" dirty="0" err="1">
                <a:solidFill>
                  <a:srgbClr val="0000FF"/>
                </a:solidFill>
                <a:latin typeface="Consolas" panose="020B0609020204030204" pitchFamily="49" charset="0"/>
              </a:rPr>
              <a:t>while</a:t>
            </a:r>
            <a:r>
              <a:rPr lang="pt-BR" sz="800" dirty="0">
                <a:solidFill>
                  <a:srgbClr val="000000"/>
                </a:solidFill>
                <a:latin typeface="Consolas" panose="020B0609020204030204" pitchFamily="49" charset="0"/>
              </a:rPr>
              <a:t> (</a:t>
            </a:r>
            <a:r>
              <a:rPr lang="pt-BR" sz="800" dirty="0" err="1">
                <a:solidFill>
                  <a:srgbClr val="000000"/>
                </a:solidFill>
                <a:latin typeface="Consolas" panose="020B0609020204030204" pitchFamily="49" charset="0"/>
              </a:rPr>
              <a:t>opcao</a:t>
            </a:r>
            <a:r>
              <a:rPr lang="pt-BR" sz="800" dirty="0">
                <a:solidFill>
                  <a:srgbClr val="000000"/>
                </a:solidFill>
                <a:latin typeface="Consolas" panose="020B0609020204030204" pitchFamily="49" charset="0"/>
              </a:rPr>
              <a:t> != </a:t>
            </a:r>
            <a:r>
              <a:rPr lang="pt-BR" sz="800" dirty="0">
                <a:solidFill>
                  <a:srgbClr val="A31515"/>
                </a:solidFill>
                <a:latin typeface="Consolas" panose="020B0609020204030204" pitchFamily="49" charset="0"/>
              </a:rPr>
              <a:t>"1"</a:t>
            </a:r>
            <a:r>
              <a:rPr lang="pt-BR" sz="800" dirty="0">
                <a:solidFill>
                  <a:srgbClr val="000000"/>
                </a:solidFill>
                <a:latin typeface="Consolas" panose="020B0609020204030204" pitchFamily="49" charset="0"/>
              </a:rPr>
              <a:t> &amp;&amp; </a:t>
            </a:r>
            <a:r>
              <a:rPr lang="pt-BR" sz="800" dirty="0" err="1">
                <a:solidFill>
                  <a:srgbClr val="000000"/>
                </a:solidFill>
                <a:latin typeface="Consolas" panose="020B0609020204030204" pitchFamily="49" charset="0"/>
              </a:rPr>
              <a:t>opcao</a:t>
            </a:r>
            <a:r>
              <a:rPr lang="pt-BR" sz="800" dirty="0">
                <a:solidFill>
                  <a:srgbClr val="000000"/>
                </a:solidFill>
                <a:latin typeface="Consolas" panose="020B0609020204030204" pitchFamily="49" charset="0"/>
              </a:rPr>
              <a:t> != </a:t>
            </a:r>
            <a:r>
              <a:rPr lang="pt-BR" sz="800" dirty="0">
                <a:solidFill>
                  <a:srgbClr val="A31515"/>
                </a:solidFill>
                <a:latin typeface="Consolas" panose="020B0609020204030204" pitchFamily="49" charset="0"/>
              </a:rPr>
              <a:t>"2"</a:t>
            </a:r>
            <a:r>
              <a:rPr lang="pt-BR" sz="800" dirty="0">
                <a:solidFill>
                  <a:srgbClr val="000000"/>
                </a:solidFill>
                <a:latin typeface="Consolas" panose="020B0609020204030204" pitchFamily="49" charset="0"/>
              </a:rPr>
              <a:t> &amp;&amp; </a:t>
            </a:r>
            <a:r>
              <a:rPr lang="pt-BR" sz="800" dirty="0" err="1">
                <a:solidFill>
                  <a:srgbClr val="000000"/>
                </a:solidFill>
                <a:latin typeface="Consolas" panose="020B0609020204030204" pitchFamily="49" charset="0"/>
              </a:rPr>
              <a:t>opcao</a:t>
            </a:r>
            <a:r>
              <a:rPr lang="pt-BR" sz="800" dirty="0">
                <a:solidFill>
                  <a:srgbClr val="000000"/>
                </a:solidFill>
                <a:latin typeface="Consolas" panose="020B0609020204030204" pitchFamily="49" charset="0"/>
              </a:rPr>
              <a:t> != </a:t>
            </a:r>
            <a:r>
              <a:rPr lang="pt-BR" sz="800" dirty="0">
                <a:solidFill>
                  <a:srgbClr val="A31515"/>
                </a:solidFill>
                <a:latin typeface="Consolas" panose="020B0609020204030204" pitchFamily="49" charset="0"/>
              </a:rPr>
              <a:t>"3"</a:t>
            </a:r>
            <a:r>
              <a:rPr lang="pt-BR" sz="800" dirty="0">
                <a:solidFill>
                  <a:srgbClr val="000000"/>
                </a:solidFill>
                <a:latin typeface="Consolas" panose="020B0609020204030204" pitchFamily="49" charset="0"/>
              </a:rPr>
              <a:t>);</a:t>
            </a:r>
          </a:p>
          <a:p>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if</a:t>
            </a:r>
            <a:r>
              <a:rPr lang="pt-BR" sz="800" dirty="0">
                <a:solidFill>
                  <a:srgbClr val="000000"/>
                </a:solidFill>
                <a:latin typeface="Consolas" panose="020B0609020204030204" pitchFamily="49" charset="0"/>
              </a:rPr>
              <a:t> (</a:t>
            </a:r>
            <a:r>
              <a:rPr lang="pt-BR" sz="800" dirty="0" err="1">
                <a:solidFill>
                  <a:srgbClr val="000000"/>
                </a:solidFill>
                <a:latin typeface="Consolas" panose="020B0609020204030204" pitchFamily="49" charset="0"/>
              </a:rPr>
              <a:t>opcao</a:t>
            </a:r>
            <a:r>
              <a:rPr lang="pt-BR" sz="800" dirty="0">
                <a:solidFill>
                  <a:srgbClr val="000000"/>
                </a:solidFill>
                <a:latin typeface="Consolas" panose="020B0609020204030204" pitchFamily="49" charset="0"/>
              </a:rPr>
              <a:t> == </a:t>
            </a:r>
            <a:r>
              <a:rPr lang="pt-BR" sz="800" dirty="0">
                <a:solidFill>
                  <a:srgbClr val="A31515"/>
                </a:solidFill>
                <a:latin typeface="Consolas" panose="020B0609020204030204" pitchFamily="49" charset="0"/>
              </a:rPr>
              <a:t>"3"</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r>
              <a:rPr lang="pt-BR" sz="800" dirty="0">
                <a:solidFill>
                  <a:srgbClr val="0000FF"/>
                </a:solidFill>
                <a:latin typeface="Consolas" panose="020B0609020204030204" pitchFamily="49" charset="0"/>
              </a:rPr>
              <a:t>break</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p>
          <a:p>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else</a:t>
            </a:r>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if</a:t>
            </a:r>
            <a:r>
              <a:rPr lang="pt-BR" sz="800" dirty="0">
                <a:solidFill>
                  <a:srgbClr val="000000"/>
                </a:solidFill>
                <a:latin typeface="Consolas" panose="020B0609020204030204" pitchFamily="49" charset="0"/>
              </a:rPr>
              <a:t> (</a:t>
            </a:r>
            <a:r>
              <a:rPr lang="pt-BR" sz="800" dirty="0" err="1">
                <a:solidFill>
                  <a:srgbClr val="000000"/>
                </a:solidFill>
                <a:latin typeface="Consolas" panose="020B0609020204030204" pitchFamily="49" charset="0"/>
              </a:rPr>
              <a:t>opcao</a:t>
            </a:r>
            <a:r>
              <a:rPr lang="pt-BR" sz="800" dirty="0">
                <a:solidFill>
                  <a:srgbClr val="000000"/>
                </a:solidFill>
                <a:latin typeface="Consolas" panose="020B0609020204030204" pitchFamily="49" charset="0"/>
              </a:rPr>
              <a:t> == </a:t>
            </a:r>
            <a:r>
              <a:rPr lang="pt-BR" sz="800" dirty="0">
                <a:solidFill>
                  <a:srgbClr val="A31515"/>
                </a:solidFill>
                <a:latin typeface="Consolas" panose="020B0609020204030204" pitchFamily="49" charset="0"/>
              </a:rPr>
              <a:t>"1"</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r>
              <a:rPr lang="pt-BR" sz="800" dirty="0">
                <a:solidFill>
                  <a:srgbClr val="2B91AF"/>
                </a:solidFill>
                <a:latin typeface="Consolas" panose="020B0609020204030204" pitchFamily="49" charset="0"/>
              </a:rPr>
              <a:t>Livro</a:t>
            </a:r>
            <a:r>
              <a:rPr lang="pt-BR" sz="800" dirty="0">
                <a:solidFill>
                  <a:srgbClr val="000000"/>
                </a:solidFill>
                <a:latin typeface="Consolas" panose="020B0609020204030204" pitchFamily="49" charset="0"/>
              </a:rPr>
              <a:t> l = </a:t>
            </a:r>
            <a:r>
              <a:rPr lang="pt-BR" sz="800" dirty="0">
                <a:solidFill>
                  <a:srgbClr val="0000FF"/>
                </a:solidFill>
                <a:latin typeface="Consolas" panose="020B0609020204030204" pitchFamily="49" charset="0"/>
              </a:rPr>
              <a:t>new</a:t>
            </a:r>
            <a:r>
              <a:rPr lang="pt-BR" sz="800" dirty="0">
                <a:solidFill>
                  <a:srgbClr val="000000"/>
                </a:solidFill>
                <a:latin typeface="Consolas" panose="020B0609020204030204" pitchFamily="49" charset="0"/>
              </a:rPr>
              <a:t> </a:t>
            </a:r>
            <a:r>
              <a:rPr lang="pt-BR" sz="800" dirty="0">
                <a:solidFill>
                  <a:srgbClr val="2B91AF"/>
                </a:solidFill>
                <a:latin typeface="Consolas" panose="020B0609020204030204" pitchFamily="49" charset="0"/>
              </a:rPr>
              <a:t>Livro</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Console</a:t>
            </a:r>
            <a:r>
              <a:rPr lang="pt-BR" sz="800" dirty="0" err="1">
                <a:solidFill>
                  <a:srgbClr val="000000"/>
                </a:solidFill>
                <a:latin typeface="Consolas" panose="020B0609020204030204" pitchFamily="49" charset="0"/>
              </a:rPr>
              <a:t>.WriteLine</a:t>
            </a:r>
            <a:r>
              <a:rPr lang="pt-BR" sz="800" dirty="0">
                <a:solidFill>
                  <a:srgbClr val="000000"/>
                </a:solidFill>
                <a:latin typeface="Consolas" panose="020B0609020204030204" pitchFamily="49" charset="0"/>
              </a:rPr>
              <a:t>(</a:t>
            </a:r>
            <a:r>
              <a:rPr lang="pt-BR" sz="800" dirty="0">
                <a:solidFill>
                  <a:srgbClr val="A31515"/>
                </a:solidFill>
                <a:latin typeface="Consolas" panose="020B0609020204030204" pitchFamily="49" charset="0"/>
              </a:rPr>
              <a:t>"\</a:t>
            </a:r>
            <a:r>
              <a:rPr lang="pt-BR" sz="800" dirty="0" err="1">
                <a:solidFill>
                  <a:srgbClr val="A31515"/>
                </a:solidFill>
                <a:latin typeface="Consolas" panose="020B0609020204030204" pitchFamily="49" charset="0"/>
              </a:rPr>
              <a:t>nCadastro</a:t>
            </a:r>
            <a:r>
              <a:rPr lang="pt-BR" sz="800" dirty="0">
                <a:solidFill>
                  <a:srgbClr val="A31515"/>
                </a:solidFill>
                <a:latin typeface="Consolas" panose="020B0609020204030204" pitchFamily="49" charset="0"/>
              </a:rPr>
              <a:t> de Livro\n"</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Console</a:t>
            </a:r>
            <a:r>
              <a:rPr lang="pt-BR" sz="800" dirty="0" err="1">
                <a:solidFill>
                  <a:srgbClr val="000000"/>
                </a:solidFill>
                <a:latin typeface="Consolas" panose="020B0609020204030204" pitchFamily="49" charset="0"/>
              </a:rPr>
              <a:t>.Write</a:t>
            </a:r>
            <a:r>
              <a:rPr lang="pt-BR" sz="800" dirty="0">
                <a:solidFill>
                  <a:srgbClr val="000000"/>
                </a:solidFill>
                <a:latin typeface="Consolas" panose="020B0609020204030204" pitchFamily="49" charset="0"/>
              </a:rPr>
              <a:t>(</a:t>
            </a:r>
            <a:r>
              <a:rPr lang="pt-BR" sz="800" dirty="0">
                <a:solidFill>
                  <a:srgbClr val="A31515"/>
                </a:solidFill>
                <a:latin typeface="Consolas" panose="020B0609020204030204" pitchFamily="49" charset="0"/>
              </a:rPr>
              <a:t>"Titulo: "</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r>
              <a:rPr lang="pt-BR" sz="800" dirty="0" err="1">
                <a:solidFill>
                  <a:srgbClr val="000000"/>
                </a:solidFill>
                <a:latin typeface="Consolas" panose="020B0609020204030204" pitchFamily="49" charset="0"/>
              </a:rPr>
              <a:t>l.Titulo</a:t>
            </a:r>
            <a:r>
              <a:rPr lang="pt-BR" sz="800" dirty="0">
                <a:solidFill>
                  <a:srgbClr val="000000"/>
                </a:solidFill>
                <a:latin typeface="Consolas" panose="020B0609020204030204" pitchFamily="49" charset="0"/>
              </a:rPr>
              <a:t> = </a:t>
            </a:r>
            <a:r>
              <a:rPr lang="pt-BR" sz="800" dirty="0" err="1">
                <a:solidFill>
                  <a:srgbClr val="2B91AF"/>
                </a:solidFill>
                <a:latin typeface="Consolas" panose="020B0609020204030204" pitchFamily="49" charset="0"/>
              </a:rPr>
              <a:t>Console</a:t>
            </a:r>
            <a:r>
              <a:rPr lang="pt-BR" sz="800" dirty="0" err="1">
                <a:solidFill>
                  <a:srgbClr val="000000"/>
                </a:solidFill>
                <a:latin typeface="Consolas" panose="020B0609020204030204" pitchFamily="49" charset="0"/>
              </a:rPr>
              <a:t>.ReadLine</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Console</a:t>
            </a:r>
            <a:r>
              <a:rPr lang="pt-BR" sz="800" dirty="0" err="1">
                <a:solidFill>
                  <a:srgbClr val="000000"/>
                </a:solidFill>
                <a:latin typeface="Consolas" panose="020B0609020204030204" pitchFamily="49" charset="0"/>
              </a:rPr>
              <a:t>.Write</a:t>
            </a:r>
            <a:r>
              <a:rPr lang="pt-BR" sz="800" dirty="0">
                <a:solidFill>
                  <a:srgbClr val="000000"/>
                </a:solidFill>
                <a:latin typeface="Consolas" panose="020B0609020204030204" pitchFamily="49" charset="0"/>
              </a:rPr>
              <a:t>(</a:t>
            </a:r>
            <a:r>
              <a:rPr lang="pt-BR" sz="800" dirty="0">
                <a:solidFill>
                  <a:srgbClr val="A31515"/>
                </a:solidFill>
                <a:latin typeface="Consolas" panose="020B0609020204030204" pitchFamily="49" charset="0"/>
              </a:rPr>
              <a:t>"Autor: "</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r>
              <a:rPr lang="pt-BR" sz="800" dirty="0" err="1">
                <a:solidFill>
                  <a:srgbClr val="000000"/>
                </a:solidFill>
                <a:latin typeface="Consolas" panose="020B0609020204030204" pitchFamily="49" charset="0"/>
              </a:rPr>
              <a:t>l.Autor</a:t>
            </a:r>
            <a:r>
              <a:rPr lang="pt-BR" sz="800" dirty="0">
                <a:solidFill>
                  <a:srgbClr val="000000"/>
                </a:solidFill>
                <a:latin typeface="Consolas" panose="020B0609020204030204" pitchFamily="49" charset="0"/>
              </a:rPr>
              <a:t> = </a:t>
            </a:r>
            <a:r>
              <a:rPr lang="pt-BR" sz="800" dirty="0" err="1">
                <a:solidFill>
                  <a:srgbClr val="2B91AF"/>
                </a:solidFill>
                <a:latin typeface="Consolas" panose="020B0609020204030204" pitchFamily="49" charset="0"/>
              </a:rPr>
              <a:t>Console</a:t>
            </a:r>
            <a:r>
              <a:rPr lang="pt-BR" sz="800" dirty="0" err="1">
                <a:solidFill>
                  <a:srgbClr val="000000"/>
                </a:solidFill>
                <a:latin typeface="Consolas" panose="020B0609020204030204" pitchFamily="49" charset="0"/>
              </a:rPr>
              <a:t>.ReadLine</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Console</a:t>
            </a:r>
            <a:r>
              <a:rPr lang="pt-BR" sz="800" dirty="0" err="1">
                <a:solidFill>
                  <a:srgbClr val="000000"/>
                </a:solidFill>
                <a:latin typeface="Consolas" panose="020B0609020204030204" pitchFamily="49" charset="0"/>
              </a:rPr>
              <a:t>.Write</a:t>
            </a:r>
            <a:r>
              <a:rPr lang="pt-BR" sz="800" dirty="0">
                <a:solidFill>
                  <a:srgbClr val="000000"/>
                </a:solidFill>
                <a:latin typeface="Consolas" panose="020B0609020204030204" pitchFamily="49" charset="0"/>
              </a:rPr>
              <a:t>(</a:t>
            </a:r>
            <a:r>
              <a:rPr lang="pt-BR" sz="800" dirty="0">
                <a:solidFill>
                  <a:srgbClr val="A31515"/>
                </a:solidFill>
                <a:latin typeface="Consolas" panose="020B0609020204030204" pitchFamily="49" charset="0"/>
              </a:rPr>
              <a:t>"Ano de Publicação: "</a:t>
            </a:r>
            <a:r>
              <a:rPr lang="pt-BR" sz="800" dirty="0">
                <a:solidFill>
                  <a:srgbClr val="000000"/>
                </a:solidFill>
                <a:latin typeface="Consolas" panose="020B0609020204030204" pitchFamily="49" charset="0"/>
              </a:rPr>
              <a:t>);</a:t>
            </a:r>
          </a:p>
          <a:p>
            <a:r>
              <a:rPr lang="it-IT" sz="800" dirty="0">
                <a:solidFill>
                  <a:srgbClr val="000000"/>
                </a:solidFill>
                <a:latin typeface="Consolas" panose="020B0609020204030204" pitchFamily="49" charset="0"/>
              </a:rPr>
              <a:t>                    l.Ano = </a:t>
            </a:r>
            <a:r>
              <a:rPr lang="it-IT" sz="800" dirty="0">
                <a:solidFill>
                  <a:srgbClr val="0000FF"/>
                </a:solidFill>
                <a:latin typeface="Consolas" panose="020B0609020204030204" pitchFamily="49" charset="0"/>
              </a:rPr>
              <a:t>int</a:t>
            </a:r>
            <a:r>
              <a:rPr lang="it-IT" sz="800" dirty="0">
                <a:solidFill>
                  <a:srgbClr val="000000"/>
                </a:solidFill>
                <a:latin typeface="Consolas" panose="020B0609020204030204" pitchFamily="49" charset="0"/>
              </a:rPr>
              <a:t>.Parse(</a:t>
            </a:r>
            <a:r>
              <a:rPr lang="it-IT" sz="800" dirty="0">
                <a:solidFill>
                  <a:srgbClr val="2B91AF"/>
                </a:solidFill>
                <a:latin typeface="Consolas" panose="020B0609020204030204" pitchFamily="49" charset="0"/>
              </a:rPr>
              <a:t>Console</a:t>
            </a:r>
            <a:r>
              <a:rPr lang="it-IT" sz="800" dirty="0">
                <a:solidFill>
                  <a:srgbClr val="000000"/>
                </a:solidFill>
                <a:latin typeface="Consolas" panose="020B0609020204030204" pitchFamily="49" charset="0"/>
              </a:rPr>
              <a:t>.ReadLine());</a:t>
            </a:r>
          </a:p>
          <a:p>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acervo[atual] = l;</a:t>
            </a:r>
          </a:p>
          <a:p>
            <a:r>
              <a:rPr lang="pt-BR" sz="800" dirty="0">
                <a:solidFill>
                  <a:srgbClr val="000000"/>
                </a:solidFill>
                <a:latin typeface="Consolas" panose="020B0609020204030204" pitchFamily="49" charset="0"/>
              </a:rPr>
              <a:t>                    atual++;</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else</a:t>
            </a:r>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if</a:t>
            </a:r>
            <a:r>
              <a:rPr lang="pt-BR" sz="800" dirty="0">
                <a:solidFill>
                  <a:srgbClr val="000000"/>
                </a:solidFill>
                <a:latin typeface="Consolas" panose="020B0609020204030204" pitchFamily="49" charset="0"/>
              </a:rPr>
              <a:t> (</a:t>
            </a:r>
            <a:r>
              <a:rPr lang="pt-BR" sz="800" dirty="0" err="1">
                <a:solidFill>
                  <a:srgbClr val="000000"/>
                </a:solidFill>
                <a:latin typeface="Consolas" panose="020B0609020204030204" pitchFamily="49" charset="0"/>
              </a:rPr>
              <a:t>opcao</a:t>
            </a:r>
            <a:r>
              <a:rPr lang="pt-BR" sz="800" dirty="0">
                <a:solidFill>
                  <a:srgbClr val="000000"/>
                </a:solidFill>
                <a:latin typeface="Consolas" panose="020B0609020204030204" pitchFamily="49" charset="0"/>
              </a:rPr>
              <a:t> == </a:t>
            </a:r>
            <a:r>
              <a:rPr lang="pt-BR" sz="800" dirty="0">
                <a:solidFill>
                  <a:srgbClr val="A31515"/>
                </a:solidFill>
                <a:latin typeface="Consolas" panose="020B0609020204030204" pitchFamily="49" charset="0"/>
              </a:rPr>
              <a:t>"2"</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r>
              <a:rPr lang="pt-BR" sz="800" dirty="0">
                <a:solidFill>
                  <a:srgbClr val="2B91AF"/>
                </a:solidFill>
                <a:latin typeface="Consolas" panose="020B0609020204030204" pitchFamily="49" charset="0"/>
              </a:rPr>
              <a:t>Revista</a:t>
            </a:r>
            <a:r>
              <a:rPr lang="pt-BR" sz="800" dirty="0">
                <a:solidFill>
                  <a:srgbClr val="000000"/>
                </a:solidFill>
                <a:latin typeface="Consolas" panose="020B0609020204030204" pitchFamily="49" charset="0"/>
              </a:rPr>
              <a:t> r = </a:t>
            </a:r>
            <a:r>
              <a:rPr lang="pt-BR" sz="800" dirty="0">
                <a:solidFill>
                  <a:srgbClr val="0000FF"/>
                </a:solidFill>
                <a:latin typeface="Consolas" panose="020B0609020204030204" pitchFamily="49" charset="0"/>
              </a:rPr>
              <a:t>new</a:t>
            </a:r>
            <a:r>
              <a:rPr lang="pt-BR" sz="800" dirty="0">
                <a:solidFill>
                  <a:srgbClr val="000000"/>
                </a:solidFill>
                <a:latin typeface="Consolas" panose="020B0609020204030204" pitchFamily="49" charset="0"/>
              </a:rPr>
              <a:t> </a:t>
            </a:r>
            <a:r>
              <a:rPr lang="pt-BR" sz="800" dirty="0">
                <a:solidFill>
                  <a:srgbClr val="2B91AF"/>
                </a:solidFill>
                <a:latin typeface="Consolas" panose="020B0609020204030204" pitchFamily="49" charset="0"/>
              </a:rPr>
              <a:t>Revista</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Console</a:t>
            </a:r>
            <a:r>
              <a:rPr lang="pt-BR" sz="800" dirty="0" err="1">
                <a:solidFill>
                  <a:srgbClr val="000000"/>
                </a:solidFill>
                <a:latin typeface="Consolas" panose="020B0609020204030204" pitchFamily="49" charset="0"/>
              </a:rPr>
              <a:t>.WriteLine</a:t>
            </a:r>
            <a:r>
              <a:rPr lang="pt-BR" sz="800" dirty="0">
                <a:solidFill>
                  <a:srgbClr val="000000"/>
                </a:solidFill>
                <a:latin typeface="Consolas" panose="020B0609020204030204" pitchFamily="49" charset="0"/>
              </a:rPr>
              <a:t>(</a:t>
            </a:r>
            <a:r>
              <a:rPr lang="pt-BR" sz="800" dirty="0">
                <a:solidFill>
                  <a:srgbClr val="A31515"/>
                </a:solidFill>
                <a:latin typeface="Consolas" panose="020B0609020204030204" pitchFamily="49" charset="0"/>
              </a:rPr>
              <a:t>"\</a:t>
            </a:r>
            <a:r>
              <a:rPr lang="pt-BR" sz="800" dirty="0" err="1">
                <a:solidFill>
                  <a:srgbClr val="A31515"/>
                </a:solidFill>
                <a:latin typeface="Consolas" panose="020B0609020204030204" pitchFamily="49" charset="0"/>
              </a:rPr>
              <a:t>nCadastro</a:t>
            </a:r>
            <a:r>
              <a:rPr lang="pt-BR" sz="800" dirty="0">
                <a:solidFill>
                  <a:srgbClr val="A31515"/>
                </a:solidFill>
                <a:latin typeface="Consolas" panose="020B0609020204030204" pitchFamily="49" charset="0"/>
              </a:rPr>
              <a:t> de Revista\n"</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Console</a:t>
            </a:r>
            <a:r>
              <a:rPr lang="pt-BR" sz="800" dirty="0" err="1">
                <a:solidFill>
                  <a:srgbClr val="000000"/>
                </a:solidFill>
                <a:latin typeface="Consolas" panose="020B0609020204030204" pitchFamily="49" charset="0"/>
              </a:rPr>
              <a:t>.Write</a:t>
            </a:r>
            <a:r>
              <a:rPr lang="pt-BR" sz="800" dirty="0">
                <a:solidFill>
                  <a:srgbClr val="000000"/>
                </a:solidFill>
                <a:latin typeface="Consolas" panose="020B0609020204030204" pitchFamily="49" charset="0"/>
              </a:rPr>
              <a:t>(</a:t>
            </a:r>
            <a:r>
              <a:rPr lang="pt-BR" sz="800" dirty="0">
                <a:solidFill>
                  <a:srgbClr val="A31515"/>
                </a:solidFill>
                <a:latin typeface="Consolas" panose="020B0609020204030204" pitchFamily="49" charset="0"/>
              </a:rPr>
              <a:t>"Titulo: "</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r>
              <a:rPr lang="pt-BR" sz="800" dirty="0" err="1">
                <a:solidFill>
                  <a:srgbClr val="000000"/>
                </a:solidFill>
                <a:latin typeface="Consolas" panose="020B0609020204030204" pitchFamily="49" charset="0"/>
              </a:rPr>
              <a:t>r.Titulo</a:t>
            </a:r>
            <a:r>
              <a:rPr lang="pt-BR" sz="800" dirty="0">
                <a:solidFill>
                  <a:srgbClr val="000000"/>
                </a:solidFill>
                <a:latin typeface="Consolas" panose="020B0609020204030204" pitchFamily="49" charset="0"/>
              </a:rPr>
              <a:t> = </a:t>
            </a:r>
            <a:r>
              <a:rPr lang="pt-BR" sz="800" dirty="0" err="1">
                <a:solidFill>
                  <a:srgbClr val="2B91AF"/>
                </a:solidFill>
                <a:latin typeface="Consolas" panose="020B0609020204030204" pitchFamily="49" charset="0"/>
              </a:rPr>
              <a:t>Console</a:t>
            </a:r>
            <a:r>
              <a:rPr lang="pt-BR" sz="800" dirty="0" err="1">
                <a:solidFill>
                  <a:srgbClr val="000000"/>
                </a:solidFill>
                <a:latin typeface="Consolas" panose="020B0609020204030204" pitchFamily="49" charset="0"/>
              </a:rPr>
              <a:t>.ReadLine</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Console</a:t>
            </a:r>
            <a:r>
              <a:rPr lang="pt-BR" sz="800" dirty="0" err="1">
                <a:solidFill>
                  <a:srgbClr val="000000"/>
                </a:solidFill>
                <a:latin typeface="Consolas" panose="020B0609020204030204" pitchFamily="49" charset="0"/>
              </a:rPr>
              <a:t>.Write</a:t>
            </a:r>
            <a:r>
              <a:rPr lang="pt-BR" sz="800" dirty="0">
                <a:solidFill>
                  <a:srgbClr val="000000"/>
                </a:solidFill>
                <a:latin typeface="Consolas" panose="020B0609020204030204" pitchFamily="49" charset="0"/>
              </a:rPr>
              <a:t>(</a:t>
            </a:r>
            <a:r>
              <a:rPr lang="pt-BR" sz="800" dirty="0">
                <a:solidFill>
                  <a:srgbClr val="A31515"/>
                </a:solidFill>
                <a:latin typeface="Consolas" panose="020B0609020204030204" pitchFamily="49" charset="0"/>
              </a:rPr>
              <a:t>"Número: "</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r>
              <a:rPr lang="pt-BR" sz="800" dirty="0" err="1">
                <a:solidFill>
                  <a:srgbClr val="000000"/>
                </a:solidFill>
                <a:latin typeface="Consolas" panose="020B0609020204030204" pitchFamily="49" charset="0"/>
              </a:rPr>
              <a:t>r.Numero</a:t>
            </a:r>
            <a:r>
              <a:rPr lang="pt-BR" sz="800" dirty="0">
                <a:solidFill>
                  <a:srgbClr val="000000"/>
                </a:solidFill>
                <a:latin typeface="Consolas" panose="020B0609020204030204" pitchFamily="49" charset="0"/>
              </a:rPr>
              <a:t> = </a:t>
            </a:r>
            <a:r>
              <a:rPr lang="pt-BR" sz="800" dirty="0" err="1">
                <a:solidFill>
                  <a:srgbClr val="2B91AF"/>
                </a:solidFill>
                <a:latin typeface="Consolas" panose="020B0609020204030204" pitchFamily="49" charset="0"/>
              </a:rPr>
              <a:t>Console</a:t>
            </a:r>
            <a:r>
              <a:rPr lang="pt-BR" sz="800" dirty="0" err="1">
                <a:solidFill>
                  <a:srgbClr val="000000"/>
                </a:solidFill>
                <a:latin typeface="Consolas" panose="020B0609020204030204" pitchFamily="49" charset="0"/>
              </a:rPr>
              <a:t>.ReadLine</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Console</a:t>
            </a:r>
            <a:r>
              <a:rPr lang="pt-BR" sz="800" dirty="0" err="1">
                <a:solidFill>
                  <a:srgbClr val="000000"/>
                </a:solidFill>
                <a:latin typeface="Consolas" panose="020B0609020204030204" pitchFamily="49" charset="0"/>
              </a:rPr>
              <a:t>.Write</a:t>
            </a:r>
            <a:r>
              <a:rPr lang="pt-BR" sz="800" dirty="0">
                <a:solidFill>
                  <a:srgbClr val="000000"/>
                </a:solidFill>
                <a:latin typeface="Consolas" panose="020B0609020204030204" pitchFamily="49" charset="0"/>
              </a:rPr>
              <a:t>(</a:t>
            </a:r>
            <a:r>
              <a:rPr lang="pt-BR" sz="800" dirty="0">
                <a:solidFill>
                  <a:srgbClr val="A31515"/>
                </a:solidFill>
                <a:latin typeface="Consolas" panose="020B0609020204030204" pitchFamily="49" charset="0"/>
              </a:rPr>
              <a:t>"Editora: "</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r>
              <a:rPr lang="pt-BR" sz="800" dirty="0" err="1">
                <a:solidFill>
                  <a:srgbClr val="000000"/>
                </a:solidFill>
                <a:latin typeface="Consolas" panose="020B0609020204030204" pitchFamily="49" charset="0"/>
              </a:rPr>
              <a:t>r.Editora</a:t>
            </a:r>
            <a:r>
              <a:rPr lang="pt-BR" sz="800" dirty="0">
                <a:solidFill>
                  <a:srgbClr val="000000"/>
                </a:solidFill>
                <a:latin typeface="Consolas" panose="020B0609020204030204" pitchFamily="49" charset="0"/>
              </a:rPr>
              <a:t> = </a:t>
            </a:r>
            <a:r>
              <a:rPr lang="pt-BR" sz="800" dirty="0" err="1">
                <a:solidFill>
                  <a:srgbClr val="2B91AF"/>
                </a:solidFill>
                <a:latin typeface="Consolas" panose="020B0609020204030204" pitchFamily="49" charset="0"/>
              </a:rPr>
              <a:t>Console</a:t>
            </a:r>
            <a:r>
              <a:rPr lang="pt-BR" sz="800" dirty="0" err="1">
                <a:solidFill>
                  <a:srgbClr val="000000"/>
                </a:solidFill>
                <a:latin typeface="Consolas" panose="020B0609020204030204" pitchFamily="49" charset="0"/>
              </a:rPr>
              <a:t>.ReadLine</a:t>
            </a:r>
            <a:r>
              <a:rPr lang="pt-BR" sz="800" dirty="0">
                <a:solidFill>
                  <a:srgbClr val="000000"/>
                </a:solidFill>
                <a:latin typeface="Consolas" panose="020B0609020204030204" pitchFamily="49" charset="0"/>
              </a:rPr>
              <a:t>();</a:t>
            </a:r>
          </a:p>
          <a:p>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p>
        </p:txBody>
      </p:sp>
      <p:sp>
        <p:nvSpPr>
          <p:cNvPr id="5" name="Retângulo 4">
            <a:extLst>
              <a:ext uri="{FF2B5EF4-FFF2-40B4-BE49-F238E27FC236}">
                <a16:creationId xmlns:a16="http://schemas.microsoft.com/office/drawing/2014/main" id="{23935D63-4278-47BA-97EC-0578FA0513C1}"/>
              </a:ext>
            </a:extLst>
          </p:cNvPr>
          <p:cNvSpPr/>
          <p:nvPr/>
        </p:nvSpPr>
        <p:spPr>
          <a:xfrm>
            <a:off x="5105399" y="-5417"/>
            <a:ext cx="7001933" cy="6370975"/>
          </a:xfrm>
          <a:prstGeom prst="rect">
            <a:avLst/>
          </a:prstGeom>
        </p:spPr>
        <p:txBody>
          <a:bodyPr wrap="square">
            <a:spAutoFit/>
          </a:bodyPr>
          <a:lstStyle/>
          <a:p>
            <a:r>
              <a:rPr lang="pt-BR" sz="800" dirty="0">
                <a:solidFill>
                  <a:srgbClr val="000000"/>
                </a:solidFill>
                <a:latin typeface="Consolas" panose="020B0609020204030204" pitchFamily="49" charset="0"/>
              </a:rPr>
              <a:t>	    acervo[atual] = r;</a:t>
            </a:r>
          </a:p>
          <a:p>
            <a:r>
              <a:rPr lang="pt-BR" sz="800" dirty="0">
                <a:solidFill>
                  <a:srgbClr val="000000"/>
                </a:solidFill>
                <a:latin typeface="Consolas" panose="020B0609020204030204" pitchFamily="49" charset="0"/>
              </a:rPr>
              <a:t>                    atual++;</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Console</a:t>
            </a:r>
            <a:r>
              <a:rPr lang="pt-BR" sz="800" dirty="0" err="1">
                <a:solidFill>
                  <a:srgbClr val="000000"/>
                </a:solidFill>
                <a:latin typeface="Consolas" panose="020B0609020204030204" pitchFamily="49" charset="0"/>
              </a:rPr>
              <a:t>.Clear</a:t>
            </a:r>
            <a:r>
              <a:rPr lang="pt-BR" sz="800" dirty="0">
                <a:solidFill>
                  <a:srgbClr val="000000"/>
                </a:solidFill>
                <a:latin typeface="Consolas" panose="020B0609020204030204" pitchFamily="49" charset="0"/>
              </a:rPr>
              <a:t>();</a:t>
            </a:r>
          </a:p>
          <a:p>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r>
              <a:rPr lang="pt-BR" sz="800" dirty="0">
                <a:solidFill>
                  <a:srgbClr val="008000"/>
                </a:solidFill>
                <a:latin typeface="Consolas" panose="020B0609020204030204" pitchFamily="49" charset="0"/>
              </a:rPr>
              <a:t>//Opção 1 - Implementar um método de ordenação</a:t>
            </a:r>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r>
              <a:rPr lang="pt-BR" sz="800" dirty="0">
                <a:solidFill>
                  <a:srgbClr val="008000"/>
                </a:solidFill>
                <a:latin typeface="Consolas" panose="020B0609020204030204" pitchFamily="49" charset="0"/>
              </a:rPr>
              <a:t>//Opção 2 - Usar LINQ</a:t>
            </a:r>
            <a:endParaRPr lang="pt-BR" sz="800" dirty="0">
              <a:solidFill>
                <a:srgbClr val="000000"/>
              </a:solidFill>
              <a:latin typeface="Consolas" panose="020B0609020204030204" pitchFamily="49" charset="0"/>
            </a:endParaRPr>
          </a:p>
          <a:p>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r>
              <a:rPr lang="pt-BR" sz="800" dirty="0">
                <a:solidFill>
                  <a:srgbClr val="0000FF"/>
                </a:solidFill>
                <a:latin typeface="Consolas" panose="020B0609020204030204" pitchFamily="49" charset="0"/>
              </a:rPr>
              <a:t>var</a:t>
            </a:r>
            <a:r>
              <a:rPr lang="pt-BR" sz="800" dirty="0">
                <a:solidFill>
                  <a:srgbClr val="000000"/>
                </a:solidFill>
                <a:latin typeface="Consolas" panose="020B0609020204030204" pitchFamily="49" charset="0"/>
              </a:rPr>
              <a:t> ordenado =</a:t>
            </a:r>
          </a:p>
          <a:p>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from</a:t>
            </a:r>
            <a:r>
              <a:rPr lang="pt-BR" sz="800" dirty="0">
                <a:solidFill>
                  <a:srgbClr val="000000"/>
                </a:solidFill>
                <a:latin typeface="Consolas" panose="020B0609020204030204" pitchFamily="49" charset="0"/>
              </a:rPr>
              <a:t> </a:t>
            </a:r>
            <a:r>
              <a:rPr lang="pt-BR" sz="800" dirty="0" err="1">
                <a:solidFill>
                  <a:srgbClr val="000000"/>
                </a:solidFill>
                <a:latin typeface="Consolas" panose="020B0609020204030204" pitchFamily="49" charset="0"/>
              </a:rPr>
              <a:t>ItemAcervo</a:t>
            </a:r>
            <a:r>
              <a:rPr lang="pt-BR" sz="800" dirty="0">
                <a:solidFill>
                  <a:srgbClr val="000000"/>
                </a:solidFill>
                <a:latin typeface="Consolas" panose="020B0609020204030204" pitchFamily="49" charset="0"/>
              </a:rPr>
              <a:t> </a:t>
            </a:r>
            <a:r>
              <a:rPr lang="pt-BR" sz="800" dirty="0">
                <a:solidFill>
                  <a:srgbClr val="0000FF"/>
                </a:solidFill>
                <a:latin typeface="Consolas" panose="020B0609020204030204" pitchFamily="49" charset="0"/>
              </a:rPr>
              <a:t>in</a:t>
            </a:r>
            <a:r>
              <a:rPr lang="pt-BR" sz="800" dirty="0">
                <a:solidFill>
                  <a:srgbClr val="000000"/>
                </a:solidFill>
                <a:latin typeface="Consolas" panose="020B0609020204030204" pitchFamily="49" charset="0"/>
              </a:rPr>
              <a:t> acervo</a:t>
            </a:r>
          </a:p>
          <a:p>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where</a:t>
            </a:r>
            <a:r>
              <a:rPr lang="pt-BR" sz="800" dirty="0">
                <a:solidFill>
                  <a:srgbClr val="000000"/>
                </a:solidFill>
                <a:latin typeface="Consolas" panose="020B0609020204030204" pitchFamily="49" charset="0"/>
              </a:rPr>
              <a:t> </a:t>
            </a:r>
            <a:r>
              <a:rPr lang="pt-BR" sz="800" dirty="0" err="1">
                <a:solidFill>
                  <a:srgbClr val="000000"/>
                </a:solidFill>
                <a:latin typeface="Consolas" panose="020B0609020204030204" pitchFamily="49" charset="0"/>
              </a:rPr>
              <a:t>ItemAcervo</a:t>
            </a:r>
            <a:r>
              <a:rPr lang="pt-BR" sz="800" dirty="0">
                <a:solidFill>
                  <a:srgbClr val="000000"/>
                </a:solidFill>
                <a:latin typeface="Consolas" panose="020B0609020204030204" pitchFamily="49" charset="0"/>
              </a:rPr>
              <a:t> != </a:t>
            </a:r>
            <a:r>
              <a:rPr lang="pt-BR" sz="800" dirty="0" err="1">
                <a:solidFill>
                  <a:srgbClr val="0000FF"/>
                </a:solidFill>
                <a:latin typeface="Consolas" panose="020B0609020204030204" pitchFamily="49" charset="0"/>
              </a:rPr>
              <a:t>null</a:t>
            </a:r>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orderby</a:t>
            </a:r>
            <a:r>
              <a:rPr lang="pt-BR" sz="800" dirty="0">
                <a:solidFill>
                  <a:srgbClr val="000000"/>
                </a:solidFill>
                <a:latin typeface="Consolas" panose="020B0609020204030204" pitchFamily="49" charset="0"/>
              </a:rPr>
              <a:t> </a:t>
            </a:r>
            <a:r>
              <a:rPr lang="pt-BR" sz="800" dirty="0" err="1">
                <a:solidFill>
                  <a:srgbClr val="000000"/>
                </a:solidFill>
                <a:latin typeface="Consolas" panose="020B0609020204030204" pitchFamily="49" charset="0"/>
              </a:rPr>
              <a:t>ItemAcervo.Titulo</a:t>
            </a:r>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ascending</a:t>
            </a:r>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select</a:t>
            </a:r>
            <a:r>
              <a:rPr lang="pt-BR" sz="800" dirty="0">
                <a:solidFill>
                  <a:srgbClr val="000000"/>
                </a:solidFill>
                <a:latin typeface="Consolas" panose="020B0609020204030204" pitchFamily="49" charset="0"/>
              </a:rPr>
              <a:t> </a:t>
            </a:r>
            <a:r>
              <a:rPr lang="pt-BR" sz="800" dirty="0" err="1">
                <a:solidFill>
                  <a:srgbClr val="000000"/>
                </a:solidFill>
                <a:latin typeface="Consolas" panose="020B0609020204030204" pitchFamily="49" charset="0"/>
              </a:rPr>
              <a:t>ItemAcervo</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acervo = </a:t>
            </a:r>
            <a:r>
              <a:rPr lang="pt-BR" sz="800" dirty="0" err="1">
                <a:solidFill>
                  <a:srgbClr val="000000"/>
                </a:solidFill>
                <a:latin typeface="Consolas" panose="020B0609020204030204" pitchFamily="49" charset="0"/>
              </a:rPr>
              <a:t>ordenado.ToArray</a:t>
            </a:r>
            <a:r>
              <a:rPr lang="pt-BR" sz="800" dirty="0">
                <a:solidFill>
                  <a:srgbClr val="000000"/>
                </a:solidFill>
                <a:latin typeface="Consolas" panose="020B0609020204030204" pitchFamily="49" charset="0"/>
              </a:rPr>
              <a:t>();</a:t>
            </a:r>
          </a:p>
          <a:p>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r>
              <a:rPr lang="pt-BR" sz="800" dirty="0">
                <a:solidFill>
                  <a:srgbClr val="008000"/>
                </a:solidFill>
                <a:latin typeface="Consolas" panose="020B0609020204030204" pitchFamily="49" charset="0"/>
              </a:rPr>
              <a:t>//</a:t>
            </a:r>
            <a:r>
              <a:rPr lang="pt-BR" sz="800" dirty="0" err="1">
                <a:solidFill>
                  <a:srgbClr val="008000"/>
                </a:solidFill>
                <a:latin typeface="Consolas" panose="020B0609020204030204" pitchFamily="49" charset="0"/>
              </a:rPr>
              <a:t>Opcao</a:t>
            </a:r>
            <a:r>
              <a:rPr lang="pt-BR" sz="800" dirty="0">
                <a:solidFill>
                  <a:srgbClr val="008000"/>
                </a:solidFill>
                <a:latin typeface="Consolas" panose="020B0609020204030204" pitchFamily="49" charset="0"/>
              </a:rPr>
              <a:t> 3 - Usar lambda </a:t>
            </a:r>
            <a:r>
              <a:rPr lang="pt-BR" sz="800" dirty="0" err="1">
                <a:solidFill>
                  <a:srgbClr val="008000"/>
                </a:solidFill>
                <a:latin typeface="Consolas" panose="020B0609020204030204" pitchFamily="49" charset="0"/>
              </a:rPr>
              <a:t>expression</a:t>
            </a:r>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r>
              <a:rPr lang="pt-BR" sz="800" dirty="0">
                <a:solidFill>
                  <a:srgbClr val="008000"/>
                </a:solidFill>
                <a:latin typeface="Consolas" panose="020B0609020204030204" pitchFamily="49" charset="0"/>
              </a:rPr>
              <a:t>//</a:t>
            </a:r>
            <a:r>
              <a:rPr lang="pt-BR" sz="800" dirty="0" err="1">
                <a:solidFill>
                  <a:srgbClr val="008000"/>
                </a:solidFill>
                <a:latin typeface="Consolas" panose="020B0609020204030204" pitchFamily="49" charset="0"/>
              </a:rPr>
              <a:t>ItemAcervo</a:t>
            </a:r>
            <a:r>
              <a:rPr lang="pt-BR" sz="800" dirty="0">
                <a:solidFill>
                  <a:srgbClr val="008000"/>
                </a:solidFill>
                <a:latin typeface="Consolas" panose="020B0609020204030204" pitchFamily="49" charset="0"/>
              </a:rPr>
              <a:t>[] ordenado = </a:t>
            </a:r>
            <a:r>
              <a:rPr lang="pt-BR" sz="800" dirty="0" err="1">
                <a:solidFill>
                  <a:srgbClr val="008000"/>
                </a:solidFill>
                <a:latin typeface="Consolas" panose="020B0609020204030204" pitchFamily="49" charset="0"/>
              </a:rPr>
              <a:t>acervo.OrderBy</a:t>
            </a:r>
            <a:r>
              <a:rPr lang="pt-BR" sz="800" dirty="0">
                <a:solidFill>
                  <a:srgbClr val="008000"/>
                </a:solidFill>
                <a:latin typeface="Consolas" panose="020B0609020204030204" pitchFamily="49" charset="0"/>
              </a:rPr>
              <a:t>(x =&gt; </a:t>
            </a:r>
            <a:r>
              <a:rPr lang="pt-BR" sz="800" dirty="0" err="1">
                <a:solidFill>
                  <a:srgbClr val="008000"/>
                </a:solidFill>
                <a:latin typeface="Consolas" panose="020B0609020204030204" pitchFamily="49" charset="0"/>
              </a:rPr>
              <a:t>x.Titulo</a:t>
            </a:r>
            <a:r>
              <a:rPr lang="pt-BR" sz="800" dirty="0">
                <a:solidFill>
                  <a:srgbClr val="008000"/>
                </a:solidFill>
                <a:latin typeface="Consolas" panose="020B0609020204030204" pitchFamily="49" charset="0"/>
              </a:rPr>
              <a:t>).</a:t>
            </a:r>
            <a:r>
              <a:rPr lang="pt-BR" sz="800" dirty="0" err="1">
                <a:solidFill>
                  <a:srgbClr val="008000"/>
                </a:solidFill>
                <a:latin typeface="Consolas" panose="020B0609020204030204" pitchFamily="49" charset="0"/>
              </a:rPr>
              <a:t>ToArray</a:t>
            </a:r>
            <a:r>
              <a:rPr lang="pt-BR" sz="800" dirty="0">
                <a:solidFill>
                  <a:srgbClr val="008000"/>
                </a:solidFill>
                <a:latin typeface="Consolas" panose="020B0609020204030204" pitchFamily="49" charset="0"/>
              </a:rPr>
              <a:t>();</a:t>
            </a:r>
            <a:endParaRPr lang="pt-BR" sz="800" dirty="0">
              <a:solidFill>
                <a:srgbClr val="000000"/>
              </a:solidFill>
              <a:latin typeface="Consolas" panose="020B0609020204030204" pitchFamily="49" charset="0"/>
            </a:endParaRPr>
          </a:p>
          <a:p>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Console</a:t>
            </a:r>
            <a:r>
              <a:rPr lang="pt-BR" sz="800" dirty="0" err="1">
                <a:solidFill>
                  <a:srgbClr val="000000"/>
                </a:solidFill>
                <a:latin typeface="Consolas" panose="020B0609020204030204" pitchFamily="49" charset="0"/>
              </a:rPr>
              <a:t>.Clear</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foreach</a:t>
            </a:r>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ItemAcervo</a:t>
            </a:r>
            <a:r>
              <a:rPr lang="pt-BR" sz="800" dirty="0">
                <a:solidFill>
                  <a:srgbClr val="000000"/>
                </a:solidFill>
                <a:latin typeface="Consolas" panose="020B0609020204030204" pitchFamily="49" charset="0"/>
              </a:rPr>
              <a:t> item </a:t>
            </a:r>
            <a:r>
              <a:rPr lang="pt-BR" sz="800" dirty="0">
                <a:solidFill>
                  <a:srgbClr val="0000FF"/>
                </a:solidFill>
                <a:latin typeface="Consolas" panose="020B0609020204030204" pitchFamily="49" charset="0"/>
              </a:rPr>
              <a:t>in</a:t>
            </a:r>
            <a:r>
              <a:rPr lang="pt-BR" sz="800" dirty="0">
                <a:solidFill>
                  <a:srgbClr val="000000"/>
                </a:solidFill>
                <a:latin typeface="Consolas" panose="020B0609020204030204" pitchFamily="49" charset="0"/>
              </a:rPr>
              <a:t> acervo)</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if</a:t>
            </a:r>
            <a:r>
              <a:rPr lang="pt-BR" sz="800" dirty="0">
                <a:solidFill>
                  <a:srgbClr val="000000"/>
                </a:solidFill>
                <a:latin typeface="Consolas" panose="020B0609020204030204" pitchFamily="49" charset="0"/>
              </a:rPr>
              <a:t> (item </a:t>
            </a:r>
            <a:r>
              <a:rPr lang="pt-BR" sz="800" dirty="0" err="1">
                <a:solidFill>
                  <a:srgbClr val="0000FF"/>
                </a:solidFill>
                <a:latin typeface="Consolas" panose="020B0609020204030204" pitchFamily="49" charset="0"/>
              </a:rPr>
              <a:t>is</a:t>
            </a:r>
            <a:r>
              <a:rPr lang="pt-BR" sz="800" dirty="0">
                <a:solidFill>
                  <a:srgbClr val="000000"/>
                </a:solidFill>
                <a:latin typeface="Consolas" panose="020B0609020204030204" pitchFamily="49" charset="0"/>
              </a:rPr>
              <a:t> </a:t>
            </a:r>
            <a:r>
              <a:rPr lang="pt-BR" sz="800" dirty="0">
                <a:solidFill>
                  <a:srgbClr val="2B91AF"/>
                </a:solidFill>
                <a:latin typeface="Consolas" panose="020B0609020204030204" pitchFamily="49" charset="0"/>
              </a:rPr>
              <a:t>Livro</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Console</a:t>
            </a:r>
            <a:r>
              <a:rPr lang="pt-BR" sz="800" dirty="0" err="1">
                <a:solidFill>
                  <a:srgbClr val="000000"/>
                </a:solidFill>
                <a:latin typeface="Consolas" panose="020B0609020204030204" pitchFamily="49" charset="0"/>
              </a:rPr>
              <a:t>.WriteLine</a:t>
            </a:r>
            <a:r>
              <a:rPr lang="pt-BR" sz="800" dirty="0">
                <a:solidFill>
                  <a:srgbClr val="000000"/>
                </a:solidFill>
                <a:latin typeface="Consolas" panose="020B0609020204030204" pitchFamily="49" charset="0"/>
              </a:rPr>
              <a:t>(</a:t>
            </a:r>
            <a:r>
              <a:rPr lang="pt-BR" sz="800" dirty="0">
                <a:solidFill>
                  <a:srgbClr val="A31515"/>
                </a:solidFill>
                <a:latin typeface="Consolas" panose="020B0609020204030204" pitchFamily="49" charset="0"/>
              </a:rPr>
              <a:t>"{0}\t{1}\t{2}"</a:t>
            </a:r>
            <a:r>
              <a:rPr lang="pt-BR" sz="800" dirty="0">
                <a:solidFill>
                  <a:srgbClr val="000000"/>
                </a:solidFill>
                <a:latin typeface="Consolas" panose="020B0609020204030204" pitchFamily="49" charset="0"/>
              </a:rPr>
              <a:t>, </a:t>
            </a:r>
            <a:r>
              <a:rPr lang="pt-BR" sz="800" dirty="0" err="1">
                <a:solidFill>
                  <a:srgbClr val="000000"/>
                </a:solidFill>
                <a:latin typeface="Consolas" panose="020B0609020204030204" pitchFamily="49" charset="0"/>
              </a:rPr>
              <a:t>item.Titulo</a:t>
            </a:r>
            <a:r>
              <a:rPr lang="pt-BR" sz="800" dirty="0">
                <a:solidFill>
                  <a:srgbClr val="000000"/>
                </a:solidFill>
                <a:latin typeface="Consolas" panose="020B0609020204030204" pitchFamily="49" charset="0"/>
              </a:rPr>
              <a:t>, ((</a:t>
            </a:r>
            <a:r>
              <a:rPr lang="pt-BR" sz="800" dirty="0">
                <a:solidFill>
                  <a:srgbClr val="2B91AF"/>
                </a:solidFill>
                <a:latin typeface="Consolas" panose="020B0609020204030204" pitchFamily="49" charset="0"/>
              </a:rPr>
              <a:t>Livro</a:t>
            </a:r>
            <a:r>
              <a:rPr lang="pt-BR" sz="800" dirty="0">
                <a:solidFill>
                  <a:srgbClr val="000000"/>
                </a:solidFill>
                <a:latin typeface="Consolas" panose="020B0609020204030204" pitchFamily="49" charset="0"/>
              </a:rPr>
              <a:t>)item).Autor, ((</a:t>
            </a:r>
            <a:r>
              <a:rPr lang="pt-BR" sz="800" dirty="0">
                <a:solidFill>
                  <a:srgbClr val="2B91AF"/>
                </a:solidFill>
                <a:latin typeface="Consolas" panose="020B0609020204030204" pitchFamily="49" charset="0"/>
              </a:rPr>
              <a:t>Livro</a:t>
            </a:r>
            <a:r>
              <a:rPr lang="pt-BR" sz="800" dirty="0">
                <a:solidFill>
                  <a:srgbClr val="000000"/>
                </a:solidFill>
                <a:latin typeface="Consolas" panose="020B0609020204030204" pitchFamily="49" charset="0"/>
              </a:rPr>
              <a:t>)item).Autor);</a:t>
            </a:r>
          </a:p>
          <a:p>
            <a:r>
              <a:rPr lang="pt-BR" sz="800" dirty="0">
                <a:solidFill>
                  <a:srgbClr val="000000"/>
                </a:solidFill>
                <a:latin typeface="Consolas" panose="020B0609020204030204" pitchFamily="49" charset="0"/>
              </a:rPr>
              <a:t>                }</a:t>
            </a:r>
          </a:p>
          <a:p>
            <a:r>
              <a:rPr lang="en-US" sz="800" dirty="0">
                <a:solidFill>
                  <a:srgbClr val="000000"/>
                </a:solidFill>
                <a:latin typeface="Consolas" panose="020B0609020204030204" pitchFamily="49" charset="0"/>
              </a:rPr>
              <a:t>                </a:t>
            </a:r>
            <a:r>
              <a:rPr lang="en-US" sz="800" dirty="0">
                <a:solidFill>
                  <a:srgbClr val="0000FF"/>
                </a:solidFill>
                <a:latin typeface="Consolas" panose="020B0609020204030204" pitchFamily="49" charset="0"/>
              </a:rPr>
              <a:t>else</a:t>
            </a:r>
            <a:r>
              <a:rPr lang="en-US" sz="800" dirty="0">
                <a:solidFill>
                  <a:srgbClr val="000000"/>
                </a:solidFill>
                <a:latin typeface="Consolas" panose="020B0609020204030204" pitchFamily="49" charset="0"/>
              </a:rPr>
              <a:t> </a:t>
            </a:r>
            <a:r>
              <a:rPr lang="en-US" sz="800" dirty="0">
                <a:solidFill>
                  <a:srgbClr val="0000FF"/>
                </a:solidFill>
                <a:latin typeface="Consolas" panose="020B0609020204030204" pitchFamily="49" charset="0"/>
              </a:rPr>
              <a:t>if</a:t>
            </a:r>
            <a:r>
              <a:rPr lang="en-US" sz="800" dirty="0">
                <a:solidFill>
                  <a:srgbClr val="000000"/>
                </a:solidFill>
                <a:latin typeface="Consolas" panose="020B0609020204030204" pitchFamily="49" charset="0"/>
              </a:rPr>
              <a:t> (item </a:t>
            </a:r>
            <a:r>
              <a:rPr lang="en-US" sz="800" dirty="0">
                <a:solidFill>
                  <a:srgbClr val="0000FF"/>
                </a:solidFill>
                <a:latin typeface="Consolas" panose="020B0609020204030204" pitchFamily="49" charset="0"/>
              </a:rPr>
              <a:t>is</a:t>
            </a:r>
            <a:r>
              <a:rPr lang="en-US" sz="800" dirty="0">
                <a:solidFill>
                  <a:srgbClr val="000000"/>
                </a:solidFill>
                <a:latin typeface="Consolas" panose="020B0609020204030204" pitchFamily="49" charset="0"/>
              </a:rPr>
              <a:t> </a:t>
            </a:r>
            <a:r>
              <a:rPr lang="en-US" sz="800" dirty="0" err="1">
                <a:solidFill>
                  <a:srgbClr val="2B91AF"/>
                </a:solidFill>
                <a:latin typeface="Consolas" panose="020B0609020204030204" pitchFamily="49" charset="0"/>
              </a:rPr>
              <a:t>Revista</a:t>
            </a:r>
            <a:r>
              <a:rPr lang="en-US"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Console</a:t>
            </a:r>
            <a:r>
              <a:rPr lang="pt-BR" sz="800" dirty="0" err="1">
                <a:solidFill>
                  <a:srgbClr val="000000"/>
                </a:solidFill>
                <a:latin typeface="Consolas" panose="020B0609020204030204" pitchFamily="49" charset="0"/>
              </a:rPr>
              <a:t>.WriteLine</a:t>
            </a:r>
            <a:r>
              <a:rPr lang="pt-BR" sz="800" dirty="0">
                <a:solidFill>
                  <a:srgbClr val="000000"/>
                </a:solidFill>
                <a:latin typeface="Consolas" panose="020B0609020204030204" pitchFamily="49" charset="0"/>
              </a:rPr>
              <a:t>(</a:t>
            </a:r>
            <a:r>
              <a:rPr lang="pt-BR" sz="800" dirty="0">
                <a:solidFill>
                  <a:srgbClr val="A31515"/>
                </a:solidFill>
                <a:latin typeface="Consolas" panose="020B0609020204030204" pitchFamily="49" charset="0"/>
              </a:rPr>
              <a:t>"{0}\t{1}\t{2}"</a:t>
            </a:r>
            <a:r>
              <a:rPr lang="pt-BR" sz="800" dirty="0">
                <a:solidFill>
                  <a:srgbClr val="000000"/>
                </a:solidFill>
                <a:latin typeface="Consolas" panose="020B0609020204030204" pitchFamily="49" charset="0"/>
              </a:rPr>
              <a:t>, </a:t>
            </a:r>
            <a:r>
              <a:rPr lang="pt-BR" sz="800" dirty="0" err="1">
                <a:solidFill>
                  <a:srgbClr val="000000"/>
                </a:solidFill>
                <a:latin typeface="Consolas" panose="020B0609020204030204" pitchFamily="49" charset="0"/>
              </a:rPr>
              <a:t>item.Titulo</a:t>
            </a:r>
            <a:r>
              <a:rPr lang="pt-BR" sz="800" dirty="0">
                <a:solidFill>
                  <a:srgbClr val="000000"/>
                </a:solidFill>
                <a:latin typeface="Consolas" panose="020B0609020204030204" pitchFamily="49" charset="0"/>
              </a:rPr>
              <a:t>, ((</a:t>
            </a:r>
            <a:r>
              <a:rPr lang="pt-BR" sz="800" dirty="0">
                <a:solidFill>
                  <a:srgbClr val="2B91AF"/>
                </a:solidFill>
                <a:latin typeface="Consolas" panose="020B0609020204030204" pitchFamily="49" charset="0"/>
              </a:rPr>
              <a:t>Revista</a:t>
            </a:r>
            <a:r>
              <a:rPr lang="pt-BR" sz="800" dirty="0">
                <a:solidFill>
                  <a:srgbClr val="000000"/>
                </a:solidFill>
                <a:latin typeface="Consolas" panose="020B0609020204030204" pitchFamily="49" charset="0"/>
              </a:rPr>
              <a:t>)item).Numero, ((</a:t>
            </a:r>
            <a:r>
              <a:rPr lang="pt-BR" sz="800" dirty="0">
                <a:solidFill>
                  <a:srgbClr val="2B91AF"/>
                </a:solidFill>
                <a:latin typeface="Consolas" panose="020B0609020204030204" pitchFamily="49" charset="0"/>
              </a:rPr>
              <a:t>Revista</a:t>
            </a:r>
            <a:r>
              <a:rPr lang="pt-BR" sz="800" dirty="0">
                <a:solidFill>
                  <a:srgbClr val="000000"/>
                </a:solidFill>
                <a:latin typeface="Consolas" panose="020B0609020204030204" pitchFamily="49" charset="0"/>
              </a:rPr>
              <a:t>)item).Editora);</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p>
          <a:p>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class</a:t>
            </a:r>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ItemAcervo</a:t>
            </a:r>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p>
          <a:p>
            <a:r>
              <a:rPr lang="en-US" sz="800" dirty="0">
                <a:solidFill>
                  <a:srgbClr val="000000"/>
                </a:solidFill>
                <a:latin typeface="Consolas" panose="020B0609020204030204" pitchFamily="49" charset="0"/>
              </a:rPr>
              <a:t>        </a:t>
            </a:r>
            <a:r>
              <a:rPr lang="en-US" sz="800" dirty="0">
                <a:solidFill>
                  <a:srgbClr val="0000FF"/>
                </a:solidFill>
                <a:latin typeface="Consolas" panose="020B0609020204030204" pitchFamily="49" charset="0"/>
              </a:rPr>
              <a:t>public</a:t>
            </a:r>
            <a:r>
              <a:rPr lang="en-US" sz="800" dirty="0">
                <a:solidFill>
                  <a:srgbClr val="000000"/>
                </a:solidFill>
                <a:latin typeface="Consolas" panose="020B0609020204030204" pitchFamily="49" charset="0"/>
              </a:rPr>
              <a:t> </a:t>
            </a:r>
            <a:r>
              <a:rPr lang="en-US" sz="800" dirty="0">
                <a:solidFill>
                  <a:srgbClr val="0000FF"/>
                </a:solidFill>
                <a:latin typeface="Consolas" panose="020B0609020204030204" pitchFamily="49" charset="0"/>
              </a:rPr>
              <a:t>string</a:t>
            </a:r>
            <a:r>
              <a:rPr lang="en-US" sz="800" dirty="0">
                <a:solidFill>
                  <a:srgbClr val="000000"/>
                </a:solidFill>
                <a:latin typeface="Consolas" panose="020B0609020204030204" pitchFamily="49" charset="0"/>
              </a:rPr>
              <a:t> </a:t>
            </a:r>
            <a:r>
              <a:rPr lang="en-US" sz="800" dirty="0" err="1">
                <a:solidFill>
                  <a:srgbClr val="000000"/>
                </a:solidFill>
                <a:latin typeface="Consolas" panose="020B0609020204030204" pitchFamily="49" charset="0"/>
              </a:rPr>
              <a:t>Titulo</a:t>
            </a:r>
            <a:r>
              <a:rPr lang="en-US" sz="800" dirty="0">
                <a:solidFill>
                  <a:srgbClr val="000000"/>
                </a:solidFill>
                <a:latin typeface="Consolas" panose="020B0609020204030204" pitchFamily="49" charset="0"/>
              </a:rPr>
              <a:t> { </a:t>
            </a:r>
            <a:r>
              <a:rPr lang="en-US" sz="800" dirty="0">
                <a:solidFill>
                  <a:srgbClr val="0000FF"/>
                </a:solidFill>
                <a:latin typeface="Consolas" panose="020B0609020204030204" pitchFamily="49" charset="0"/>
              </a:rPr>
              <a:t>get</a:t>
            </a:r>
            <a:r>
              <a:rPr lang="en-US" sz="800" dirty="0">
                <a:solidFill>
                  <a:srgbClr val="000000"/>
                </a:solidFill>
                <a:latin typeface="Consolas" panose="020B0609020204030204" pitchFamily="49" charset="0"/>
              </a:rPr>
              <a:t>; </a:t>
            </a:r>
            <a:r>
              <a:rPr lang="en-US" sz="800" dirty="0">
                <a:solidFill>
                  <a:srgbClr val="0000FF"/>
                </a:solidFill>
                <a:latin typeface="Consolas" panose="020B0609020204030204" pitchFamily="49" charset="0"/>
              </a:rPr>
              <a:t>set</a:t>
            </a:r>
            <a:r>
              <a:rPr lang="en-US"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p>
          <a:p>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class</a:t>
            </a:r>
            <a:r>
              <a:rPr lang="pt-BR" sz="800" dirty="0">
                <a:solidFill>
                  <a:srgbClr val="000000"/>
                </a:solidFill>
                <a:latin typeface="Consolas" panose="020B0609020204030204" pitchFamily="49" charset="0"/>
              </a:rPr>
              <a:t> </a:t>
            </a:r>
            <a:r>
              <a:rPr lang="pt-BR" sz="800" dirty="0">
                <a:solidFill>
                  <a:srgbClr val="2B91AF"/>
                </a:solidFill>
                <a:latin typeface="Consolas" panose="020B0609020204030204" pitchFamily="49" charset="0"/>
              </a:rPr>
              <a:t>Livro</a:t>
            </a:r>
            <a:r>
              <a:rPr lang="pt-BR" sz="800" dirty="0">
                <a:solidFill>
                  <a:srgbClr val="000000"/>
                </a:solidFill>
                <a:latin typeface="Consolas" panose="020B0609020204030204" pitchFamily="49" charset="0"/>
              </a:rPr>
              <a:t> : </a:t>
            </a:r>
            <a:r>
              <a:rPr lang="pt-BR" sz="800" dirty="0" err="1">
                <a:solidFill>
                  <a:srgbClr val="2B91AF"/>
                </a:solidFill>
                <a:latin typeface="Consolas" panose="020B0609020204030204" pitchFamily="49" charset="0"/>
              </a:rPr>
              <a:t>ItemAcervo</a:t>
            </a:r>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p>
          <a:p>
            <a:r>
              <a:rPr lang="en-US" sz="800" dirty="0">
                <a:solidFill>
                  <a:srgbClr val="000000"/>
                </a:solidFill>
                <a:latin typeface="Consolas" panose="020B0609020204030204" pitchFamily="49" charset="0"/>
              </a:rPr>
              <a:t>        </a:t>
            </a:r>
            <a:r>
              <a:rPr lang="en-US" sz="800" dirty="0">
                <a:solidFill>
                  <a:srgbClr val="0000FF"/>
                </a:solidFill>
                <a:latin typeface="Consolas" panose="020B0609020204030204" pitchFamily="49" charset="0"/>
              </a:rPr>
              <a:t>public</a:t>
            </a:r>
            <a:r>
              <a:rPr lang="en-US" sz="800" dirty="0">
                <a:solidFill>
                  <a:srgbClr val="000000"/>
                </a:solidFill>
                <a:latin typeface="Consolas" panose="020B0609020204030204" pitchFamily="49" charset="0"/>
              </a:rPr>
              <a:t> </a:t>
            </a:r>
            <a:r>
              <a:rPr lang="en-US" sz="800" dirty="0">
                <a:solidFill>
                  <a:srgbClr val="0000FF"/>
                </a:solidFill>
                <a:latin typeface="Consolas" panose="020B0609020204030204" pitchFamily="49" charset="0"/>
              </a:rPr>
              <a:t>string</a:t>
            </a:r>
            <a:r>
              <a:rPr lang="en-US" sz="800" dirty="0">
                <a:solidFill>
                  <a:srgbClr val="000000"/>
                </a:solidFill>
                <a:latin typeface="Consolas" panose="020B0609020204030204" pitchFamily="49" charset="0"/>
              </a:rPr>
              <a:t> Autor { </a:t>
            </a:r>
            <a:r>
              <a:rPr lang="en-US" sz="800" dirty="0">
                <a:solidFill>
                  <a:srgbClr val="0000FF"/>
                </a:solidFill>
                <a:latin typeface="Consolas" panose="020B0609020204030204" pitchFamily="49" charset="0"/>
              </a:rPr>
              <a:t>get</a:t>
            </a:r>
            <a:r>
              <a:rPr lang="en-US" sz="800" dirty="0">
                <a:solidFill>
                  <a:srgbClr val="000000"/>
                </a:solidFill>
                <a:latin typeface="Consolas" panose="020B0609020204030204" pitchFamily="49" charset="0"/>
              </a:rPr>
              <a:t>; </a:t>
            </a:r>
            <a:r>
              <a:rPr lang="en-US" sz="800" dirty="0">
                <a:solidFill>
                  <a:srgbClr val="0000FF"/>
                </a:solidFill>
                <a:latin typeface="Consolas" panose="020B0609020204030204" pitchFamily="49" charset="0"/>
              </a:rPr>
              <a:t>set</a:t>
            </a:r>
            <a:r>
              <a:rPr lang="en-US" sz="800" dirty="0">
                <a:solidFill>
                  <a:srgbClr val="000000"/>
                </a:solidFill>
                <a:latin typeface="Consolas" panose="020B0609020204030204" pitchFamily="49" charset="0"/>
              </a:rPr>
              <a:t>; }</a:t>
            </a:r>
          </a:p>
          <a:p>
            <a:r>
              <a:rPr lang="en-US" sz="800" dirty="0">
                <a:solidFill>
                  <a:srgbClr val="000000"/>
                </a:solidFill>
                <a:latin typeface="Consolas" panose="020B0609020204030204" pitchFamily="49" charset="0"/>
              </a:rPr>
              <a:t>        </a:t>
            </a:r>
            <a:r>
              <a:rPr lang="en-US" sz="800" dirty="0">
                <a:solidFill>
                  <a:srgbClr val="0000FF"/>
                </a:solidFill>
                <a:latin typeface="Consolas" panose="020B0609020204030204" pitchFamily="49" charset="0"/>
              </a:rPr>
              <a:t>public</a:t>
            </a:r>
            <a:r>
              <a:rPr lang="en-US" sz="800" dirty="0">
                <a:solidFill>
                  <a:srgbClr val="000000"/>
                </a:solidFill>
                <a:latin typeface="Consolas" panose="020B0609020204030204" pitchFamily="49" charset="0"/>
              </a:rPr>
              <a:t> </a:t>
            </a:r>
            <a:r>
              <a:rPr lang="en-US" sz="800" dirty="0">
                <a:solidFill>
                  <a:srgbClr val="0000FF"/>
                </a:solidFill>
                <a:latin typeface="Consolas" panose="020B0609020204030204" pitchFamily="49" charset="0"/>
              </a:rPr>
              <a:t>int</a:t>
            </a:r>
            <a:r>
              <a:rPr lang="en-US" sz="800" dirty="0">
                <a:solidFill>
                  <a:srgbClr val="000000"/>
                </a:solidFill>
                <a:latin typeface="Consolas" panose="020B0609020204030204" pitchFamily="49" charset="0"/>
              </a:rPr>
              <a:t> </a:t>
            </a:r>
            <a:r>
              <a:rPr lang="en-US" sz="800" dirty="0" err="1">
                <a:solidFill>
                  <a:srgbClr val="000000"/>
                </a:solidFill>
                <a:latin typeface="Consolas" panose="020B0609020204030204" pitchFamily="49" charset="0"/>
              </a:rPr>
              <a:t>Ano</a:t>
            </a:r>
            <a:r>
              <a:rPr lang="en-US" sz="800" dirty="0">
                <a:solidFill>
                  <a:srgbClr val="000000"/>
                </a:solidFill>
                <a:latin typeface="Consolas" panose="020B0609020204030204" pitchFamily="49" charset="0"/>
              </a:rPr>
              <a:t> { </a:t>
            </a:r>
            <a:r>
              <a:rPr lang="en-US" sz="800" dirty="0">
                <a:solidFill>
                  <a:srgbClr val="0000FF"/>
                </a:solidFill>
                <a:latin typeface="Consolas" panose="020B0609020204030204" pitchFamily="49" charset="0"/>
              </a:rPr>
              <a:t>get</a:t>
            </a:r>
            <a:r>
              <a:rPr lang="en-US" sz="800" dirty="0">
                <a:solidFill>
                  <a:srgbClr val="000000"/>
                </a:solidFill>
                <a:latin typeface="Consolas" panose="020B0609020204030204" pitchFamily="49" charset="0"/>
              </a:rPr>
              <a:t>; </a:t>
            </a:r>
            <a:r>
              <a:rPr lang="en-US" sz="800" dirty="0">
                <a:solidFill>
                  <a:srgbClr val="0000FF"/>
                </a:solidFill>
                <a:latin typeface="Consolas" panose="020B0609020204030204" pitchFamily="49" charset="0"/>
              </a:rPr>
              <a:t>set</a:t>
            </a:r>
            <a:r>
              <a:rPr lang="en-US"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p>
          <a:p>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class</a:t>
            </a:r>
            <a:r>
              <a:rPr lang="pt-BR" sz="800" dirty="0">
                <a:solidFill>
                  <a:srgbClr val="000000"/>
                </a:solidFill>
                <a:latin typeface="Consolas" panose="020B0609020204030204" pitchFamily="49" charset="0"/>
              </a:rPr>
              <a:t> </a:t>
            </a:r>
            <a:r>
              <a:rPr lang="pt-BR" sz="800" dirty="0">
                <a:solidFill>
                  <a:srgbClr val="2B91AF"/>
                </a:solidFill>
                <a:latin typeface="Consolas" panose="020B0609020204030204" pitchFamily="49" charset="0"/>
              </a:rPr>
              <a:t>Revista</a:t>
            </a:r>
            <a:r>
              <a:rPr lang="pt-BR" sz="800" dirty="0">
                <a:solidFill>
                  <a:srgbClr val="000000"/>
                </a:solidFill>
                <a:latin typeface="Consolas" panose="020B0609020204030204" pitchFamily="49" charset="0"/>
              </a:rPr>
              <a:t> : </a:t>
            </a:r>
            <a:r>
              <a:rPr lang="pt-BR" sz="800" dirty="0" err="1">
                <a:solidFill>
                  <a:srgbClr val="2B91AF"/>
                </a:solidFill>
                <a:latin typeface="Consolas" panose="020B0609020204030204" pitchFamily="49" charset="0"/>
              </a:rPr>
              <a:t>ItemAcervo</a:t>
            </a:r>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p>
          <a:p>
            <a:r>
              <a:rPr lang="en-US" sz="800" dirty="0">
                <a:solidFill>
                  <a:srgbClr val="000000"/>
                </a:solidFill>
                <a:latin typeface="Consolas" panose="020B0609020204030204" pitchFamily="49" charset="0"/>
              </a:rPr>
              <a:t>        </a:t>
            </a:r>
            <a:r>
              <a:rPr lang="en-US" sz="800" dirty="0">
                <a:solidFill>
                  <a:srgbClr val="0000FF"/>
                </a:solidFill>
                <a:latin typeface="Consolas" panose="020B0609020204030204" pitchFamily="49" charset="0"/>
              </a:rPr>
              <a:t>public</a:t>
            </a:r>
            <a:r>
              <a:rPr lang="en-US" sz="800" dirty="0">
                <a:solidFill>
                  <a:srgbClr val="000000"/>
                </a:solidFill>
                <a:latin typeface="Consolas" panose="020B0609020204030204" pitchFamily="49" charset="0"/>
              </a:rPr>
              <a:t> </a:t>
            </a:r>
            <a:r>
              <a:rPr lang="en-US" sz="800" dirty="0">
                <a:solidFill>
                  <a:srgbClr val="0000FF"/>
                </a:solidFill>
                <a:latin typeface="Consolas" panose="020B0609020204030204" pitchFamily="49" charset="0"/>
              </a:rPr>
              <a:t>string</a:t>
            </a:r>
            <a:r>
              <a:rPr lang="en-US" sz="800" dirty="0">
                <a:solidFill>
                  <a:srgbClr val="000000"/>
                </a:solidFill>
                <a:latin typeface="Consolas" panose="020B0609020204030204" pitchFamily="49" charset="0"/>
              </a:rPr>
              <a:t> </a:t>
            </a:r>
            <a:r>
              <a:rPr lang="en-US" sz="800" dirty="0" err="1">
                <a:solidFill>
                  <a:srgbClr val="000000"/>
                </a:solidFill>
                <a:latin typeface="Consolas" panose="020B0609020204030204" pitchFamily="49" charset="0"/>
              </a:rPr>
              <a:t>Numero</a:t>
            </a:r>
            <a:r>
              <a:rPr lang="en-US" sz="800" dirty="0">
                <a:solidFill>
                  <a:srgbClr val="000000"/>
                </a:solidFill>
                <a:latin typeface="Consolas" panose="020B0609020204030204" pitchFamily="49" charset="0"/>
              </a:rPr>
              <a:t> { </a:t>
            </a:r>
            <a:r>
              <a:rPr lang="en-US" sz="800" dirty="0">
                <a:solidFill>
                  <a:srgbClr val="0000FF"/>
                </a:solidFill>
                <a:latin typeface="Consolas" panose="020B0609020204030204" pitchFamily="49" charset="0"/>
              </a:rPr>
              <a:t>get</a:t>
            </a:r>
            <a:r>
              <a:rPr lang="en-US" sz="800" dirty="0">
                <a:solidFill>
                  <a:srgbClr val="000000"/>
                </a:solidFill>
                <a:latin typeface="Consolas" panose="020B0609020204030204" pitchFamily="49" charset="0"/>
              </a:rPr>
              <a:t>; </a:t>
            </a:r>
            <a:r>
              <a:rPr lang="en-US" sz="800" dirty="0">
                <a:solidFill>
                  <a:srgbClr val="0000FF"/>
                </a:solidFill>
                <a:latin typeface="Consolas" panose="020B0609020204030204" pitchFamily="49" charset="0"/>
              </a:rPr>
              <a:t>set</a:t>
            </a:r>
            <a:r>
              <a:rPr lang="en-US" sz="800" dirty="0">
                <a:solidFill>
                  <a:srgbClr val="000000"/>
                </a:solidFill>
                <a:latin typeface="Consolas" panose="020B0609020204030204" pitchFamily="49" charset="0"/>
              </a:rPr>
              <a:t>; }</a:t>
            </a:r>
          </a:p>
          <a:p>
            <a:r>
              <a:rPr lang="en-US" sz="800" dirty="0">
                <a:solidFill>
                  <a:srgbClr val="000000"/>
                </a:solidFill>
                <a:latin typeface="Consolas" panose="020B0609020204030204" pitchFamily="49" charset="0"/>
              </a:rPr>
              <a:t>        </a:t>
            </a:r>
            <a:r>
              <a:rPr lang="en-US" sz="800" dirty="0">
                <a:solidFill>
                  <a:srgbClr val="0000FF"/>
                </a:solidFill>
                <a:latin typeface="Consolas" panose="020B0609020204030204" pitchFamily="49" charset="0"/>
              </a:rPr>
              <a:t>public</a:t>
            </a:r>
            <a:r>
              <a:rPr lang="en-US" sz="800" dirty="0">
                <a:solidFill>
                  <a:srgbClr val="000000"/>
                </a:solidFill>
                <a:latin typeface="Consolas" panose="020B0609020204030204" pitchFamily="49" charset="0"/>
              </a:rPr>
              <a:t> </a:t>
            </a:r>
            <a:r>
              <a:rPr lang="en-US" sz="800" dirty="0">
                <a:solidFill>
                  <a:srgbClr val="0000FF"/>
                </a:solidFill>
                <a:latin typeface="Consolas" panose="020B0609020204030204" pitchFamily="49" charset="0"/>
              </a:rPr>
              <a:t>string</a:t>
            </a:r>
            <a:r>
              <a:rPr lang="en-US" sz="800" dirty="0">
                <a:solidFill>
                  <a:srgbClr val="000000"/>
                </a:solidFill>
                <a:latin typeface="Consolas" panose="020B0609020204030204" pitchFamily="49" charset="0"/>
              </a:rPr>
              <a:t> </a:t>
            </a:r>
            <a:r>
              <a:rPr lang="en-US" sz="800" dirty="0" err="1">
                <a:solidFill>
                  <a:srgbClr val="000000"/>
                </a:solidFill>
                <a:latin typeface="Consolas" panose="020B0609020204030204" pitchFamily="49" charset="0"/>
              </a:rPr>
              <a:t>Editora</a:t>
            </a:r>
            <a:r>
              <a:rPr lang="en-US" sz="800" dirty="0">
                <a:solidFill>
                  <a:srgbClr val="000000"/>
                </a:solidFill>
                <a:latin typeface="Consolas" panose="020B0609020204030204" pitchFamily="49" charset="0"/>
              </a:rPr>
              <a:t> { </a:t>
            </a:r>
            <a:r>
              <a:rPr lang="en-US" sz="800" dirty="0">
                <a:solidFill>
                  <a:srgbClr val="0000FF"/>
                </a:solidFill>
                <a:latin typeface="Consolas" panose="020B0609020204030204" pitchFamily="49" charset="0"/>
              </a:rPr>
              <a:t>get</a:t>
            </a:r>
            <a:r>
              <a:rPr lang="en-US" sz="800" dirty="0">
                <a:solidFill>
                  <a:srgbClr val="000000"/>
                </a:solidFill>
                <a:latin typeface="Consolas" panose="020B0609020204030204" pitchFamily="49" charset="0"/>
              </a:rPr>
              <a:t>; </a:t>
            </a:r>
            <a:r>
              <a:rPr lang="en-US" sz="800" dirty="0">
                <a:solidFill>
                  <a:srgbClr val="0000FF"/>
                </a:solidFill>
                <a:latin typeface="Consolas" panose="020B0609020204030204" pitchFamily="49" charset="0"/>
              </a:rPr>
              <a:t>set</a:t>
            </a:r>
            <a:r>
              <a:rPr lang="en-US"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a:t>
            </a:r>
            <a:endParaRPr lang="pt-BR" sz="800" dirty="0"/>
          </a:p>
        </p:txBody>
      </p:sp>
    </p:spTree>
    <p:extLst>
      <p:ext uri="{BB962C8B-B14F-4D97-AF65-F5344CB8AC3E}">
        <p14:creationId xmlns:p14="http://schemas.microsoft.com/office/powerpoint/2010/main" val="37538792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Polimorfismo	</a:t>
            </a:r>
          </a:p>
        </p:txBody>
      </p:sp>
      <p:sp>
        <p:nvSpPr>
          <p:cNvPr id="3" name="Espaço Reservado para Conteúdo 2"/>
          <p:cNvSpPr>
            <a:spLocks noGrp="1"/>
          </p:cNvSpPr>
          <p:nvPr>
            <p:ph idx="1"/>
          </p:nvPr>
        </p:nvSpPr>
        <p:spPr/>
        <p:txBody>
          <a:bodyPr>
            <a:normAutofit/>
          </a:bodyPr>
          <a:lstStyle/>
          <a:p>
            <a:r>
              <a:rPr lang="pt-BR" sz="2400" dirty="0"/>
              <a:t>Utilização com interfaces.</a:t>
            </a:r>
          </a:p>
          <a:p>
            <a:r>
              <a:rPr lang="pt-BR" sz="2400" dirty="0"/>
              <a:t>Exemplo: método Carregar recebe objetos que devem executar um método chamado Executar.</a:t>
            </a:r>
          </a:p>
        </p:txBody>
      </p:sp>
      <p:sp>
        <p:nvSpPr>
          <p:cNvPr id="4" name="Retângulo 3"/>
          <p:cNvSpPr/>
          <p:nvPr/>
        </p:nvSpPr>
        <p:spPr>
          <a:xfrm>
            <a:off x="269965" y="3223069"/>
            <a:ext cx="6096000" cy="2308324"/>
          </a:xfrm>
          <a:prstGeom prst="rect">
            <a:avLst/>
          </a:prstGeom>
        </p:spPr>
        <p:txBody>
          <a:bodyPr>
            <a:spAutoFit/>
          </a:bodyPr>
          <a:lstStyle/>
          <a:p>
            <a:r>
              <a:rPr lang="pt-BR" sz="1600" dirty="0" err="1">
                <a:solidFill>
                  <a:srgbClr val="0000FF"/>
                </a:solidFill>
                <a:latin typeface="Consolas" panose="020B0609020204030204" pitchFamily="49" charset="0"/>
              </a:rPr>
              <a:t>public</a:t>
            </a:r>
            <a:r>
              <a:rPr lang="pt-BR" sz="1600" dirty="0">
                <a:solidFill>
                  <a:srgbClr val="000000"/>
                </a:solidFill>
                <a:latin typeface="Consolas" panose="020B0609020204030204" pitchFamily="49" charset="0"/>
              </a:rPr>
              <a:t> </a:t>
            </a:r>
            <a:r>
              <a:rPr lang="pt-BR" sz="1600" dirty="0">
                <a:solidFill>
                  <a:srgbClr val="0000FF"/>
                </a:solidFill>
                <a:latin typeface="Consolas" panose="020B0609020204030204" pitchFamily="49" charset="0"/>
              </a:rPr>
              <a:t>interface</a:t>
            </a:r>
            <a:r>
              <a:rPr lang="pt-BR" sz="1600" dirty="0">
                <a:solidFill>
                  <a:srgbClr val="000000"/>
                </a:solidFill>
                <a:latin typeface="Consolas" panose="020B0609020204030204" pitchFamily="49" charset="0"/>
              </a:rPr>
              <a:t> </a:t>
            </a:r>
            <a:r>
              <a:rPr lang="pt-BR" sz="1600" dirty="0" err="1">
                <a:solidFill>
                  <a:srgbClr val="2B91AF"/>
                </a:solidFill>
                <a:latin typeface="Consolas" panose="020B0609020204030204" pitchFamily="49" charset="0"/>
              </a:rPr>
              <a:t>IExecutar</a:t>
            </a:r>
            <a:endParaRPr lang="pt-BR" sz="1600" dirty="0">
              <a:solidFill>
                <a:srgbClr val="000000"/>
              </a:solidFill>
              <a:latin typeface="Consolas" panose="020B0609020204030204" pitchFamily="49" charset="0"/>
            </a:endParaRPr>
          </a:p>
          <a:p>
            <a:r>
              <a:rPr lang="pt-BR" sz="1600" dirty="0">
                <a:solidFill>
                  <a:srgbClr val="000000"/>
                </a:solidFill>
                <a:latin typeface="Consolas" panose="020B0609020204030204" pitchFamily="49" charset="0"/>
              </a:rPr>
              <a:t>{</a:t>
            </a:r>
          </a:p>
          <a:p>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void</a:t>
            </a:r>
            <a:r>
              <a:rPr lang="pt-BR" sz="1600" dirty="0">
                <a:solidFill>
                  <a:srgbClr val="000000"/>
                </a:solidFill>
                <a:latin typeface="Consolas" panose="020B0609020204030204" pitchFamily="49" charset="0"/>
              </a:rPr>
              <a:t> Executar();</a:t>
            </a:r>
          </a:p>
          <a:p>
            <a:r>
              <a:rPr lang="pt-BR" sz="1600" dirty="0">
                <a:solidFill>
                  <a:srgbClr val="000000"/>
                </a:solidFill>
                <a:latin typeface="Consolas" panose="020B0609020204030204" pitchFamily="49" charset="0"/>
              </a:rPr>
              <a:t>}</a:t>
            </a:r>
          </a:p>
          <a:p>
            <a:endParaRPr lang="pt-BR" sz="1600" dirty="0">
              <a:solidFill>
                <a:srgbClr val="000000"/>
              </a:solidFill>
              <a:latin typeface="Consolas" panose="020B0609020204030204" pitchFamily="49" charset="0"/>
            </a:endParaRPr>
          </a:p>
          <a:p>
            <a:r>
              <a:rPr lang="pt-BR" sz="1600" dirty="0" err="1">
                <a:solidFill>
                  <a:srgbClr val="0000FF"/>
                </a:solidFill>
                <a:latin typeface="Consolas" panose="020B0609020204030204" pitchFamily="49" charset="0"/>
              </a:rPr>
              <a:t>public</a:t>
            </a:r>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static</a:t>
            </a:r>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void</a:t>
            </a:r>
            <a:r>
              <a:rPr lang="pt-BR" sz="1600" dirty="0">
                <a:solidFill>
                  <a:srgbClr val="000000"/>
                </a:solidFill>
                <a:latin typeface="Consolas" panose="020B0609020204030204" pitchFamily="49" charset="0"/>
              </a:rPr>
              <a:t> Carregar(</a:t>
            </a:r>
            <a:r>
              <a:rPr lang="pt-BR" sz="1600" dirty="0" err="1">
                <a:solidFill>
                  <a:srgbClr val="2B91AF"/>
                </a:solidFill>
                <a:latin typeface="Consolas" panose="020B0609020204030204" pitchFamily="49" charset="0"/>
              </a:rPr>
              <a:t>IExecutar</a:t>
            </a:r>
            <a:r>
              <a:rPr lang="pt-BR" sz="1600" dirty="0">
                <a:solidFill>
                  <a:srgbClr val="000000"/>
                </a:solidFill>
                <a:latin typeface="Consolas" panose="020B0609020204030204" pitchFamily="49" charset="0"/>
              </a:rPr>
              <a:t> objeto)</a:t>
            </a:r>
          </a:p>
          <a:p>
            <a:r>
              <a:rPr lang="pt-BR" sz="1600" dirty="0">
                <a:solidFill>
                  <a:srgbClr val="000000"/>
                </a:solidFill>
                <a:latin typeface="Consolas" panose="020B0609020204030204" pitchFamily="49" charset="0"/>
              </a:rPr>
              <a:t>{</a:t>
            </a:r>
          </a:p>
          <a:p>
            <a:r>
              <a:rPr lang="pt-BR" sz="1600" dirty="0">
                <a:solidFill>
                  <a:srgbClr val="000000"/>
                </a:solidFill>
                <a:latin typeface="Consolas" panose="020B0609020204030204" pitchFamily="49" charset="0"/>
              </a:rPr>
              <a:t>        </a:t>
            </a:r>
            <a:r>
              <a:rPr lang="pt-BR" sz="1600" dirty="0" err="1">
                <a:solidFill>
                  <a:srgbClr val="000000"/>
                </a:solidFill>
                <a:latin typeface="Consolas" panose="020B0609020204030204" pitchFamily="49" charset="0"/>
              </a:rPr>
              <a:t>objeto.Executar</a:t>
            </a:r>
            <a:r>
              <a:rPr lang="pt-BR" sz="1600" dirty="0">
                <a:solidFill>
                  <a:srgbClr val="000000"/>
                </a:solidFill>
                <a:latin typeface="Consolas" panose="020B0609020204030204" pitchFamily="49" charset="0"/>
              </a:rPr>
              <a:t>();</a:t>
            </a:r>
          </a:p>
          <a:p>
            <a:r>
              <a:rPr lang="pt-BR" sz="1600" dirty="0">
                <a:solidFill>
                  <a:srgbClr val="000000"/>
                </a:solidFill>
                <a:latin typeface="Consolas" panose="020B0609020204030204" pitchFamily="49" charset="0"/>
              </a:rPr>
              <a:t>}</a:t>
            </a:r>
          </a:p>
        </p:txBody>
      </p:sp>
      <p:sp>
        <p:nvSpPr>
          <p:cNvPr id="5" name="Retângulo 4"/>
          <p:cNvSpPr/>
          <p:nvPr/>
        </p:nvSpPr>
        <p:spPr>
          <a:xfrm>
            <a:off x="6126480" y="3114695"/>
            <a:ext cx="6096000" cy="1877437"/>
          </a:xfrm>
          <a:prstGeom prst="rect">
            <a:avLst/>
          </a:prstGeom>
        </p:spPr>
        <p:txBody>
          <a:bodyPr>
            <a:spAutoFit/>
          </a:bodyPr>
          <a:lstStyle/>
          <a:p>
            <a:r>
              <a:rPr lang="pt-BR" sz="1600" dirty="0" err="1">
                <a:solidFill>
                  <a:srgbClr val="0000FF"/>
                </a:solidFill>
                <a:latin typeface="Consolas" panose="020B0609020204030204" pitchFamily="49" charset="0"/>
              </a:rPr>
              <a:t>public</a:t>
            </a:r>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class</a:t>
            </a:r>
            <a:r>
              <a:rPr lang="pt-BR" sz="1600" dirty="0">
                <a:solidFill>
                  <a:srgbClr val="000000"/>
                </a:solidFill>
                <a:latin typeface="Consolas" panose="020B0609020204030204" pitchFamily="49" charset="0"/>
              </a:rPr>
              <a:t> </a:t>
            </a:r>
            <a:r>
              <a:rPr lang="pt-BR" sz="1600" dirty="0">
                <a:solidFill>
                  <a:srgbClr val="2B91AF"/>
                </a:solidFill>
                <a:latin typeface="Consolas" panose="020B0609020204030204" pitchFamily="49" charset="0"/>
              </a:rPr>
              <a:t>Superclasse</a:t>
            </a:r>
            <a:r>
              <a:rPr lang="pt-BR" sz="1600" dirty="0">
                <a:solidFill>
                  <a:srgbClr val="000000"/>
                </a:solidFill>
                <a:latin typeface="Consolas" panose="020B0609020204030204" pitchFamily="49" charset="0"/>
              </a:rPr>
              <a:t> : </a:t>
            </a:r>
            <a:r>
              <a:rPr lang="pt-BR" sz="1600" dirty="0" err="1">
                <a:solidFill>
                  <a:srgbClr val="2B91AF"/>
                </a:solidFill>
                <a:latin typeface="Consolas" panose="020B0609020204030204" pitchFamily="49" charset="0"/>
              </a:rPr>
              <a:t>IExecutar</a:t>
            </a:r>
            <a:endParaRPr lang="pt-BR" sz="1600" dirty="0">
              <a:solidFill>
                <a:srgbClr val="000000"/>
              </a:solidFill>
              <a:latin typeface="Consolas" panose="020B0609020204030204" pitchFamily="49" charset="0"/>
            </a:endParaRPr>
          </a:p>
          <a:p>
            <a:r>
              <a:rPr lang="pt-BR" sz="1600" dirty="0">
                <a:solidFill>
                  <a:srgbClr val="000000"/>
                </a:solidFill>
                <a:latin typeface="Consolas" panose="020B0609020204030204" pitchFamily="49" charset="0"/>
              </a:rPr>
              <a:t>{</a:t>
            </a:r>
          </a:p>
          <a:p>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public</a:t>
            </a:r>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void</a:t>
            </a:r>
            <a:r>
              <a:rPr lang="pt-BR" sz="1600" dirty="0">
                <a:solidFill>
                  <a:srgbClr val="000000"/>
                </a:solidFill>
                <a:latin typeface="Consolas" panose="020B0609020204030204" pitchFamily="49" charset="0"/>
              </a:rPr>
              <a:t> Executar()</a:t>
            </a:r>
          </a:p>
          <a:p>
            <a:r>
              <a:rPr lang="pt-BR" sz="1600" dirty="0">
                <a:solidFill>
                  <a:srgbClr val="000000"/>
                </a:solidFill>
                <a:latin typeface="Consolas" panose="020B0609020204030204" pitchFamily="49" charset="0"/>
              </a:rPr>
              <a:t>        {</a:t>
            </a:r>
          </a:p>
          <a:p>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throw</a:t>
            </a:r>
            <a:r>
              <a:rPr lang="pt-BR" sz="1600" dirty="0">
                <a:solidFill>
                  <a:srgbClr val="000000"/>
                </a:solidFill>
                <a:latin typeface="Consolas" panose="020B0609020204030204" pitchFamily="49" charset="0"/>
              </a:rPr>
              <a:t> </a:t>
            </a:r>
            <a:r>
              <a:rPr lang="pt-BR" sz="1600" dirty="0">
                <a:solidFill>
                  <a:srgbClr val="0000FF"/>
                </a:solidFill>
                <a:latin typeface="Consolas" panose="020B0609020204030204" pitchFamily="49" charset="0"/>
              </a:rPr>
              <a:t>new</a:t>
            </a:r>
            <a:r>
              <a:rPr lang="pt-BR" sz="1600" dirty="0">
                <a:solidFill>
                  <a:srgbClr val="000000"/>
                </a:solidFill>
                <a:latin typeface="Consolas" panose="020B0609020204030204" pitchFamily="49" charset="0"/>
              </a:rPr>
              <a:t> </a:t>
            </a:r>
            <a:r>
              <a:rPr lang="pt-BR" sz="1600" dirty="0" err="1">
                <a:solidFill>
                  <a:srgbClr val="2B91AF"/>
                </a:solidFill>
                <a:latin typeface="Consolas" panose="020B0609020204030204" pitchFamily="49" charset="0"/>
              </a:rPr>
              <a:t>NotImplementedException</a:t>
            </a:r>
            <a:r>
              <a:rPr lang="pt-BR" sz="1600" dirty="0">
                <a:solidFill>
                  <a:srgbClr val="000000"/>
                </a:solidFill>
                <a:latin typeface="Consolas" panose="020B0609020204030204" pitchFamily="49" charset="0"/>
              </a:rPr>
              <a:t>();</a:t>
            </a:r>
          </a:p>
          <a:p>
            <a:r>
              <a:rPr lang="pt-BR" sz="1600" dirty="0">
                <a:solidFill>
                  <a:srgbClr val="000000"/>
                </a:solidFill>
                <a:latin typeface="Consolas" panose="020B0609020204030204" pitchFamily="49" charset="0"/>
              </a:rPr>
              <a:t>        }</a:t>
            </a:r>
          </a:p>
          <a:p>
            <a:r>
              <a:rPr lang="pt-BR" sz="1600" dirty="0">
                <a:solidFill>
                  <a:srgbClr val="000000"/>
                </a:solidFill>
                <a:latin typeface="Consolas" panose="020B0609020204030204" pitchFamily="49" charset="0"/>
              </a:rPr>
              <a:t>}</a:t>
            </a:r>
            <a:endParaRPr lang="pt-BR" sz="1600" dirty="0"/>
          </a:p>
        </p:txBody>
      </p:sp>
      <p:sp>
        <p:nvSpPr>
          <p:cNvPr id="6" name="Retângulo 5"/>
          <p:cNvSpPr/>
          <p:nvPr/>
        </p:nvSpPr>
        <p:spPr>
          <a:xfrm>
            <a:off x="6096000" y="5053111"/>
            <a:ext cx="6096000" cy="1354217"/>
          </a:xfrm>
          <a:prstGeom prst="rect">
            <a:avLst/>
          </a:prstGeom>
        </p:spPr>
        <p:txBody>
          <a:bodyPr>
            <a:spAutoFit/>
          </a:bodyPr>
          <a:lstStyle/>
          <a:p>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static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void</a:t>
            </a:r>
            <a:r>
              <a:rPr lang="en-US" sz="1600" dirty="0">
                <a:solidFill>
                  <a:srgbClr val="000000"/>
                </a:solidFill>
                <a:latin typeface="Consolas" panose="020B0609020204030204" pitchFamily="49" charset="0"/>
              </a:rPr>
              <a:t> Main(</a:t>
            </a:r>
            <a:r>
              <a:rPr lang="en-US" sz="1600" dirty="0">
                <a:solidFill>
                  <a:srgbClr val="0000FF"/>
                </a:solidFill>
                <a:latin typeface="Consolas" panose="020B0609020204030204" pitchFamily="49" charset="0"/>
              </a:rPr>
              <a:t>string</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args</a:t>
            </a:r>
            <a:r>
              <a:rPr lang="en-US" sz="1600" dirty="0">
                <a:solidFill>
                  <a:srgbClr val="000000"/>
                </a:solidFill>
                <a:latin typeface="Consolas" panose="020B0609020204030204" pitchFamily="49" charset="0"/>
              </a:rPr>
              <a:t>)</a:t>
            </a:r>
          </a:p>
          <a:p>
            <a:r>
              <a:rPr lang="pt-BR" sz="1600" dirty="0">
                <a:solidFill>
                  <a:srgbClr val="000000"/>
                </a:solidFill>
                <a:latin typeface="Consolas" panose="020B0609020204030204" pitchFamily="49" charset="0"/>
              </a:rPr>
              <a:t>{</a:t>
            </a:r>
          </a:p>
          <a:p>
            <a:r>
              <a:rPr lang="pt-BR" sz="1600" dirty="0">
                <a:solidFill>
                  <a:srgbClr val="000000"/>
                </a:solidFill>
                <a:latin typeface="Consolas" panose="020B0609020204030204" pitchFamily="49" charset="0"/>
              </a:rPr>
              <a:t>        </a:t>
            </a:r>
            <a:r>
              <a:rPr lang="pt-BR" sz="1600" dirty="0">
                <a:solidFill>
                  <a:srgbClr val="2B91AF"/>
                </a:solidFill>
                <a:latin typeface="Consolas" panose="020B0609020204030204" pitchFamily="49" charset="0"/>
              </a:rPr>
              <a:t>Superclasse</a:t>
            </a:r>
            <a:r>
              <a:rPr lang="pt-BR" sz="1600" dirty="0">
                <a:solidFill>
                  <a:srgbClr val="000000"/>
                </a:solidFill>
                <a:latin typeface="Consolas" panose="020B0609020204030204" pitchFamily="49" charset="0"/>
              </a:rPr>
              <a:t> s = </a:t>
            </a:r>
            <a:r>
              <a:rPr lang="pt-BR" sz="1600" dirty="0">
                <a:solidFill>
                  <a:srgbClr val="0000FF"/>
                </a:solidFill>
                <a:latin typeface="Consolas" panose="020B0609020204030204" pitchFamily="49" charset="0"/>
              </a:rPr>
              <a:t>new</a:t>
            </a:r>
            <a:r>
              <a:rPr lang="pt-BR" sz="1600" dirty="0">
                <a:solidFill>
                  <a:srgbClr val="000000"/>
                </a:solidFill>
                <a:latin typeface="Consolas" panose="020B0609020204030204" pitchFamily="49" charset="0"/>
              </a:rPr>
              <a:t> </a:t>
            </a:r>
            <a:r>
              <a:rPr lang="pt-BR" sz="1600" dirty="0">
                <a:solidFill>
                  <a:srgbClr val="2B91AF"/>
                </a:solidFill>
                <a:latin typeface="Consolas" panose="020B0609020204030204" pitchFamily="49" charset="0"/>
              </a:rPr>
              <a:t>Superclasse</a:t>
            </a:r>
            <a:r>
              <a:rPr lang="pt-BR" sz="1600" dirty="0">
                <a:solidFill>
                  <a:srgbClr val="000000"/>
                </a:solidFill>
                <a:latin typeface="Consolas" panose="020B0609020204030204" pitchFamily="49" charset="0"/>
              </a:rPr>
              <a:t>();</a:t>
            </a:r>
          </a:p>
          <a:p>
            <a:r>
              <a:rPr lang="pt-BR" sz="1600" dirty="0">
                <a:solidFill>
                  <a:srgbClr val="2B91AF"/>
                </a:solidFill>
                <a:latin typeface="Consolas" panose="020B0609020204030204" pitchFamily="49" charset="0"/>
              </a:rPr>
              <a:t>	</a:t>
            </a:r>
            <a:r>
              <a:rPr lang="pt-BR" sz="1600" dirty="0" err="1">
                <a:solidFill>
                  <a:srgbClr val="2B91AF"/>
                </a:solidFill>
                <a:latin typeface="Consolas" panose="020B0609020204030204" pitchFamily="49" charset="0"/>
              </a:rPr>
              <a:t>Programa</a:t>
            </a:r>
            <a:r>
              <a:rPr lang="pt-BR" sz="1600" dirty="0" err="1">
                <a:solidFill>
                  <a:srgbClr val="000000"/>
                </a:solidFill>
                <a:latin typeface="Consolas" panose="020B0609020204030204" pitchFamily="49" charset="0"/>
              </a:rPr>
              <a:t>.Carregar</a:t>
            </a:r>
            <a:r>
              <a:rPr lang="pt-BR" sz="1600" dirty="0">
                <a:solidFill>
                  <a:srgbClr val="000000"/>
                </a:solidFill>
                <a:latin typeface="Consolas" panose="020B0609020204030204" pitchFamily="49" charset="0"/>
              </a:rPr>
              <a:t>(s);</a:t>
            </a:r>
          </a:p>
          <a:p>
            <a:r>
              <a:rPr lang="pt-BR" sz="1600" dirty="0">
                <a:solidFill>
                  <a:srgbClr val="000000"/>
                </a:solidFill>
                <a:latin typeface="Consolas" panose="020B0609020204030204" pitchFamily="49" charset="0"/>
              </a:rPr>
              <a:t>}</a:t>
            </a:r>
            <a:endParaRPr lang="pt-BR" sz="1600" dirty="0"/>
          </a:p>
        </p:txBody>
      </p:sp>
    </p:spTree>
    <p:extLst>
      <p:ext uri="{BB962C8B-B14F-4D97-AF65-F5344CB8AC3E}">
        <p14:creationId xmlns:p14="http://schemas.microsoft.com/office/powerpoint/2010/main" val="31523228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6A5571-F88F-4973-B7A4-BD170F49B968}"/>
              </a:ext>
            </a:extLst>
          </p:cNvPr>
          <p:cNvSpPr>
            <a:spLocks noGrp="1"/>
          </p:cNvSpPr>
          <p:nvPr>
            <p:ph type="title"/>
          </p:nvPr>
        </p:nvSpPr>
        <p:spPr/>
        <p:txBody>
          <a:bodyPr/>
          <a:lstStyle/>
          <a:p>
            <a:r>
              <a:rPr lang="pt-BR" dirty="0"/>
              <a:t>Exercício</a:t>
            </a:r>
          </a:p>
        </p:txBody>
      </p:sp>
      <p:sp>
        <p:nvSpPr>
          <p:cNvPr id="3" name="Espaço Reservado para Conteúdo 2">
            <a:extLst>
              <a:ext uri="{FF2B5EF4-FFF2-40B4-BE49-F238E27FC236}">
                <a16:creationId xmlns:a16="http://schemas.microsoft.com/office/drawing/2014/main" id="{818E5427-BC2E-4D64-90C1-1D03E3F5C241}"/>
              </a:ext>
            </a:extLst>
          </p:cNvPr>
          <p:cNvSpPr>
            <a:spLocks noGrp="1"/>
          </p:cNvSpPr>
          <p:nvPr>
            <p:ph idx="1"/>
          </p:nvPr>
        </p:nvSpPr>
        <p:spPr/>
        <p:txBody>
          <a:bodyPr>
            <a:normAutofit/>
          </a:bodyPr>
          <a:lstStyle/>
          <a:p>
            <a:r>
              <a:rPr lang="pt-BR" sz="2800" dirty="0"/>
              <a:t>Escrever um programa que leia se o usuário deseja utilizar como vetor de ordenação o </a:t>
            </a:r>
            <a:r>
              <a:rPr lang="pt-BR" sz="2800" dirty="0" err="1"/>
              <a:t>BubbleSort</a:t>
            </a:r>
            <a:r>
              <a:rPr lang="pt-BR" sz="2800" dirty="0"/>
              <a:t>, </a:t>
            </a:r>
            <a:r>
              <a:rPr lang="pt-BR" sz="2800" dirty="0" err="1"/>
              <a:t>SelectSort</a:t>
            </a:r>
            <a:r>
              <a:rPr lang="pt-BR" sz="2800" dirty="0"/>
              <a:t> ou </a:t>
            </a:r>
            <a:r>
              <a:rPr lang="pt-BR" sz="2800" dirty="0" err="1"/>
              <a:t>InsertSort</a:t>
            </a:r>
            <a:r>
              <a:rPr lang="pt-BR" sz="2800" dirty="0"/>
              <a:t>. Em seguida, ler 8 números, que devem ser ordenados utilizando o algoritmo selecionado. Exibir o vetor de entrada e o vetor ordenado, e retornar para a seleção de algoritmo. O programa deve realizar uma chamada para um único método chamado ordenar, onde deve-se informar o algoritmo a ser utilizado bem como o vetor a ser ordenado.</a:t>
            </a:r>
          </a:p>
        </p:txBody>
      </p:sp>
    </p:spTree>
    <p:extLst>
      <p:ext uri="{BB962C8B-B14F-4D97-AF65-F5344CB8AC3E}">
        <p14:creationId xmlns:p14="http://schemas.microsoft.com/office/powerpoint/2010/main" val="3875535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A73DBB7-5C1C-44E6-9F4D-92AE0FA0382C}"/>
              </a:ext>
            </a:extLst>
          </p:cNvPr>
          <p:cNvSpPr/>
          <p:nvPr/>
        </p:nvSpPr>
        <p:spPr>
          <a:xfrm>
            <a:off x="0" y="0"/>
            <a:ext cx="5020733" cy="5632311"/>
          </a:xfrm>
          <a:prstGeom prst="rect">
            <a:avLst/>
          </a:prstGeom>
        </p:spPr>
        <p:txBody>
          <a:bodyPr wrap="square">
            <a:spAutoFit/>
          </a:bodyPr>
          <a:lstStyle/>
          <a:p>
            <a:r>
              <a:rPr lang="pt-BR" sz="800" dirty="0" err="1">
                <a:solidFill>
                  <a:srgbClr val="0000FF"/>
                </a:solidFill>
                <a:latin typeface="Consolas" panose="020B0609020204030204" pitchFamily="49" charset="0"/>
              </a:rPr>
              <a:t>using</a:t>
            </a:r>
            <a:r>
              <a:rPr lang="pt-BR" sz="800" dirty="0">
                <a:solidFill>
                  <a:srgbClr val="000000"/>
                </a:solidFill>
                <a:latin typeface="Consolas" panose="020B0609020204030204" pitchFamily="49" charset="0"/>
              </a:rPr>
              <a:t> System;</a:t>
            </a:r>
          </a:p>
          <a:p>
            <a:endParaRPr lang="pt-BR" sz="800" dirty="0">
              <a:solidFill>
                <a:srgbClr val="000000"/>
              </a:solidFill>
              <a:latin typeface="Consolas" panose="020B0609020204030204" pitchFamily="49" charset="0"/>
            </a:endParaRPr>
          </a:p>
          <a:p>
            <a:r>
              <a:rPr lang="pt-BR" sz="800" dirty="0" err="1">
                <a:solidFill>
                  <a:srgbClr val="0000FF"/>
                </a:solidFill>
                <a:latin typeface="Consolas" panose="020B0609020204030204" pitchFamily="49" charset="0"/>
              </a:rPr>
              <a:t>namespace</a:t>
            </a:r>
            <a:r>
              <a:rPr lang="pt-BR" sz="800" dirty="0">
                <a:solidFill>
                  <a:srgbClr val="000000"/>
                </a:solidFill>
                <a:latin typeface="Consolas" panose="020B0609020204030204" pitchFamily="49" charset="0"/>
              </a:rPr>
              <a:t> exemplo</a:t>
            </a:r>
          </a:p>
          <a:p>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class</a:t>
            </a:r>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Program</a:t>
            </a:r>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p>
          <a:p>
            <a:r>
              <a:rPr lang="en-US" sz="800" dirty="0">
                <a:solidFill>
                  <a:srgbClr val="000000"/>
                </a:solidFill>
                <a:latin typeface="Consolas" panose="020B0609020204030204" pitchFamily="49" charset="0"/>
              </a:rPr>
              <a:t>        </a:t>
            </a:r>
            <a:r>
              <a:rPr lang="en-US" sz="800" dirty="0">
                <a:solidFill>
                  <a:srgbClr val="0000FF"/>
                </a:solidFill>
                <a:latin typeface="Consolas" panose="020B0609020204030204" pitchFamily="49" charset="0"/>
              </a:rPr>
              <a:t>static</a:t>
            </a:r>
            <a:r>
              <a:rPr lang="en-US" sz="800" dirty="0">
                <a:solidFill>
                  <a:srgbClr val="000000"/>
                </a:solidFill>
                <a:latin typeface="Consolas" panose="020B0609020204030204" pitchFamily="49" charset="0"/>
              </a:rPr>
              <a:t> </a:t>
            </a:r>
            <a:r>
              <a:rPr lang="en-US" sz="800" dirty="0">
                <a:solidFill>
                  <a:srgbClr val="0000FF"/>
                </a:solidFill>
                <a:latin typeface="Consolas" panose="020B0609020204030204" pitchFamily="49" charset="0"/>
              </a:rPr>
              <a:t>void</a:t>
            </a:r>
            <a:r>
              <a:rPr lang="en-US" sz="800" dirty="0">
                <a:solidFill>
                  <a:srgbClr val="000000"/>
                </a:solidFill>
                <a:latin typeface="Consolas" panose="020B0609020204030204" pitchFamily="49" charset="0"/>
              </a:rPr>
              <a:t> Main(</a:t>
            </a:r>
            <a:r>
              <a:rPr lang="en-US" sz="800" dirty="0">
                <a:solidFill>
                  <a:srgbClr val="0000FF"/>
                </a:solidFill>
                <a:latin typeface="Consolas" panose="020B0609020204030204" pitchFamily="49" charset="0"/>
              </a:rPr>
              <a:t>string</a:t>
            </a:r>
            <a:r>
              <a:rPr lang="en-US" sz="800" dirty="0">
                <a:solidFill>
                  <a:srgbClr val="000000"/>
                </a:solidFill>
                <a:latin typeface="Consolas" panose="020B0609020204030204" pitchFamily="49" charset="0"/>
              </a:rPr>
              <a:t>[] </a:t>
            </a:r>
            <a:r>
              <a:rPr lang="en-US" sz="800" dirty="0" err="1">
                <a:solidFill>
                  <a:srgbClr val="000000"/>
                </a:solidFill>
                <a:latin typeface="Consolas" panose="020B0609020204030204" pitchFamily="49" charset="0"/>
              </a:rPr>
              <a:t>args</a:t>
            </a:r>
            <a:r>
              <a:rPr lang="en-US"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string</a:t>
            </a:r>
            <a:r>
              <a:rPr lang="pt-BR" sz="800" dirty="0">
                <a:solidFill>
                  <a:srgbClr val="000000"/>
                </a:solidFill>
                <a:latin typeface="Consolas" panose="020B0609020204030204" pitchFamily="49" charset="0"/>
              </a:rPr>
              <a:t> </a:t>
            </a:r>
            <a:r>
              <a:rPr lang="pt-BR" sz="800" dirty="0" err="1">
                <a:solidFill>
                  <a:srgbClr val="000000"/>
                </a:solidFill>
                <a:latin typeface="Consolas" panose="020B0609020204030204" pitchFamily="49" charset="0"/>
              </a:rPr>
              <a:t>opcao</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BubbleSort</a:t>
            </a:r>
            <a:r>
              <a:rPr lang="pt-BR" sz="800" dirty="0">
                <a:solidFill>
                  <a:srgbClr val="000000"/>
                </a:solidFill>
                <a:latin typeface="Consolas" panose="020B0609020204030204" pitchFamily="49" charset="0"/>
              </a:rPr>
              <a:t> BS = </a:t>
            </a:r>
            <a:r>
              <a:rPr lang="pt-BR" sz="800" dirty="0">
                <a:solidFill>
                  <a:srgbClr val="0000FF"/>
                </a:solidFill>
                <a:latin typeface="Consolas" panose="020B0609020204030204" pitchFamily="49" charset="0"/>
              </a:rPr>
              <a:t>new</a:t>
            </a:r>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BubbleSort</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SelectSort</a:t>
            </a:r>
            <a:r>
              <a:rPr lang="pt-BR" sz="800" dirty="0">
                <a:solidFill>
                  <a:srgbClr val="000000"/>
                </a:solidFill>
                <a:latin typeface="Consolas" panose="020B0609020204030204" pitchFamily="49" charset="0"/>
              </a:rPr>
              <a:t> SS = </a:t>
            </a:r>
            <a:r>
              <a:rPr lang="pt-BR" sz="800" dirty="0">
                <a:solidFill>
                  <a:srgbClr val="0000FF"/>
                </a:solidFill>
                <a:latin typeface="Consolas" panose="020B0609020204030204" pitchFamily="49" charset="0"/>
              </a:rPr>
              <a:t>new</a:t>
            </a:r>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SelectSort</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InsertSort</a:t>
            </a:r>
            <a:r>
              <a:rPr lang="pt-BR" sz="800" dirty="0">
                <a:solidFill>
                  <a:srgbClr val="000000"/>
                </a:solidFill>
                <a:latin typeface="Consolas" panose="020B0609020204030204" pitchFamily="49" charset="0"/>
              </a:rPr>
              <a:t> IS = </a:t>
            </a:r>
            <a:r>
              <a:rPr lang="pt-BR" sz="800" dirty="0">
                <a:solidFill>
                  <a:srgbClr val="0000FF"/>
                </a:solidFill>
                <a:latin typeface="Consolas" panose="020B0609020204030204" pitchFamily="49" charset="0"/>
              </a:rPr>
              <a:t>new</a:t>
            </a:r>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InsertSort</a:t>
            </a:r>
            <a:r>
              <a:rPr lang="pt-BR" sz="800" dirty="0">
                <a:solidFill>
                  <a:srgbClr val="000000"/>
                </a:solidFill>
                <a:latin typeface="Consolas" panose="020B0609020204030204" pitchFamily="49" charset="0"/>
              </a:rPr>
              <a:t>();</a:t>
            </a:r>
          </a:p>
          <a:p>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while</a:t>
            </a:r>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true</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r>
              <a:rPr lang="pt-BR" sz="800" dirty="0">
                <a:solidFill>
                  <a:srgbClr val="0000FF"/>
                </a:solidFill>
                <a:latin typeface="Consolas" panose="020B0609020204030204" pitchFamily="49" charset="0"/>
              </a:rPr>
              <a:t>do</a:t>
            </a:r>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Console</a:t>
            </a:r>
            <a:r>
              <a:rPr lang="pt-BR" sz="800" dirty="0" err="1">
                <a:solidFill>
                  <a:srgbClr val="000000"/>
                </a:solidFill>
                <a:latin typeface="Consolas" panose="020B0609020204030204" pitchFamily="49" charset="0"/>
              </a:rPr>
              <a:t>.Clear</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Console</a:t>
            </a:r>
            <a:r>
              <a:rPr lang="pt-BR" sz="800" dirty="0" err="1">
                <a:solidFill>
                  <a:srgbClr val="000000"/>
                </a:solidFill>
                <a:latin typeface="Consolas" panose="020B0609020204030204" pitchFamily="49" charset="0"/>
              </a:rPr>
              <a:t>.WriteLine</a:t>
            </a:r>
            <a:r>
              <a:rPr lang="pt-BR" sz="800" dirty="0">
                <a:solidFill>
                  <a:srgbClr val="000000"/>
                </a:solidFill>
                <a:latin typeface="Consolas" panose="020B0609020204030204" pitchFamily="49" charset="0"/>
              </a:rPr>
              <a:t>(</a:t>
            </a:r>
            <a:r>
              <a:rPr lang="pt-BR" sz="800" dirty="0">
                <a:solidFill>
                  <a:srgbClr val="A31515"/>
                </a:solidFill>
                <a:latin typeface="Consolas" panose="020B0609020204030204" pitchFamily="49" charset="0"/>
              </a:rPr>
              <a:t>"(1) - </a:t>
            </a:r>
            <a:r>
              <a:rPr lang="pt-BR" sz="800" dirty="0" err="1">
                <a:solidFill>
                  <a:srgbClr val="A31515"/>
                </a:solidFill>
                <a:latin typeface="Consolas" panose="020B0609020204030204" pitchFamily="49" charset="0"/>
              </a:rPr>
              <a:t>BubbleSort</a:t>
            </a:r>
            <a:r>
              <a:rPr lang="pt-BR" sz="800" dirty="0">
                <a:solidFill>
                  <a:srgbClr val="A31515"/>
                </a:solidFill>
                <a:latin typeface="Consolas" panose="020B0609020204030204" pitchFamily="49" charset="0"/>
              </a:rPr>
              <a:t>"</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Console</a:t>
            </a:r>
            <a:r>
              <a:rPr lang="pt-BR" sz="800" dirty="0" err="1">
                <a:solidFill>
                  <a:srgbClr val="000000"/>
                </a:solidFill>
                <a:latin typeface="Consolas" panose="020B0609020204030204" pitchFamily="49" charset="0"/>
              </a:rPr>
              <a:t>.WriteLine</a:t>
            </a:r>
            <a:r>
              <a:rPr lang="pt-BR" sz="800" dirty="0">
                <a:solidFill>
                  <a:srgbClr val="000000"/>
                </a:solidFill>
                <a:latin typeface="Consolas" panose="020B0609020204030204" pitchFamily="49" charset="0"/>
              </a:rPr>
              <a:t>(</a:t>
            </a:r>
            <a:r>
              <a:rPr lang="pt-BR" sz="800" dirty="0">
                <a:solidFill>
                  <a:srgbClr val="A31515"/>
                </a:solidFill>
                <a:latin typeface="Consolas" panose="020B0609020204030204" pitchFamily="49" charset="0"/>
              </a:rPr>
              <a:t>"(2) - </a:t>
            </a:r>
            <a:r>
              <a:rPr lang="pt-BR" sz="800" dirty="0" err="1">
                <a:solidFill>
                  <a:srgbClr val="A31515"/>
                </a:solidFill>
                <a:latin typeface="Consolas" panose="020B0609020204030204" pitchFamily="49" charset="0"/>
              </a:rPr>
              <a:t>SelectSort</a:t>
            </a:r>
            <a:r>
              <a:rPr lang="pt-BR" sz="800" dirty="0">
                <a:solidFill>
                  <a:srgbClr val="A31515"/>
                </a:solidFill>
                <a:latin typeface="Consolas" panose="020B0609020204030204" pitchFamily="49" charset="0"/>
              </a:rPr>
              <a:t>"</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Console</a:t>
            </a:r>
            <a:r>
              <a:rPr lang="pt-BR" sz="800" dirty="0" err="1">
                <a:solidFill>
                  <a:srgbClr val="000000"/>
                </a:solidFill>
                <a:latin typeface="Consolas" panose="020B0609020204030204" pitchFamily="49" charset="0"/>
              </a:rPr>
              <a:t>.WriteLine</a:t>
            </a:r>
            <a:r>
              <a:rPr lang="pt-BR" sz="800" dirty="0">
                <a:solidFill>
                  <a:srgbClr val="000000"/>
                </a:solidFill>
                <a:latin typeface="Consolas" panose="020B0609020204030204" pitchFamily="49" charset="0"/>
              </a:rPr>
              <a:t>(</a:t>
            </a:r>
            <a:r>
              <a:rPr lang="pt-BR" sz="800" dirty="0">
                <a:solidFill>
                  <a:srgbClr val="A31515"/>
                </a:solidFill>
                <a:latin typeface="Consolas" panose="020B0609020204030204" pitchFamily="49" charset="0"/>
              </a:rPr>
              <a:t>"(3) - </a:t>
            </a:r>
            <a:r>
              <a:rPr lang="pt-BR" sz="800" dirty="0" err="1">
                <a:solidFill>
                  <a:srgbClr val="A31515"/>
                </a:solidFill>
                <a:latin typeface="Consolas" panose="020B0609020204030204" pitchFamily="49" charset="0"/>
              </a:rPr>
              <a:t>InsertSort</a:t>
            </a:r>
            <a:r>
              <a:rPr lang="pt-BR" sz="800" dirty="0">
                <a:solidFill>
                  <a:srgbClr val="A31515"/>
                </a:solidFill>
                <a:latin typeface="Consolas" panose="020B0609020204030204" pitchFamily="49" charset="0"/>
              </a:rPr>
              <a:t>"</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Console</a:t>
            </a:r>
            <a:r>
              <a:rPr lang="pt-BR" sz="800" dirty="0" err="1">
                <a:solidFill>
                  <a:srgbClr val="000000"/>
                </a:solidFill>
                <a:latin typeface="Consolas" panose="020B0609020204030204" pitchFamily="49" charset="0"/>
              </a:rPr>
              <a:t>.WriteLine</a:t>
            </a:r>
            <a:r>
              <a:rPr lang="pt-BR" sz="800" dirty="0">
                <a:solidFill>
                  <a:srgbClr val="000000"/>
                </a:solidFill>
                <a:latin typeface="Consolas" panose="020B0609020204030204" pitchFamily="49" charset="0"/>
              </a:rPr>
              <a:t>(</a:t>
            </a:r>
            <a:r>
              <a:rPr lang="pt-BR" sz="800" dirty="0">
                <a:solidFill>
                  <a:srgbClr val="A31515"/>
                </a:solidFill>
                <a:latin typeface="Consolas" panose="020B0609020204030204" pitchFamily="49" charset="0"/>
              </a:rPr>
              <a:t>"(4) - Sair"</a:t>
            </a:r>
            <a:r>
              <a:rPr lang="pt-BR" sz="800" dirty="0">
                <a:solidFill>
                  <a:srgbClr val="000000"/>
                </a:solidFill>
                <a:latin typeface="Consolas" panose="020B0609020204030204" pitchFamily="49" charset="0"/>
              </a:rPr>
              <a:t>);</a:t>
            </a:r>
          </a:p>
          <a:p>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Console</a:t>
            </a:r>
            <a:r>
              <a:rPr lang="pt-BR" sz="800" dirty="0" err="1">
                <a:solidFill>
                  <a:srgbClr val="000000"/>
                </a:solidFill>
                <a:latin typeface="Consolas" panose="020B0609020204030204" pitchFamily="49" charset="0"/>
              </a:rPr>
              <a:t>.Write</a:t>
            </a:r>
            <a:r>
              <a:rPr lang="pt-BR" sz="800" dirty="0">
                <a:solidFill>
                  <a:srgbClr val="000000"/>
                </a:solidFill>
                <a:latin typeface="Consolas" panose="020B0609020204030204" pitchFamily="49" charset="0"/>
              </a:rPr>
              <a:t>(</a:t>
            </a:r>
            <a:r>
              <a:rPr lang="pt-BR" sz="800" dirty="0">
                <a:solidFill>
                  <a:srgbClr val="A31515"/>
                </a:solidFill>
                <a:latin typeface="Consolas" panose="020B0609020204030204" pitchFamily="49" charset="0"/>
              </a:rPr>
              <a:t>"\</a:t>
            </a:r>
            <a:r>
              <a:rPr lang="pt-BR" sz="800" dirty="0" err="1">
                <a:solidFill>
                  <a:srgbClr val="A31515"/>
                </a:solidFill>
                <a:latin typeface="Consolas" panose="020B0609020204030204" pitchFamily="49" charset="0"/>
              </a:rPr>
              <a:t>nOpcao</a:t>
            </a:r>
            <a:r>
              <a:rPr lang="pt-BR" sz="800" dirty="0">
                <a:solidFill>
                  <a:srgbClr val="A31515"/>
                </a:solidFill>
                <a:latin typeface="Consolas" panose="020B0609020204030204" pitchFamily="49" charset="0"/>
              </a:rPr>
              <a:t>: "</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r>
              <a:rPr lang="pt-BR" sz="800" dirty="0" err="1">
                <a:solidFill>
                  <a:srgbClr val="000000"/>
                </a:solidFill>
                <a:latin typeface="Consolas" panose="020B0609020204030204" pitchFamily="49" charset="0"/>
              </a:rPr>
              <a:t>opcao</a:t>
            </a:r>
            <a:r>
              <a:rPr lang="pt-BR" sz="800" dirty="0">
                <a:solidFill>
                  <a:srgbClr val="000000"/>
                </a:solidFill>
                <a:latin typeface="Consolas" panose="020B0609020204030204" pitchFamily="49" charset="0"/>
              </a:rPr>
              <a:t> = </a:t>
            </a:r>
            <a:r>
              <a:rPr lang="pt-BR" sz="800" dirty="0" err="1">
                <a:solidFill>
                  <a:srgbClr val="2B91AF"/>
                </a:solidFill>
                <a:latin typeface="Consolas" panose="020B0609020204030204" pitchFamily="49" charset="0"/>
              </a:rPr>
              <a:t>Console</a:t>
            </a:r>
            <a:r>
              <a:rPr lang="pt-BR" sz="800" dirty="0" err="1">
                <a:solidFill>
                  <a:srgbClr val="000000"/>
                </a:solidFill>
                <a:latin typeface="Consolas" panose="020B0609020204030204" pitchFamily="49" charset="0"/>
              </a:rPr>
              <a:t>.ReadLine</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 </a:t>
            </a:r>
            <a:r>
              <a:rPr lang="pt-BR" sz="800" dirty="0" err="1">
                <a:solidFill>
                  <a:srgbClr val="0000FF"/>
                </a:solidFill>
                <a:latin typeface="Consolas" panose="020B0609020204030204" pitchFamily="49" charset="0"/>
              </a:rPr>
              <a:t>while</a:t>
            </a:r>
            <a:r>
              <a:rPr lang="pt-BR" sz="800" dirty="0">
                <a:solidFill>
                  <a:srgbClr val="000000"/>
                </a:solidFill>
                <a:latin typeface="Consolas" panose="020B0609020204030204" pitchFamily="49" charset="0"/>
              </a:rPr>
              <a:t> (</a:t>
            </a:r>
            <a:r>
              <a:rPr lang="pt-BR" sz="800" dirty="0" err="1">
                <a:solidFill>
                  <a:srgbClr val="000000"/>
                </a:solidFill>
                <a:latin typeface="Consolas" panose="020B0609020204030204" pitchFamily="49" charset="0"/>
              </a:rPr>
              <a:t>opcao</a:t>
            </a:r>
            <a:r>
              <a:rPr lang="pt-BR" sz="800" dirty="0">
                <a:solidFill>
                  <a:srgbClr val="000000"/>
                </a:solidFill>
                <a:latin typeface="Consolas" panose="020B0609020204030204" pitchFamily="49" charset="0"/>
              </a:rPr>
              <a:t> != </a:t>
            </a:r>
            <a:r>
              <a:rPr lang="pt-BR" sz="800" dirty="0">
                <a:solidFill>
                  <a:srgbClr val="A31515"/>
                </a:solidFill>
                <a:latin typeface="Consolas" panose="020B0609020204030204" pitchFamily="49" charset="0"/>
              </a:rPr>
              <a:t>"1"</a:t>
            </a:r>
            <a:r>
              <a:rPr lang="pt-BR" sz="800" dirty="0">
                <a:solidFill>
                  <a:srgbClr val="000000"/>
                </a:solidFill>
                <a:latin typeface="Consolas" panose="020B0609020204030204" pitchFamily="49" charset="0"/>
              </a:rPr>
              <a:t> &amp;&amp; </a:t>
            </a:r>
            <a:r>
              <a:rPr lang="pt-BR" sz="800" dirty="0" err="1">
                <a:solidFill>
                  <a:srgbClr val="000000"/>
                </a:solidFill>
                <a:latin typeface="Consolas" panose="020B0609020204030204" pitchFamily="49" charset="0"/>
              </a:rPr>
              <a:t>opcao</a:t>
            </a:r>
            <a:r>
              <a:rPr lang="pt-BR" sz="800" dirty="0">
                <a:solidFill>
                  <a:srgbClr val="000000"/>
                </a:solidFill>
                <a:latin typeface="Consolas" panose="020B0609020204030204" pitchFamily="49" charset="0"/>
              </a:rPr>
              <a:t> != </a:t>
            </a:r>
            <a:r>
              <a:rPr lang="pt-BR" sz="800" dirty="0">
                <a:solidFill>
                  <a:srgbClr val="A31515"/>
                </a:solidFill>
                <a:latin typeface="Consolas" panose="020B0609020204030204" pitchFamily="49" charset="0"/>
              </a:rPr>
              <a:t>"2"</a:t>
            </a:r>
            <a:r>
              <a:rPr lang="pt-BR" sz="800" dirty="0">
                <a:solidFill>
                  <a:srgbClr val="000000"/>
                </a:solidFill>
                <a:latin typeface="Consolas" panose="020B0609020204030204" pitchFamily="49" charset="0"/>
              </a:rPr>
              <a:t> &amp;&amp; </a:t>
            </a:r>
          </a:p>
          <a:p>
            <a:r>
              <a:rPr lang="pt-BR" sz="800" dirty="0">
                <a:solidFill>
                  <a:srgbClr val="000000"/>
                </a:solidFill>
                <a:latin typeface="Consolas" panose="020B0609020204030204" pitchFamily="49" charset="0"/>
              </a:rPr>
              <a:t>		</a:t>
            </a:r>
            <a:r>
              <a:rPr lang="pt-BR" sz="800" dirty="0" err="1">
                <a:solidFill>
                  <a:srgbClr val="000000"/>
                </a:solidFill>
                <a:latin typeface="Consolas" panose="020B0609020204030204" pitchFamily="49" charset="0"/>
              </a:rPr>
              <a:t>opcao</a:t>
            </a:r>
            <a:r>
              <a:rPr lang="pt-BR" sz="800" dirty="0">
                <a:solidFill>
                  <a:srgbClr val="000000"/>
                </a:solidFill>
                <a:latin typeface="Consolas" panose="020B0609020204030204" pitchFamily="49" charset="0"/>
              </a:rPr>
              <a:t> != </a:t>
            </a:r>
            <a:r>
              <a:rPr lang="pt-BR" sz="800" dirty="0">
                <a:solidFill>
                  <a:srgbClr val="A31515"/>
                </a:solidFill>
                <a:latin typeface="Consolas" panose="020B0609020204030204" pitchFamily="49" charset="0"/>
              </a:rPr>
              <a:t>"3"</a:t>
            </a:r>
            <a:r>
              <a:rPr lang="pt-BR" sz="800" dirty="0">
                <a:solidFill>
                  <a:srgbClr val="000000"/>
                </a:solidFill>
                <a:latin typeface="Consolas" panose="020B0609020204030204" pitchFamily="49" charset="0"/>
              </a:rPr>
              <a:t> &amp;&amp; </a:t>
            </a:r>
            <a:r>
              <a:rPr lang="pt-BR" sz="800" dirty="0" err="1">
                <a:solidFill>
                  <a:srgbClr val="000000"/>
                </a:solidFill>
                <a:latin typeface="Consolas" panose="020B0609020204030204" pitchFamily="49" charset="0"/>
              </a:rPr>
              <a:t>opcao</a:t>
            </a:r>
            <a:r>
              <a:rPr lang="pt-BR" sz="800" dirty="0">
                <a:solidFill>
                  <a:srgbClr val="000000"/>
                </a:solidFill>
                <a:latin typeface="Consolas" panose="020B0609020204030204" pitchFamily="49" charset="0"/>
              </a:rPr>
              <a:t> != </a:t>
            </a:r>
            <a:r>
              <a:rPr lang="pt-BR" sz="800" dirty="0">
                <a:solidFill>
                  <a:srgbClr val="A31515"/>
                </a:solidFill>
                <a:latin typeface="Consolas" panose="020B0609020204030204" pitchFamily="49" charset="0"/>
              </a:rPr>
              <a:t>"4"</a:t>
            </a:r>
            <a:r>
              <a:rPr lang="pt-BR" sz="800" dirty="0">
                <a:solidFill>
                  <a:srgbClr val="000000"/>
                </a:solidFill>
                <a:latin typeface="Consolas" panose="020B0609020204030204" pitchFamily="49" charset="0"/>
              </a:rPr>
              <a:t>);</a:t>
            </a:r>
          </a:p>
          <a:p>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if</a:t>
            </a:r>
            <a:r>
              <a:rPr lang="pt-BR" sz="800" dirty="0">
                <a:solidFill>
                  <a:srgbClr val="000000"/>
                </a:solidFill>
                <a:latin typeface="Consolas" panose="020B0609020204030204" pitchFamily="49" charset="0"/>
              </a:rPr>
              <a:t> (</a:t>
            </a:r>
            <a:r>
              <a:rPr lang="pt-BR" sz="800" dirty="0" err="1">
                <a:solidFill>
                  <a:srgbClr val="000000"/>
                </a:solidFill>
                <a:latin typeface="Consolas" panose="020B0609020204030204" pitchFamily="49" charset="0"/>
              </a:rPr>
              <a:t>opcao</a:t>
            </a:r>
            <a:r>
              <a:rPr lang="pt-BR" sz="800" dirty="0">
                <a:solidFill>
                  <a:srgbClr val="000000"/>
                </a:solidFill>
                <a:latin typeface="Consolas" panose="020B0609020204030204" pitchFamily="49" charset="0"/>
              </a:rPr>
              <a:t> == </a:t>
            </a:r>
            <a:r>
              <a:rPr lang="pt-BR" sz="800" dirty="0">
                <a:solidFill>
                  <a:srgbClr val="A31515"/>
                </a:solidFill>
                <a:latin typeface="Consolas" panose="020B0609020204030204" pitchFamily="49" charset="0"/>
              </a:rPr>
              <a:t>"4"</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r>
              <a:rPr lang="pt-BR" sz="800" dirty="0">
                <a:solidFill>
                  <a:srgbClr val="0000FF"/>
                </a:solidFill>
                <a:latin typeface="Consolas" panose="020B0609020204030204" pitchFamily="49" charset="0"/>
              </a:rPr>
              <a:t>break</a:t>
            </a:r>
            <a:r>
              <a:rPr lang="pt-BR" sz="800" dirty="0">
                <a:solidFill>
                  <a:srgbClr val="000000"/>
                </a:solidFill>
                <a:latin typeface="Consolas" panose="020B0609020204030204" pitchFamily="49" charset="0"/>
              </a:rPr>
              <a:t>;</a:t>
            </a:r>
          </a:p>
          <a:p>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Console</a:t>
            </a:r>
            <a:r>
              <a:rPr lang="pt-BR" sz="800" dirty="0" err="1">
                <a:solidFill>
                  <a:srgbClr val="000000"/>
                </a:solidFill>
                <a:latin typeface="Consolas" panose="020B0609020204030204" pitchFamily="49" charset="0"/>
              </a:rPr>
              <a:t>.WriteLine</a:t>
            </a:r>
            <a:r>
              <a:rPr lang="pt-BR" sz="800" dirty="0">
                <a:solidFill>
                  <a:srgbClr val="000000"/>
                </a:solidFill>
                <a:latin typeface="Consolas" panose="020B0609020204030204" pitchFamily="49" charset="0"/>
              </a:rPr>
              <a:t>();</a:t>
            </a:r>
          </a:p>
          <a:p>
            <a:r>
              <a:rPr lang="en-US" sz="800" dirty="0">
                <a:solidFill>
                  <a:srgbClr val="000000"/>
                </a:solidFill>
                <a:latin typeface="Consolas" panose="020B0609020204030204" pitchFamily="49" charset="0"/>
              </a:rPr>
              <a:t>                </a:t>
            </a:r>
            <a:r>
              <a:rPr lang="en-US" sz="800" dirty="0">
                <a:solidFill>
                  <a:srgbClr val="0000FF"/>
                </a:solidFill>
                <a:latin typeface="Consolas" panose="020B0609020204030204" pitchFamily="49" charset="0"/>
              </a:rPr>
              <a:t>int</a:t>
            </a:r>
            <a:r>
              <a:rPr lang="en-US" sz="800" dirty="0">
                <a:solidFill>
                  <a:srgbClr val="000000"/>
                </a:solidFill>
                <a:latin typeface="Consolas" panose="020B0609020204030204" pitchFamily="49" charset="0"/>
              </a:rPr>
              <a:t>[] v = </a:t>
            </a:r>
            <a:r>
              <a:rPr lang="en-US" sz="800" dirty="0">
                <a:solidFill>
                  <a:srgbClr val="0000FF"/>
                </a:solidFill>
                <a:latin typeface="Consolas" panose="020B0609020204030204" pitchFamily="49" charset="0"/>
              </a:rPr>
              <a:t>new</a:t>
            </a:r>
            <a:r>
              <a:rPr lang="en-US" sz="800" dirty="0">
                <a:solidFill>
                  <a:srgbClr val="000000"/>
                </a:solidFill>
                <a:latin typeface="Consolas" panose="020B0609020204030204" pitchFamily="49" charset="0"/>
              </a:rPr>
              <a:t> </a:t>
            </a:r>
            <a:r>
              <a:rPr lang="en-US" sz="800" dirty="0">
                <a:solidFill>
                  <a:srgbClr val="0000FF"/>
                </a:solidFill>
                <a:latin typeface="Consolas" panose="020B0609020204030204" pitchFamily="49" charset="0"/>
              </a:rPr>
              <a:t>int</a:t>
            </a:r>
            <a:r>
              <a:rPr lang="en-US" sz="800" dirty="0">
                <a:solidFill>
                  <a:srgbClr val="000000"/>
                </a:solidFill>
                <a:latin typeface="Consolas" panose="020B0609020204030204" pitchFamily="49" charset="0"/>
              </a:rPr>
              <a:t>[8];</a:t>
            </a:r>
          </a:p>
          <a:p>
            <a:r>
              <a:rPr lang="nn-NO" sz="800" dirty="0">
                <a:solidFill>
                  <a:srgbClr val="000000"/>
                </a:solidFill>
                <a:latin typeface="Consolas" panose="020B0609020204030204" pitchFamily="49" charset="0"/>
              </a:rPr>
              <a:t>                </a:t>
            </a:r>
            <a:r>
              <a:rPr lang="nn-NO" sz="800" dirty="0">
                <a:solidFill>
                  <a:srgbClr val="0000FF"/>
                </a:solidFill>
                <a:latin typeface="Consolas" panose="020B0609020204030204" pitchFamily="49" charset="0"/>
              </a:rPr>
              <a:t>for</a:t>
            </a:r>
            <a:r>
              <a:rPr lang="nn-NO" sz="800" dirty="0">
                <a:solidFill>
                  <a:srgbClr val="000000"/>
                </a:solidFill>
                <a:latin typeface="Consolas" panose="020B0609020204030204" pitchFamily="49" charset="0"/>
              </a:rPr>
              <a:t> (</a:t>
            </a:r>
            <a:r>
              <a:rPr lang="nn-NO" sz="800" dirty="0">
                <a:solidFill>
                  <a:srgbClr val="0000FF"/>
                </a:solidFill>
                <a:latin typeface="Consolas" panose="020B0609020204030204" pitchFamily="49" charset="0"/>
              </a:rPr>
              <a:t>int</a:t>
            </a:r>
            <a:r>
              <a:rPr lang="nn-NO" sz="800" dirty="0">
                <a:solidFill>
                  <a:srgbClr val="000000"/>
                </a:solidFill>
                <a:latin typeface="Consolas" panose="020B0609020204030204" pitchFamily="49" charset="0"/>
              </a:rPr>
              <a:t> i = 0; i &lt; 8; i++)</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Console</a:t>
            </a:r>
            <a:r>
              <a:rPr lang="pt-BR" sz="800" dirty="0" err="1">
                <a:solidFill>
                  <a:srgbClr val="000000"/>
                </a:solidFill>
                <a:latin typeface="Consolas" panose="020B0609020204030204" pitchFamily="49" charset="0"/>
              </a:rPr>
              <a:t>.Write</a:t>
            </a:r>
            <a:r>
              <a:rPr lang="pt-BR" sz="800" dirty="0">
                <a:solidFill>
                  <a:srgbClr val="000000"/>
                </a:solidFill>
                <a:latin typeface="Consolas" panose="020B0609020204030204" pitchFamily="49" charset="0"/>
              </a:rPr>
              <a:t>(</a:t>
            </a:r>
            <a:r>
              <a:rPr lang="pt-BR" sz="800" dirty="0">
                <a:solidFill>
                  <a:srgbClr val="A31515"/>
                </a:solidFill>
                <a:latin typeface="Consolas" panose="020B0609020204030204" pitchFamily="49" charset="0"/>
              </a:rPr>
              <a:t>"Entrada {0}: "</a:t>
            </a:r>
            <a:r>
              <a:rPr lang="pt-BR" sz="800" dirty="0">
                <a:solidFill>
                  <a:srgbClr val="000000"/>
                </a:solidFill>
                <a:latin typeface="Consolas" panose="020B0609020204030204" pitchFamily="49" charset="0"/>
              </a:rPr>
              <a:t>, i + 1);</a:t>
            </a:r>
          </a:p>
          <a:p>
            <a:r>
              <a:rPr lang="it-IT" sz="800" dirty="0">
                <a:solidFill>
                  <a:srgbClr val="000000"/>
                </a:solidFill>
                <a:latin typeface="Consolas" panose="020B0609020204030204" pitchFamily="49" charset="0"/>
              </a:rPr>
              <a:t>                    v[i] = </a:t>
            </a:r>
            <a:r>
              <a:rPr lang="it-IT" sz="800" dirty="0">
                <a:solidFill>
                  <a:srgbClr val="0000FF"/>
                </a:solidFill>
                <a:latin typeface="Consolas" panose="020B0609020204030204" pitchFamily="49" charset="0"/>
              </a:rPr>
              <a:t>int</a:t>
            </a:r>
            <a:r>
              <a:rPr lang="it-IT" sz="800" dirty="0">
                <a:solidFill>
                  <a:srgbClr val="000000"/>
                </a:solidFill>
                <a:latin typeface="Consolas" panose="020B0609020204030204" pitchFamily="49" charset="0"/>
              </a:rPr>
              <a:t>.Parse(</a:t>
            </a:r>
            <a:r>
              <a:rPr lang="it-IT" sz="800" dirty="0">
                <a:solidFill>
                  <a:srgbClr val="2B91AF"/>
                </a:solidFill>
                <a:latin typeface="Consolas" panose="020B0609020204030204" pitchFamily="49" charset="0"/>
              </a:rPr>
              <a:t>Console</a:t>
            </a:r>
            <a:r>
              <a:rPr lang="it-IT" sz="800" dirty="0">
                <a:solidFill>
                  <a:srgbClr val="000000"/>
                </a:solidFill>
                <a:latin typeface="Consolas" panose="020B0609020204030204" pitchFamily="49" charset="0"/>
              </a:rPr>
              <a:t>.ReadLine());</a:t>
            </a:r>
          </a:p>
          <a:p>
            <a:r>
              <a:rPr lang="pt-BR" sz="800" dirty="0">
                <a:solidFill>
                  <a:srgbClr val="000000"/>
                </a:solidFill>
                <a:latin typeface="Consolas" panose="020B0609020204030204" pitchFamily="49" charset="0"/>
              </a:rPr>
              <a:t>                }</a:t>
            </a:r>
          </a:p>
          <a:p>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Console</a:t>
            </a:r>
            <a:r>
              <a:rPr lang="pt-BR" sz="800" dirty="0" err="1">
                <a:solidFill>
                  <a:srgbClr val="000000"/>
                </a:solidFill>
                <a:latin typeface="Consolas" panose="020B0609020204030204" pitchFamily="49" charset="0"/>
              </a:rPr>
              <a:t>.Clear</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Console</a:t>
            </a:r>
            <a:r>
              <a:rPr lang="pt-BR" sz="800" dirty="0" err="1">
                <a:solidFill>
                  <a:srgbClr val="000000"/>
                </a:solidFill>
                <a:latin typeface="Consolas" panose="020B0609020204030204" pitchFamily="49" charset="0"/>
              </a:rPr>
              <a:t>.WriteLine</a:t>
            </a:r>
            <a:r>
              <a:rPr lang="pt-BR" sz="800" dirty="0">
                <a:solidFill>
                  <a:srgbClr val="000000"/>
                </a:solidFill>
                <a:latin typeface="Consolas" panose="020B0609020204030204" pitchFamily="49" charset="0"/>
              </a:rPr>
              <a:t>(</a:t>
            </a:r>
            <a:r>
              <a:rPr lang="pt-BR" sz="800" dirty="0">
                <a:solidFill>
                  <a:srgbClr val="A31515"/>
                </a:solidFill>
                <a:latin typeface="Consolas" panose="020B0609020204030204" pitchFamily="49" charset="0"/>
              </a:rPr>
              <a:t>"Entrada"</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foreach</a:t>
            </a:r>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int</a:t>
            </a:r>
            <a:r>
              <a:rPr lang="pt-BR" sz="800" dirty="0">
                <a:solidFill>
                  <a:srgbClr val="000000"/>
                </a:solidFill>
                <a:latin typeface="Consolas" panose="020B0609020204030204" pitchFamily="49" charset="0"/>
              </a:rPr>
              <a:t> i </a:t>
            </a:r>
            <a:r>
              <a:rPr lang="pt-BR" sz="800" dirty="0">
                <a:solidFill>
                  <a:srgbClr val="0000FF"/>
                </a:solidFill>
                <a:latin typeface="Consolas" panose="020B0609020204030204" pitchFamily="49" charset="0"/>
              </a:rPr>
              <a:t>in</a:t>
            </a:r>
            <a:r>
              <a:rPr lang="pt-BR" sz="800" dirty="0">
                <a:solidFill>
                  <a:srgbClr val="000000"/>
                </a:solidFill>
                <a:latin typeface="Consolas" panose="020B0609020204030204" pitchFamily="49" charset="0"/>
              </a:rPr>
              <a:t> v)</a:t>
            </a:r>
          </a:p>
          <a:p>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Console</a:t>
            </a:r>
            <a:r>
              <a:rPr lang="pt-BR" sz="800" dirty="0" err="1">
                <a:solidFill>
                  <a:srgbClr val="000000"/>
                </a:solidFill>
                <a:latin typeface="Consolas" panose="020B0609020204030204" pitchFamily="49" charset="0"/>
              </a:rPr>
              <a:t>.Write</a:t>
            </a:r>
            <a:r>
              <a:rPr lang="pt-BR" sz="800" dirty="0">
                <a:solidFill>
                  <a:srgbClr val="000000"/>
                </a:solidFill>
                <a:latin typeface="Consolas" panose="020B0609020204030204" pitchFamily="49" charset="0"/>
              </a:rPr>
              <a:t>(</a:t>
            </a:r>
            <a:r>
              <a:rPr lang="pt-BR" sz="800" dirty="0">
                <a:solidFill>
                  <a:srgbClr val="A31515"/>
                </a:solidFill>
                <a:latin typeface="Consolas" panose="020B0609020204030204" pitchFamily="49" charset="0"/>
              </a:rPr>
              <a:t>"{0} "</a:t>
            </a:r>
            <a:r>
              <a:rPr lang="pt-BR" sz="800" dirty="0">
                <a:solidFill>
                  <a:srgbClr val="000000"/>
                </a:solidFill>
                <a:latin typeface="Consolas" panose="020B0609020204030204" pitchFamily="49" charset="0"/>
              </a:rPr>
              <a:t>, i);</a:t>
            </a:r>
          </a:p>
          <a:p>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endParaRPr lang="pt-BR" sz="800" dirty="0"/>
          </a:p>
        </p:txBody>
      </p:sp>
      <p:sp>
        <p:nvSpPr>
          <p:cNvPr id="5" name="Retângulo 4">
            <a:extLst>
              <a:ext uri="{FF2B5EF4-FFF2-40B4-BE49-F238E27FC236}">
                <a16:creationId xmlns:a16="http://schemas.microsoft.com/office/drawing/2014/main" id="{40CFA2DA-4193-49D3-82E9-0EA1D6F0C4F2}"/>
              </a:ext>
            </a:extLst>
          </p:cNvPr>
          <p:cNvSpPr/>
          <p:nvPr/>
        </p:nvSpPr>
        <p:spPr>
          <a:xfrm>
            <a:off x="3873419" y="0"/>
            <a:ext cx="5020733" cy="6740307"/>
          </a:xfrm>
          <a:prstGeom prst="rect">
            <a:avLst/>
          </a:prstGeom>
        </p:spPr>
        <p:txBody>
          <a:bodyPr wrap="square">
            <a:spAutoFit/>
          </a:bodyPr>
          <a:lstStyle/>
          <a:p>
            <a:r>
              <a:rPr lang="pt-BR" sz="800" dirty="0">
                <a:solidFill>
                  <a:srgbClr val="0000FF"/>
                </a:solidFill>
                <a:latin typeface="Consolas" panose="020B0609020204030204" pitchFamily="49" charset="0"/>
              </a:rPr>
              <a:t>switch</a:t>
            </a:r>
            <a:r>
              <a:rPr lang="pt-BR" sz="800" dirty="0">
                <a:solidFill>
                  <a:srgbClr val="000000"/>
                </a:solidFill>
                <a:latin typeface="Consolas" panose="020B0609020204030204" pitchFamily="49" charset="0"/>
              </a:rPr>
              <a:t> (</a:t>
            </a:r>
            <a:r>
              <a:rPr lang="pt-BR" sz="800" dirty="0" err="1">
                <a:solidFill>
                  <a:srgbClr val="000000"/>
                </a:solidFill>
                <a:latin typeface="Consolas" panose="020B0609020204030204" pitchFamily="49" charset="0"/>
              </a:rPr>
              <a:t>opcao</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r>
              <a:rPr lang="pt-BR" sz="800" dirty="0">
                <a:solidFill>
                  <a:srgbClr val="0000FF"/>
                </a:solidFill>
                <a:latin typeface="Consolas" panose="020B0609020204030204" pitchFamily="49" charset="0"/>
              </a:rPr>
              <a:t>case</a:t>
            </a:r>
            <a:r>
              <a:rPr lang="pt-BR" sz="800" dirty="0">
                <a:solidFill>
                  <a:srgbClr val="000000"/>
                </a:solidFill>
                <a:latin typeface="Consolas" panose="020B0609020204030204" pitchFamily="49" charset="0"/>
              </a:rPr>
              <a:t> </a:t>
            </a:r>
            <a:r>
              <a:rPr lang="pt-BR" sz="800" dirty="0">
                <a:solidFill>
                  <a:srgbClr val="A31515"/>
                </a:solidFill>
                <a:latin typeface="Consolas" panose="020B0609020204030204" pitchFamily="49" charset="0"/>
              </a:rPr>
              <a:t>"1"</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Ordenar(BS, v);</a:t>
            </a:r>
          </a:p>
          <a:p>
            <a:r>
              <a:rPr lang="pt-BR" sz="800" dirty="0">
                <a:solidFill>
                  <a:srgbClr val="000000"/>
                </a:solidFill>
                <a:latin typeface="Consolas" panose="020B0609020204030204" pitchFamily="49" charset="0"/>
              </a:rPr>
              <a:t>                        </a:t>
            </a:r>
            <a:r>
              <a:rPr lang="pt-BR" sz="800" dirty="0">
                <a:solidFill>
                  <a:srgbClr val="0000FF"/>
                </a:solidFill>
                <a:latin typeface="Consolas" panose="020B0609020204030204" pitchFamily="49" charset="0"/>
              </a:rPr>
              <a:t>break</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r>
              <a:rPr lang="pt-BR" sz="800" dirty="0">
                <a:solidFill>
                  <a:srgbClr val="0000FF"/>
                </a:solidFill>
                <a:latin typeface="Consolas" panose="020B0609020204030204" pitchFamily="49" charset="0"/>
              </a:rPr>
              <a:t>case</a:t>
            </a:r>
            <a:r>
              <a:rPr lang="pt-BR" sz="800" dirty="0">
                <a:solidFill>
                  <a:srgbClr val="000000"/>
                </a:solidFill>
                <a:latin typeface="Consolas" panose="020B0609020204030204" pitchFamily="49" charset="0"/>
              </a:rPr>
              <a:t> </a:t>
            </a:r>
            <a:r>
              <a:rPr lang="pt-BR" sz="800" dirty="0">
                <a:solidFill>
                  <a:srgbClr val="A31515"/>
                </a:solidFill>
                <a:latin typeface="Consolas" panose="020B0609020204030204" pitchFamily="49" charset="0"/>
              </a:rPr>
              <a:t>"2"</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Ordenar(SS, v);</a:t>
            </a:r>
          </a:p>
          <a:p>
            <a:r>
              <a:rPr lang="pt-BR" sz="800" dirty="0">
                <a:solidFill>
                  <a:srgbClr val="000000"/>
                </a:solidFill>
                <a:latin typeface="Consolas" panose="020B0609020204030204" pitchFamily="49" charset="0"/>
              </a:rPr>
              <a:t>                        </a:t>
            </a:r>
            <a:r>
              <a:rPr lang="pt-BR" sz="800" dirty="0">
                <a:solidFill>
                  <a:srgbClr val="0000FF"/>
                </a:solidFill>
                <a:latin typeface="Consolas" panose="020B0609020204030204" pitchFamily="49" charset="0"/>
              </a:rPr>
              <a:t>break</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r>
              <a:rPr lang="pt-BR" sz="800" dirty="0">
                <a:solidFill>
                  <a:srgbClr val="0000FF"/>
                </a:solidFill>
                <a:latin typeface="Consolas" panose="020B0609020204030204" pitchFamily="49" charset="0"/>
              </a:rPr>
              <a:t>case</a:t>
            </a:r>
            <a:r>
              <a:rPr lang="pt-BR" sz="800" dirty="0">
                <a:solidFill>
                  <a:srgbClr val="000000"/>
                </a:solidFill>
                <a:latin typeface="Consolas" panose="020B0609020204030204" pitchFamily="49" charset="0"/>
              </a:rPr>
              <a:t> </a:t>
            </a:r>
            <a:r>
              <a:rPr lang="pt-BR" sz="800" dirty="0">
                <a:solidFill>
                  <a:srgbClr val="A31515"/>
                </a:solidFill>
                <a:latin typeface="Consolas" panose="020B0609020204030204" pitchFamily="49" charset="0"/>
              </a:rPr>
              <a:t>"3"</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Ordenar(IS, v);</a:t>
            </a:r>
          </a:p>
          <a:p>
            <a:r>
              <a:rPr lang="pt-BR" sz="800" dirty="0">
                <a:solidFill>
                  <a:srgbClr val="000000"/>
                </a:solidFill>
                <a:latin typeface="Consolas" panose="020B0609020204030204" pitchFamily="49" charset="0"/>
              </a:rPr>
              <a:t>                        </a:t>
            </a:r>
            <a:r>
              <a:rPr lang="pt-BR" sz="800" dirty="0">
                <a:solidFill>
                  <a:srgbClr val="0000FF"/>
                </a:solidFill>
                <a:latin typeface="Consolas" panose="020B0609020204030204" pitchFamily="49" charset="0"/>
              </a:rPr>
              <a:t>break</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p>
          <a:p>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Console</a:t>
            </a:r>
            <a:r>
              <a:rPr lang="pt-BR" sz="800" dirty="0" err="1">
                <a:solidFill>
                  <a:srgbClr val="000000"/>
                </a:solidFill>
                <a:latin typeface="Consolas" panose="020B0609020204030204" pitchFamily="49" charset="0"/>
              </a:rPr>
              <a:t>.WriteLine</a:t>
            </a:r>
            <a:r>
              <a:rPr lang="pt-BR" sz="800" dirty="0">
                <a:solidFill>
                  <a:srgbClr val="000000"/>
                </a:solidFill>
                <a:latin typeface="Consolas" panose="020B0609020204030204" pitchFamily="49" charset="0"/>
              </a:rPr>
              <a:t>(</a:t>
            </a:r>
            <a:r>
              <a:rPr lang="pt-BR" sz="800" dirty="0">
                <a:solidFill>
                  <a:srgbClr val="A31515"/>
                </a:solidFill>
                <a:latin typeface="Consolas" panose="020B0609020204030204" pitchFamily="49" charset="0"/>
              </a:rPr>
              <a:t>"\n\</a:t>
            </a:r>
            <a:r>
              <a:rPr lang="pt-BR" sz="800" dirty="0" err="1">
                <a:solidFill>
                  <a:srgbClr val="A31515"/>
                </a:solidFill>
                <a:latin typeface="Consolas" panose="020B0609020204030204" pitchFamily="49" charset="0"/>
              </a:rPr>
              <a:t>nSaida</a:t>
            </a:r>
            <a:r>
              <a:rPr lang="pt-BR" sz="800" dirty="0">
                <a:solidFill>
                  <a:srgbClr val="A31515"/>
                </a:solidFill>
                <a:latin typeface="Consolas" panose="020B0609020204030204" pitchFamily="49" charset="0"/>
              </a:rPr>
              <a:t>"</a:t>
            </a:r>
            <a:r>
              <a:rPr lang="pt-BR" sz="800" dirty="0">
                <a:solidFill>
                  <a:srgbClr val="000000"/>
                </a:solidFill>
                <a:latin typeface="Consolas" panose="020B0609020204030204" pitchFamily="49" charset="0"/>
              </a:rPr>
              <a:t>);</a:t>
            </a:r>
          </a:p>
          <a:p>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foreach</a:t>
            </a:r>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int</a:t>
            </a:r>
            <a:r>
              <a:rPr lang="pt-BR" sz="800" dirty="0">
                <a:solidFill>
                  <a:srgbClr val="000000"/>
                </a:solidFill>
                <a:latin typeface="Consolas" panose="020B0609020204030204" pitchFamily="49" charset="0"/>
              </a:rPr>
              <a:t> i </a:t>
            </a:r>
            <a:r>
              <a:rPr lang="pt-BR" sz="800" dirty="0">
                <a:solidFill>
                  <a:srgbClr val="0000FF"/>
                </a:solidFill>
                <a:latin typeface="Consolas" panose="020B0609020204030204" pitchFamily="49" charset="0"/>
              </a:rPr>
              <a:t>in</a:t>
            </a:r>
            <a:r>
              <a:rPr lang="pt-BR" sz="800" dirty="0">
                <a:solidFill>
                  <a:srgbClr val="000000"/>
                </a:solidFill>
                <a:latin typeface="Consolas" panose="020B0609020204030204" pitchFamily="49" charset="0"/>
              </a:rPr>
              <a:t> v)</a:t>
            </a:r>
          </a:p>
          <a:p>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Console</a:t>
            </a:r>
            <a:r>
              <a:rPr lang="pt-BR" sz="800" dirty="0" err="1">
                <a:solidFill>
                  <a:srgbClr val="000000"/>
                </a:solidFill>
                <a:latin typeface="Consolas" panose="020B0609020204030204" pitchFamily="49" charset="0"/>
              </a:rPr>
              <a:t>.Write</a:t>
            </a:r>
            <a:r>
              <a:rPr lang="pt-BR" sz="800" dirty="0">
                <a:solidFill>
                  <a:srgbClr val="000000"/>
                </a:solidFill>
                <a:latin typeface="Consolas" panose="020B0609020204030204" pitchFamily="49" charset="0"/>
              </a:rPr>
              <a:t>(</a:t>
            </a:r>
            <a:r>
              <a:rPr lang="pt-BR" sz="800" dirty="0">
                <a:solidFill>
                  <a:srgbClr val="A31515"/>
                </a:solidFill>
                <a:latin typeface="Consolas" panose="020B0609020204030204" pitchFamily="49" charset="0"/>
              </a:rPr>
              <a:t>"{0} "</a:t>
            </a:r>
            <a:r>
              <a:rPr lang="pt-BR" sz="800" dirty="0">
                <a:solidFill>
                  <a:srgbClr val="000000"/>
                </a:solidFill>
                <a:latin typeface="Consolas" panose="020B0609020204030204" pitchFamily="49" charset="0"/>
              </a:rPr>
              <a:t>, i);</a:t>
            </a:r>
          </a:p>
          <a:p>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Console</a:t>
            </a:r>
            <a:r>
              <a:rPr lang="pt-BR" sz="800" dirty="0" err="1">
                <a:solidFill>
                  <a:srgbClr val="000000"/>
                </a:solidFill>
                <a:latin typeface="Consolas" panose="020B0609020204030204" pitchFamily="49" charset="0"/>
              </a:rPr>
              <a:t>.Write</a:t>
            </a:r>
            <a:r>
              <a:rPr lang="pt-BR" sz="800" dirty="0">
                <a:solidFill>
                  <a:srgbClr val="000000"/>
                </a:solidFill>
                <a:latin typeface="Consolas" panose="020B0609020204030204" pitchFamily="49" charset="0"/>
              </a:rPr>
              <a:t>(</a:t>
            </a:r>
            <a:r>
              <a:rPr lang="pt-BR" sz="800" dirty="0">
                <a:solidFill>
                  <a:srgbClr val="A31515"/>
                </a:solidFill>
                <a:latin typeface="Consolas" panose="020B0609020204030204" pitchFamily="49" charset="0"/>
              </a:rPr>
              <a:t>"\n\</a:t>
            </a:r>
            <a:r>
              <a:rPr lang="pt-BR" sz="800" dirty="0" err="1">
                <a:solidFill>
                  <a:srgbClr val="A31515"/>
                </a:solidFill>
                <a:latin typeface="Consolas" panose="020B0609020204030204" pitchFamily="49" charset="0"/>
              </a:rPr>
              <a:t>nPresione</a:t>
            </a:r>
            <a:r>
              <a:rPr lang="pt-BR" sz="800" dirty="0">
                <a:solidFill>
                  <a:srgbClr val="A31515"/>
                </a:solidFill>
                <a:latin typeface="Consolas" panose="020B0609020204030204" pitchFamily="49" charset="0"/>
              </a:rPr>
              <a:t> qualquer tecla para continuar ... "</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Console</a:t>
            </a:r>
            <a:r>
              <a:rPr lang="pt-BR" sz="800" dirty="0" err="1">
                <a:solidFill>
                  <a:srgbClr val="000000"/>
                </a:solidFill>
                <a:latin typeface="Consolas" panose="020B0609020204030204" pitchFamily="49" charset="0"/>
              </a:rPr>
              <a:t>.ReadKey</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p>
          <a:p>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private</a:t>
            </a:r>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static</a:t>
            </a:r>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void</a:t>
            </a:r>
            <a:r>
              <a:rPr lang="pt-BR" sz="800" dirty="0">
                <a:solidFill>
                  <a:srgbClr val="000000"/>
                </a:solidFill>
                <a:latin typeface="Consolas" panose="020B0609020204030204" pitchFamily="49" charset="0"/>
              </a:rPr>
              <a:t> Ordenar(</a:t>
            </a:r>
            <a:r>
              <a:rPr lang="pt-BR" sz="800" dirty="0" err="1">
                <a:solidFill>
                  <a:srgbClr val="2B91AF"/>
                </a:solidFill>
                <a:latin typeface="Consolas" panose="020B0609020204030204" pitchFamily="49" charset="0"/>
              </a:rPr>
              <a:t>Ordenacao</a:t>
            </a:r>
            <a:r>
              <a:rPr lang="pt-BR" sz="800" dirty="0">
                <a:solidFill>
                  <a:srgbClr val="000000"/>
                </a:solidFill>
                <a:latin typeface="Consolas" panose="020B0609020204030204" pitchFamily="49" charset="0"/>
              </a:rPr>
              <a:t> p, </a:t>
            </a:r>
            <a:r>
              <a:rPr lang="pt-BR" sz="800" dirty="0" err="1">
                <a:solidFill>
                  <a:srgbClr val="0000FF"/>
                </a:solidFill>
                <a:latin typeface="Consolas" panose="020B0609020204030204" pitchFamily="49" charset="0"/>
              </a:rPr>
              <a:t>int</a:t>
            </a:r>
            <a:r>
              <a:rPr lang="pt-BR" sz="800" dirty="0">
                <a:solidFill>
                  <a:srgbClr val="000000"/>
                </a:solidFill>
                <a:latin typeface="Consolas" panose="020B0609020204030204" pitchFamily="49" charset="0"/>
              </a:rPr>
              <a:t>[] v)</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r>
              <a:rPr lang="pt-BR" sz="800" dirty="0" err="1">
                <a:solidFill>
                  <a:srgbClr val="000000"/>
                </a:solidFill>
                <a:latin typeface="Consolas" panose="020B0609020204030204" pitchFamily="49" charset="0"/>
              </a:rPr>
              <a:t>p.Ordenar</a:t>
            </a:r>
            <a:r>
              <a:rPr lang="pt-BR" sz="800" dirty="0">
                <a:solidFill>
                  <a:srgbClr val="000000"/>
                </a:solidFill>
                <a:latin typeface="Consolas" panose="020B0609020204030204" pitchFamily="49" charset="0"/>
              </a:rPr>
              <a:t>(v);</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p>
          <a:p>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r>
              <a:rPr lang="pt-BR" sz="800" dirty="0">
                <a:solidFill>
                  <a:srgbClr val="0000FF"/>
                </a:solidFill>
                <a:latin typeface="Consolas" panose="020B0609020204030204" pitchFamily="49" charset="0"/>
              </a:rPr>
              <a:t>interface</a:t>
            </a:r>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Ordenacao</a:t>
            </a:r>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void</a:t>
            </a:r>
            <a:r>
              <a:rPr lang="pt-BR" sz="800" dirty="0">
                <a:solidFill>
                  <a:srgbClr val="000000"/>
                </a:solidFill>
                <a:latin typeface="Consolas" panose="020B0609020204030204" pitchFamily="49" charset="0"/>
              </a:rPr>
              <a:t> Ordenar(</a:t>
            </a:r>
            <a:r>
              <a:rPr lang="pt-BR" sz="800" dirty="0" err="1">
                <a:solidFill>
                  <a:srgbClr val="0000FF"/>
                </a:solidFill>
                <a:latin typeface="Consolas" panose="020B0609020204030204" pitchFamily="49" charset="0"/>
              </a:rPr>
              <a:t>int</a:t>
            </a:r>
            <a:r>
              <a:rPr lang="pt-BR" sz="800" dirty="0">
                <a:solidFill>
                  <a:srgbClr val="000000"/>
                </a:solidFill>
                <a:latin typeface="Consolas" panose="020B0609020204030204" pitchFamily="49" charset="0"/>
              </a:rPr>
              <a:t>[] v);</a:t>
            </a:r>
          </a:p>
          <a:p>
            <a:r>
              <a:rPr lang="pt-BR" sz="800" dirty="0">
                <a:solidFill>
                  <a:srgbClr val="000000"/>
                </a:solidFill>
                <a:latin typeface="Consolas" panose="020B0609020204030204" pitchFamily="49" charset="0"/>
              </a:rPr>
              <a:t>    }</a:t>
            </a:r>
          </a:p>
          <a:p>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class</a:t>
            </a:r>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BubbleSort</a:t>
            </a:r>
            <a:r>
              <a:rPr lang="pt-BR" sz="800" dirty="0">
                <a:solidFill>
                  <a:srgbClr val="000000"/>
                </a:solidFill>
                <a:latin typeface="Consolas" panose="020B0609020204030204" pitchFamily="49" charset="0"/>
              </a:rPr>
              <a:t> : </a:t>
            </a:r>
            <a:r>
              <a:rPr lang="pt-BR" sz="800" dirty="0" err="1">
                <a:solidFill>
                  <a:srgbClr val="2B91AF"/>
                </a:solidFill>
                <a:latin typeface="Consolas" panose="020B0609020204030204" pitchFamily="49" charset="0"/>
              </a:rPr>
              <a:t>Ordenacao</a:t>
            </a:r>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p>
          <a:p>
            <a:r>
              <a:rPr lang="sv-SE" sz="800" dirty="0">
                <a:solidFill>
                  <a:srgbClr val="000000"/>
                </a:solidFill>
                <a:latin typeface="Consolas" panose="020B0609020204030204" pitchFamily="49" charset="0"/>
              </a:rPr>
              <a:t>        </a:t>
            </a:r>
            <a:r>
              <a:rPr lang="sv-SE" sz="800" dirty="0">
                <a:solidFill>
                  <a:srgbClr val="0000FF"/>
                </a:solidFill>
                <a:latin typeface="Consolas" panose="020B0609020204030204" pitchFamily="49" charset="0"/>
              </a:rPr>
              <a:t>public</a:t>
            </a:r>
            <a:r>
              <a:rPr lang="sv-SE" sz="800" dirty="0">
                <a:solidFill>
                  <a:srgbClr val="000000"/>
                </a:solidFill>
                <a:latin typeface="Consolas" panose="020B0609020204030204" pitchFamily="49" charset="0"/>
              </a:rPr>
              <a:t> </a:t>
            </a:r>
            <a:r>
              <a:rPr lang="sv-SE" sz="800" dirty="0">
                <a:solidFill>
                  <a:srgbClr val="0000FF"/>
                </a:solidFill>
                <a:latin typeface="Consolas" panose="020B0609020204030204" pitchFamily="49" charset="0"/>
              </a:rPr>
              <a:t>void</a:t>
            </a:r>
            <a:r>
              <a:rPr lang="sv-SE" sz="800" dirty="0">
                <a:solidFill>
                  <a:srgbClr val="000000"/>
                </a:solidFill>
                <a:latin typeface="Consolas" panose="020B0609020204030204" pitchFamily="49" charset="0"/>
              </a:rPr>
              <a:t> Ordenar(</a:t>
            </a:r>
            <a:r>
              <a:rPr lang="sv-SE" sz="800" dirty="0">
                <a:solidFill>
                  <a:srgbClr val="0000FF"/>
                </a:solidFill>
                <a:latin typeface="Consolas" panose="020B0609020204030204" pitchFamily="49" charset="0"/>
              </a:rPr>
              <a:t>int</a:t>
            </a:r>
            <a:r>
              <a:rPr lang="sv-SE" sz="800" dirty="0">
                <a:solidFill>
                  <a:srgbClr val="000000"/>
                </a:solidFill>
                <a:latin typeface="Consolas" panose="020B0609020204030204" pitchFamily="49" charset="0"/>
              </a:rPr>
              <a:t>[] v)</a:t>
            </a:r>
          </a:p>
          <a:p>
            <a:r>
              <a:rPr lang="pt-BR" sz="800" dirty="0">
                <a:solidFill>
                  <a:srgbClr val="000000"/>
                </a:solidFill>
                <a:latin typeface="Consolas" panose="020B0609020204030204" pitchFamily="49" charset="0"/>
              </a:rPr>
              <a:t>        {</a:t>
            </a:r>
          </a:p>
          <a:p>
            <a:r>
              <a:rPr lang="nn-NO" sz="800" dirty="0">
                <a:solidFill>
                  <a:srgbClr val="000000"/>
                </a:solidFill>
                <a:latin typeface="Consolas" panose="020B0609020204030204" pitchFamily="49" charset="0"/>
              </a:rPr>
              <a:t>            </a:t>
            </a:r>
            <a:r>
              <a:rPr lang="nn-NO" sz="800" dirty="0">
                <a:solidFill>
                  <a:srgbClr val="0000FF"/>
                </a:solidFill>
                <a:latin typeface="Consolas" panose="020B0609020204030204" pitchFamily="49" charset="0"/>
              </a:rPr>
              <a:t>for</a:t>
            </a:r>
            <a:r>
              <a:rPr lang="nn-NO" sz="800" dirty="0">
                <a:solidFill>
                  <a:srgbClr val="000000"/>
                </a:solidFill>
                <a:latin typeface="Consolas" panose="020B0609020204030204" pitchFamily="49" charset="0"/>
              </a:rPr>
              <a:t>(</a:t>
            </a:r>
            <a:r>
              <a:rPr lang="nn-NO" sz="800" dirty="0">
                <a:solidFill>
                  <a:srgbClr val="0000FF"/>
                </a:solidFill>
                <a:latin typeface="Consolas" panose="020B0609020204030204" pitchFamily="49" charset="0"/>
              </a:rPr>
              <a:t>int</a:t>
            </a:r>
            <a:r>
              <a:rPr lang="nn-NO" sz="800" dirty="0">
                <a:solidFill>
                  <a:srgbClr val="000000"/>
                </a:solidFill>
                <a:latin typeface="Consolas" panose="020B0609020204030204" pitchFamily="49" charset="0"/>
              </a:rPr>
              <a:t> i=0; i&lt;v.Length; i++)</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r>
              <a:rPr lang="pt-BR" sz="800" dirty="0">
                <a:solidFill>
                  <a:srgbClr val="0000FF"/>
                </a:solidFill>
                <a:latin typeface="Consolas" panose="020B0609020204030204" pitchFamily="49" charset="0"/>
              </a:rPr>
              <a:t>for</a:t>
            </a:r>
            <a:r>
              <a:rPr lang="pt-BR" sz="800" dirty="0">
                <a:solidFill>
                  <a:srgbClr val="000000"/>
                </a:solidFill>
                <a:latin typeface="Consolas" panose="020B0609020204030204" pitchFamily="49" charset="0"/>
              </a:rPr>
              <a:t>(</a:t>
            </a:r>
            <a:r>
              <a:rPr lang="pt-BR" sz="800" dirty="0" err="1">
                <a:solidFill>
                  <a:srgbClr val="0000FF"/>
                </a:solidFill>
                <a:latin typeface="Consolas" panose="020B0609020204030204" pitchFamily="49" charset="0"/>
              </a:rPr>
              <a:t>int</a:t>
            </a:r>
            <a:r>
              <a:rPr lang="pt-BR" sz="800" dirty="0">
                <a:solidFill>
                  <a:srgbClr val="000000"/>
                </a:solidFill>
                <a:latin typeface="Consolas" panose="020B0609020204030204" pitchFamily="49" charset="0"/>
              </a:rPr>
              <a:t> j=0; j &lt; v.Length-1; j++)</a:t>
            </a:r>
          </a:p>
          <a:p>
            <a:r>
              <a:rPr lang="pt-BR" sz="800" dirty="0">
                <a:solidFill>
                  <a:srgbClr val="000000"/>
                </a:solidFill>
                <a:latin typeface="Consolas" panose="020B0609020204030204" pitchFamily="49" charset="0"/>
              </a:rPr>
              <a:t>                {</a:t>
            </a:r>
          </a:p>
          <a:p>
            <a:r>
              <a:rPr lang="en-US" sz="800" dirty="0">
                <a:solidFill>
                  <a:srgbClr val="000000"/>
                </a:solidFill>
                <a:latin typeface="Consolas" panose="020B0609020204030204" pitchFamily="49" charset="0"/>
              </a:rPr>
              <a:t>                    </a:t>
            </a:r>
            <a:r>
              <a:rPr lang="en-US" sz="800" dirty="0">
                <a:solidFill>
                  <a:srgbClr val="0000FF"/>
                </a:solidFill>
                <a:latin typeface="Consolas" panose="020B0609020204030204" pitchFamily="49" charset="0"/>
              </a:rPr>
              <a:t>if</a:t>
            </a:r>
            <a:r>
              <a:rPr lang="en-US" sz="800" dirty="0">
                <a:solidFill>
                  <a:srgbClr val="000000"/>
                </a:solidFill>
                <a:latin typeface="Consolas" panose="020B0609020204030204" pitchFamily="49" charset="0"/>
              </a:rPr>
              <a:t>(v[j+1] &lt; v[j])</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int</a:t>
            </a:r>
            <a:r>
              <a:rPr lang="pt-BR" sz="800" dirty="0">
                <a:solidFill>
                  <a:srgbClr val="000000"/>
                </a:solidFill>
                <a:latin typeface="Consolas" panose="020B0609020204030204" pitchFamily="49" charset="0"/>
              </a:rPr>
              <a:t> </a:t>
            </a:r>
            <a:r>
              <a:rPr lang="pt-BR" sz="800" dirty="0" err="1">
                <a:solidFill>
                  <a:srgbClr val="000000"/>
                </a:solidFill>
                <a:latin typeface="Consolas" panose="020B0609020204030204" pitchFamily="49" charset="0"/>
              </a:rPr>
              <a:t>aux</a:t>
            </a:r>
            <a:r>
              <a:rPr lang="pt-BR" sz="800" dirty="0">
                <a:solidFill>
                  <a:srgbClr val="000000"/>
                </a:solidFill>
                <a:latin typeface="Consolas" panose="020B0609020204030204" pitchFamily="49" charset="0"/>
              </a:rPr>
              <a:t> = v[j];</a:t>
            </a:r>
          </a:p>
          <a:p>
            <a:r>
              <a:rPr lang="pl-PL" sz="800" dirty="0">
                <a:solidFill>
                  <a:srgbClr val="000000"/>
                </a:solidFill>
                <a:latin typeface="Consolas" panose="020B0609020204030204" pitchFamily="49" charset="0"/>
              </a:rPr>
              <a:t>                        v[j] = v[j + 1];</a:t>
            </a:r>
          </a:p>
          <a:p>
            <a:r>
              <a:rPr lang="pt-BR" sz="800" dirty="0">
                <a:solidFill>
                  <a:srgbClr val="000000"/>
                </a:solidFill>
                <a:latin typeface="Consolas" panose="020B0609020204030204" pitchFamily="49" charset="0"/>
              </a:rPr>
              <a:t>                        v[j + 1] = </a:t>
            </a:r>
            <a:r>
              <a:rPr lang="pt-BR" sz="800" dirty="0" err="1">
                <a:solidFill>
                  <a:srgbClr val="000000"/>
                </a:solidFill>
                <a:latin typeface="Consolas" panose="020B0609020204030204" pitchFamily="49" charset="0"/>
              </a:rPr>
              <a:t>aux</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p>
          <a:p>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endParaRPr lang="pt-BR" sz="800" dirty="0"/>
          </a:p>
        </p:txBody>
      </p:sp>
      <p:sp>
        <p:nvSpPr>
          <p:cNvPr id="6" name="Retângulo 5">
            <a:extLst>
              <a:ext uri="{FF2B5EF4-FFF2-40B4-BE49-F238E27FC236}">
                <a16:creationId xmlns:a16="http://schemas.microsoft.com/office/drawing/2014/main" id="{B89D107B-4109-4CBA-8A03-776C42DEADE7}"/>
              </a:ext>
            </a:extLst>
          </p:cNvPr>
          <p:cNvSpPr/>
          <p:nvPr/>
        </p:nvSpPr>
        <p:spPr>
          <a:xfrm>
            <a:off x="8966199" y="186228"/>
            <a:ext cx="6096000" cy="6001643"/>
          </a:xfrm>
          <a:prstGeom prst="rect">
            <a:avLst/>
          </a:prstGeom>
        </p:spPr>
        <p:txBody>
          <a:bodyPr>
            <a:spAutoFit/>
          </a:bodyPr>
          <a:lstStyle/>
          <a:p>
            <a:r>
              <a:rPr lang="pt-BR" sz="800" dirty="0" err="1">
                <a:solidFill>
                  <a:srgbClr val="0000FF"/>
                </a:solidFill>
                <a:latin typeface="Consolas" panose="020B0609020204030204" pitchFamily="49" charset="0"/>
              </a:rPr>
              <a:t>class</a:t>
            </a:r>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SelectSort</a:t>
            </a:r>
            <a:r>
              <a:rPr lang="pt-BR" sz="800" dirty="0">
                <a:solidFill>
                  <a:srgbClr val="000000"/>
                </a:solidFill>
                <a:latin typeface="Consolas" panose="020B0609020204030204" pitchFamily="49" charset="0"/>
              </a:rPr>
              <a:t> : </a:t>
            </a:r>
            <a:r>
              <a:rPr lang="pt-BR" sz="800" dirty="0" err="1">
                <a:solidFill>
                  <a:srgbClr val="2B91AF"/>
                </a:solidFill>
                <a:latin typeface="Consolas" panose="020B0609020204030204" pitchFamily="49" charset="0"/>
              </a:rPr>
              <a:t>Ordenacao</a:t>
            </a:r>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p>
          <a:p>
            <a:r>
              <a:rPr lang="sv-SE" sz="800" dirty="0">
                <a:solidFill>
                  <a:srgbClr val="000000"/>
                </a:solidFill>
                <a:latin typeface="Consolas" panose="020B0609020204030204" pitchFamily="49" charset="0"/>
              </a:rPr>
              <a:t>        </a:t>
            </a:r>
            <a:r>
              <a:rPr lang="sv-SE" sz="800" dirty="0">
                <a:solidFill>
                  <a:srgbClr val="0000FF"/>
                </a:solidFill>
                <a:latin typeface="Consolas" panose="020B0609020204030204" pitchFamily="49" charset="0"/>
              </a:rPr>
              <a:t>public</a:t>
            </a:r>
            <a:r>
              <a:rPr lang="sv-SE" sz="800" dirty="0">
                <a:solidFill>
                  <a:srgbClr val="000000"/>
                </a:solidFill>
                <a:latin typeface="Consolas" panose="020B0609020204030204" pitchFamily="49" charset="0"/>
              </a:rPr>
              <a:t> </a:t>
            </a:r>
            <a:r>
              <a:rPr lang="sv-SE" sz="800" dirty="0">
                <a:solidFill>
                  <a:srgbClr val="0000FF"/>
                </a:solidFill>
                <a:latin typeface="Consolas" panose="020B0609020204030204" pitchFamily="49" charset="0"/>
              </a:rPr>
              <a:t>void</a:t>
            </a:r>
            <a:r>
              <a:rPr lang="sv-SE" sz="800" dirty="0">
                <a:solidFill>
                  <a:srgbClr val="000000"/>
                </a:solidFill>
                <a:latin typeface="Consolas" panose="020B0609020204030204" pitchFamily="49" charset="0"/>
              </a:rPr>
              <a:t> Ordenar(</a:t>
            </a:r>
            <a:r>
              <a:rPr lang="sv-SE" sz="800" dirty="0">
                <a:solidFill>
                  <a:srgbClr val="0000FF"/>
                </a:solidFill>
                <a:latin typeface="Consolas" panose="020B0609020204030204" pitchFamily="49" charset="0"/>
              </a:rPr>
              <a:t>int</a:t>
            </a:r>
            <a:r>
              <a:rPr lang="sv-SE" sz="800" dirty="0">
                <a:solidFill>
                  <a:srgbClr val="000000"/>
                </a:solidFill>
                <a:latin typeface="Consolas" panose="020B0609020204030204" pitchFamily="49" charset="0"/>
              </a:rPr>
              <a:t>[] v)</a:t>
            </a:r>
          </a:p>
          <a:p>
            <a:r>
              <a:rPr lang="pt-BR" sz="800" dirty="0">
                <a:solidFill>
                  <a:srgbClr val="000000"/>
                </a:solidFill>
                <a:latin typeface="Consolas" panose="020B0609020204030204" pitchFamily="49" charset="0"/>
              </a:rPr>
              <a:t>        {</a:t>
            </a:r>
          </a:p>
          <a:p>
            <a:r>
              <a:rPr lang="nn-NO" sz="800" dirty="0">
                <a:solidFill>
                  <a:srgbClr val="000000"/>
                </a:solidFill>
                <a:latin typeface="Consolas" panose="020B0609020204030204" pitchFamily="49" charset="0"/>
              </a:rPr>
              <a:t>            </a:t>
            </a:r>
            <a:r>
              <a:rPr lang="nn-NO" sz="800" dirty="0">
                <a:solidFill>
                  <a:srgbClr val="0000FF"/>
                </a:solidFill>
                <a:latin typeface="Consolas" panose="020B0609020204030204" pitchFamily="49" charset="0"/>
              </a:rPr>
              <a:t>for</a:t>
            </a:r>
            <a:r>
              <a:rPr lang="nn-NO" sz="800" dirty="0">
                <a:solidFill>
                  <a:srgbClr val="000000"/>
                </a:solidFill>
                <a:latin typeface="Consolas" panose="020B0609020204030204" pitchFamily="49" charset="0"/>
              </a:rPr>
              <a:t>(</a:t>
            </a:r>
            <a:r>
              <a:rPr lang="nn-NO" sz="800" dirty="0">
                <a:solidFill>
                  <a:srgbClr val="0000FF"/>
                </a:solidFill>
                <a:latin typeface="Consolas" panose="020B0609020204030204" pitchFamily="49" charset="0"/>
              </a:rPr>
              <a:t>int</a:t>
            </a:r>
            <a:r>
              <a:rPr lang="nn-NO" sz="800" dirty="0">
                <a:solidFill>
                  <a:srgbClr val="000000"/>
                </a:solidFill>
                <a:latin typeface="Consolas" panose="020B0609020204030204" pitchFamily="49" charset="0"/>
              </a:rPr>
              <a:t> i = 0; i &lt; v.Length-1; i++)</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int</a:t>
            </a:r>
            <a:r>
              <a:rPr lang="pt-BR" sz="800" dirty="0">
                <a:solidFill>
                  <a:srgbClr val="000000"/>
                </a:solidFill>
                <a:latin typeface="Consolas" panose="020B0609020204030204" pitchFamily="49" charset="0"/>
              </a:rPr>
              <a:t> menor = i;</a:t>
            </a:r>
          </a:p>
          <a:p>
            <a:r>
              <a:rPr lang="pt-BR" sz="800" dirty="0">
                <a:solidFill>
                  <a:srgbClr val="000000"/>
                </a:solidFill>
                <a:latin typeface="Consolas" panose="020B0609020204030204" pitchFamily="49" charset="0"/>
              </a:rPr>
              <a:t>                </a:t>
            </a:r>
            <a:r>
              <a:rPr lang="pt-BR" sz="800" dirty="0">
                <a:solidFill>
                  <a:srgbClr val="0000FF"/>
                </a:solidFill>
                <a:latin typeface="Consolas" panose="020B0609020204030204" pitchFamily="49" charset="0"/>
              </a:rPr>
              <a:t>for</a:t>
            </a:r>
            <a:r>
              <a:rPr lang="pt-BR" sz="800" dirty="0">
                <a:solidFill>
                  <a:srgbClr val="000000"/>
                </a:solidFill>
                <a:latin typeface="Consolas" panose="020B0609020204030204" pitchFamily="49" charset="0"/>
              </a:rPr>
              <a:t>(</a:t>
            </a:r>
            <a:r>
              <a:rPr lang="pt-BR" sz="800" dirty="0" err="1">
                <a:solidFill>
                  <a:srgbClr val="0000FF"/>
                </a:solidFill>
                <a:latin typeface="Consolas" panose="020B0609020204030204" pitchFamily="49" charset="0"/>
              </a:rPr>
              <a:t>int</a:t>
            </a:r>
            <a:r>
              <a:rPr lang="pt-BR" sz="800" dirty="0">
                <a:solidFill>
                  <a:srgbClr val="000000"/>
                </a:solidFill>
                <a:latin typeface="Consolas" panose="020B0609020204030204" pitchFamily="49" charset="0"/>
              </a:rPr>
              <a:t> j=i+1; j &lt; </a:t>
            </a:r>
            <a:r>
              <a:rPr lang="pt-BR" sz="800" dirty="0" err="1">
                <a:solidFill>
                  <a:srgbClr val="000000"/>
                </a:solidFill>
                <a:latin typeface="Consolas" panose="020B0609020204030204" pitchFamily="49" charset="0"/>
              </a:rPr>
              <a:t>v.Length</a:t>
            </a:r>
            <a:r>
              <a:rPr lang="pt-BR" sz="800" dirty="0">
                <a:solidFill>
                  <a:srgbClr val="000000"/>
                </a:solidFill>
                <a:latin typeface="Consolas" panose="020B0609020204030204" pitchFamily="49" charset="0"/>
              </a:rPr>
              <a:t>; j++)</a:t>
            </a:r>
          </a:p>
          <a:p>
            <a:r>
              <a:rPr lang="pt-BR" sz="800" dirty="0">
                <a:solidFill>
                  <a:srgbClr val="000000"/>
                </a:solidFill>
                <a:latin typeface="Consolas" panose="020B0609020204030204" pitchFamily="49" charset="0"/>
              </a:rPr>
              <a:t>                {</a:t>
            </a:r>
          </a:p>
          <a:p>
            <a:r>
              <a:rPr lang="en-US" sz="800" dirty="0">
                <a:solidFill>
                  <a:srgbClr val="000000"/>
                </a:solidFill>
                <a:latin typeface="Consolas" panose="020B0609020204030204" pitchFamily="49" charset="0"/>
              </a:rPr>
              <a:t>                    </a:t>
            </a:r>
            <a:r>
              <a:rPr lang="en-US" sz="800" dirty="0">
                <a:solidFill>
                  <a:srgbClr val="0000FF"/>
                </a:solidFill>
                <a:latin typeface="Consolas" panose="020B0609020204030204" pitchFamily="49" charset="0"/>
              </a:rPr>
              <a:t>if</a:t>
            </a:r>
            <a:r>
              <a:rPr lang="en-US" sz="800" dirty="0">
                <a:solidFill>
                  <a:srgbClr val="000000"/>
                </a:solidFill>
                <a:latin typeface="Consolas" panose="020B0609020204030204" pitchFamily="49" charset="0"/>
              </a:rPr>
              <a:t> (v[j] &lt; v[</a:t>
            </a:r>
            <a:r>
              <a:rPr lang="en-US" sz="800" dirty="0" err="1">
                <a:solidFill>
                  <a:srgbClr val="000000"/>
                </a:solidFill>
                <a:latin typeface="Consolas" panose="020B0609020204030204" pitchFamily="49" charset="0"/>
              </a:rPr>
              <a:t>menor</a:t>
            </a:r>
            <a:r>
              <a:rPr lang="en-US"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menor = j;</a:t>
            </a:r>
          </a:p>
          <a:p>
            <a:r>
              <a:rPr lang="pt-BR" sz="800" dirty="0">
                <a:solidFill>
                  <a:srgbClr val="000000"/>
                </a:solidFill>
                <a:latin typeface="Consolas" panose="020B0609020204030204" pitchFamily="49" charset="0"/>
              </a:rPr>
              <a:t>                }</a:t>
            </a:r>
          </a:p>
          <a:p>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if</a:t>
            </a:r>
            <a:r>
              <a:rPr lang="pt-BR" sz="800" dirty="0">
                <a:solidFill>
                  <a:srgbClr val="000000"/>
                </a:solidFill>
                <a:latin typeface="Consolas" panose="020B0609020204030204" pitchFamily="49" charset="0"/>
              </a:rPr>
              <a:t>(menor != i)</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int</a:t>
            </a:r>
            <a:r>
              <a:rPr lang="pt-BR" sz="800" dirty="0">
                <a:solidFill>
                  <a:srgbClr val="000000"/>
                </a:solidFill>
                <a:latin typeface="Consolas" panose="020B0609020204030204" pitchFamily="49" charset="0"/>
              </a:rPr>
              <a:t> </a:t>
            </a:r>
            <a:r>
              <a:rPr lang="pt-BR" sz="800" dirty="0" err="1">
                <a:solidFill>
                  <a:srgbClr val="000000"/>
                </a:solidFill>
                <a:latin typeface="Consolas" panose="020B0609020204030204" pitchFamily="49" charset="0"/>
              </a:rPr>
              <a:t>aux</a:t>
            </a:r>
            <a:r>
              <a:rPr lang="pt-BR" sz="800" dirty="0">
                <a:solidFill>
                  <a:srgbClr val="000000"/>
                </a:solidFill>
                <a:latin typeface="Consolas" panose="020B0609020204030204" pitchFamily="49" charset="0"/>
              </a:rPr>
              <a:t> = v[i];</a:t>
            </a:r>
          </a:p>
          <a:p>
            <a:r>
              <a:rPr lang="pt-BR" sz="800" dirty="0">
                <a:solidFill>
                  <a:srgbClr val="000000"/>
                </a:solidFill>
                <a:latin typeface="Consolas" panose="020B0609020204030204" pitchFamily="49" charset="0"/>
              </a:rPr>
              <a:t>                    v[i] = v[menor];</a:t>
            </a:r>
          </a:p>
          <a:p>
            <a:r>
              <a:rPr lang="pt-BR" sz="800" dirty="0">
                <a:solidFill>
                  <a:srgbClr val="000000"/>
                </a:solidFill>
                <a:latin typeface="Consolas" panose="020B0609020204030204" pitchFamily="49" charset="0"/>
              </a:rPr>
              <a:t>                    v[menor] = </a:t>
            </a:r>
            <a:r>
              <a:rPr lang="pt-BR" sz="800" dirty="0" err="1">
                <a:solidFill>
                  <a:srgbClr val="000000"/>
                </a:solidFill>
                <a:latin typeface="Consolas" panose="020B0609020204030204" pitchFamily="49" charset="0"/>
              </a:rPr>
              <a:t>aux</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p>
          <a:p>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class</a:t>
            </a:r>
            <a:r>
              <a:rPr lang="pt-BR" sz="800" dirty="0">
                <a:solidFill>
                  <a:srgbClr val="000000"/>
                </a:solidFill>
                <a:latin typeface="Consolas" panose="020B0609020204030204" pitchFamily="49" charset="0"/>
              </a:rPr>
              <a:t> </a:t>
            </a:r>
            <a:r>
              <a:rPr lang="pt-BR" sz="800" dirty="0" err="1">
                <a:solidFill>
                  <a:srgbClr val="2B91AF"/>
                </a:solidFill>
                <a:latin typeface="Consolas" panose="020B0609020204030204" pitchFamily="49" charset="0"/>
              </a:rPr>
              <a:t>InsertSort</a:t>
            </a:r>
            <a:r>
              <a:rPr lang="pt-BR" sz="800" dirty="0">
                <a:solidFill>
                  <a:srgbClr val="000000"/>
                </a:solidFill>
                <a:latin typeface="Consolas" panose="020B0609020204030204" pitchFamily="49" charset="0"/>
              </a:rPr>
              <a:t> : </a:t>
            </a:r>
            <a:r>
              <a:rPr lang="pt-BR" sz="800" dirty="0" err="1">
                <a:solidFill>
                  <a:srgbClr val="2B91AF"/>
                </a:solidFill>
                <a:latin typeface="Consolas" panose="020B0609020204030204" pitchFamily="49" charset="0"/>
              </a:rPr>
              <a:t>Ordenacao</a:t>
            </a:r>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p>
          <a:p>
            <a:r>
              <a:rPr lang="sv-SE" sz="800" dirty="0">
                <a:solidFill>
                  <a:srgbClr val="000000"/>
                </a:solidFill>
                <a:latin typeface="Consolas" panose="020B0609020204030204" pitchFamily="49" charset="0"/>
              </a:rPr>
              <a:t>        </a:t>
            </a:r>
            <a:r>
              <a:rPr lang="sv-SE" sz="800" dirty="0">
                <a:solidFill>
                  <a:srgbClr val="0000FF"/>
                </a:solidFill>
                <a:latin typeface="Consolas" panose="020B0609020204030204" pitchFamily="49" charset="0"/>
              </a:rPr>
              <a:t>public</a:t>
            </a:r>
            <a:r>
              <a:rPr lang="sv-SE" sz="800" dirty="0">
                <a:solidFill>
                  <a:srgbClr val="000000"/>
                </a:solidFill>
                <a:latin typeface="Consolas" panose="020B0609020204030204" pitchFamily="49" charset="0"/>
              </a:rPr>
              <a:t> </a:t>
            </a:r>
            <a:r>
              <a:rPr lang="sv-SE" sz="800" dirty="0">
                <a:solidFill>
                  <a:srgbClr val="0000FF"/>
                </a:solidFill>
                <a:latin typeface="Consolas" panose="020B0609020204030204" pitchFamily="49" charset="0"/>
              </a:rPr>
              <a:t>void</a:t>
            </a:r>
            <a:r>
              <a:rPr lang="sv-SE" sz="800" dirty="0">
                <a:solidFill>
                  <a:srgbClr val="000000"/>
                </a:solidFill>
                <a:latin typeface="Consolas" panose="020B0609020204030204" pitchFamily="49" charset="0"/>
              </a:rPr>
              <a:t> Ordenar(</a:t>
            </a:r>
            <a:r>
              <a:rPr lang="sv-SE" sz="800" dirty="0">
                <a:solidFill>
                  <a:srgbClr val="0000FF"/>
                </a:solidFill>
                <a:latin typeface="Consolas" panose="020B0609020204030204" pitchFamily="49" charset="0"/>
              </a:rPr>
              <a:t>int</a:t>
            </a:r>
            <a:r>
              <a:rPr lang="sv-SE" sz="800" dirty="0">
                <a:solidFill>
                  <a:srgbClr val="000000"/>
                </a:solidFill>
                <a:latin typeface="Consolas" panose="020B0609020204030204" pitchFamily="49" charset="0"/>
              </a:rPr>
              <a:t>[] v)</a:t>
            </a:r>
          </a:p>
          <a:p>
            <a:r>
              <a:rPr lang="pt-BR" sz="800" dirty="0">
                <a:solidFill>
                  <a:srgbClr val="000000"/>
                </a:solidFill>
                <a:latin typeface="Consolas" panose="020B0609020204030204" pitchFamily="49" charset="0"/>
              </a:rPr>
              <a:t>        {</a:t>
            </a:r>
          </a:p>
          <a:p>
            <a:r>
              <a:rPr lang="nn-NO" sz="800" dirty="0">
                <a:solidFill>
                  <a:srgbClr val="000000"/>
                </a:solidFill>
                <a:latin typeface="Consolas" panose="020B0609020204030204" pitchFamily="49" charset="0"/>
              </a:rPr>
              <a:t>            </a:t>
            </a:r>
            <a:r>
              <a:rPr lang="nn-NO" sz="800" dirty="0">
                <a:solidFill>
                  <a:srgbClr val="0000FF"/>
                </a:solidFill>
                <a:latin typeface="Consolas" panose="020B0609020204030204" pitchFamily="49" charset="0"/>
              </a:rPr>
              <a:t>for</a:t>
            </a:r>
            <a:r>
              <a:rPr lang="nn-NO" sz="800" dirty="0">
                <a:solidFill>
                  <a:srgbClr val="000000"/>
                </a:solidFill>
                <a:latin typeface="Consolas" panose="020B0609020204030204" pitchFamily="49" charset="0"/>
              </a:rPr>
              <a:t>(</a:t>
            </a:r>
            <a:r>
              <a:rPr lang="nn-NO" sz="800" dirty="0">
                <a:solidFill>
                  <a:srgbClr val="0000FF"/>
                </a:solidFill>
                <a:latin typeface="Consolas" panose="020B0609020204030204" pitchFamily="49" charset="0"/>
              </a:rPr>
              <a:t>int</a:t>
            </a:r>
            <a:r>
              <a:rPr lang="nn-NO" sz="800" dirty="0">
                <a:solidFill>
                  <a:srgbClr val="000000"/>
                </a:solidFill>
                <a:latin typeface="Consolas" panose="020B0609020204030204" pitchFamily="49" charset="0"/>
              </a:rPr>
              <a:t> i=1; i&lt;v.Length; i++)</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int</a:t>
            </a:r>
            <a:r>
              <a:rPr lang="pt-BR" sz="800" dirty="0">
                <a:solidFill>
                  <a:srgbClr val="000000"/>
                </a:solidFill>
                <a:latin typeface="Consolas" panose="020B0609020204030204" pitchFamily="49" charset="0"/>
              </a:rPr>
              <a:t> atual = i;</a:t>
            </a:r>
          </a:p>
          <a:p>
            <a:r>
              <a:rPr lang="nb-NO" sz="800" dirty="0">
                <a:solidFill>
                  <a:srgbClr val="000000"/>
                </a:solidFill>
                <a:latin typeface="Consolas" panose="020B0609020204030204" pitchFamily="49" charset="0"/>
              </a:rPr>
              <a:t>                </a:t>
            </a:r>
            <a:r>
              <a:rPr lang="nb-NO" sz="800" dirty="0">
                <a:solidFill>
                  <a:srgbClr val="0000FF"/>
                </a:solidFill>
                <a:latin typeface="Consolas" panose="020B0609020204030204" pitchFamily="49" charset="0"/>
              </a:rPr>
              <a:t>for</a:t>
            </a:r>
            <a:r>
              <a:rPr lang="nb-NO" sz="800" dirty="0">
                <a:solidFill>
                  <a:srgbClr val="000000"/>
                </a:solidFill>
                <a:latin typeface="Consolas" panose="020B0609020204030204" pitchFamily="49" charset="0"/>
              </a:rPr>
              <a:t>(</a:t>
            </a:r>
            <a:r>
              <a:rPr lang="nb-NO" sz="800" dirty="0">
                <a:solidFill>
                  <a:srgbClr val="0000FF"/>
                </a:solidFill>
                <a:latin typeface="Consolas" panose="020B0609020204030204" pitchFamily="49" charset="0"/>
              </a:rPr>
              <a:t>int</a:t>
            </a:r>
            <a:r>
              <a:rPr lang="nb-NO" sz="800" dirty="0">
                <a:solidFill>
                  <a:srgbClr val="000000"/>
                </a:solidFill>
                <a:latin typeface="Consolas" panose="020B0609020204030204" pitchFamily="49" charset="0"/>
              </a:rPr>
              <a:t> j= i-1; j &gt;= 0; j--)</a:t>
            </a:r>
          </a:p>
          <a:p>
            <a:r>
              <a:rPr lang="pt-BR" sz="800" dirty="0">
                <a:solidFill>
                  <a:srgbClr val="000000"/>
                </a:solidFill>
                <a:latin typeface="Consolas" panose="020B0609020204030204" pitchFamily="49" charset="0"/>
              </a:rPr>
              <a:t>                {</a:t>
            </a:r>
          </a:p>
          <a:p>
            <a:r>
              <a:rPr lang="en-US" sz="800" dirty="0">
                <a:solidFill>
                  <a:srgbClr val="000000"/>
                </a:solidFill>
                <a:latin typeface="Consolas" panose="020B0609020204030204" pitchFamily="49" charset="0"/>
              </a:rPr>
              <a:t>                    </a:t>
            </a:r>
            <a:r>
              <a:rPr lang="en-US" sz="800" dirty="0">
                <a:solidFill>
                  <a:srgbClr val="0000FF"/>
                </a:solidFill>
                <a:latin typeface="Consolas" panose="020B0609020204030204" pitchFamily="49" charset="0"/>
              </a:rPr>
              <a:t>if</a:t>
            </a:r>
            <a:r>
              <a:rPr lang="en-US" sz="800" dirty="0">
                <a:solidFill>
                  <a:srgbClr val="000000"/>
                </a:solidFill>
                <a:latin typeface="Consolas" panose="020B0609020204030204" pitchFamily="49" charset="0"/>
              </a:rPr>
              <a:t>(v[</a:t>
            </a:r>
            <a:r>
              <a:rPr lang="en-US" sz="800" dirty="0" err="1">
                <a:solidFill>
                  <a:srgbClr val="000000"/>
                </a:solidFill>
                <a:latin typeface="Consolas" panose="020B0609020204030204" pitchFamily="49" charset="0"/>
              </a:rPr>
              <a:t>atual</a:t>
            </a:r>
            <a:r>
              <a:rPr lang="en-US" sz="800" dirty="0">
                <a:solidFill>
                  <a:srgbClr val="000000"/>
                </a:solidFill>
                <a:latin typeface="Consolas" panose="020B0609020204030204" pitchFamily="49" charset="0"/>
              </a:rPr>
              <a:t>] &lt; v[j])</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int</a:t>
            </a:r>
            <a:r>
              <a:rPr lang="pt-BR" sz="800" dirty="0">
                <a:solidFill>
                  <a:srgbClr val="000000"/>
                </a:solidFill>
                <a:latin typeface="Consolas" panose="020B0609020204030204" pitchFamily="49" charset="0"/>
              </a:rPr>
              <a:t> </a:t>
            </a:r>
            <a:r>
              <a:rPr lang="pt-BR" sz="800" dirty="0" err="1">
                <a:solidFill>
                  <a:srgbClr val="000000"/>
                </a:solidFill>
                <a:latin typeface="Consolas" panose="020B0609020204030204" pitchFamily="49" charset="0"/>
              </a:rPr>
              <a:t>aux</a:t>
            </a:r>
            <a:r>
              <a:rPr lang="pt-BR" sz="800" dirty="0">
                <a:solidFill>
                  <a:srgbClr val="000000"/>
                </a:solidFill>
                <a:latin typeface="Consolas" panose="020B0609020204030204" pitchFamily="49" charset="0"/>
              </a:rPr>
              <a:t> = v[atual];</a:t>
            </a:r>
          </a:p>
          <a:p>
            <a:r>
              <a:rPr lang="pt-BR" sz="800" dirty="0">
                <a:solidFill>
                  <a:srgbClr val="000000"/>
                </a:solidFill>
                <a:latin typeface="Consolas" panose="020B0609020204030204" pitchFamily="49" charset="0"/>
              </a:rPr>
              <a:t>                        v[atual] = v[j];</a:t>
            </a:r>
          </a:p>
          <a:p>
            <a:r>
              <a:rPr lang="pt-BR" sz="800" dirty="0">
                <a:solidFill>
                  <a:srgbClr val="000000"/>
                </a:solidFill>
                <a:latin typeface="Consolas" panose="020B0609020204030204" pitchFamily="49" charset="0"/>
              </a:rPr>
              <a:t>                        v[j] = </a:t>
            </a:r>
            <a:r>
              <a:rPr lang="pt-BR" sz="800" dirty="0" err="1">
                <a:solidFill>
                  <a:srgbClr val="000000"/>
                </a:solidFill>
                <a:latin typeface="Consolas" panose="020B0609020204030204" pitchFamily="49" charset="0"/>
              </a:rPr>
              <a:t>aux</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atual--;</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r>
              <a:rPr lang="pt-BR" sz="800" dirty="0" err="1">
                <a:solidFill>
                  <a:srgbClr val="0000FF"/>
                </a:solidFill>
                <a:latin typeface="Consolas" panose="020B0609020204030204" pitchFamily="49" charset="0"/>
              </a:rPr>
              <a:t>else</a:t>
            </a:r>
            <a:endParaRPr lang="pt-BR" sz="800" dirty="0">
              <a:solidFill>
                <a:srgbClr val="000000"/>
              </a:solidFill>
              <a:latin typeface="Consolas" panose="020B0609020204030204" pitchFamily="49" charset="0"/>
            </a:endParaRP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r>
              <a:rPr lang="pt-BR" sz="800" dirty="0">
                <a:solidFill>
                  <a:srgbClr val="0000FF"/>
                </a:solidFill>
                <a:latin typeface="Consolas" panose="020B0609020204030204" pitchFamily="49" charset="0"/>
              </a:rPr>
              <a:t>break</a:t>
            </a:r>
            <a:r>
              <a:rPr lang="pt-BR" sz="800" dirty="0">
                <a:solidFill>
                  <a:srgbClr val="000000"/>
                </a:solidFill>
                <a:latin typeface="Consolas" panose="020B0609020204030204" pitchFamily="49" charset="0"/>
              </a:rPr>
              <a:t>;</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    }</a:t>
            </a:r>
          </a:p>
          <a:p>
            <a:r>
              <a:rPr lang="pt-BR" sz="800" dirty="0">
                <a:solidFill>
                  <a:srgbClr val="000000"/>
                </a:solidFill>
                <a:latin typeface="Consolas" panose="020B0609020204030204" pitchFamily="49" charset="0"/>
              </a:rPr>
              <a:t>}</a:t>
            </a:r>
            <a:endParaRPr lang="pt-BR" sz="800" dirty="0"/>
          </a:p>
        </p:txBody>
      </p:sp>
    </p:spTree>
    <p:extLst>
      <p:ext uri="{BB962C8B-B14F-4D97-AF65-F5344CB8AC3E}">
        <p14:creationId xmlns:p14="http://schemas.microsoft.com/office/powerpoint/2010/main" val="26360653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Polimorfismo</a:t>
            </a:r>
          </a:p>
        </p:txBody>
      </p:sp>
      <p:sp>
        <p:nvSpPr>
          <p:cNvPr id="3" name="Espaço Reservado para Conteúdo 2"/>
          <p:cNvSpPr>
            <a:spLocks noGrp="1"/>
          </p:cNvSpPr>
          <p:nvPr>
            <p:ph idx="1"/>
          </p:nvPr>
        </p:nvSpPr>
        <p:spPr/>
        <p:txBody>
          <a:bodyPr vert="horz" lIns="0" tIns="45720" rIns="0" bIns="45720" rtlCol="0" anchor="t">
            <a:normAutofit/>
          </a:bodyPr>
          <a:lstStyle/>
          <a:p>
            <a:r>
              <a:rPr lang="pt-BR" sz="3200" dirty="0"/>
              <a:t>Tipo 3 (Paramétrico)</a:t>
            </a:r>
          </a:p>
          <a:p>
            <a:pPr marL="383540" lvl="1"/>
            <a:r>
              <a:rPr lang="pt-BR" sz="2800" dirty="0"/>
              <a:t>Possibilidade de criar tipos genéricos (utilizam a mesma implementação para objetos de diversos tipos);</a:t>
            </a:r>
          </a:p>
          <a:p>
            <a:pPr marL="383540" lvl="1"/>
            <a:r>
              <a:rPr lang="pt-BR" sz="2800" dirty="0"/>
              <a:t>Utilizados normalmente com tipos que trabalham com coleções:</a:t>
            </a:r>
          </a:p>
          <a:p>
            <a:pPr marL="566420" lvl="2"/>
            <a:r>
              <a:rPr lang="pt-BR" sz="2000" dirty="0"/>
              <a:t>Pilha, Fila, Lista, etc.</a:t>
            </a:r>
          </a:p>
          <a:p>
            <a:pPr marL="566420" lvl="2"/>
            <a:endParaRPr lang="pt-BR" sz="2000" dirty="0"/>
          </a:p>
          <a:p>
            <a:pPr marL="383540" lvl="1"/>
            <a:r>
              <a:rPr lang="pt-BR" sz="2800" dirty="0"/>
              <a:t>Duas possibilidades:</a:t>
            </a:r>
          </a:p>
          <a:p>
            <a:pPr marL="566420" lvl="2"/>
            <a:r>
              <a:rPr lang="pt-BR" sz="2000" dirty="0"/>
              <a:t>Criação de tipos de dados genéricos;</a:t>
            </a:r>
          </a:p>
          <a:p>
            <a:pPr marL="566420" lvl="2"/>
            <a:r>
              <a:rPr lang="pt-BR" sz="2000" dirty="0"/>
              <a:t>Utilização de tipos de dados genéricos.</a:t>
            </a:r>
          </a:p>
        </p:txBody>
      </p:sp>
    </p:spTree>
    <p:extLst>
      <p:ext uri="{BB962C8B-B14F-4D97-AF65-F5344CB8AC3E}">
        <p14:creationId xmlns:p14="http://schemas.microsoft.com/office/powerpoint/2010/main" val="33816656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i="1" dirty="0" err="1"/>
              <a:t>Generics</a:t>
            </a:r>
          </a:p>
        </p:txBody>
      </p:sp>
      <p:sp>
        <p:nvSpPr>
          <p:cNvPr id="3" name="Espaço Reservado para Conteúdo 2"/>
          <p:cNvSpPr>
            <a:spLocks noGrp="1"/>
          </p:cNvSpPr>
          <p:nvPr>
            <p:ph idx="1"/>
          </p:nvPr>
        </p:nvSpPr>
        <p:spPr/>
        <p:txBody>
          <a:bodyPr vert="horz" lIns="0" tIns="45720" rIns="0" bIns="45720" rtlCol="0" anchor="t">
            <a:normAutofit fontScale="92500" lnSpcReduction="10000"/>
          </a:bodyPr>
          <a:lstStyle/>
          <a:p>
            <a:r>
              <a:rPr lang="pt-BR" sz="2800" dirty="0"/>
              <a:t>Criação:</a:t>
            </a:r>
          </a:p>
          <a:p>
            <a:endParaRPr lang="pt-BR" sz="2800" dirty="0"/>
          </a:p>
          <a:p>
            <a:endParaRPr lang="pt-BR" sz="2800" dirty="0"/>
          </a:p>
          <a:p>
            <a:endParaRPr lang="pt-BR" sz="2800" dirty="0"/>
          </a:p>
          <a:p>
            <a:endParaRPr lang="pt-BR" sz="2800" dirty="0"/>
          </a:p>
          <a:p>
            <a:endParaRPr lang="pt-BR" sz="2800" dirty="0"/>
          </a:p>
          <a:p>
            <a:endParaRPr lang="pt-BR" sz="2800" dirty="0"/>
          </a:p>
          <a:p>
            <a:r>
              <a:rPr lang="pt-BR" sz="2800" dirty="0"/>
              <a:t>T : tipo de dado genérico.</a:t>
            </a:r>
          </a:p>
        </p:txBody>
      </p:sp>
      <p:sp>
        <p:nvSpPr>
          <p:cNvPr id="4" name="Retângulo 3"/>
          <p:cNvSpPr/>
          <p:nvPr/>
        </p:nvSpPr>
        <p:spPr>
          <a:xfrm>
            <a:off x="3048000" y="2828836"/>
            <a:ext cx="6096000" cy="1200329"/>
          </a:xfrm>
          <a:prstGeom prst="rect">
            <a:avLst/>
          </a:prstGeom>
        </p:spPr>
        <p:txBody>
          <a:bodyPr>
            <a:spAutoFit/>
          </a:bodyPr>
          <a:lstStyle/>
          <a:p>
            <a:r>
              <a:rPr lang="pt-BR" dirty="0" err="1">
                <a:solidFill>
                  <a:srgbClr val="0000FF"/>
                </a:solidFill>
                <a:latin typeface="Consolas" panose="020B0609020204030204" pitchFamily="49" charset="0"/>
              </a:rPr>
              <a:t>class</a:t>
            </a:r>
            <a:r>
              <a:rPr lang="pt-BR" dirty="0">
                <a:solidFill>
                  <a:srgbClr val="000000"/>
                </a:solidFill>
                <a:latin typeface="Consolas" panose="020B0609020204030204" pitchFamily="49" charset="0"/>
              </a:rPr>
              <a:t> </a:t>
            </a:r>
            <a:r>
              <a:rPr lang="pt-BR" dirty="0" err="1">
                <a:solidFill>
                  <a:srgbClr val="2B91AF"/>
                </a:solidFill>
                <a:latin typeface="Consolas" panose="020B0609020204030204" pitchFamily="49" charset="0"/>
              </a:rPr>
              <a:t>NomeClasse</a:t>
            </a:r>
            <a:r>
              <a:rPr lang="pt-BR" dirty="0">
                <a:solidFill>
                  <a:srgbClr val="000000"/>
                </a:solidFill>
                <a:latin typeface="Consolas" panose="020B0609020204030204" pitchFamily="49" charset="0"/>
              </a:rPr>
              <a:t>&lt;</a:t>
            </a:r>
            <a:r>
              <a:rPr lang="pt-BR" dirty="0">
                <a:solidFill>
                  <a:srgbClr val="2B91AF"/>
                </a:solidFill>
                <a:latin typeface="Consolas" panose="020B0609020204030204" pitchFamily="49" charset="0"/>
              </a:rPr>
              <a:t>T</a:t>
            </a:r>
            <a:r>
              <a:rPr lang="pt-BR" dirty="0">
                <a:solidFill>
                  <a:srgbClr val="000000"/>
                </a:solidFill>
                <a:latin typeface="Consolas" panose="020B0609020204030204" pitchFamily="49" charset="0"/>
              </a:rPr>
              <a:t>&gt;</a:t>
            </a:r>
          </a:p>
          <a:p>
            <a:r>
              <a:rPr lang="pt-BR" dirty="0">
                <a:solidFill>
                  <a:srgbClr val="000000"/>
                </a:solidFill>
                <a:latin typeface="Consolas" panose="020B0609020204030204" pitchFamily="49" charset="0"/>
              </a:rPr>
              <a:t>{</a:t>
            </a:r>
          </a:p>
          <a:p>
            <a:endParaRPr lang="pt-BR" dirty="0">
              <a:solidFill>
                <a:srgbClr val="000000"/>
              </a:solidFill>
              <a:latin typeface="Consolas" panose="020B0609020204030204" pitchFamily="49" charset="0"/>
            </a:endParaRPr>
          </a:p>
          <a:p>
            <a:r>
              <a:rPr lang="pt-BR" dirty="0">
                <a:solidFill>
                  <a:srgbClr val="000000"/>
                </a:solidFill>
                <a:latin typeface="Consolas" panose="020B0609020204030204" pitchFamily="49" charset="0"/>
              </a:rPr>
              <a:t>}</a:t>
            </a:r>
            <a:endParaRPr lang="pt-BR" dirty="0"/>
          </a:p>
        </p:txBody>
      </p:sp>
    </p:spTree>
    <p:extLst>
      <p:ext uri="{BB962C8B-B14F-4D97-AF65-F5344CB8AC3E}">
        <p14:creationId xmlns:p14="http://schemas.microsoft.com/office/powerpoint/2010/main" val="17817389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Exemplo</a:t>
            </a:r>
          </a:p>
        </p:txBody>
      </p:sp>
      <p:sp>
        <p:nvSpPr>
          <p:cNvPr id="3" name="Espaço Reservado para Conteúdo 2"/>
          <p:cNvSpPr>
            <a:spLocks noGrp="1"/>
          </p:cNvSpPr>
          <p:nvPr>
            <p:ph idx="1"/>
          </p:nvPr>
        </p:nvSpPr>
        <p:spPr/>
        <p:txBody>
          <a:bodyPr vert="horz" lIns="0" tIns="45720" rIns="0" bIns="45720" rtlCol="0" anchor="t">
            <a:normAutofit/>
          </a:bodyPr>
          <a:lstStyle/>
          <a:p>
            <a:r>
              <a:rPr lang="pt-BR" sz="2800" dirty="0"/>
              <a:t>Classe Aluno em que o identificador pode ser inteiro ou </a:t>
            </a:r>
            <a:r>
              <a:rPr lang="pt-BR" sz="2800" dirty="0" err="1"/>
              <a:t>string</a:t>
            </a:r>
            <a:r>
              <a:rPr lang="pt-BR" sz="2800" dirty="0"/>
              <a:t>.</a:t>
            </a:r>
          </a:p>
        </p:txBody>
      </p:sp>
      <p:sp>
        <p:nvSpPr>
          <p:cNvPr id="6" name="Retângulo 5"/>
          <p:cNvSpPr/>
          <p:nvPr/>
        </p:nvSpPr>
        <p:spPr>
          <a:xfrm>
            <a:off x="271173" y="2783264"/>
            <a:ext cx="6096000" cy="2893100"/>
          </a:xfrm>
          <a:prstGeom prst="rect">
            <a:avLst/>
          </a:prstGeom>
        </p:spPr>
        <p:txBody>
          <a:bodyPr>
            <a:spAutoFit/>
          </a:bodyPr>
          <a:lstStyle/>
          <a:p>
            <a:r>
              <a:rPr lang="pt-BR" sz="1600" dirty="0" err="1">
                <a:solidFill>
                  <a:srgbClr val="0000FF"/>
                </a:solidFill>
                <a:latin typeface="Consolas" panose="020B0609020204030204" pitchFamily="49" charset="0"/>
              </a:rPr>
              <a:t>public</a:t>
            </a:r>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class</a:t>
            </a:r>
            <a:r>
              <a:rPr lang="pt-BR" sz="1600" dirty="0">
                <a:solidFill>
                  <a:srgbClr val="000000"/>
                </a:solidFill>
                <a:latin typeface="Consolas" panose="020B0609020204030204" pitchFamily="49" charset="0"/>
              </a:rPr>
              <a:t> </a:t>
            </a:r>
            <a:r>
              <a:rPr lang="pt-BR" sz="1600" dirty="0">
                <a:solidFill>
                  <a:srgbClr val="2B91AF"/>
                </a:solidFill>
                <a:latin typeface="Consolas" panose="020B0609020204030204" pitchFamily="49" charset="0"/>
              </a:rPr>
              <a:t>Aluno</a:t>
            </a:r>
            <a:r>
              <a:rPr lang="pt-BR" sz="1600" dirty="0">
                <a:solidFill>
                  <a:srgbClr val="000000"/>
                </a:solidFill>
                <a:latin typeface="Consolas" panose="020B0609020204030204" pitchFamily="49" charset="0"/>
              </a:rPr>
              <a:t>&lt;</a:t>
            </a:r>
            <a:r>
              <a:rPr lang="pt-BR" sz="1600" dirty="0">
                <a:solidFill>
                  <a:srgbClr val="2B91AF"/>
                </a:solidFill>
                <a:latin typeface="Consolas" panose="020B0609020204030204" pitchFamily="49" charset="0"/>
              </a:rPr>
              <a:t>T</a:t>
            </a:r>
            <a:r>
              <a:rPr lang="pt-BR" sz="1600" dirty="0">
                <a:solidFill>
                  <a:srgbClr val="000000"/>
                </a:solidFill>
                <a:latin typeface="Consolas" panose="020B0609020204030204" pitchFamily="49" charset="0"/>
              </a:rPr>
              <a:t>&gt;</a:t>
            </a:r>
          </a:p>
          <a:p>
            <a:r>
              <a:rPr lang="pt-BR" sz="1600" dirty="0">
                <a:solidFill>
                  <a:srgbClr val="000000"/>
                </a:solidFill>
                <a:latin typeface="Consolas" panose="020B0609020204030204" pitchFamily="49" charset="0"/>
              </a:rPr>
              <a:t>{</a:t>
            </a:r>
          </a:p>
          <a:p>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public</a:t>
            </a:r>
            <a:r>
              <a:rPr lang="pt-BR" sz="1600" dirty="0">
                <a:solidFill>
                  <a:srgbClr val="000000"/>
                </a:solidFill>
                <a:latin typeface="Consolas" panose="020B0609020204030204" pitchFamily="49" charset="0"/>
              </a:rPr>
              <a:t> </a:t>
            </a:r>
            <a:r>
              <a:rPr lang="pt-BR" sz="1600" dirty="0">
                <a:solidFill>
                  <a:srgbClr val="2B91AF"/>
                </a:solidFill>
                <a:latin typeface="Consolas" panose="020B0609020204030204" pitchFamily="49" charset="0"/>
              </a:rPr>
              <a:t>T</a:t>
            </a:r>
            <a:r>
              <a:rPr lang="pt-BR" sz="1600" dirty="0">
                <a:solidFill>
                  <a:srgbClr val="000000"/>
                </a:solidFill>
                <a:latin typeface="Consolas" panose="020B0609020204030204" pitchFamily="49" charset="0"/>
              </a:rPr>
              <a:t> Identificador;</a:t>
            </a:r>
          </a:p>
          <a:p>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public</a:t>
            </a:r>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string</a:t>
            </a:r>
            <a:r>
              <a:rPr lang="pt-BR" sz="1600" dirty="0">
                <a:solidFill>
                  <a:srgbClr val="000000"/>
                </a:solidFill>
                <a:latin typeface="Consolas" panose="020B0609020204030204" pitchFamily="49" charset="0"/>
              </a:rPr>
              <a:t> Nome;</a:t>
            </a:r>
          </a:p>
          <a:p>
            <a:endParaRPr lang="pt-BR"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Aluno</a:t>
            </a:r>
            <a:r>
              <a:rPr lang="en-US" sz="1600" dirty="0">
                <a:solidFill>
                  <a:srgbClr val="000000"/>
                </a:solidFill>
                <a:latin typeface="Consolas" panose="020B0609020204030204" pitchFamily="49" charset="0"/>
              </a:rPr>
              <a:t>(</a:t>
            </a:r>
            <a:r>
              <a:rPr lang="en-US" sz="1600" dirty="0">
                <a:solidFill>
                  <a:srgbClr val="2B91AF"/>
                </a:solidFill>
                <a:latin typeface="Consolas" panose="020B0609020204030204" pitchFamily="49" charset="0"/>
              </a:rPr>
              <a:t>T</a:t>
            </a:r>
            <a:r>
              <a:rPr lang="en-US" sz="1600" dirty="0">
                <a:solidFill>
                  <a:srgbClr val="000000"/>
                </a:solidFill>
                <a:latin typeface="Consolas" panose="020B0609020204030204" pitchFamily="49" charset="0"/>
              </a:rPr>
              <a:t> ID, </a:t>
            </a:r>
            <a:r>
              <a:rPr lang="en-US" sz="1600" dirty="0">
                <a:solidFill>
                  <a:srgbClr val="0000FF"/>
                </a:solidFill>
                <a:latin typeface="Consolas" panose="020B0609020204030204" pitchFamily="49" charset="0"/>
              </a:rPr>
              <a:t>string</a:t>
            </a:r>
            <a:r>
              <a:rPr lang="en-US" sz="1600" dirty="0">
                <a:solidFill>
                  <a:srgbClr val="000000"/>
                </a:solidFill>
                <a:latin typeface="Consolas" panose="020B0609020204030204" pitchFamily="49" charset="0"/>
              </a:rPr>
              <a:t> Name)</a:t>
            </a:r>
          </a:p>
          <a:p>
            <a:r>
              <a:rPr lang="pt-BR" sz="1600" dirty="0">
                <a:solidFill>
                  <a:srgbClr val="000000"/>
                </a:solidFill>
                <a:latin typeface="Consolas" panose="020B0609020204030204" pitchFamily="49" charset="0"/>
              </a:rPr>
              <a:t>        {</a:t>
            </a:r>
          </a:p>
          <a:p>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this</a:t>
            </a:r>
            <a:r>
              <a:rPr lang="pt-BR" sz="1600" dirty="0" err="1">
                <a:solidFill>
                  <a:srgbClr val="000000"/>
                </a:solidFill>
                <a:latin typeface="Consolas" panose="020B0609020204030204" pitchFamily="49" charset="0"/>
              </a:rPr>
              <a:t>.Identificador</a:t>
            </a:r>
            <a:r>
              <a:rPr lang="pt-BR" sz="1600" dirty="0">
                <a:solidFill>
                  <a:srgbClr val="000000"/>
                </a:solidFill>
                <a:latin typeface="Consolas" panose="020B0609020204030204" pitchFamily="49" charset="0"/>
              </a:rPr>
              <a:t> = ID;</a:t>
            </a:r>
          </a:p>
          <a:p>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this</a:t>
            </a:r>
            <a:r>
              <a:rPr lang="pt-BR" sz="1600" dirty="0" err="1">
                <a:solidFill>
                  <a:srgbClr val="000000"/>
                </a:solidFill>
                <a:latin typeface="Consolas" panose="020B0609020204030204" pitchFamily="49" charset="0"/>
              </a:rPr>
              <a:t>.Nome</a:t>
            </a:r>
            <a:r>
              <a:rPr lang="pt-BR" sz="1600" dirty="0">
                <a:solidFill>
                  <a:srgbClr val="000000"/>
                </a:solidFill>
                <a:latin typeface="Consolas" panose="020B0609020204030204" pitchFamily="49" charset="0"/>
              </a:rPr>
              <a:t> = </a:t>
            </a:r>
            <a:r>
              <a:rPr lang="pt-BR" sz="1600" dirty="0" err="1">
                <a:solidFill>
                  <a:srgbClr val="000000"/>
                </a:solidFill>
                <a:latin typeface="Consolas" panose="020B0609020204030204" pitchFamily="49" charset="0"/>
              </a:rPr>
              <a:t>Name</a:t>
            </a:r>
            <a:r>
              <a:rPr lang="pt-BR" sz="1600" dirty="0">
                <a:solidFill>
                  <a:srgbClr val="000000"/>
                </a:solidFill>
                <a:latin typeface="Consolas" panose="020B0609020204030204" pitchFamily="49" charset="0"/>
              </a:rPr>
              <a:t>;</a:t>
            </a:r>
          </a:p>
          <a:p>
            <a:r>
              <a:rPr lang="pt-BR" sz="1600" dirty="0">
                <a:solidFill>
                  <a:srgbClr val="000000"/>
                </a:solidFill>
                <a:latin typeface="Consolas" panose="020B0609020204030204" pitchFamily="49" charset="0"/>
              </a:rPr>
              <a:t>        }</a:t>
            </a:r>
          </a:p>
          <a:p>
            <a:r>
              <a:rPr lang="pt-BR" sz="1600" dirty="0">
                <a:solidFill>
                  <a:srgbClr val="000000"/>
                </a:solidFill>
                <a:latin typeface="Consolas" panose="020B0609020204030204" pitchFamily="49" charset="0"/>
              </a:rPr>
              <a:t>}</a:t>
            </a:r>
            <a:endParaRPr lang="pt-BR" sz="1600" dirty="0"/>
          </a:p>
        </p:txBody>
      </p:sp>
      <p:sp>
        <p:nvSpPr>
          <p:cNvPr id="7" name="Retângulo 6"/>
          <p:cNvSpPr/>
          <p:nvPr/>
        </p:nvSpPr>
        <p:spPr>
          <a:xfrm>
            <a:off x="4865916" y="2872305"/>
            <a:ext cx="7445828" cy="2062103"/>
          </a:xfrm>
          <a:prstGeom prst="rect">
            <a:avLst/>
          </a:prstGeom>
        </p:spPr>
        <p:txBody>
          <a:bodyPr wrap="square">
            <a:spAutoFit/>
          </a:bodyPr>
          <a:lstStyle/>
          <a:p>
            <a:r>
              <a:rPr lang="pt-BR" sz="1600" dirty="0" err="1">
                <a:solidFill>
                  <a:srgbClr val="0000FF"/>
                </a:solidFill>
                <a:latin typeface="Consolas" panose="020B0609020204030204" pitchFamily="49" charset="0"/>
              </a:rPr>
              <a:t>class</a:t>
            </a:r>
            <a:r>
              <a:rPr lang="pt-BR" sz="1600" dirty="0">
                <a:solidFill>
                  <a:srgbClr val="000000"/>
                </a:solidFill>
                <a:latin typeface="Consolas" panose="020B0609020204030204" pitchFamily="49" charset="0"/>
              </a:rPr>
              <a:t> </a:t>
            </a:r>
            <a:r>
              <a:rPr lang="pt-BR" sz="1600" dirty="0" err="1">
                <a:solidFill>
                  <a:srgbClr val="2B91AF"/>
                </a:solidFill>
                <a:latin typeface="Consolas" panose="020B0609020204030204" pitchFamily="49" charset="0"/>
              </a:rPr>
              <a:t>Program</a:t>
            </a:r>
            <a:endParaRPr lang="pt-BR" sz="1600" dirty="0">
              <a:solidFill>
                <a:srgbClr val="000000"/>
              </a:solidFill>
              <a:latin typeface="Consolas" panose="020B0609020204030204" pitchFamily="49" charset="0"/>
            </a:endParaRPr>
          </a:p>
          <a:p>
            <a:r>
              <a:rPr lang="pt-BR" sz="1600" dirty="0">
                <a:solidFill>
                  <a:srgbClr val="000000"/>
                </a:solidFill>
                <a:latin typeface="Consolas" panose="020B0609020204030204" pitchFamily="49" charset="0"/>
              </a:rPr>
              <a:t>{</a:t>
            </a:r>
          </a:p>
          <a:p>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static</a:t>
            </a:r>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void</a:t>
            </a:r>
            <a:r>
              <a:rPr lang="pt-BR" sz="1600" dirty="0">
                <a:solidFill>
                  <a:srgbClr val="000000"/>
                </a:solidFill>
                <a:latin typeface="Consolas" panose="020B0609020204030204" pitchFamily="49" charset="0"/>
              </a:rPr>
              <a:t> </a:t>
            </a:r>
            <a:r>
              <a:rPr lang="pt-BR" sz="1600" dirty="0" err="1">
                <a:solidFill>
                  <a:srgbClr val="000000"/>
                </a:solidFill>
                <a:latin typeface="Consolas" panose="020B0609020204030204" pitchFamily="49" charset="0"/>
              </a:rPr>
              <a:t>Main</a:t>
            </a:r>
            <a:r>
              <a:rPr lang="pt-BR" sz="1600" dirty="0">
                <a:solidFill>
                  <a:srgbClr val="000000"/>
                </a:solidFill>
                <a:latin typeface="Consolas" panose="020B0609020204030204" pitchFamily="49" charset="0"/>
              </a:rPr>
              <a:t>(</a:t>
            </a:r>
            <a:r>
              <a:rPr lang="pt-BR" sz="1600" dirty="0" err="1">
                <a:solidFill>
                  <a:srgbClr val="0000FF"/>
                </a:solidFill>
                <a:latin typeface="Consolas" panose="020B0609020204030204" pitchFamily="49" charset="0"/>
              </a:rPr>
              <a:t>string</a:t>
            </a:r>
            <a:r>
              <a:rPr lang="pt-BR" sz="1600" dirty="0">
                <a:solidFill>
                  <a:srgbClr val="000000"/>
                </a:solidFill>
                <a:latin typeface="Consolas" panose="020B0609020204030204" pitchFamily="49" charset="0"/>
              </a:rPr>
              <a:t>[] </a:t>
            </a:r>
            <a:r>
              <a:rPr lang="pt-BR" sz="1600" dirty="0" err="1">
                <a:solidFill>
                  <a:srgbClr val="000000"/>
                </a:solidFill>
                <a:latin typeface="Consolas" panose="020B0609020204030204" pitchFamily="49" charset="0"/>
              </a:rPr>
              <a:t>args</a:t>
            </a:r>
            <a:r>
              <a:rPr lang="pt-BR" sz="1600" dirty="0">
                <a:solidFill>
                  <a:srgbClr val="000000"/>
                </a:solidFill>
                <a:latin typeface="Consolas" panose="020B0609020204030204" pitchFamily="49" charset="0"/>
              </a:rPr>
              <a:t>)</a:t>
            </a:r>
          </a:p>
          <a:p>
            <a:r>
              <a:rPr lang="pt-BR" sz="1600" dirty="0">
                <a:solidFill>
                  <a:srgbClr val="000000"/>
                </a:solidFill>
                <a:latin typeface="Consolas" panose="020B0609020204030204" pitchFamily="49" charset="0"/>
              </a:rPr>
              <a:t>   {</a:t>
            </a:r>
          </a:p>
          <a:p>
            <a:r>
              <a:rPr lang="pt-BR" sz="1600" dirty="0">
                <a:solidFill>
                  <a:srgbClr val="000000"/>
                </a:solidFill>
                <a:latin typeface="Consolas" panose="020B0609020204030204" pitchFamily="49" charset="0"/>
              </a:rPr>
              <a:t>       Aluno&lt;</a:t>
            </a:r>
            <a:r>
              <a:rPr lang="pt-BR" sz="1600" dirty="0" err="1">
                <a:solidFill>
                  <a:srgbClr val="0000FF"/>
                </a:solidFill>
                <a:latin typeface="Consolas" panose="020B0609020204030204" pitchFamily="49" charset="0"/>
              </a:rPr>
              <a:t>string</a:t>
            </a:r>
            <a:r>
              <a:rPr lang="pt-BR" sz="1600" dirty="0">
                <a:solidFill>
                  <a:srgbClr val="000000"/>
                </a:solidFill>
                <a:latin typeface="Consolas" panose="020B0609020204030204" pitchFamily="49" charset="0"/>
              </a:rPr>
              <a:t>&gt; </a:t>
            </a:r>
            <a:r>
              <a:rPr lang="pt-BR" sz="1600" dirty="0" err="1">
                <a:solidFill>
                  <a:srgbClr val="000000"/>
                </a:solidFill>
                <a:latin typeface="Consolas" panose="020B0609020204030204" pitchFamily="49" charset="0"/>
              </a:rPr>
              <a:t>aString</a:t>
            </a:r>
            <a:r>
              <a:rPr lang="pt-BR" sz="1600" dirty="0">
                <a:solidFill>
                  <a:srgbClr val="000000"/>
                </a:solidFill>
                <a:latin typeface="Consolas" panose="020B0609020204030204" pitchFamily="49" charset="0"/>
              </a:rPr>
              <a:t> = </a:t>
            </a:r>
            <a:r>
              <a:rPr lang="pt-BR" sz="1600" dirty="0">
                <a:solidFill>
                  <a:srgbClr val="0000FF"/>
                </a:solidFill>
                <a:latin typeface="Consolas" panose="020B0609020204030204" pitchFamily="49" charset="0"/>
              </a:rPr>
              <a:t>new</a:t>
            </a:r>
            <a:r>
              <a:rPr lang="pt-BR" sz="1600" dirty="0">
                <a:solidFill>
                  <a:srgbClr val="000000"/>
                </a:solidFill>
                <a:latin typeface="Consolas" panose="020B0609020204030204" pitchFamily="49" charset="0"/>
              </a:rPr>
              <a:t> Aluno&lt;</a:t>
            </a:r>
            <a:r>
              <a:rPr lang="pt-BR" sz="1600" dirty="0" err="1">
                <a:solidFill>
                  <a:srgbClr val="0000FF"/>
                </a:solidFill>
                <a:latin typeface="Consolas" panose="020B0609020204030204" pitchFamily="49" charset="0"/>
              </a:rPr>
              <a:t>string</a:t>
            </a:r>
            <a:r>
              <a:rPr lang="pt-BR" sz="1600" dirty="0">
                <a:solidFill>
                  <a:srgbClr val="000000"/>
                </a:solidFill>
                <a:latin typeface="Consolas" panose="020B0609020204030204" pitchFamily="49" charset="0"/>
              </a:rPr>
              <a:t>&gt;(</a:t>
            </a:r>
            <a:r>
              <a:rPr lang="pt-BR" sz="1600" dirty="0">
                <a:solidFill>
                  <a:srgbClr val="A31515"/>
                </a:solidFill>
                <a:latin typeface="Consolas" panose="020B0609020204030204" pitchFamily="49" charset="0"/>
              </a:rPr>
              <a:t>“12X"</a:t>
            </a:r>
            <a:r>
              <a:rPr lang="pt-BR" sz="1600" dirty="0">
                <a:solidFill>
                  <a:srgbClr val="000000"/>
                </a:solidFill>
                <a:latin typeface="Consolas" panose="020B0609020204030204" pitchFamily="49" charset="0"/>
              </a:rPr>
              <a:t>, </a:t>
            </a:r>
            <a:r>
              <a:rPr lang="pt-BR" sz="1600" dirty="0">
                <a:solidFill>
                  <a:srgbClr val="A31515"/>
                </a:solidFill>
                <a:latin typeface="Consolas" panose="020B0609020204030204" pitchFamily="49" charset="0"/>
              </a:rPr>
              <a:t>"Tiago"</a:t>
            </a:r>
            <a:r>
              <a:rPr lang="pt-BR"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Aluno</a:t>
            </a:r>
            <a:r>
              <a:rPr lang="en-US" sz="1600" dirty="0">
                <a:solidFill>
                  <a:srgbClr val="000000"/>
                </a:solidFill>
                <a:latin typeface="Consolas" panose="020B0609020204030204" pitchFamily="49" charset="0"/>
              </a:rPr>
              <a:t>&lt;</a:t>
            </a:r>
            <a:r>
              <a:rPr lang="en-US" sz="1600" dirty="0" err="1">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&gt; </a:t>
            </a:r>
            <a:r>
              <a:rPr lang="en-US" sz="1600" dirty="0" err="1">
                <a:solidFill>
                  <a:srgbClr val="000000"/>
                </a:solidFill>
                <a:latin typeface="Consolas" panose="020B0609020204030204" pitchFamily="49" charset="0"/>
              </a:rPr>
              <a:t>aInt</a:t>
            </a:r>
            <a:r>
              <a:rPr lang="en-US" sz="1600" dirty="0">
                <a:solidFill>
                  <a:srgbClr val="000000"/>
                </a:solidFill>
                <a:latin typeface="Consolas" panose="020B0609020204030204" pitchFamily="49" charset="0"/>
              </a:rPr>
              <a:t> = </a:t>
            </a:r>
            <a:r>
              <a:rPr lang="en-US" sz="1600" dirty="0">
                <a:solidFill>
                  <a:srgbClr val="0000FF"/>
                </a:solidFill>
                <a:latin typeface="Consolas" panose="020B0609020204030204" pitchFamily="49" charset="0"/>
              </a:rPr>
              <a:t>new</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Aluno</a:t>
            </a:r>
            <a:r>
              <a:rPr lang="en-US" sz="1600" dirty="0">
                <a:solidFill>
                  <a:srgbClr val="000000"/>
                </a:solidFill>
                <a:latin typeface="Consolas" panose="020B0609020204030204" pitchFamily="49" charset="0"/>
              </a:rPr>
              <a:t>&lt;</a:t>
            </a:r>
            <a:r>
              <a:rPr lang="en-US" sz="1600" dirty="0" err="1">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&gt;(2, </a:t>
            </a:r>
            <a:r>
              <a:rPr lang="en-US" sz="1600" dirty="0">
                <a:solidFill>
                  <a:srgbClr val="A31515"/>
                </a:solidFill>
                <a:latin typeface="Consolas" panose="020B0609020204030204" pitchFamily="49" charset="0"/>
              </a:rPr>
              <a:t>"Tiago"</a:t>
            </a:r>
            <a:r>
              <a:rPr lang="en-US" sz="1600" dirty="0">
                <a:solidFill>
                  <a:srgbClr val="000000"/>
                </a:solidFill>
                <a:latin typeface="Consolas" panose="020B0609020204030204" pitchFamily="49" charset="0"/>
              </a:rPr>
              <a:t>);</a:t>
            </a:r>
          </a:p>
          <a:p>
            <a:r>
              <a:rPr lang="pt-BR" sz="1600" dirty="0">
                <a:solidFill>
                  <a:srgbClr val="000000"/>
                </a:solidFill>
                <a:latin typeface="Consolas" panose="020B0609020204030204" pitchFamily="49" charset="0"/>
              </a:rPr>
              <a:t>   }</a:t>
            </a:r>
          </a:p>
          <a:p>
            <a:r>
              <a:rPr lang="pt-BR" sz="1600" dirty="0">
                <a:solidFill>
                  <a:srgbClr val="000000"/>
                </a:solidFill>
                <a:latin typeface="Consolas" panose="020B0609020204030204" pitchFamily="49" charset="0"/>
              </a:rPr>
              <a:t>}</a:t>
            </a:r>
            <a:endParaRPr lang="pt-BR" sz="1600" dirty="0"/>
          </a:p>
        </p:txBody>
      </p:sp>
    </p:spTree>
    <p:extLst>
      <p:ext uri="{BB962C8B-B14F-4D97-AF65-F5344CB8AC3E}">
        <p14:creationId xmlns:p14="http://schemas.microsoft.com/office/powerpoint/2010/main" val="10415170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i="1" dirty="0" err="1"/>
              <a:t>Generics</a:t>
            </a:r>
            <a:endParaRPr lang="pt-BR" dirty="0" err="1"/>
          </a:p>
        </p:txBody>
      </p:sp>
      <p:sp>
        <p:nvSpPr>
          <p:cNvPr id="3" name="Espaço Reservado para Conteúdo 2"/>
          <p:cNvSpPr>
            <a:spLocks noGrp="1"/>
          </p:cNvSpPr>
          <p:nvPr>
            <p:ph idx="1"/>
          </p:nvPr>
        </p:nvSpPr>
        <p:spPr/>
        <p:txBody>
          <a:bodyPr vert="horz" lIns="0" tIns="45720" rIns="0" bIns="45720" rtlCol="0" anchor="t">
            <a:normAutofit/>
          </a:bodyPr>
          <a:lstStyle/>
          <a:p>
            <a:r>
              <a:rPr lang="pt-BR" sz="2800" dirty="0" err="1"/>
              <a:t>List</a:t>
            </a:r>
            <a:r>
              <a:rPr lang="pt-BR" sz="2800" dirty="0"/>
              <a:t> - Lista</a:t>
            </a:r>
          </a:p>
          <a:p>
            <a:r>
              <a:rPr lang="pt-BR" sz="2800" dirty="0" err="1"/>
              <a:t>LinkedList</a:t>
            </a:r>
            <a:r>
              <a:rPr lang="pt-BR" sz="2800" dirty="0"/>
              <a:t> – Lista duplamente encadeada</a:t>
            </a:r>
          </a:p>
          <a:p>
            <a:r>
              <a:rPr lang="pt-BR" sz="2800" dirty="0" err="1"/>
              <a:t>Stack</a:t>
            </a:r>
            <a:r>
              <a:rPr lang="pt-BR" sz="2800" dirty="0"/>
              <a:t> - Pilha</a:t>
            </a:r>
          </a:p>
          <a:p>
            <a:r>
              <a:rPr lang="pt-BR" sz="2800" dirty="0" err="1"/>
              <a:t>Queue</a:t>
            </a:r>
            <a:r>
              <a:rPr lang="pt-BR" sz="2800" dirty="0"/>
              <a:t> – Fila</a:t>
            </a:r>
          </a:p>
          <a:p>
            <a:r>
              <a:rPr lang="pt-BR" sz="2800" dirty="0" err="1"/>
              <a:t>Dictionary</a:t>
            </a:r>
            <a:r>
              <a:rPr lang="pt-BR" sz="2800" dirty="0"/>
              <a:t> - Tabela de dispersão</a:t>
            </a:r>
          </a:p>
          <a:p>
            <a:endParaRPr lang="pt-BR" sz="2800" dirty="0"/>
          </a:p>
        </p:txBody>
      </p:sp>
    </p:spTree>
    <p:extLst>
      <p:ext uri="{BB962C8B-B14F-4D97-AF65-F5344CB8AC3E}">
        <p14:creationId xmlns:p14="http://schemas.microsoft.com/office/powerpoint/2010/main" val="319055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D14533-DD42-4DE2-9D1A-1A0EE6373943}"/>
              </a:ext>
            </a:extLst>
          </p:cNvPr>
          <p:cNvSpPr>
            <a:spLocks noGrp="1"/>
          </p:cNvSpPr>
          <p:nvPr>
            <p:ph type="title"/>
          </p:nvPr>
        </p:nvSpPr>
        <p:spPr/>
        <p:txBody>
          <a:bodyPr/>
          <a:lstStyle/>
          <a:p>
            <a:r>
              <a:rPr lang="pt-BR" dirty="0"/>
              <a:t>Exercício</a:t>
            </a:r>
          </a:p>
        </p:txBody>
      </p:sp>
      <p:sp>
        <p:nvSpPr>
          <p:cNvPr id="3" name="Espaço Reservado para Conteúdo 2">
            <a:extLst>
              <a:ext uri="{FF2B5EF4-FFF2-40B4-BE49-F238E27FC236}">
                <a16:creationId xmlns:a16="http://schemas.microsoft.com/office/drawing/2014/main" id="{F0E978FC-F088-4508-8CB1-92580609CC95}"/>
              </a:ext>
            </a:extLst>
          </p:cNvPr>
          <p:cNvSpPr>
            <a:spLocks noGrp="1"/>
          </p:cNvSpPr>
          <p:nvPr>
            <p:ph idx="1"/>
          </p:nvPr>
        </p:nvSpPr>
        <p:spPr>
          <a:xfrm>
            <a:off x="124287" y="1845733"/>
            <a:ext cx="11958222" cy="1583267"/>
          </a:xfrm>
        </p:spPr>
        <p:txBody>
          <a:bodyPr>
            <a:normAutofit/>
          </a:bodyPr>
          <a:lstStyle/>
          <a:p>
            <a:pPr algn="just"/>
            <a:r>
              <a:rPr lang="pt-BR" sz="2000" b="0" i="0" dirty="0">
                <a:solidFill>
                  <a:srgbClr val="495057"/>
                </a:solidFill>
                <a:effectLst/>
                <a:latin typeface="-apple-system"/>
              </a:rPr>
              <a:t>Um sistema possui dois tipos de usuário: administradores e clientes, dos quais são conhecidos nome de usuário e senha. Administradores devem possuir nome de usuário terminado pelo caractere "X". Escreva um programa que leia o nome de usuário e senha de um usuário, e chame um método chamado </a:t>
            </a:r>
            <a:r>
              <a:rPr lang="pt-BR" sz="2000" b="0" i="0" dirty="0" err="1">
                <a:solidFill>
                  <a:srgbClr val="495057"/>
                </a:solidFill>
                <a:effectLst/>
                <a:latin typeface="-apple-system"/>
              </a:rPr>
              <a:t>EntrarNoSistema</a:t>
            </a:r>
            <a:r>
              <a:rPr lang="pt-BR" sz="2000" b="0" i="0" dirty="0">
                <a:solidFill>
                  <a:srgbClr val="495057"/>
                </a:solidFill>
                <a:effectLst/>
                <a:latin typeface="-apple-system"/>
              </a:rPr>
              <a:t>() para verificar se este usuário pode se autenticar no sistema. Não usar o operador "IS". Considere o código a seguir já implementado:</a:t>
            </a:r>
            <a:endParaRPr lang="pt-BR" sz="2400" dirty="0"/>
          </a:p>
        </p:txBody>
      </p:sp>
      <p:sp>
        <p:nvSpPr>
          <p:cNvPr id="5" name="CaixaDeTexto 4">
            <a:extLst>
              <a:ext uri="{FF2B5EF4-FFF2-40B4-BE49-F238E27FC236}">
                <a16:creationId xmlns:a16="http://schemas.microsoft.com/office/drawing/2014/main" id="{B1DAD44F-8B5B-4E3F-800A-02F052928A38}"/>
              </a:ext>
            </a:extLst>
          </p:cNvPr>
          <p:cNvSpPr txBox="1"/>
          <p:nvPr/>
        </p:nvSpPr>
        <p:spPr>
          <a:xfrm>
            <a:off x="0" y="3429000"/>
            <a:ext cx="13134514" cy="2893100"/>
          </a:xfrm>
          <a:prstGeom prst="rect">
            <a:avLst/>
          </a:prstGeom>
          <a:noFill/>
        </p:spPr>
        <p:txBody>
          <a:bodyPr wrap="square">
            <a:spAutoFit/>
          </a:bodyPr>
          <a:lstStyle/>
          <a:p>
            <a:pPr algn="l"/>
            <a:r>
              <a:rPr lang="pt-BR" sz="1600" b="0" i="0" dirty="0" err="1">
                <a:solidFill>
                  <a:srgbClr val="495057"/>
                </a:solidFill>
                <a:effectLst/>
                <a:latin typeface="-apple-system"/>
              </a:rPr>
              <a:t>public</a:t>
            </a:r>
            <a:r>
              <a:rPr lang="pt-BR" sz="1600" b="0" i="0" dirty="0">
                <a:solidFill>
                  <a:srgbClr val="495057"/>
                </a:solidFill>
                <a:effectLst/>
                <a:latin typeface="-apple-system"/>
              </a:rPr>
              <a:t> abstract </a:t>
            </a:r>
            <a:r>
              <a:rPr lang="pt-BR" sz="1600" b="0" i="0" dirty="0" err="1">
                <a:solidFill>
                  <a:srgbClr val="495057"/>
                </a:solidFill>
                <a:effectLst/>
                <a:latin typeface="-apple-system"/>
              </a:rPr>
              <a:t>class</a:t>
            </a:r>
            <a:r>
              <a:rPr lang="pt-BR" sz="1600" b="0" i="0" dirty="0">
                <a:solidFill>
                  <a:srgbClr val="495057"/>
                </a:solidFill>
                <a:effectLst/>
                <a:latin typeface="-apple-system"/>
              </a:rPr>
              <a:t> </a:t>
            </a:r>
            <a:r>
              <a:rPr lang="pt-BR" sz="1600" b="0" i="0" dirty="0" err="1">
                <a:solidFill>
                  <a:srgbClr val="495057"/>
                </a:solidFill>
                <a:effectLst/>
                <a:latin typeface="-apple-system"/>
              </a:rPr>
              <a:t>Usuario</a:t>
            </a:r>
            <a:endParaRPr lang="pt-BR" sz="1600" b="0" i="0" dirty="0">
              <a:solidFill>
                <a:srgbClr val="495057"/>
              </a:solidFill>
              <a:effectLst/>
              <a:latin typeface="-apple-system"/>
            </a:endParaRPr>
          </a:p>
          <a:p>
            <a:pPr algn="l"/>
            <a:r>
              <a:rPr lang="pt-BR" sz="1600" b="0" i="0" dirty="0">
                <a:solidFill>
                  <a:srgbClr val="495057"/>
                </a:solidFill>
                <a:effectLst/>
                <a:latin typeface="-apple-system"/>
              </a:rPr>
              <a:t>    {</a:t>
            </a:r>
          </a:p>
          <a:p>
            <a:pPr algn="l"/>
            <a:r>
              <a:rPr lang="pt-BR" sz="1600" b="0" i="0" dirty="0">
                <a:solidFill>
                  <a:srgbClr val="495057"/>
                </a:solidFill>
                <a:effectLst/>
                <a:latin typeface="-apple-system"/>
              </a:rPr>
              <a:t>        </a:t>
            </a:r>
            <a:r>
              <a:rPr lang="pt-BR" sz="1600" b="0" i="0" dirty="0" err="1">
                <a:solidFill>
                  <a:srgbClr val="495057"/>
                </a:solidFill>
                <a:effectLst/>
                <a:latin typeface="-apple-system"/>
              </a:rPr>
              <a:t>public</a:t>
            </a:r>
            <a:r>
              <a:rPr lang="pt-BR" sz="1600" b="0" i="0" dirty="0">
                <a:solidFill>
                  <a:srgbClr val="495057"/>
                </a:solidFill>
                <a:effectLst/>
                <a:latin typeface="-apple-system"/>
              </a:rPr>
              <a:t> </a:t>
            </a:r>
            <a:r>
              <a:rPr lang="pt-BR" sz="1600" b="0" i="0" dirty="0" err="1">
                <a:solidFill>
                  <a:srgbClr val="495057"/>
                </a:solidFill>
                <a:effectLst/>
                <a:latin typeface="-apple-system"/>
              </a:rPr>
              <a:t>string</a:t>
            </a:r>
            <a:r>
              <a:rPr lang="pt-BR" sz="1600" b="0" i="0" dirty="0">
                <a:solidFill>
                  <a:srgbClr val="495057"/>
                </a:solidFill>
                <a:effectLst/>
                <a:latin typeface="-apple-system"/>
              </a:rPr>
              <a:t> Login { </a:t>
            </a:r>
            <a:r>
              <a:rPr lang="pt-BR" sz="1600" b="0" i="0" dirty="0" err="1">
                <a:solidFill>
                  <a:srgbClr val="495057"/>
                </a:solidFill>
                <a:effectLst/>
                <a:latin typeface="-apple-system"/>
              </a:rPr>
              <a:t>get</a:t>
            </a:r>
            <a:r>
              <a:rPr lang="pt-BR" sz="1600" b="0" i="0" dirty="0">
                <a:solidFill>
                  <a:srgbClr val="495057"/>
                </a:solidFill>
                <a:effectLst/>
                <a:latin typeface="-apple-system"/>
              </a:rPr>
              <a:t>; set; }</a:t>
            </a:r>
          </a:p>
          <a:p>
            <a:pPr algn="l"/>
            <a:r>
              <a:rPr lang="pt-BR" sz="1600" b="0" i="0" dirty="0">
                <a:solidFill>
                  <a:srgbClr val="495057"/>
                </a:solidFill>
                <a:effectLst/>
                <a:latin typeface="-apple-system"/>
              </a:rPr>
              <a:t>        </a:t>
            </a:r>
            <a:r>
              <a:rPr lang="pt-BR" sz="1600" b="0" i="0" dirty="0" err="1">
                <a:solidFill>
                  <a:srgbClr val="495057"/>
                </a:solidFill>
                <a:effectLst/>
                <a:latin typeface="-apple-system"/>
              </a:rPr>
              <a:t>public</a:t>
            </a:r>
            <a:r>
              <a:rPr lang="pt-BR" sz="1600" b="0" i="0" dirty="0">
                <a:solidFill>
                  <a:srgbClr val="495057"/>
                </a:solidFill>
                <a:effectLst/>
                <a:latin typeface="-apple-system"/>
              </a:rPr>
              <a:t> </a:t>
            </a:r>
            <a:r>
              <a:rPr lang="pt-BR" sz="1600" b="0" i="0" dirty="0" err="1">
                <a:solidFill>
                  <a:srgbClr val="495057"/>
                </a:solidFill>
                <a:effectLst/>
                <a:latin typeface="-apple-system"/>
              </a:rPr>
              <a:t>string</a:t>
            </a:r>
            <a:r>
              <a:rPr lang="pt-BR" sz="1600" b="0" i="0" dirty="0">
                <a:solidFill>
                  <a:srgbClr val="495057"/>
                </a:solidFill>
                <a:effectLst/>
                <a:latin typeface="-apple-system"/>
              </a:rPr>
              <a:t> Senha { </a:t>
            </a:r>
            <a:r>
              <a:rPr lang="pt-BR" sz="1600" b="0" i="0" dirty="0" err="1">
                <a:solidFill>
                  <a:srgbClr val="495057"/>
                </a:solidFill>
                <a:effectLst/>
                <a:latin typeface="-apple-system"/>
              </a:rPr>
              <a:t>get</a:t>
            </a:r>
            <a:r>
              <a:rPr lang="pt-BR" sz="1600" b="0" i="0" dirty="0">
                <a:solidFill>
                  <a:srgbClr val="495057"/>
                </a:solidFill>
                <a:effectLst/>
                <a:latin typeface="-apple-system"/>
              </a:rPr>
              <a:t>; set; }</a:t>
            </a:r>
          </a:p>
          <a:p>
            <a:pPr algn="l"/>
            <a:r>
              <a:rPr lang="pt-BR" sz="1600" b="0" i="0" dirty="0">
                <a:solidFill>
                  <a:srgbClr val="495057"/>
                </a:solidFill>
                <a:effectLst/>
                <a:latin typeface="-apple-system"/>
              </a:rPr>
              <a:t>        </a:t>
            </a:r>
            <a:r>
              <a:rPr lang="pt-BR" sz="1600" b="0" i="0" dirty="0" err="1">
                <a:solidFill>
                  <a:srgbClr val="495057"/>
                </a:solidFill>
                <a:effectLst/>
                <a:latin typeface="-apple-system"/>
              </a:rPr>
              <a:t>public</a:t>
            </a:r>
            <a:r>
              <a:rPr lang="pt-BR" sz="1600" b="0" i="0" dirty="0">
                <a:solidFill>
                  <a:srgbClr val="495057"/>
                </a:solidFill>
                <a:effectLst/>
                <a:latin typeface="-apple-system"/>
              </a:rPr>
              <a:t> abstract </a:t>
            </a:r>
            <a:r>
              <a:rPr lang="pt-BR" sz="1600" b="0" i="0" dirty="0" err="1">
                <a:solidFill>
                  <a:srgbClr val="495057"/>
                </a:solidFill>
                <a:effectLst/>
                <a:latin typeface="-apple-system"/>
              </a:rPr>
              <a:t>bool</a:t>
            </a:r>
            <a:r>
              <a:rPr lang="pt-BR" sz="1600" b="0" i="0" dirty="0">
                <a:solidFill>
                  <a:srgbClr val="495057"/>
                </a:solidFill>
                <a:effectLst/>
                <a:latin typeface="-apple-system"/>
              </a:rPr>
              <a:t> Entrar();</a:t>
            </a:r>
          </a:p>
          <a:p>
            <a:pPr algn="l"/>
            <a:r>
              <a:rPr lang="pt-BR" sz="1600" b="0" i="0" dirty="0">
                <a:solidFill>
                  <a:srgbClr val="495057"/>
                </a:solidFill>
                <a:effectLst/>
                <a:latin typeface="-apple-system"/>
              </a:rPr>
              <a:t>        </a:t>
            </a:r>
            <a:r>
              <a:rPr lang="pt-BR" sz="1600" b="0" i="0" dirty="0" err="1">
                <a:solidFill>
                  <a:srgbClr val="495057"/>
                </a:solidFill>
                <a:effectLst/>
                <a:latin typeface="-apple-system"/>
              </a:rPr>
              <a:t>protected</a:t>
            </a:r>
            <a:r>
              <a:rPr lang="pt-BR" sz="1600" b="0" i="0" dirty="0">
                <a:solidFill>
                  <a:srgbClr val="495057"/>
                </a:solidFill>
                <a:effectLst/>
                <a:latin typeface="-apple-system"/>
              </a:rPr>
              <a:t> </a:t>
            </a:r>
            <a:r>
              <a:rPr lang="pt-BR" sz="1600" b="0" i="0" dirty="0" err="1">
                <a:solidFill>
                  <a:srgbClr val="495057"/>
                </a:solidFill>
                <a:effectLst/>
                <a:latin typeface="-apple-system"/>
              </a:rPr>
              <a:t>bool</a:t>
            </a:r>
            <a:r>
              <a:rPr lang="pt-BR" sz="1600" b="0" i="0" dirty="0">
                <a:solidFill>
                  <a:srgbClr val="495057"/>
                </a:solidFill>
                <a:effectLst/>
                <a:latin typeface="-apple-system"/>
              </a:rPr>
              <a:t> </a:t>
            </a:r>
            <a:r>
              <a:rPr lang="pt-BR" sz="1600" b="0" i="0" dirty="0" err="1">
                <a:solidFill>
                  <a:srgbClr val="495057"/>
                </a:solidFill>
                <a:effectLst/>
                <a:latin typeface="-apple-system"/>
              </a:rPr>
              <a:t>VerificarEntrada</a:t>
            </a:r>
            <a:r>
              <a:rPr lang="pt-BR" sz="1600" b="0" i="0" dirty="0">
                <a:solidFill>
                  <a:srgbClr val="495057"/>
                </a:solidFill>
                <a:effectLst/>
                <a:latin typeface="-apple-system"/>
              </a:rPr>
              <a:t>()</a:t>
            </a:r>
          </a:p>
          <a:p>
            <a:pPr algn="l"/>
            <a:r>
              <a:rPr lang="pt-BR" sz="1600" b="0" i="0" dirty="0">
                <a:solidFill>
                  <a:srgbClr val="495057"/>
                </a:solidFill>
                <a:effectLst/>
                <a:latin typeface="-apple-system"/>
              </a:rPr>
              <a:t>        {</a:t>
            </a:r>
          </a:p>
          <a:p>
            <a:pPr algn="l"/>
            <a:r>
              <a:rPr lang="pt-BR" sz="1600" b="0" i="0" dirty="0">
                <a:solidFill>
                  <a:srgbClr val="495057"/>
                </a:solidFill>
                <a:effectLst/>
                <a:latin typeface="-apple-system"/>
              </a:rPr>
              <a:t>            </a:t>
            </a:r>
            <a:r>
              <a:rPr lang="pt-BR" sz="1600" b="0" i="0" dirty="0" err="1">
                <a:solidFill>
                  <a:srgbClr val="495057"/>
                </a:solidFill>
                <a:effectLst/>
                <a:latin typeface="-apple-system"/>
              </a:rPr>
              <a:t>return</a:t>
            </a:r>
            <a:r>
              <a:rPr lang="pt-BR" sz="1600" b="0" i="0" dirty="0">
                <a:solidFill>
                  <a:srgbClr val="495057"/>
                </a:solidFill>
                <a:effectLst/>
                <a:latin typeface="-apple-system"/>
              </a:rPr>
              <a:t> </a:t>
            </a:r>
            <a:r>
              <a:rPr lang="pt-BR" sz="1600" b="0" i="0" dirty="0" err="1">
                <a:solidFill>
                  <a:srgbClr val="495057"/>
                </a:solidFill>
                <a:effectLst/>
                <a:latin typeface="-apple-system"/>
              </a:rPr>
              <a:t>dados.Any</a:t>
            </a:r>
            <a:r>
              <a:rPr lang="pt-BR" sz="1600" b="0" i="0" dirty="0">
                <a:solidFill>
                  <a:srgbClr val="495057"/>
                </a:solidFill>
                <a:effectLst/>
                <a:latin typeface="-apple-system"/>
              </a:rPr>
              <a:t>(x =&gt; x.Item1 == Login &amp;&amp; x.Item2 == Senha);</a:t>
            </a:r>
          </a:p>
          <a:p>
            <a:pPr algn="l"/>
            <a:r>
              <a:rPr lang="pt-BR" sz="1600" b="0" i="0" dirty="0">
                <a:solidFill>
                  <a:srgbClr val="495057"/>
                </a:solidFill>
                <a:effectLst/>
                <a:latin typeface="-apple-system"/>
              </a:rPr>
              <a:t>        }</a:t>
            </a:r>
          </a:p>
          <a:p>
            <a:pPr algn="l"/>
            <a:r>
              <a:rPr lang="pt-BR" sz="1600" b="0" i="0" dirty="0">
                <a:solidFill>
                  <a:srgbClr val="495057"/>
                </a:solidFill>
                <a:effectLst/>
                <a:latin typeface="-apple-system"/>
              </a:rPr>
              <a:t>        </a:t>
            </a:r>
            <a:r>
              <a:rPr lang="pt-BR" sz="1600" b="0" i="0" dirty="0" err="1">
                <a:solidFill>
                  <a:srgbClr val="495057"/>
                </a:solidFill>
                <a:effectLst/>
                <a:latin typeface="-apple-system"/>
              </a:rPr>
              <a:t>private</a:t>
            </a:r>
            <a:r>
              <a:rPr lang="pt-BR" sz="1600" b="0" i="0" dirty="0">
                <a:solidFill>
                  <a:srgbClr val="495057"/>
                </a:solidFill>
                <a:effectLst/>
                <a:latin typeface="-apple-system"/>
              </a:rPr>
              <a:t> </a:t>
            </a:r>
            <a:r>
              <a:rPr lang="pt-BR" sz="1600" b="0" i="0" dirty="0" err="1">
                <a:solidFill>
                  <a:srgbClr val="495057"/>
                </a:solidFill>
                <a:effectLst/>
                <a:latin typeface="-apple-system"/>
              </a:rPr>
              <a:t>Tuple</a:t>
            </a:r>
            <a:r>
              <a:rPr lang="pt-BR" sz="1600" b="0" i="0" dirty="0">
                <a:solidFill>
                  <a:srgbClr val="495057"/>
                </a:solidFill>
                <a:effectLst/>
                <a:latin typeface="-apple-system"/>
              </a:rPr>
              <a:t>&lt;</a:t>
            </a:r>
            <a:r>
              <a:rPr lang="pt-BR" sz="1600" b="0" i="0" dirty="0" err="1">
                <a:solidFill>
                  <a:srgbClr val="495057"/>
                </a:solidFill>
                <a:effectLst/>
                <a:latin typeface="-apple-system"/>
              </a:rPr>
              <a:t>string</a:t>
            </a:r>
            <a:r>
              <a:rPr lang="pt-BR" sz="1600" b="0" i="0" dirty="0">
                <a:solidFill>
                  <a:srgbClr val="495057"/>
                </a:solidFill>
                <a:effectLst/>
                <a:latin typeface="-apple-system"/>
              </a:rPr>
              <a:t>, </a:t>
            </a:r>
            <a:r>
              <a:rPr lang="pt-BR" sz="1600" b="0" i="0" dirty="0" err="1">
                <a:solidFill>
                  <a:srgbClr val="495057"/>
                </a:solidFill>
                <a:effectLst/>
                <a:latin typeface="-apple-system"/>
              </a:rPr>
              <a:t>string</a:t>
            </a:r>
            <a:r>
              <a:rPr lang="pt-BR" sz="1600" b="0" i="0" dirty="0">
                <a:solidFill>
                  <a:srgbClr val="495057"/>
                </a:solidFill>
                <a:effectLst/>
                <a:latin typeface="-apple-system"/>
              </a:rPr>
              <a:t>&gt;[] dados = { new </a:t>
            </a:r>
            <a:r>
              <a:rPr lang="pt-BR" sz="1600" b="0" i="0" dirty="0" err="1">
                <a:solidFill>
                  <a:srgbClr val="495057"/>
                </a:solidFill>
                <a:effectLst/>
                <a:latin typeface="-apple-system"/>
              </a:rPr>
              <a:t>Tuple</a:t>
            </a:r>
            <a:r>
              <a:rPr lang="pt-BR" sz="1600" b="0" i="0" dirty="0">
                <a:solidFill>
                  <a:srgbClr val="495057"/>
                </a:solidFill>
                <a:effectLst/>
                <a:latin typeface="-apple-system"/>
              </a:rPr>
              <a:t>&lt;</a:t>
            </a:r>
            <a:r>
              <a:rPr lang="pt-BR" sz="1600" b="0" i="0" dirty="0" err="1">
                <a:solidFill>
                  <a:srgbClr val="495057"/>
                </a:solidFill>
                <a:effectLst/>
                <a:latin typeface="-apple-system"/>
              </a:rPr>
              <a:t>string</a:t>
            </a:r>
            <a:r>
              <a:rPr lang="pt-BR" sz="1600" b="0" i="0" dirty="0">
                <a:solidFill>
                  <a:srgbClr val="495057"/>
                </a:solidFill>
                <a:effectLst/>
                <a:latin typeface="-apple-system"/>
              </a:rPr>
              <a:t>, </a:t>
            </a:r>
            <a:r>
              <a:rPr lang="pt-BR" sz="1600" b="0" i="0" dirty="0" err="1">
                <a:solidFill>
                  <a:srgbClr val="495057"/>
                </a:solidFill>
                <a:effectLst/>
                <a:latin typeface="-apple-system"/>
              </a:rPr>
              <a:t>string</a:t>
            </a:r>
            <a:r>
              <a:rPr lang="pt-BR" sz="1600" b="0" i="0" dirty="0">
                <a:solidFill>
                  <a:srgbClr val="495057"/>
                </a:solidFill>
                <a:effectLst/>
                <a:latin typeface="-apple-system"/>
              </a:rPr>
              <a:t>&gt;("</a:t>
            </a:r>
            <a:r>
              <a:rPr lang="pt-BR" sz="1600" b="0" i="0" dirty="0" err="1">
                <a:solidFill>
                  <a:srgbClr val="495057"/>
                </a:solidFill>
                <a:effectLst/>
                <a:latin typeface="-apple-system"/>
              </a:rPr>
              <a:t>tiago</a:t>
            </a:r>
            <a:r>
              <a:rPr lang="pt-BR" sz="1600" b="0" i="0" dirty="0">
                <a:solidFill>
                  <a:srgbClr val="495057"/>
                </a:solidFill>
                <a:effectLst/>
                <a:latin typeface="-apple-system"/>
              </a:rPr>
              <a:t>", "123456"), new </a:t>
            </a:r>
            <a:r>
              <a:rPr lang="pt-BR" sz="1600" b="0" i="0" dirty="0" err="1">
                <a:solidFill>
                  <a:srgbClr val="495057"/>
                </a:solidFill>
                <a:effectLst/>
                <a:latin typeface="-apple-system"/>
              </a:rPr>
              <a:t>Tuple</a:t>
            </a:r>
            <a:r>
              <a:rPr lang="pt-BR" sz="1600" b="0" i="0" dirty="0">
                <a:solidFill>
                  <a:srgbClr val="495057"/>
                </a:solidFill>
                <a:effectLst/>
                <a:latin typeface="-apple-system"/>
              </a:rPr>
              <a:t>&lt;</a:t>
            </a:r>
            <a:r>
              <a:rPr lang="pt-BR" sz="1600" b="0" i="0" dirty="0" err="1">
                <a:solidFill>
                  <a:srgbClr val="495057"/>
                </a:solidFill>
                <a:effectLst/>
                <a:latin typeface="-apple-system"/>
              </a:rPr>
              <a:t>string</a:t>
            </a:r>
            <a:r>
              <a:rPr lang="pt-BR" sz="1600" b="0" i="0" dirty="0">
                <a:solidFill>
                  <a:srgbClr val="495057"/>
                </a:solidFill>
                <a:effectLst/>
                <a:latin typeface="-apple-system"/>
              </a:rPr>
              <a:t>, </a:t>
            </a:r>
            <a:r>
              <a:rPr lang="pt-BR" sz="1600" b="0" i="0" dirty="0" err="1">
                <a:solidFill>
                  <a:srgbClr val="495057"/>
                </a:solidFill>
                <a:effectLst/>
                <a:latin typeface="-apple-system"/>
              </a:rPr>
              <a:t>string</a:t>
            </a:r>
            <a:r>
              <a:rPr lang="pt-BR" sz="1600" b="0" i="0" dirty="0">
                <a:solidFill>
                  <a:srgbClr val="495057"/>
                </a:solidFill>
                <a:effectLst/>
                <a:latin typeface="-apple-system"/>
              </a:rPr>
              <a:t>&gt;("</a:t>
            </a:r>
            <a:r>
              <a:rPr lang="pt-BR" sz="1600" b="0" i="0" dirty="0" err="1">
                <a:solidFill>
                  <a:srgbClr val="495057"/>
                </a:solidFill>
                <a:effectLst/>
                <a:latin typeface="-apple-system"/>
              </a:rPr>
              <a:t>adminX</a:t>
            </a:r>
            <a:r>
              <a:rPr lang="pt-BR" sz="1600" b="0" i="0" dirty="0">
                <a:solidFill>
                  <a:srgbClr val="495057"/>
                </a:solidFill>
                <a:effectLst/>
                <a:latin typeface="-apple-system"/>
              </a:rPr>
              <a:t>", "abc123") };</a:t>
            </a:r>
          </a:p>
          <a:p>
            <a:pPr algn="l"/>
            <a:r>
              <a:rPr lang="pt-BR" sz="1600" b="0" i="0" dirty="0">
                <a:solidFill>
                  <a:srgbClr val="495057"/>
                </a:solidFill>
                <a:effectLst/>
                <a:latin typeface="-apple-system"/>
              </a:rPr>
              <a:t>    }</a:t>
            </a:r>
          </a:p>
        </p:txBody>
      </p:sp>
    </p:spTree>
    <p:extLst>
      <p:ext uri="{BB962C8B-B14F-4D97-AF65-F5344CB8AC3E}">
        <p14:creationId xmlns:p14="http://schemas.microsoft.com/office/powerpoint/2010/main" val="2758449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aixaDeTexto 10">
            <a:extLst>
              <a:ext uri="{FF2B5EF4-FFF2-40B4-BE49-F238E27FC236}">
                <a16:creationId xmlns:a16="http://schemas.microsoft.com/office/drawing/2014/main" id="{5D2EF888-40B3-4138-8387-104B9F9BAC05}"/>
              </a:ext>
            </a:extLst>
          </p:cNvPr>
          <p:cNvSpPr txBox="1"/>
          <p:nvPr/>
        </p:nvSpPr>
        <p:spPr>
          <a:xfrm>
            <a:off x="179773" y="732304"/>
            <a:ext cx="6094520" cy="3693319"/>
          </a:xfrm>
          <a:prstGeom prst="rect">
            <a:avLst/>
          </a:prstGeom>
          <a:noFill/>
        </p:spPr>
        <p:txBody>
          <a:bodyPr wrap="square">
            <a:spAutoFit/>
          </a:bodyPr>
          <a:lstStyle/>
          <a:p>
            <a:br>
              <a:rPr lang="pt-BR" dirty="0">
                <a:effectLst/>
              </a:rPr>
            </a:br>
            <a:r>
              <a:rPr lang="pt-BR" dirty="0">
                <a:effectLst/>
              </a:rPr>
              <a:t>    </a:t>
            </a:r>
            <a:r>
              <a:rPr lang="pt-BR" dirty="0" err="1">
                <a:effectLst/>
              </a:rPr>
              <a:t>public</a:t>
            </a:r>
            <a:r>
              <a:rPr lang="pt-BR" dirty="0">
                <a:effectLst/>
              </a:rPr>
              <a:t> </a:t>
            </a:r>
            <a:r>
              <a:rPr lang="pt-BR" dirty="0" err="1">
                <a:effectLst/>
              </a:rPr>
              <a:t>class</a:t>
            </a:r>
            <a:r>
              <a:rPr lang="pt-BR" dirty="0">
                <a:effectLst/>
              </a:rPr>
              <a:t> Administrador : </a:t>
            </a:r>
            <a:r>
              <a:rPr lang="pt-BR" dirty="0" err="1">
                <a:effectLst/>
              </a:rPr>
              <a:t>Usuario</a:t>
            </a:r>
            <a:endParaRPr lang="pt-BR" dirty="0">
              <a:effectLst/>
            </a:endParaRPr>
          </a:p>
          <a:p>
            <a:r>
              <a:rPr lang="pt-BR" dirty="0">
                <a:effectLst/>
              </a:rPr>
              <a:t>    {</a:t>
            </a:r>
          </a:p>
          <a:p>
            <a:r>
              <a:rPr lang="pt-BR" dirty="0">
                <a:effectLst/>
              </a:rPr>
              <a:t>        </a:t>
            </a:r>
            <a:r>
              <a:rPr lang="pt-BR" dirty="0" err="1">
                <a:effectLst/>
              </a:rPr>
              <a:t>public</a:t>
            </a:r>
            <a:r>
              <a:rPr lang="pt-BR" dirty="0">
                <a:effectLst/>
              </a:rPr>
              <a:t> </a:t>
            </a:r>
            <a:r>
              <a:rPr lang="pt-BR" dirty="0" err="1">
                <a:effectLst/>
              </a:rPr>
              <a:t>DateTime</a:t>
            </a:r>
            <a:r>
              <a:rPr lang="pt-BR" dirty="0">
                <a:effectLst/>
              </a:rPr>
              <a:t> </a:t>
            </a:r>
            <a:r>
              <a:rPr lang="pt-BR" dirty="0" err="1">
                <a:effectLst/>
              </a:rPr>
              <a:t>UltimoLogin</a:t>
            </a:r>
            <a:r>
              <a:rPr lang="pt-BR" dirty="0">
                <a:effectLst/>
              </a:rPr>
              <a:t> { </a:t>
            </a:r>
            <a:r>
              <a:rPr lang="pt-BR" dirty="0" err="1">
                <a:effectLst/>
              </a:rPr>
              <a:t>get</a:t>
            </a:r>
            <a:r>
              <a:rPr lang="pt-BR" dirty="0">
                <a:effectLst/>
              </a:rPr>
              <a:t>; set; }</a:t>
            </a:r>
          </a:p>
          <a:p>
            <a:br>
              <a:rPr lang="pt-BR" dirty="0">
                <a:effectLst/>
              </a:rPr>
            </a:br>
            <a:endParaRPr lang="pt-BR" dirty="0">
              <a:effectLst/>
            </a:endParaRPr>
          </a:p>
          <a:p>
            <a:r>
              <a:rPr lang="pt-BR" dirty="0">
                <a:effectLst/>
              </a:rPr>
              <a:t>        </a:t>
            </a:r>
            <a:r>
              <a:rPr lang="pt-BR" dirty="0" err="1">
                <a:effectLst/>
              </a:rPr>
              <a:t>public</a:t>
            </a:r>
            <a:r>
              <a:rPr lang="pt-BR" dirty="0">
                <a:effectLst/>
              </a:rPr>
              <a:t> </a:t>
            </a:r>
            <a:r>
              <a:rPr lang="pt-BR" dirty="0" err="1">
                <a:effectLst/>
              </a:rPr>
              <a:t>override</a:t>
            </a:r>
            <a:r>
              <a:rPr lang="pt-BR" dirty="0">
                <a:effectLst/>
              </a:rPr>
              <a:t> </a:t>
            </a:r>
            <a:r>
              <a:rPr lang="pt-BR" dirty="0" err="1">
                <a:effectLst/>
              </a:rPr>
              <a:t>bool</a:t>
            </a:r>
            <a:r>
              <a:rPr lang="pt-BR" dirty="0">
                <a:effectLst/>
              </a:rPr>
              <a:t> Entrar()</a:t>
            </a:r>
          </a:p>
          <a:p>
            <a:r>
              <a:rPr lang="pt-BR" dirty="0">
                <a:effectLst/>
              </a:rPr>
              <a:t>        {</a:t>
            </a:r>
          </a:p>
          <a:p>
            <a:r>
              <a:rPr lang="pt-BR" dirty="0">
                <a:effectLst/>
              </a:rPr>
              <a:t>            </a:t>
            </a:r>
            <a:r>
              <a:rPr lang="pt-BR" dirty="0" err="1">
                <a:effectLst/>
              </a:rPr>
              <a:t>return</a:t>
            </a:r>
            <a:r>
              <a:rPr lang="pt-BR" dirty="0">
                <a:effectLst/>
              </a:rPr>
              <a:t> </a:t>
            </a:r>
            <a:r>
              <a:rPr lang="pt-BR" dirty="0" err="1">
                <a:effectLst/>
              </a:rPr>
              <a:t>base.VerificarEntrada</a:t>
            </a:r>
            <a:r>
              <a:rPr lang="pt-BR" dirty="0">
                <a:effectLst/>
              </a:rPr>
              <a:t>() &amp;&amp; </a:t>
            </a:r>
            <a:r>
              <a:rPr lang="pt-BR" dirty="0" err="1">
                <a:effectLst/>
              </a:rPr>
              <a:t>Login.EndsWith</a:t>
            </a:r>
            <a:r>
              <a:rPr lang="pt-BR" dirty="0">
                <a:effectLst/>
              </a:rPr>
              <a:t>("X");</a:t>
            </a:r>
          </a:p>
          <a:p>
            <a:r>
              <a:rPr lang="pt-BR" dirty="0">
                <a:effectLst/>
              </a:rPr>
              <a:t>        }</a:t>
            </a:r>
          </a:p>
          <a:p>
            <a:r>
              <a:rPr lang="pt-BR" dirty="0">
                <a:effectLst/>
              </a:rPr>
              <a:t>    }</a:t>
            </a:r>
          </a:p>
          <a:p>
            <a:br>
              <a:rPr lang="pt-BR" dirty="0">
                <a:effectLst/>
              </a:rPr>
            </a:br>
            <a:endParaRPr lang="pt-BR" dirty="0"/>
          </a:p>
        </p:txBody>
      </p:sp>
      <p:sp>
        <p:nvSpPr>
          <p:cNvPr id="13" name="CaixaDeTexto 12">
            <a:extLst>
              <a:ext uri="{FF2B5EF4-FFF2-40B4-BE49-F238E27FC236}">
                <a16:creationId xmlns:a16="http://schemas.microsoft.com/office/drawing/2014/main" id="{22E4BF4C-C7D2-4AD6-8177-C9B6BF2D04AC}"/>
              </a:ext>
            </a:extLst>
          </p:cNvPr>
          <p:cNvSpPr txBox="1"/>
          <p:nvPr/>
        </p:nvSpPr>
        <p:spPr>
          <a:xfrm>
            <a:off x="6846902" y="988004"/>
            <a:ext cx="6094520" cy="2862322"/>
          </a:xfrm>
          <a:prstGeom prst="rect">
            <a:avLst/>
          </a:prstGeom>
          <a:noFill/>
        </p:spPr>
        <p:txBody>
          <a:bodyPr wrap="square">
            <a:spAutoFit/>
          </a:bodyPr>
          <a:lstStyle/>
          <a:p>
            <a:pPr algn="l"/>
            <a:r>
              <a:rPr lang="pt-BR" b="0" i="0" dirty="0">
                <a:solidFill>
                  <a:srgbClr val="495057"/>
                </a:solidFill>
                <a:effectLst/>
                <a:latin typeface="-apple-system"/>
              </a:rPr>
              <a:t>  </a:t>
            </a:r>
            <a:r>
              <a:rPr lang="pt-BR" b="0" i="0" dirty="0" err="1">
                <a:solidFill>
                  <a:srgbClr val="495057"/>
                </a:solidFill>
                <a:effectLst/>
                <a:latin typeface="-apple-system"/>
              </a:rPr>
              <a:t>public</a:t>
            </a:r>
            <a:r>
              <a:rPr lang="pt-BR" b="0" i="0" dirty="0">
                <a:solidFill>
                  <a:srgbClr val="495057"/>
                </a:solidFill>
                <a:effectLst/>
                <a:latin typeface="-apple-system"/>
              </a:rPr>
              <a:t> </a:t>
            </a:r>
            <a:r>
              <a:rPr lang="pt-BR" b="0" i="0" dirty="0" err="1">
                <a:solidFill>
                  <a:srgbClr val="495057"/>
                </a:solidFill>
                <a:effectLst/>
                <a:latin typeface="-apple-system"/>
              </a:rPr>
              <a:t>class</a:t>
            </a:r>
            <a:r>
              <a:rPr lang="pt-BR" b="0" i="0" dirty="0">
                <a:solidFill>
                  <a:srgbClr val="495057"/>
                </a:solidFill>
                <a:effectLst/>
                <a:latin typeface="-apple-system"/>
              </a:rPr>
              <a:t> Cliente : </a:t>
            </a:r>
            <a:r>
              <a:rPr lang="pt-BR" b="0" i="0" dirty="0" err="1">
                <a:solidFill>
                  <a:srgbClr val="495057"/>
                </a:solidFill>
                <a:effectLst/>
                <a:latin typeface="-apple-system"/>
              </a:rPr>
              <a:t>Usuario</a:t>
            </a:r>
            <a:endParaRPr lang="pt-BR" b="0" i="0" dirty="0">
              <a:solidFill>
                <a:srgbClr val="495057"/>
              </a:solidFill>
              <a:effectLst/>
              <a:latin typeface="-apple-system"/>
            </a:endParaRPr>
          </a:p>
          <a:p>
            <a:pPr algn="l"/>
            <a:r>
              <a:rPr lang="pt-BR" b="0" i="0" dirty="0">
                <a:solidFill>
                  <a:srgbClr val="495057"/>
                </a:solidFill>
                <a:effectLst/>
                <a:latin typeface="-apple-system"/>
              </a:rPr>
              <a:t>    {</a:t>
            </a:r>
          </a:p>
          <a:p>
            <a:pPr algn="l"/>
            <a:r>
              <a:rPr lang="pt-BR" b="0" i="0" dirty="0">
                <a:solidFill>
                  <a:srgbClr val="495057"/>
                </a:solidFill>
                <a:effectLst/>
                <a:latin typeface="-apple-system"/>
              </a:rPr>
              <a:t>        </a:t>
            </a:r>
            <a:r>
              <a:rPr lang="pt-BR" b="0" i="0" dirty="0" err="1">
                <a:solidFill>
                  <a:srgbClr val="495057"/>
                </a:solidFill>
                <a:effectLst/>
                <a:latin typeface="-apple-system"/>
              </a:rPr>
              <a:t>public</a:t>
            </a:r>
            <a:r>
              <a:rPr lang="pt-BR" b="0" i="0" dirty="0">
                <a:solidFill>
                  <a:srgbClr val="495057"/>
                </a:solidFill>
                <a:effectLst/>
                <a:latin typeface="-apple-system"/>
              </a:rPr>
              <a:t> </a:t>
            </a:r>
            <a:r>
              <a:rPr lang="pt-BR" b="0" i="0" dirty="0" err="1">
                <a:solidFill>
                  <a:srgbClr val="495057"/>
                </a:solidFill>
                <a:effectLst/>
                <a:latin typeface="-apple-system"/>
              </a:rPr>
              <a:t>string</a:t>
            </a:r>
            <a:r>
              <a:rPr lang="pt-BR" b="0" i="0" dirty="0">
                <a:solidFill>
                  <a:srgbClr val="495057"/>
                </a:solidFill>
                <a:effectLst/>
                <a:latin typeface="-apple-system"/>
              </a:rPr>
              <a:t> </a:t>
            </a:r>
            <a:r>
              <a:rPr lang="pt-BR" b="0" i="0" dirty="0" err="1">
                <a:solidFill>
                  <a:srgbClr val="495057"/>
                </a:solidFill>
                <a:effectLst/>
                <a:latin typeface="-apple-system"/>
              </a:rPr>
              <a:t>EmailContato</a:t>
            </a:r>
            <a:r>
              <a:rPr lang="pt-BR" b="0" i="0" dirty="0">
                <a:solidFill>
                  <a:srgbClr val="495057"/>
                </a:solidFill>
                <a:effectLst/>
                <a:latin typeface="-apple-system"/>
              </a:rPr>
              <a:t> { </a:t>
            </a:r>
            <a:r>
              <a:rPr lang="pt-BR" b="0" i="0" dirty="0" err="1">
                <a:solidFill>
                  <a:srgbClr val="495057"/>
                </a:solidFill>
                <a:effectLst/>
                <a:latin typeface="-apple-system"/>
              </a:rPr>
              <a:t>get</a:t>
            </a:r>
            <a:r>
              <a:rPr lang="pt-BR" b="0" i="0" dirty="0">
                <a:solidFill>
                  <a:srgbClr val="495057"/>
                </a:solidFill>
                <a:effectLst/>
                <a:latin typeface="-apple-system"/>
              </a:rPr>
              <a:t>; set; }</a:t>
            </a:r>
          </a:p>
          <a:p>
            <a:pPr algn="l"/>
            <a:br>
              <a:rPr lang="pt-BR" b="0" i="0" dirty="0">
                <a:solidFill>
                  <a:srgbClr val="495057"/>
                </a:solidFill>
                <a:effectLst/>
                <a:latin typeface="-apple-system"/>
              </a:rPr>
            </a:br>
            <a:endParaRPr lang="pt-BR" b="0" i="0" dirty="0">
              <a:solidFill>
                <a:srgbClr val="495057"/>
              </a:solidFill>
              <a:effectLst/>
              <a:latin typeface="-apple-system"/>
            </a:endParaRPr>
          </a:p>
          <a:p>
            <a:pPr algn="l"/>
            <a:r>
              <a:rPr lang="pt-BR" b="0" i="0" dirty="0">
                <a:solidFill>
                  <a:srgbClr val="495057"/>
                </a:solidFill>
                <a:effectLst/>
                <a:latin typeface="-apple-system"/>
              </a:rPr>
              <a:t>        </a:t>
            </a:r>
            <a:r>
              <a:rPr lang="pt-BR" b="0" i="0" dirty="0" err="1">
                <a:solidFill>
                  <a:srgbClr val="495057"/>
                </a:solidFill>
                <a:effectLst/>
                <a:latin typeface="-apple-system"/>
              </a:rPr>
              <a:t>public</a:t>
            </a:r>
            <a:r>
              <a:rPr lang="pt-BR" b="0" i="0" dirty="0">
                <a:solidFill>
                  <a:srgbClr val="495057"/>
                </a:solidFill>
                <a:effectLst/>
                <a:latin typeface="-apple-system"/>
              </a:rPr>
              <a:t> </a:t>
            </a:r>
            <a:r>
              <a:rPr lang="pt-BR" b="0" i="0" dirty="0" err="1">
                <a:solidFill>
                  <a:srgbClr val="495057"/>
                </a:solidFill>
                <a:effectLst/>
                <a:latin typeface="-apple-system"/>
              </a:rPr>
              <a:t>override</a:t>
            </a:r>
            <a:r>
              <a:rPr lang="pt-BR" b="0" i="0" dirty="0">
                <a:solidFill>
                  <a:srgbClr val="495057"/>
                </a:solidFill>
                <a:effectLst/>
                <a:latin typeface="-apple-system"/>
              </a:rPr>
              <a:t> </a:t>
            </a:r>
            <a:r>
              <a:rPr lang="pt-BR" b="0" i="0" dirty="0" err="1">
                <a:solidFill>
                  <a:srgbClr val="495057"/>
                </a:solidFill>
                <a:effectLst/>
                <a:latin typeface="-apple-system"/>
              </a:rPr>
              <a:t>bool</a:t>
            </a:r>
            <a:r>
              <a:rPr lang="pt-BR" b="0" i="0" dirty="0">
                <a:solidFill>
                  <a:srgbClr val="495057"/>
                </a:solidFill>
                <a:effectLst/>
                <a:latin typeface="-apple-system"/>
              </a:rPr>
              <a:t> Entrar()</a:t>
            </a:r>
          </a:p>
          <a:p>
            <a:pPr algn="l"/>
            <a:r>
              <a:rPr lang="pt-BR" b="0" i="0" dirty="0">
                <a:solidFill>
                  <a:srgbClr val="495057"/>
                </a:solidFill>
                <a:effectLst/>
                <a:latin typeface="-apple-system"/>
              </a:rPr>
              <a:t>        {</a:t>
            </a:r>
          </a:p>
          <a:p>
            <a:pPr algn="l"/>
            <a:r>
              <a:rPr lang="pt-BR" b="0" i="0" dirty="0">
                <a:solidFill>
                  <a:srgbClr val="495057"/>
                </a:solidFill>
                <a:effectLst/>
                <a:latin typeface="-apple-system"/>
              </a:rPr>
              <a:t>            </a:t>
            </a:r>
            <a:r>
              <a:rPr lang="pt-BR" b="0" i="0" dirty="0" err="1">
                <a:solidFill>
                  <a:srgbClr val="495057"/>
                </a:solidFill>
                <a:effectLst/>
                <a:latin typeface="-apple-system"/>
              </a:rPr>
              <a:t>return</a:t>
            </a:r>
            <a:r>
              <a:rPr lang="pt-BR" b="0" i="0" dirty="0">
                <a:solidFill>
                  <a:srgbClr val="495057"/>
                </a:solidFill>
                <a:effectLst/>
                <a:latin typeface="-apple-system"/>
              </a:rPr>
              <a:t> </a:t>
            </a:r>
            <a:r>
              <a:rPr lang="pt-BR" b="0" i="0" dirty="0" err="1">
                <a:solidFill>
                  <a:srgbClr val="495057"/>
                </a:solidFill>
                <a:effectLst/>
                <a:latin typeface="-apple-system"/>
              </a:rPr>
              <a:t>base.VerificarEntrada</a:t>
            </a:r>
            <a:r>
              <a:rPr lang="pt-BR" b="0" i="0" dirty="0">
                <a:solidFill>
                  <a:srgbClr val="495057"/>
                </a:solidFill>
                <a:effectLst/>
                <a:latin typeface="-apple-system"/>
              </a:rPr>
              <a:t>();</a:t>
            </a:r>
          </a:p>
          <a:p>
            <a:pPr algn="l"/>
            <a:r>
              <a:rPr lang="pt-BR" b="0" i="0" dirty="0">
                <a:solidFill>
                  <a:srgbClr val="495057"/>
                </a:solidFill>
                <a:effectLst/>
                <a:latin typeface="-apple-system"/>
              </a:rPr>
              <a:t>        }</a:t>
            </a:r>
          </a:p>
          <a:p>
            <a:pPr algn="l"/>
            <a:r>
              <a:rPr lang="pt-BR" b="0" i="0" dirty="0">
                <a:solidFill>
                  <a:srgbClr val="495057"/>
                </a:solidFill>
                <a:effectLst/>
                <a:latin typeface="-apple-system"/>
              </a:rPr>
              <a:t>    }</a:t>
            </a:r>
          </a:p>
        </p:txBody>
      </p:sp>
    </p:spTree>
    <p:extLst>
      <p:ext uri="{BB962C8B-B14F-4D97-AF65-F5344CB8AC3E}">
        <p14:creationId xmlns:p14="http://schemas.microsoft.com/office/powerpoint/2010/main" val="3094161050"/>
      </p:ext>
    </p:extLst>
  </p:cSld>
  <p:clrMapOvr>
    <a:masterClrMapping/>
  </p:clrMapOvr>
</p:sld>
</file>

<file path=ppt/theme/theme1.xml><?xml version="1.0" encoding="utf-8"?>
<a:theme xmlns:a="http://schemas.openxmlformats.org/drawingml/2006/main" name="Retrospectiva">
  <a:themeElements>
    <a:clrScheme name="Retrospectiva">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iva">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iva">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docProps/app.xml><?xml version="1.0" encoding="utf-8"?>
<Properties xmlns="http://schemas.openxmlformats.org/officeDocument/2006/extended-properties" xmlns:vt="http://schemas.openxmlformats.org/officeDocument/2006/docPropsVTypes">
  <Template/>
  <TotalTime>1514</TotalTime>
  <Words>2992</Words>
  <Application>Microsoft Office PowerPoint</Application>
  <PresentationFormat>Widescreen</PresentationFormat>
  <Paragraphs>532</Paragraphs>
  <Slides>23</Slides>
  <Notes>0</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23</vt:i4>
      </vt:variant>
    </vt:vector>
  </HeadingPairs>
  <TitlesOfParts>
    <vt:vector size="30" baseType="lpstr">
      <vt:lpstr>-apple-system</vt:lpstr>
      <vt:lpstr>Arial</vt:lpstr>
      <vt:lpstr>Calibri</vt:lpstr>
      <vt:lpstr>Calibri Light</vt:lpstr>
      <vt:lpstr>Cambria Math</vt:lpstr>
      <vt:lpstr>Consolas</vt:lpstr>
      <vt:lpstr>Retrospectiva</vt:lpstr>
      <vt:lpstr>Linguagem de Programação 2</vt:lpstr>
      <vt:lpstr>Sobrecarga de operadores</vt:lpstr>
      <vt:lpstr>Apresentação do PowerPoint</vt:lpstr>
      <vt:lpstr>Apresentação do PowerPoint</vt:lpstr>
      <vt:lpstr>Apresentação do PowerPoint</vt:lpstr>
      <vt:lpstr>Exercício</vt:lpstr>
      <vt:lpstr>Polimorfismo</vt:lpstr>
      <vt:lpstr>Polimorfismo</vt:lpstr>
      <vt:lpstr>Polimorfismo</vt:lpstr>
      <vt:lpstr>Polimorfismo</vt:lpstr>
      <vt:lpstr>Polimorfismo</vt:lpstr>
      <vt:lpstr>Polimorfismo</vt:lpstr>
      <vt:lpstr>Exercício</vt:lpstr>
      <vt:lpstr>Apresentação do PowerPoint</vt:lpstr>
      <vt:lpstr>Polimorfismo </vt:lpstr>
      <vt:lpstr>Exercício</vt:lpstr>
      <vt:lpstr>Apresentação do PowerPoint</vt:lpstr>
      <vt:lpstr>Polimorfismo</vt:lpstr>
      <vt:lpstr>Generics</vt:lpstr>
      <vt:lpstr>Exemplo</vt:lpstr>
      <vt:lpstr>Generics</vt:lpstr>
      <vt:lpstr>Exercício</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Linguagem de Programação II</dc:title>
  <dc:creator>Windows User</dc:creator>
  <cp:lastModifiedBy>Tiago Docusse</cp:lastModifiedBy>
  <cp:revision>131</cp:revision>
  <dcterms:created xsi:type="dcterms:W3CDTF">2014-08-05T13:32:52Z</dcterms:created>
  <dcterms:modified xsi:type="dcterms:W3CDTF">2026-03-06T10:10:35Z</dcterms:modified>
</cp:coreProperties>
</file>