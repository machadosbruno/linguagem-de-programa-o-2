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  <p:sldMasterId id="2147483852" r:id="rId2"/>
  </p:sldMasterIdLst>
  <p:sldIdLst>
    <p:sldId id="346" r:id="rId3"/>
    <p:sldId id="320" r:id="rId4"/>
    <p:sldId id="348" r:id="rId5"/>
    <p:sldId id="349" r:id="rId6"/>
    <p:sldId id="347" r:id="rId7"/>
    <p:sldId id="350" r:id="rId8"/>
    <p:sldId id="351" r:id="rId9"/>
    <p:sldId id="353" r:id="rId10"/>
    <p:sldId id="354" r:id="rId11"/>
    <p:sldId id="352" r:id="rId12"/>
    <p:sldId id="263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EFF9FF"/>
    <a:srgbClr val="CCFFFF"/>
    <a:srgbClr val="003300"/>
    <a:srgbClr val="000000"/>
    <a:srgbClr val="006000"/>
    <a:srgbClr val="F8F8F8"/>
    <a:srgbClr val="007000"/>
    <a:srgbClr val="006600"/>
    <a:srgbClr val="00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2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42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63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5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18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8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3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15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02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680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209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686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489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1065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031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535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66583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7428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191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93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60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88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884420"/>
            <a:ext cx="10058400" cy="3440692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Linguagem de Programação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Tecnologia em Análise e Desenvolvimento de Sistemas</a:t>
            </a:r>
          </a:p>
          <a:p>
            <a:endParaRPr lang="pt-BR" sz="1800" cap="none" dirty="0"/>
          </a:p>
          <a:p>
            <a:pPr algn="ctr"/>
            <a:r>
              <a:rPr lang="pt-BR" sz="1800" cap="none" dirty="0"/>
              <a:t>Tiago Alexandre </a:t>
            </a:r>
            <a:r>
              <a:rPr lang="pt-BR" sz="1800" cap="none" dirty="0" err="1"/>
              <a:t>Dócusse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1905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b="0" strike="noStrike" spc="-52" dirty="0" err="1">
                <a:solidFill>
                  <a:srgbClr val="003300"/>
                </a:solidFill>
                <a:latin typeface="Corbel"/>
              </a:rPr>
              <a:t>Panel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Controle em que componentes são adicionados (</a:t>
            </a:r>
            <a:r>
              <a:rPr lang="pt-BR" sz="3200" b="0" i="1" strike="noStrike" spc="9" dirty="0">
                <a:solidFill>
                  <a:srgbClr val="003300"/>
                </a:solidFill>
                <a:latin typeface="Corbel"/>
              </a:rPr>
              <a:t>container</a:t>
            </a: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);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Caso seja necessário utilizar diferentes grupos de </a:t>
            </a:r>
            <a:r>
              <a:rPr lang="pt-BR" sz="3200" b="0" strike="noStrike" spc="9" dirty="0" err="1">
                <a:solidFill>
                  <a:srgbClr val="003300"/>
                </a:solidFill>
                <a:latin typeface="Corbel"/>
              </a:rPr>
              <a:t>radiobox</a:t>
            </a: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, cada grupo deve estar dentro de um </a:t>
            </a:r>
            <a:r>
              <a:rPr lang="pt-BR" sz="3200" b="0" i="1" strike="noStrike" spc="9" dirty="0">
                <a:solidFill>
                  <a:srgbClr val="003300"/>
                </a:solidFill>
                <a:latin typeface="Corbel"/>
              </a:rPr>
              <a:t>container</a:t>
            </a: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967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5CA1B-3D57-BF8D-3707-194453837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b="0" strike="noStrike" spc="-52" dirty="0" err="1">
                <a:solidFill>
                  <a:srgbClr val="003300"/>
                </a:solidFill>
                <a:latin typeface="Corbel"/>
              </a:rPr>
              <a:t>SplitContainer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17C50F-E942-6F07-F6F8-51C58ED3A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Controle que possui dois </a:t>
            </a:r>
            <a:r>
              <a:rPr lang="pt-BR" sz="3200" b="0" strike="noStrike" spc="9" dirty="0" err="1">
                <a:solidFill>
                  <a:srgbClr val="003300"/>
                </a:solidFill>
                <a:latin typeface="Corbel"/>
              </a:rPr>
              <a:t>Panels</a:t>
            </a: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, sendo que eles podem ser redimensionados pelo usuário;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Principal propriedade:</a:t>
            </a:r>
          </a:p>
          <a:p>
            <a:pPr marL="457200" lvl="1" indent="-18288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800" b="0" strike="noStrike" spc="-1" dirty="0" err="1">
                <a:solidFill>
                  <a:srgbClr val="003300"/>
                </a:solidFill>
                <a:latin typeface="Corbel"/>
              </a:rPr>
              <a:t>IsSplitterFixed</a:t>
            </a:r>
            <a:r>
              <a:rPr lang="pt-BR" sz="2800" b="0" strike="noStrike" spc="-1" dirty="0">
                <a:solidFill>
                  <a:srgbClr val="003300"/>
                </a:solidFill>
                <a:latin typeface="Corbel"/>
              </a:rPr>
              <a:t>: informa se o usuário pode redimensionar os painéis internos.</a:t>
            </a:r>
            <a:endParaRPr lang="pt-BR" sz="2800" b="0" strike="noStrike" spc="-1" dirty="0">
              <a:solidFill>
                <a:srgbClr val="007800"/>
              </a:solidFill>
              <a:latin typeface="Corbel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0972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119DC-3D0F-6656-677A-D5DB9052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b="0" strike="noStrike" spc="-52" dirty="0" err="1">
                <a:solidFill>
                  <a:srgbClr val="003300"/>
                </a:solidFill>
                <a:latin typeface="Corbel"/>
              </a:rPr>
              <a:t>TabControl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D4862B-3230-E1B1-FA69-FEA19BF7E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Controle que permite a utilização de abas;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Principal propriedade:</a:t>
            </a:r>
          </a:p>
          <a:p>
            <a:pPr marL="457200" lvl="1" indent="-18288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800" b="0" strike="noStrike" spc="-1" dirty="0" err="1">
                <a:solidFill>
                  <a:srgbClr val="003300"/>
                </a:solidFill>
                <a:latin typeface="Corbel"/>
              </a:rPr>
              <a:t>TabPages</a:t>
            </a:r>
            <a:r>
              <a:rPr lang="pt-BR" sz="2800" b="0" strike="noStrike" spc="-1" dirty="0">
                <a:solidFill>
                  <a:srgbClr val="003300"/>
                </a:solidFill>
                <a:latin typeface="Corbel"/>
              </a:rPr>
              <a:t>: armazena as abas a serem exibidas no controle;</a:t>
            </a:r>
            <a:endParaRPr lang="pt-BR" sz="2800" b="0" strike="noStrike" spc="-1" dirty="0">
              <a:solidFill>
                <a:srgbClr val="007800"/>
              </a:solidFill>
              <a:latin typeface="Corbel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10517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40B20-DB23-ACC4-655C-651C5F4F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b="0" strike="noStrike" spc="-52" dirty="0" err="1">
                <a:solidFill>
                  <a:srgbClr val="003300"/>
                </a:solidFill>
                <a:latin typeface="Corbel"/>
              </a:rPr>
              <a:t>FlowLayoutPanel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1175BF-C2D8-2BC1-FA7F-8D60CEE7B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Controle que permite a adição de controles, ao mesmo tempo que permite a escolha da forma em que eles serão armazenados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Principais propriedades:</a:t>
            </a:r>
          </a:p>
          <a:p>
            <a:pPr marL="457200" lvl="1" indent="-18288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800" b="0" strike="noStrike" spc="-1" dirty="0" err="1">
                <a:solidFill>
                  <a:srgbClr val="003300"/>
                </a:solidFill>
                <a:latin typeface="Corbel"/>
              </a:rPr>
              <a:t>FlowDirection</a:t>
            </a:r>
            <a:r>
              <a:rPr lang="pt-BR" sz="2800" b="0" strike="noStrike" spc="-1" dirty="0">
                <a:solidFill>
                  <a:srgbClr val="003300"/>
                </a:solidFill>
                <a:latin typeface="Corbel"/>
              </a:rPr>
              <a:t>: indica a direção em que os controles serão armazenados;</a:t>
            </a:r>
            <a:endParaRPr lang="pt-BR" sz="2800" b="0" strike="noStrike" spc="-1" dirty="0">
              <a:solidFill>
                <a:srgbClr val="007800"/>
              </a:solidFill>
              <a:latin typeface="Corbel"/>
            </a:endParaRPr>
          </a:p>
          <a:p>
            <a:pPr marL="457200" lvl="1" indent="-18288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800" b="0" strike="noStrike" spc="-1" dirty="0" err="1">
                <a:solidFill>
                  <a:srgbClr val="003300"/>
                </a:solidFill>
                <a:latin typeface="Corbel"/>
              </a:rPr>
              <a:t>AutoScroll</a:t>
            </a:r>
            <a:r>
              <a:rPr lang="pt-BR" sz="2800" b="0" strike="noStrike" spc="-1" dirty="0">
                <a:solidFill>
                  <a:srgbClr val="003300"/>
                </a:solidFill>
                <a:latin typeface="Corbel"/>
              </a:rPr>
              <a:t>: indica se barras de scroll devem ser adicionadas automaticamente.</a:t>
            </a:r>
            <a:endParaRPr lang="pt-BR" sz="2800" b="0" strike="noStrike" spc="-1" dirty="0">
              <a:solidFill>
                <a:srgbClr val="007800"/>
              </a:solidFill>
              <a:latin typeface="Corbel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9143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D2501-EA5A-D6C8-D980-C1B7D945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b="0" strike="noStrike" spc="-52" dirty="0">
                <a:solidFill>
                  <a:srgbClr val="003300"/>
                </a:solidFill>
                <a:latin typeface="Corbel"/>
              </a:rPr>
              <a:t>Timer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2F35AB-8767-6B28-37F5-64A772D9C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Utilizado para que determinadas ações sejam executadas após decorrido um determinado intervalo de tempo;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Principais propriedades:</a:t>
            </a:r>
          </a:p>
          <a:p>
            <a:pPr marL="457200" lvl="1" indent="-18288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800" b="0" strike="noStrike" spc="-1" dirty="0" err="1">
                <a:solidFill>
                  <a:srgbClr val="003300"/>
                </a:solidFill>
                <a:latin typeface="Corbel"/>
              </a:rPr>
              <a:t>Interval</a:t>
            </a:r>
            <a:r>
              <a:rPr lang="pt-BR" sz="2800" b="0" strike="noStrike" spc="-1" dirty="0">
                <a:solidFill>
                  <a:srgbClr val="003300"/>
                </a:solidFill>
                <a:latin typeface="Corbel"/>
              </a:rPr>
              <a:t>: tempo (em milissegundos) para que a próxima chamada seja executada.</a:t>
            </a:r>
            <a:endParaRPr lang="pt-BR" sz="2800" b="0" strike="noStrike" spc="-1" dirty="0">
              <a:solidFill>
                <a:srgbClr val="007800"/>
              </a:solidFill>
              <a:latin typeface="Corbel"/>
            </a:endParaRP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48913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4DA3-687C-450B-AFCF-E92F18828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b="0" strike="noStrike" spc="-52" dirty="0" err="1">
                <a:solidFill>
                  <a:srgbClr val="003300"/>
                </a:solidFill>
                <a:latin typeface="Corbel"/>
              </a:rPr>
              <a:t>BackgroundWorker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46AC1C-DE65-4292-1125-B218CD39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2400" b="0" strike="noStrike" spc="9" dirty="0">
                <a:solidFill>
                  <a:srgbClr val="003300"/>
                </a:solidFill>
                <a:latin typeface="Corbel"/>
              </a:rPr>
              <a:t>Utilizado para que determinadas ações sejam executadas em uma </a:t>
            </a:r>
            <a:r>
              <a:rPr lang="pt-BR" sz="2400" b="0" i="1" strike="noStrike" spc="9" dirty="0">
                <a:solidFill>
                  <a:srgbClr val="003300"/>
                </a:solidFill>
                <a:latin typeface="Corbel"/>
              </a:rPr>
              <a:t>thread </a:t>
            </a:r>
            <a:r>
              <a:rPr lang="pt-BR" sz="2400" b="0" strike="noStrike" spc="9" dirty="0">
                <a:solidFill>
                  <a:srgbClr val="003300"/>
                </a:solidFill>
                <a:latin typeface="Corbel"/>
              </a:rPr>
              <a:t>separada do </a:t>
            </a:r>
            <a:r>
              <a:rPr lang="pt-BR" sz="2400" b="0" i="1" strike="noStrike" spc="9" dirty="0">
                <a:solidFill>
                  <a:srgbClr val="003300"/>
                </a:solidFill>
                <a:latin typeface="Corbel"/>
              </a:rPr>
              <a:t>thread </a:t>
            </a:r>
            <a:r>
              <a:rPr lang="pt-BR" sz="2400" b="0" strike="noStrike" spc="9" dirty="0">
                <a:solidFill>
                  <a:srgbClr val="003300"/>
                </a:solidFill>
                <a:latin typeface="Corbel"/>
              </a:rPr>
              <a:t>principal no qual o programa é executado.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2400" b="0" strike="noStrike" spc="9" dirty="0">
                <a:solidFill>
                  <a:srgbClr val="003300"/>
                </a:solidFill>
                <a:latin typeface="Corbel"/>
              </a:rPr>
              <a:t>Principais propriedades:</a:t>
            </a:r>
          </a:p>
          <a:p>
            <a:pPr marL="457200" lvl="1" indent="-18288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200" b="0" strike="noStrike" spc="-1" dirty="0" err="1">
                <a:solidFill>
                  <a:srgbClr val="003300"/>
                </a:solidFill>
                <a:latin typeface="Corbel"/>
              </a:rPr>
              <a:t>WorkerReportsProgress</a:t>
            </a:r>
            <a:r>
              <a:rPr lang="pt-BR" sz="2200" b="0" strike="noStrike" spc="-1" dirty="0">
                <a:solidFill>
                  <a:srgbClr val="003300"/>
                </a:solidFill>
                <a:latin typeface="Corbel"/>
              </a:rPr>
              <a:t>: indica que o componente reporta o progresso para um objeto externo.</a:t>
            </a:r>
          </a:p>
          <a:p>
            <a:pPr marL="0" indent="-182880"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600" spc="-1" dirty="0">
                <a:solidFill>
                  <a:srgbClr val="003300"/>
                </a:solidFill>
                <a:latin typeface="Corbel"/>
              </a:rPr>
              <a:t>Principais eventos:</a:t>
            </a:r>
          </a:p>
          <a:p>
            <a:pPr marL="457200" lvl="1" indent="-182880"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200" b="0" strike="noStrike" spc="-1" dirty="0" err="1">
                <a:solidFill>
                  <a:srgbClr val="003300"/>
                </a:solidFill>
                <a:latin typeface="Corbel"/>
              </a:rPr>
              <a:t>DoWork</a:t>
            </a:r>
            <a:r>
              <a:rPr lang="pt-BR" sz="2200" b="0" strike="noStrike" spc="-1" dirty="0">
                <a:solidFill>
                  <a:srgbClr val="003300"/>
                </a:solidFill>
                <a:latin typeface="Corbel"/>
              </a:rPr>
              <a:t>: disparado quand</a:t>
            </a:r>
            <a:r>
              <a:rPr lang="pt-BR" sz="2200" spc="-1" dirty="0">
                <a:solidFill>
                  <a:srgbClr val="003300"/>
                </a:solidFill>
                <a:latin typeface="Corbel"/>
              </a:rPr>
              <a:t>o o método </a:t>
            </a:r>
            <a:r>
              <a:rPr lang="pt-BR" sz="2200" spc="-1" dirty="0" err="1">
                <a:solidFill>
                  <a:srgbClr val="003300"/>
                </a:solidFill>
                <a:latin typeface="Corbel"/>
              </a:rPr>
              <a:t>RunWorkerAsync</a:t>
            </a:r>
            <a:r>
              <a:rPr lang="pt-BR" sz="2200" spc="-1" dirty="0">
                <a:solidFill>
                  <a:srgbClr val="003300"/>
                </a:solidFill>
                <a:latin typeface="Corbel"/>
              </a:rPr>
              <a:t> do objeto é chamado;</a:t>
            </a:r>
          </a:p>
          <a:p>
            <a:pPr marL="457200" lvl="1" indent="-182880"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200" b="0" strike="noStrike" spc="-1" dirty="0" err="1">
                <a:solidFill>
                  <a:srgbClr val="003300"/>
                </a:solidFill>
                <a:latin typeface="Corbel"/>
              </a:rPr>
              <a:t>ProgressChanged</a:t>
            </a:r>
            <a:r>
              <a:rPr lang="pt-BR" sz="2200" b="0" strike="noStrike" spc="-1" dirty="0">
                <a:solidFill>
                  <a:srgbClr val="003300"/>
                </a:solidFill>
                <a:latin typeface="Corbel"/>
              </a:rPr>
              <a:t>: disparado quando o método </a:t>
            </a:r>
            <a:r>
              <a:rPr lang="pt-BR" sz="2200" b="0" strike="noStrike" spc="-1" dirty="0" err="1">
                <a:solidFill>
                  <a:srgbClr val="003300"/>
                </a:solidFill>
                <a:latin typeface="Corbel"/>
              </a:rPr>
              <a:t>ReportProgress</a:t>
            </a:r>
            <a:r>
              <a:rPr lang="pt-BR" sz="2200" b="0" strike="noStrike" spc="-1" dirty="0">
                <a:solidFill>
                  <a:srgbClr val="003300"/>
                </a:solidFill>
                <a:latin typeface="Corbel"/>
              </a:rPr>
              <a:t> do objeto é chamado;</a:t>
            </a:r>
          </a:p>
          <a:p>
            <a:pPr marL="457200" lvl="1" indent="-182880">
              <a:spcBef>
                <a:spcPts val="300"/>
              </a:spcBef>
              <a:spcAft>
                <a:spcPts val="300"/>
              </a:spcAft>
              <a:buClr>
                <a:srgbClr val="003300"/>
              </a:buClr>
              <a:buFont typeface="Wingdings 2" charset="2"/>
              <a:buChar char=""/>
            </a:pPr>
            <a:r>
              <a:rPr lang="pt-BR" sz="2200" spc="-1" dirty="0" err="1">
                <a:solidFill>
                  <a:srgbClr val="003300"/>
                </a:solidFill>
                <a:latin typeface="Corbel"/>
              </a:rPr>
              <a:t>RunWorkerCompleted</a:t>
            </a:r>
            <a:r>
              <a:rPr lang="pt-BR" sz="2200" spc="-1" dirty="0">
                <a:solidFill>
                  <a:srgbClr val="003300"/>
                </a:solidFill>
                <a:latin typeface="Corbel"/>
              </a:rPr>
              <a:t>: disparado quando o código de </a:t>
            </a:r>
            <a:r>
              <a:rPr lang="pt-BR" sz="2200" spc="-1" dirty="0" err="1">
                <a:solidFill>
                  <a:srgbClr val="003300"/>
                </a:solidFill>
                <a:latin typeface="Corbel"/>
              </a:rPr>
              <a:t>DoWork</a:t>
            </a:r>
            <a:r>
              <a:rPr lang="pt-BR" sz="2200" spc="-1" dirty="0">
                <a:solidFill>
                  <a:srgbClr val="003300"/>
                </a:solidFill>
                <a:latin typeface="Corbel"/>
              </a:rPr>
              <a:t> é encerrado.</a:t>
            </a:r>
            <a:endParaRPr lang="pt-BR" sz="2200" b="0" strike="noStrike" spc="-1" dirty="0">
              <a:solidFill>
                <a:srgbClr val="007800"/>
              </a:solidFill>
              <a:latin typeface="Corbel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714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F050D-71A9-900C-95B0-2BC3E82D7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6A033E-8D51-20BC-5995-250E889466B1}"/>
              </a:ext>
            </a:extLst>
          </p:cNvPr>
          <p:cNvSpPr txBox="1"/>
          <p:nvPr/>
        </p:nvSpPr>
        <p:spPr>
          <a:xfrm>
            <a:off x="1097279" y="1954749"/>
            <a:ext cx="10058399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button1_Click(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.Parse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(textBox1.Text);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button1.Enabled =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progressBar1.Value = 0;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 = n * n * n;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 = 0;</a:t>
            </a:r>
          </a:p>
          <a:p>
            <a:r>
              <a:rPr lang="nn-NO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nn-NO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n; i++)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j = 0; j &lt; n; j++)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 = 0; k &lt; n; k++)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= </a:t>
            </a:r>
            <a:r>
              <a:rPr lang="pt-BR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Math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.Sin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 * j * k);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atual = atual + 1;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(atual % 1000 == 0)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progressBar1.Value = 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)(100 *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 total);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progressBar1.Value = 100;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button1.Enabled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40599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DF20B-1BD8-6C31-EC92-912569F6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B6C596-D811-A229-728F-907764F13949}"/>
              </a:ext>
            </a:extLst>
          </p:cNvPr>
          <p:cNvSpPr txBox="1"/>
          <p:nvPr/>
        </p:nvSpPr>
        <p:spPr>
          <a:xfrm>
            <a:off x="1097280" y="1891381"/>
            <a:ext cx="10058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button1_Click(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sz="7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 =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.Parse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(textBox1.Text);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button1.Enabled =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progressBar1.Value = 0;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backgroundWorker1.RunWorkerAsync(n);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backgroundWorker1_DoWork(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sender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System.ComponentModel.</a:t>
            </a:r>
            <a:r>
              <a:rPr lang="pt-BR" sz="7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DoWorkEventArgs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 = (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e.Argument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 = n * n * n;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 = 0;</a:t>
            </a:r>
          </a:p>
          <a:p>
            <a:r>
              <a:rPr lang="nn-NO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nn-NO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n; i++)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j = 0; j &lt; n; j++)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 = 0; k &lt; n; k++)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= </a:t>
            </a:r>
            <a:r>
              <a:rPr lang="pt-BR" sz="7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Math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.Sin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 * j * k);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atual = atual + 1;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 % 1000 == 0)</a:t>
            </a:r>
          </a:p>
          <a:p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backgroundWorker1.ReportProgress((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)(100 *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 total));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backgroundWorker1_ProgressChanged(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sender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System.ComponentModel.</a:t>
            </a:r>
            <a:r>
              <a:rPr lang="pt-BR" sz="7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ProgressChangedEventArgs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progressBar1.Value =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e.ProgressPercentage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backgroundWorker1_RunWorkerCompleted(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sender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System.ComponentModel.</a:t>
            </a:r>
            <a:r>
              <a:rPr lang="pt-BR" sz="7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RunWorkerCompletedEventArgs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progressBar1.Value = 100;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button1.Enabled =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700" dirty="0"/>
          </a:p>
        </p:txBody>
      </p:sp>
    </p:spTree>
    <p:extLst>
      <p:ext uri="{BB962C8B-B14F-4D97-AF65-F5344CB8AC3E}">
        <p14:creationId xmlns:p14="http://schemas.microsoft.com/office/powerpoint/2010/main" val="248449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FC6CC-CF9F-5C1E-87FF-16A11E22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b="0" strike="noStrike" spc="-52" dirty="0" err="1">
                <a:solidFill>
                  <a:srgbClr val="003300"/>
                </a:solidFill>
                <a:latin typeface="Corbel"/>
              </a:rPr>
              <a:t>UserControl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E683D4-63D3-8138-7533-2BAB74C01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Também criado como uma classe, assim como o Formulário;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3200" b="0" strike="noStrike" spc="9" dirty="0">
                <a:solidFill>
                  <a:srgbClr val="003300"/>
                </a:solidFill>
                <a:latin typeface="Corbel"/>
              </a:rPr>
              <a:t>Utilizado em situações que desejamos repetir determinados controles em um formulário ou formulários diferentes.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222996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-596160"/>
            <a:ext cx="969228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pt-BR" sz="4400" b="0" strike="noStrike" spc="-52">
                <a:solidFill>
                  <a:srgbClr val="003300"/>
                </a:solidFill>
                <a:latin typeface="Corbel"/>
              </a:rPr>
              <a:t>Exercício</a:t>
            </a:r>
            <a:endParaRPr lang="pt-BR" sz="4400" b="0" strike="noStrike" spc="-1">
              <a:solidFill>
                <a:srgbClr val="003300"/>
              </a:solidFill>
              <a:latin typeface="Corbe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2280" y="729360"/>
            <a:ext cx="11140920" cy="606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000"/>
          </a:bodyPr>
          <a:lstStyle/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2800" b="0" strike="noStrike" spc="9" dirty="0">
                <a:solidFill>
                  <a:srgbClr val="003300"/>
                </a:solidFill>
                <a:latin typeface="Corbel"/>
              </a:rPr>
              <a:t>Criar um programa de lembretes, em que se cadastra o título do lembrete, uma breve descrição, a prioridade (alta/média/baixa) e a data e horário (hora e minuto) em que o lembrete deve ser ativado;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2800" b="0" strike="noStrike" spc="9" dirty="0">
                <a:solidFill>
                  <a:srgbClr val="003300"/>
                </a:solidFill>
                <a:latin typeface="Corbel"/>
              </a:rPr>
              <a:t>Os lembretes devem ser exibidos no formulário principal, com seu título e descrição. A prioridade deve alterar a cor do título do lembrete, sendo vermelho para alta prioridade, amarelo para média prioridade e azul para baixa prioridade;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2800" b="0" strike="noStrike" spc="9" dirty="0">
                <a:solidFill>
                  <a:srgbClr val="003300"/>
                </a:solidFill>
                <a:latin typeface="Corbel"/>
              </a:rPr>
              <a:t>No horário de ativação do lembrete, exibir uma mensagem ao usuário informando tal situação;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2800" b="0" strike="noStrike" spc="9" dirty="0">
                <a:solidFill>
                  <a:srgbClr val="003300"/>
                </a:solidFill>
                <a:latin typeface="Corbel"/>
              </a:rPr>
              <a:t>Quando o usuário marcar o lembrete como “Finalizado”, ele deve ser removido da lista de lembretes;</a:t>
            </a:r>
          </a:p>
          <a:p>
            <a:pPr marL="182880" indent="-18288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003300"/>
              </a:buClr>
              <a:buSzPct val="80000"/>
              <a:buFont typeface="Arial"/>
              <a:buChar char="•"/>
            </a:pPr>
            <a:r>
              <a:rPr lang="pt-BR" sz="2800" b="0" strike="noStrike" spc="9" dirty="0">
                <a:solidFill>
                  <a:srgbClr val="003300"/>
                </a:solidFill>
                <a:latin typeface="Corbel"/>
              </a:rPr>
              <a:t>No horário de ativação do lembrete, o usuário pode adiar ele por 2 minutos.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TM02900743[[fn=Orgânico]]</Template>
  <TotalTime>1440</TotalTime>
  <Words>826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Cascadia Mono</vt:lpstr>
      <vt:lpstr>Corbel</vt:lpstr>
      <vt:lpstr>Wingdings 2</vt:lpstr>
      <vt:lpstr>HDOfficeLightV0</vt:lpstr>
      <vt:lpstr>Retrospectiva</vt:lpstr>
      <vt:lpstr>Linguagem de Programação 2</vt:lpstr>
      <vt:lpstr>Panel</vt:lpstr>
      <vt:lpstr>SplitContainer</vt:lpstr>
      <vt:lpstr>TabControl</vt:lpstr>
      <vt:lpstr>FlowLayoutPanel</vt:lpstr>
      <vt:lpstr>Timer</vt:lpstr>
      <vt:lpstr>BackgroundWorker</vt:lpstr>
      <vt:lpstr>Exemplo</vt:lpstr>
      <vt:lpstr>Exemplo</vt:lpstr>
      <vt:lpstr>UserControl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 2</dc:title>
  <dc:creator>aluno</dc:creator>
  <cp:lastModifiedBy>Tiago Docusse</cp:lastModifiedBy>
  <cp:revision>196</cp:revision>
  <dcterms:created xsi:type="dcterms:W3CDTF">2017-07-05T21:06:24Z</dcterms:created>
  <dcterms:modified xsi:type="dcterms:W3CDTF">2026-04-30T11:11:57Z</dcterms:modified>
</cp:coreProperties>
</file>