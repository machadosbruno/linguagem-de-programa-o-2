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  <p:sldMasterId id="2147483852" r:id="rId2"/>
  </p:sldMasterIdLst>
  <p:sldIdLst>
    <p:sldId id="346" r:id="rId3"/>
    <p:sldId id="307" r:id="rId4"/>
    <p:sldId id="309" r:id="rId5"/>
    <p:sldId id="310" r:id="rId6"/>
    <p:sldId id="311" r:id="rId7"/>
    <p:sldId id="312" r:id="rId8"/>
    <p:sldId id="317" r:id="rId9"/>
    <p:sldId id="318" r:id="rId10"/>
    <p:sldId id="319" r:id="rId11"/>
    <p:sldId id="316" r:id="rId12"/>
    <p:sldId id="320" r:id="rId13"/>
    <p:sldId id="321" r:id="rId14"/>
    <p:sldId id="322" r:id="rId15"/>
    <p:sldId id="323" r:id="rId16"/>
    <p:sldId id="313" r:id="rId17"/>
    <p:sldId id="314" r:id="rId18"/>
    <p:sldId id="308" r:id="rId19"/>
    <p:sldId id="315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EFF9FF"/>
    <a:srgbClr val="CCFFFF"/>
    <a:srgbClr val="003300"/>
    <a:srgbClr val="000000"/>
    <a:srgbClr val="006000"/>
    <a:srgbClr val="F8F8F8"/>
    <a:srgbClr val="007000"/>
    <a:srgbClr val="006600"/>
    <a:srgbClr val="00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20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02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42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63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35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5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318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89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31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153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8024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868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9222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074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550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8793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852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297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8060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771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285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463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60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20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884420"/>
            <a:ext cx="10058400" cy="3440692"/>
          </a:xfrm>
        </p:spPr>
        <p:txBody>
          <a:bodyPr>
            <a:normAutofit/>
          </a:bodyPr>
          <a:lstStyle/>
          <a:p>
            <a:pPr algn="ctr"/>
            <a:r>
              <a:rPr lang="pt-BR" sz="6600"/>
              <a:t>Linguagem </a:t>
            </a:r>
            <a:r>
              <a:rPr lang="pt-BR" sz="6600" dirty="0"/>
              <a:t>de Programação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pt-BR" dirty="0"/>
              <a:t>Tecnologia em Análise e Desenvolvimento de Sistemas</a:t>
            </a:r>
          </a:p>
          <a:p>
            <a:endParaRPr lang="pt-BR" sz="1800" cap="none" dirty="0"/>
          </a:p>
          <a:p>
            <a:pPr algn="ctr"/>
            <a:r>
              <a:rPr lang="pt-BR" sz="1800" cap="none" dirty="0"/>
              <a:t>Tiago Alexandre </a:t>
            </a:r>
            <a:r>
              <a:rPr lang="pt-BR" sz="1800" cap="none" dirty="0" err="1"/>
              <a:t>Dócusse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1905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Utilizaremos a tecnologia </a:t>
            </a:r>
            <a:r>
              <a:rPr lang="pt-BR" sz="2800" dirty="0" err="1"/>
              <a:t>Windows.Forms</a:t>
            </a:r>
            <a:r>
              <a:rPr lang="pt-BR" sz="2800" dirty="0"/>
              <a:t> para criar interfaces de usuário;</a:t>
            </a:r>
          </a:p>
          <a:p>
            <a:r>
              <a:rPr lang="pt-BR" sz="2800" dirty="0"/>
              <a:t>Todo formulário criado é uma classe que herda de </a:t>
            </a:r>
            <a:r>
              <a:rPr lang="pt-BR" sz="2800" dirty="0" err="1"/>
              <a:t>Windows.Form</a:t>
            </a:r>
            <a:r>
              <a:rPr lang="pt-BR" sz="2800" dirty="0"/>
              <a:t>;</a:t>
            </a:r>
          </a:p>
          <a:p>
            <a:r>
              <a:rPr lang="pt-BR" sz="2800" dirty="0"/>
              <a:t>No formulário, podemos inserir diversos controles;</a:t>
            </a:r>
          </a:p>
          <a:p>
            <a:r>
              <a:rPr lang="pt-BR" sz="2800" dirty="0"/>
              <a:t>Controle possuem duas características principais</a:t>
            </a:r>
          </a:p>
          <a:p>
            <a:pPr lvl="1"/>
            <a:r>
              <a:rPr lang="pt-BR" sz="2400" dirty="0">
                <a:solidFill>
                  <a:schemeClr val="tx1"/>
                </a:solidFill>
              </a:rPr>
              <a:t>Propriedades;</a:t>
            </a:r>
          </a:p>
          <a:p>
            <a:pPr lvl="1"/>
            <a:r>
              <a:rPr lang="pt-BR" sz="2400" dirty="0">
                <a:solidFill>
                  <a:schemeClr val="tx1"/>
                </a:solidFill>
              </a:rPr>
              <a:t>Eventos.</a:t>
            </a:r>
          </a:p>
          <a:p>
            <a:pPr marL="342900" indent="-342900">
              <a:buFont typeface="+mj-lt"/>
              <a:buAutoNum type="arabicParenR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27315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As propriedades de um controle são características do mesmo, sejam visuais, de comportamento, entre outros;</a:t>
            </a:r>
          </a:p>
          <a:p>
            <a:r>
              <a:rPr lang="pt-BR" sz="2800" dirty="0">
                <a:solidFill>
                  <a:schemeClr val="tx1"/>
                </a:solidFill>
              </a:rPr>
              <a:t>Os eventos de um controle são ações que podem ser executadas quando determinado evento ocorre em um controle;</a:t>
            </a:r>
          </a:p>
          <a:p>
            <a:r>
              <a:rPr lang="pt-BR" sz="2800" dirty="0"/>
              <a:t>Todo formulário também possui propriedades e eventos;</a:t>
            </a:r>
          </a:p>
          <a:p>
            <a:r>
              <a:rPr lang="pt-BR" sz="2800" dirty="0">
                <a:solidFill>
                  <a:schemeClr val="tx1"/>
                </a:solidFill>
              </a:rPr>
              <a:t>Em </a:t>
            </a:r>
            <a:r>
              <a:rPr lang="pt-BR" sz="2800" dirty="0" err="1">
                <a:solidFill>
                  <a:schemeClr val="tx1"/>
                </a:solidFill>
              </a:rPr>
              <a:t>Program.cs</a:t>
            </a:r>
            <a:r>
              <a:rPr lang="pt-BR" sz="2800" dirty="0">
                <a:solidFill>
                  <a:schemeClr val="tx1"/>
                </a:solidFill>
              </a:rPr>
              <a:t>,</a:t>
            </a:r>
            <a:r>
              <a:rPr lang="pt-BR" sz="2800" dirty="0"/>
              <a:t> informamos o primeiro formulário a ser exibido quando o programa é iniciado;</a:t>
            </a:r>
          </a:p>
          <a:p>
            <a:r>
              <a:rPr lang="pt-BR" sz="2800" dirty="0">
                <a:solidFill>
                  <a:schemeClr val="tx1"/>
                </a:solidFill>
              </a:rPr>
              <a:t>Por padrão, é criado um formulário c</a:t>
            </a:r>
            <a:r>
              <a:rPr lang="pt-BR" sz="2800" dirty="0"/>
              <a:t>hamado Form1.cs.</a:t>
            </a:r>
            <a:endParaRPr lang="pt-BR" sz="2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arenR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92427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chemeClr val="tx1"/>
                </a:solidFill>
              </a:rPr>
              <a:t>Uma lista com os controles dispon</a:t>
            </a:r>
            <a:r>
              <a:rPr lang="pt-BR" sz="2800" dirty="0"/>
              <a:t>íveis ficam na janela “Toolbox” ou “Caixa de Ferramentas”;</a:t>
            </a:r>
          </a:p>
          <a:p>
            <a:r>
              <a:rPr lang="pt-BR" sz="2800" dirty="0">
                <a:solidFill>
                  <a:schemeClr val="tx1"/>
                </a:solidFill>
              </a:rPr>
              <a:t>As propriedades e eventos do controle atualmente selecionado ficam na janela “</a:t>
            </a:r>
            <a:r>
              <a:rPr lang="pt-BR" sz="2800" dirty="0" err="1">
                <a:solidFill>
                  <a:schemeClr val="tx1"/>
                </a:solidFill>
              </a:rPr>
              <a:t>Properties</a:t>
            </a:r>
            <a:r>
              <a:rPr lang="pt-BR" sz="2800" dirty="0">
                <a:solidFill>
                  <a:schemeClr val="tx1"/>
                </a:solidFill>
              </a:rPr>
              <a:t>” ou “Propriedades”;</a:t>
            </a:r>
          </a:p>
          <a:p>
            <a:r>
              <a:rPr lang="pt-BR" sz="2800" dirty="0"/>
              <a:t>Um formulário costuma ser descrito em dois arquivos:</a:t>
            </a:r>
          </a:p>
          <a:p>
            <a:pPr lvl="1"/>
            <a:r>
              <a:rPr lang="pt-BR" sz="2400" dirty="0" err="1">
                <a:solidFill>
                  <a:schemeClr val="tx1"/>
                </a:solidFill>
              </a:rPr>
              <a:t>form.cs</a:t>
            </a:r>
            <a:endParaRPr lang="pt-BR" sz="2400" dirty="0">
              <a:solidFill>
                <a:schemeClr val="tx1"/>
              </a:solidFill>
            </a:endParaRPr>
          </a:p>
          <a:p>
            <a:pPr lvl="2"/>
            <a:r>
              <a:rPr lang="pt-BR" sz="2000" dirty="0">
                <a:solidFill>
                  <a:schemeClr val="tx1"/>
                </a:solidFill>
              </a:rPr>
              <a:t>Contém a programação do formulário realizada pelo programador;</a:t>
            </a:r>
          </a:p>
          <a:p>
            <a:pPr lvl="1"/>
            <a:r>
              <a:rPr lang="pt-BR" sz="2400" dirty="0" err="1">
                <a:solidFill>
                  <a:schemeClr val="tx1"/>
                </a:solidFill>
              </a:rPr>
              <a:t>form.designer.cs</a:t>
            </a:r>
            <a:endParaRPr lang="pt-BR" sz="2400" dirty="0">
              <a:solidFill>
                <a:schemeClr val="tx1"/>
              </a:solidFill>
            </a:endParaRPr>
          </a:p>
          <a:p>
            <a:pPr lvl="2"/>
            <a:r>
              <a:rPr lang="pt-BR" sz="2000" dirty="0">
                <a:solidFill>
                  <a:schemeClr val="tx1"/>
                </a:solidFill>
              </a:rPr>
              <a:t>Contém a programação do formulário realizada pelo Visual Studio.</a:t>
            </a:r>
          </a:p>
          <a:p>
            <a:pPr marL="342900" indent="-342900">
              <a:buFont typeface="+mj-lt"/>
              <a:buAutoNum type="arabicParenR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577185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3200" dirty="0"/>
              <a:t>Todo formulário possui um método chamado </a:t>
            </a:r>
            <a:r>
              <a:rPr lang="pt-B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pt-BR" sz="3200" dirty="0"/>
              <a:t>, que é implementado em </a:t>
            </a:r>
            <a:r>
              <a:rPr lang="pt-BR" sz="3200" dirty="0" err="1"/>
              <a:t>form.cs.designer</a:t>
            </a:r>
            <a:r>
              <a:rPr lang="pt-BR" sz="3200" dirty="0"/>
              <a:t>;</a:t>
            </a:r>
          </a:p>
          <a:p>
            <a:r>
              <a:rPr lang="pt-BR" sz="3200" dirty="0"/>
              <a:t>Este método, que é chamado no construtor do formulário, realiza ações que foram selecionadas na janela “Propriedades”, sendo seu código gerado automaticamente pelo Visual Studio;</a:t>
            </a:r>
          </a:p>
          <a:p>
            <a:r>
              <a:rPr lang="pt-BR" sz="3200" dirty="0"/>
              <a:t>Recomenda-se não alterar o código dentro de </a:t>
            </a:r>
            <a:r>
              <a:rPr lang="pt-BR" sz="3200" dirty="0" err="1"/>
              <a:t>form.cs.designer</a:t>
            </a:r>
            <a:r>
              <a:rPr lang="pt-B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8390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Controles podem ser basicamente utilizados para entrada e saída de dados;</a:t>
            </a:r>
          </a:p>
          <a:p>
            <a:r>
              <a:rPr lang="pt-BR" sz="3200" dirty="0"/>
              <a:t>Entrada de dados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Textbox</a:t>
            </a:r>
            <a:r>
              <a:rPr lang="pt-BR" sz="2800" dirty="0">
                <a:solidFill>
                  <a:schemeClr val="tx1"/>
                </a:solidFill>
              </a:rPr>
              <a:t>, </a:t>
            </a:r>
            <a:r>
              <a:rPr lang="pt-BR" sz="2800" dirty="0" err="1">
                <a:solidFill>
                  <a:schemeClr val="tx1"/>
                </a:solidFill>
              </a:rPr>
              <a:t>combobox</a:t>
            </a:r>
            <a:r>
              <a:rPr lang="pt-BR" sz="2800" dirty="0">
                <a:solidFill>
                  <a:schemeClr val="tx1"/>
                </a:solidFill>
              </a:rPr>
              <a:t>, </a:t>
            </a:r>
            <a:r>
              <a:rPr lang="pt-BR" sz="2800" dirty="0" err="1">
                <a:solidFill>
                  <a:schemeClr val="tx1"/>
                </a:solidFill>
              </a:rPr>
              <a:t>radiobox</a:t>
            </a:r>
            <a:r>
              <a:rPr lang="pt-BR" sz="2800" dirty="0">
                <a:solidFill>
                  <a:schemeClr val="tx1"/>
                </a:solidFill>
              </a:rPr>
              <a:t>, </a:t>
            </a:r>
            <a:r>
              <a:rPr lang="pt-BR" sz="2800" dirty="0" err="1">
                <a:solidFill>
                  <a:schemeClr val="tx1"/>
                </a:solidFill>
              </a:rPr>
              <a:t>checkbox</a:t>
            </a:r>
            <a:r>
              <a:rPr lang="pt-BR" sz="2800" dirty="0">
                <a:solidFill>
                  <a:schemeClr val="tx1"/>
                </a:solidFill>
              </a:rPr>
              <a:t>, etc.</a:t>
            </a:r>
          </a:p>
          <a:p>
            <a:r>
              <a:rPr lang="pt-BR" sz="3200" dirty="0"/>
              <a:t>Saída de dados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Textbox</a:t>
            </a:r>
            <a:r>
              <a:rPr lang="pt-BR" sz="2800" dirty="0">
                <a:solidFill>
                  <a:schemeClr val="tx1"/>
                </a:solidFill>
              </a:rPr>
              <a:t>, </a:t>
            </a:r>
            <a:r>
              <a:rPr lang="pt-BR" sz="2800" dirty="0" err="1">
                <a:solidFill>
                  <a:schemeClr val="tx1"/>
                </a:solidFill>
              </a:rPr>
              <a:t>label</a:t>
            </a:r>
            <a:r>
              <a:rPr lang="pt-BR" sz="2800" dirty="0">
                <a:solidFill>
                  <a:schemeClr val="tx1"/>
                </a:solidFill>
              </a:rPr>
              <a:t>, </a:t>
            </a:r>
            <a:r>
              <a:rPr lang="pt-BR" sz="2800" dirty="0" err="1">
                <a:solidFill>
                  <a:schemeClr val="tx1"/>
                </a:solidFill>
              </a:rPr>
              <a:t>combobox</a:t>
            </a:r>
            <a:r>
              <a:rPr lang="pt-BR" sz="2800" dirty="0">
                <a:solidFill>
                  <a:schemeClr val="tx1"/>
                </a:solidFill>
              </a:rPr>
              <a:t>, </a:t>
            </a:r>
            <a:r>
              <a:rPr lang="pt-BR" sz="2800" dirty="0" err="1">
                <a:solidFill>
                  <a:schemeClr val="tx1"/>
                </a:solidFill>
              </a:rPr>
              <a:t>radiobox</a:t>
            </a:r>
            <a:r>
              <a:rPr lang="pt-BR" sz="2800" dirty="0">
                <a:solidFill>
                  <a:schemeClr val="tx1"/>
                </a:solidFill>
              </a:rPr>
              <a:t>, </a:t>
            </a:r>
            <a:r>
              <a:rPr lang="pt-BR" sz="2800" dirty="0" err="1">
                <a:solidFill>
                  <a:schemeClr val="tx1"/>
                </a:solidFill>
              </a:rPr>
              <a:t>checkbox</a:t>
            </a:r>
            <a:r>
              <a:rPr lang="pt-BR" sz="2800" dirty="0">
                <a:solidFill>
                  <a:schemeClr val="tx1"/>
                </a:solidFill>
              </a:rPr>
              <a:t>, etc.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Também é possível realizar a saída de dados através da classe </a:t>
            </a:r>
            <a:r>
              <a:rPr lang="pt-BR" sz="2800" dirty="0" err="1">
                <a:solidFill>
                  <a:schemeClr val="tx1"/>
                </a:solidFill>
              </a:rPr>
              <a:t>MessageBox</a:t>
            </a:r>
            <a:r>
              <a:rPr lang="pt-BR" sz="28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0796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sz="2800" dirty="0"/>
              <a:t>Propriedades gerais mais utilizadas de controles</a:t>
            </a:r>
          </a:p>
          <a:p>
            <a:r>
              <a:rPr lang="pt-BR" sz="2400" dirty="0" err="1"/>
              <a:t>Name</a:t>
            </a:r>
            <a:r>
              <a:rPr lang="pt-BR" sz="2400" dirty="0"/>
              <a:t>: define o nome daquele controle (um objeto do tipo do controle será criado em </a:t>
            </a:r>
            <a:r>
              <a:rPr lang="pt-BR" sz="2400" dirty="0" err="1"/>
              <a:t>form.designer.cs</a:t>
            </a:r>
            <a:r>
              <a:rPr lang="pt-BR" sz="2400" dirty="0"/>
              <a:t> com o nome definido nesta propriedade) (</a:t>
            </a:r>
            <a:r>
              <a:rPr lang="pt-BR" sz="2400" dirty="0" err="1"/>
              <a:t>string</a:t>
            </a:r>
            <a:r>
              <a:rPr lang="pt-BR" sz="2400" dirty="0"/>
              <a:t>);</a:t>
            </a:r>
          </a:p>
          <a:p>
            <a:r>
              <a:rPr lang="pt-BR" sz="2400" dirty="0" err="1"/>
              <a:t>Enabled</a:t>
            </a:r>
            <a:r>
              <a:rPr lang="pt-BR" sz="2400" dirty="0"/>
              <a:t>: define se o controle está habilitado para interação com o usuário (</a:t>
            </a:r>
            <a:r>
              <a:rPr lang="pt-BR" sz="2400" dirty="0" err="1"/>
              <a:t>bool</a:t>
            </a:r>
            <a:r>
              <a:rPr lang="pt-BR" sz="2400" dirty="0"/>
              <a:t>);</a:t>
            </a:r>
          </a:p>
          <a:p>
            <a:r>
              <a:rPr lang="pt-BR" sz="2400" dirty="0" err="1"/>
              <a:t>Visible</a:t>
            </a:r>
            <a:r>
              <a:rPr lang="pt-BR" sz="2400" dirty="0"/>
              <a:t>: define se o controle está visível para o usuário (</a:t>
            </a:r>
            <a:r>
              <a:rPr lang="pt-BR" sz="2400" dirty="0" err="1"/>
              <a:t>bool</a:t>
            </a:r>
            <a:r>
              <a:rPr lang="pt-BR" sz="2400" dirty="0"/>
              <a:t>);</a:t>
            </a:r>
          </a:p>
          <a:p>
            <a:r>
              <a:rPr lang="pt-BR" sz="2400" dirty="0" err="1"/>
              <a:t>TabStop</a:t>
            </a:r>
            <a:r>
              <a:rPr lang="pt-BR" sz="2400" dirty="0"/>
              <a:t>: define se o controle deve ser selecionado através da tecla TAB;</a:t>
            </a:r>
          </a:p>
          <a:p>
            <a:r>
              <a:rPr lang="pt-BR" sz="2400" dirty="0" err="1"/>
              <a:t>TabIndex</a:t>
            </a:r>
            <a:r>
              <a:rPr lang="pt-BR" sz="2400" dirty="0"/>
              <a:t>: define a ordem de acesso do controle ao utilizar a tecla TAB (início em 0) (</a:t>
            </a:r>
            <a:r>
              <a:rPr lang="pt-BR" sz="2400" dirty="0" err="1"/>
              <a:t>int</a:t>
            </a:r>
            <a:r>
              <a:rPr lang="pt-BR" sz="2400" dirty="0"/>
              <a:t>);</a:t>
            </a:r>
          </a:p>
          <a:p>
            <a:r>
              <a:rPr lang="pt-BR" sz="2400" dirty="0" err="1"/>
              <a:t>Size</a:t>
            </a:r>
            <a:r>
              <a:rPr lang="pt-BR" sz="2400" dirty="0"/>
              <a:t>: define o tamanho do controle (</a:t>
            </a:r>
            <a:r>
              <a:rPr lang="pt-BR" sz="2400" dirty="0" err="1"/>
              <a:t>Size</a:t>
            </a:r>
            <a:r>
              <a:rPr lang="pt-BR" sz="2400" dirty="0"/>
              <a:t>).</a:t>
            </a:r>
          </a:p>
          <a:p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23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Propriedades gerais mais utilizadas de controles</a:t>
            </a:r>
          </a:p>
          <a:p>
            <a:r>
              <a:rPr lang="pt-BR" sz="2400" dirty="0" err="1">
                <a:solidFill>
                  <a:schemeClr val="tx1"/>
                </a:solidFill>
              </a:rPr>
              <a:t>Location</a:t>
            </a:r>
            <a:r>
              <a:rPr lang="pt-BR" sz="2400" dirty="0">
                <a:solidFill>
                  <a:schemeClr val="tx1"/>
                </a:solidFill>
              </a:rPr>
              <a:t>: posição do controle em seu </a:t>
            </a:r>
            <a:r>
              <a:rPr lang="pt-BR" sz="2400" i="1" dirty="0">
                <a:solidFill>
                  <a:schemeClr val="tx1"/>
                </a:solidFill>
              </a:rPr>
              <a:t>container </a:t>
            </a:r>
            <a:r>
              <a:rPr lang="pt-BR" sz="2400" dirty="0">
                <a:solidFill>
                  <a:schemeClr val="tx1"/>
                </a:solidFill>
              </a:rPr>
              <a:t>pai (Point);</a:t>
            </a:r>
          </a:p>
          <a:p>
            <a:r>
              <a:rPr lang="pt-BR" sz="2400" dirty="0" err="1">
                <a:solidFill>
                  <a:schemeClr val="tx1"/>
                </a:solidFill>
              </a:rPr>
              <a:t>Font</a:t>
            </a:r>
            <a:r>
              <a:rPr lang="pt-BR" sz="2400" dirty="0">
                <a:solidFill>
                  <a:schemeClr val="tx1"/>
                </a:solidFill>
              </a:rPr>
              <a:t>: fonte utilizada nos caracteres do controle (</a:t>
            </a:r>
            <a:r>
              <a:rPr lang="pt-BR" sz="2400" dirty="0" err="1">
                <a:solidFill>
                  <a:schemeClr val="tx1"/>
                </a:solidFill>
              </a:rPr>
              <a:t>Font</a:t>
            </a:r>
            <a:r>
              <a:rPr lang="pt-BR" sz="2400" dirty="0">
                <a:solidFill>
                  <a:schemeClr val="tx1"/>
                </a:solidFill>
              </a:rPr>
              <a:t>);</a:t>
            </a:r>
          </a:p>
          <a:p>
            <a:r>
              <a:rPr lang="pt-BR" sz="2400" dirty="0" err="1"/>
              <a:t>ForeColor</a:t>
            </a:r>
            <a:r>
              <a:rPr lang="pt-BR" sz="2400" dirty="0"/>
              <a:t>: cor do primeiro plano (Color);</a:t>
            </a:r>
          </a:p>
          <a:p>
            <a:r>
              <a:rPr lang="pt-BR" sz="2400" dirty="0" err="1">
                <a:solidFill>
                  <a:schemeClr val="tx1"/>
                </a:solidFill>
              </a:rPr>
              <a:t>BackColor</a:t>
            </a:r>
            <a:r>
              <a:rPr lang="pt-BR" sz="2400" dirty="0"/>
              <a:t>: cor do segundo plano (Color);</a:t>
            </a:r>
          </a:p>
          <a:p>
            <a:r>
              <a:rPr lang="pt-BR" sz="2400" dirty="0" err="1">
                <a:solidFill>
                  <a:schemeClr val="tx1"/>
                </a:solidFill>
              </a:rPr>
              <a:t>Doc</a:t>
            </a:r>
            <a:r>
              <a:rPr lang="pt-BR" sz="2400" dirty="0" err="1"/>
              <a:t>k</a:t>
            </a:r>
            <a:r>
              <a:rPr lang="pt-BR" sz="2400" dirty="0"/>
              <a:t>: indica se o controle deve ficar fixo no seu </a:t>
            </a:r>
            <a:r>
              <a:rPr lang="pt-BR" sz="2400" i="1" dirty="0"/>
              <a:t>container </a:t>
            </a:r>
            <a:r>
              <a:rPr lang="pt-BR" sz="2400" dirty="0"/>
              <a:t>pai (</a:t>
            </a:r>
            <a:r>
              <a:rPr lang="pt-BR" sz="2400" dirty="0" err="1"/>
              <a:t>DockStyle</a:t>
            </a:r>
            <a:r>
              <a:rPr lang="pt-BR" sz="2400" dirty="0"/>
              <a:t>);</a:t>
            </a:r>
          </a:p>
          <a:p>
            <a:r>
              <a:rPr lang="pt-BR" sz="2400" dirty="0" err="1">
                <a:solidFill>
                  <a:schemeClr val="tx1"/>
                </a:solidFill>
              </a:rPr>
              <a:t>Anchor</a:t>
            </a:r>
            <a:r>
              <a:rPr lang="pt-BR" sz="2400" dirty="0">
                <a:solidFill>
                  <a:schemeClr val="tx1"/>
                </a:solidFill>
              </a:rPr>
              <a:t>: define em qual extremidade (topo, baixo, esquerda, direita) o controle deve manter a distância definida para o seu </a:t>
            </a:r>
            <a:r>
              <a:rPr lang="pt-BR" sz="2400" i="1" dirty="0">
                <a:solidFill>
                  <a:schemeClr val="tx1"/>
                </a:solidFill>
              </a:rPr>
              <a:t>container </a:t>
            </a:r>
            <a:r>
              <a:rPr lang="pt-BR" sz="2400" dirty="0">
                <a:solidFill>
                  <a:schemeClr val="tx1"/>
                </a:solidFill>
              </a:rPr>
              <a:t>pai (</a:t>
            </a:r>
            <a:r>
              <a:rPr lang="pt-BR" sz="2400" dirty="0" err="1">
                <a:solidFill>
                  <a:schemeClr val="tx1"/>
                </a:solidFill>
              </a:rPr>
              <a:t>AnchorStyles</a:t>
            </a:r>
            <a:r>
              <a:rPr lang="pt-BR" sz="2400" dirty="0">
                <a:solidFill>
                  <a:schemeClr val="tx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3191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Label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Controle utilizado para exibir um texto alfanumérico;</a:t>
            </a:r>
          </a:p>
          <a:p>
            <a:r>
              <a:rPr lang="pt-BR" sz="3200" dirty="0"/>
              <a:t>Principais propriedades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Text</a:t>
            </a:r>
            <a:r>
              <a:rPr lang="pt-BR" sz="2800" dirty="0">
                <a:solidFill>
                  <a:schemeClr val="tx1"/>
                </a:solidFill>
              </a:rPr>
              <a:t>: texto a ser exibido no controle (</a:t>
            </a:r>
            <a:r>
              <a:rPr lang="pt-BR" sz="2800" dirty="0" err="1">
                <a:solidFill>
                  <a:schemeClr val="tx1"/>
                </a:solidFill>
              </a:rPr>
              <a:t>string</a:t>
            </a:r>
            <a:r>
              <a:rPr lang="pt-BR" sz="2800" dirty="0">
                <a:solidFill>
                  <a:schemeClr val="tx1"/>
                </a:solidFill>
              </a:rPr>
              <a:t>).</a:t>
            </a:r>
            <a:endParaRPr lang="pt-BR" sz="3200" dirty="0"/>
          </a:p>
          <a:p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51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Textbox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sz="3200" dirty="0"/>
              <a:t>Controle utilizado para informar um texto alfanumérico;</a:t>
            </a:r>
          </a:p>
          <a:p>
            <a:r>
              <a:rPr lang="pt-BR" sz="3200" dirty="0"/>
              <a:t>Principais propriedades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Text</a:t>
            </a:r>
            <a:r>
              <a:rPr lang="pt-BR" sz="2800" dirty="0">
                <a:solidFill>
                  <a:schemeClr val="tx1"/>
                </a:solidFill>
              </a:rPr>
              <a:t>: texto a ser exibido no controle (</a:t>
            </a:r>
            <a:r>
              <a:rPr lang="pt-BR" sz="2800" dirty="0" err="1">
                <a:solidFill>
                  <a:schemeClr val="tx1"/>
                </a:solidFill>
              </a:rPr>
              <a:t>string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Multiline</a:t>
            </a:r>
            <a:r>
              <a:rPr lang="pt-BR" sz="2800" dirty="0">
                <a:solidFill>
                  <a:schemeClr val="tx1"/>
                </a:solidFill>
              </a:rPr>
              <a:t>: define se o controle deve aceitar quebras de linha (</a:t>
            </a:r>
            <a:r>
              <a:rPr lang="pt-BR" sz="2800" dirty="0" err="1">
                <a:solidFill>
                  <a:schemeClr val="tx1"/>
                </a:solidFill>
              </a:rPr>
              <a:t>bool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PasswordChar</a:t>
            </a:r>
            <a:r>
              <a:rPr lang="pt-BR" sz="2800" dirty="0">
                <a:solidFill>
                  <a:schemeClr val="tx1"/>
                </a:solidFill>
              </a:rPr>
              <a:t>: define se o controle deve exibir um caractere para cada caractere do texto armazenado (char);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UseSystemPassword</a:t>
            </a:r>
            <a:r>
              <a:rPr lang="pt-BR" sz="2800" dirty="0">
                <a:solidFill>
                  <a:schemeClr val="tx1"/>
                </a:solidFill>
              </a:rPr>
              <a:t>: define se o controle deve exibir o caractere padrão de senha do sistema operacional para cada caractere do texto armazenado (</a:t>
            </a:r>
            <a:r>
              <a:rPr lang="pt-BR" sz="2800" dirty="0" err="1">
                <a:solidFill>
                  <a:schemeClr val="tx1"/>
                </a:solidFill>
              </a:rPr>
              <a:t>bool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MaxLength</a:t>
            </a:r>
            <a:r>
              <a:rPr lang="pt-BR" sz="2800" dirty="0">
                <a:solidFill>
                  <a:schemeClr val="tx1"/>
                </a:solidFill>
              </a:rPr>
              <a:t>: tamanho máximo do texto armazenado (</a:t>
            </a:r>
            <a:r>
              <a:rPr lang="pt-BR" sz="2800" dirty="0" err="1">
                <a:solidFill>
                  <a:schemeClr val="tx1"/>
                </a:solidFill>
              </a:rPr>
              <a:t>int</a:t>
            </a:r>
            <a:r>
              <a:rPr lang="pt-BR" sz="2800" dirty="0">
                <a:solidFill>
                  <a:schemeClr val="tx1"/>
                </a:solidFill>
              </a:rPr>
              <a:t>).</a:t>
            </a:r>
          </a:p>
          <a:p>
            <a:endParaRPr lang="pt-BR" sz="3200" dirty="0"/>
          </a:p>
          <a:p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199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RadioBox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3200" dirty="0"/>
              <a:t>Controle utilizado para escolher uma opção dentre várias;</a:t>
            </a:r>
          </a:p>
          <a:p>
            <a:r>
              <a:rPr lang="pt-BR" sz="3200" dirty="0"/>
              <a:t>Principais propriedades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Text</a:t>
            </a:r>
            <a:r>
              <a:rPr lang="pt-BR" sz="2800" dirty="0">
                <a:solidFill>
                  <a:schemeClr val="tx1"/>
                </a:solidFill>
              </a:rPr>
              <a:t>: texto a ser exibido no controle (</a:t>
            </a:r>
            <a:r>
              <a:rPr lang="pt-BR" sz="2800" dirty="0" err="1">
                <a:solidFill>
                  <a:schemeClr val="tx1"/>
                </a:solidFill>
              </a:rPr>
              <a:t>string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Checked</a:t>
            </a:r>
            <a:r>
              <a:rPr lang="pt-BR" sz="2800" dirty="0">
                <a:solidFill>
                  <a:schemeClr val="tx1"/>
                </a:solidFill>
              </a:rPr>
              <a:t>: define se o controle está selecionado ou não (</a:t>
            </a:r>
            <a:r>
              <a:rPr lang="pt-BR" sz="2800" dirty="0" err="1">
                <a:solidFill>
                  <a:schemeClr val="tx1"/>
                </a:solidFill>
              </a:rPr>
              <a:t>bool</a:t>
            </a:r>
            <a:r>
              <a:rPr lang="pt-BR" sz="2800" dirty="0">
                <a:solidFill>
                  <a:schemeClr val="tx1"/>
                </a:solidFill>
              </a:rPr>
              <a:t>).</a:t>
            </a:r>
          </a:p>
          <a:p>
            <a:pPr lvl="1"/>
            <a:endParaRPr lang="pt-BR" sz="2800" dirty="0">
              <a:solidFill>
                <a:schemeClr val="tx1"/>
              </a:solidFill>
            </a:endParaRPr>
          </a:p>
          <a:p>
            <a:pPr lvl="1"/>
            <a:endParaRPr lang="pt-BR" sz="2800" dirty="0">
              <a:solidFill>
                <a:schemeClr val="tx1"/>
              </a:solidFill>
            </a:endParaRPr>
          </a:p>
          <a:p>
            <a:r>
              <a:rPr lang="pt-BR" sz="3200" dirty="0"/>
              <a:t>Apenas um </a:t>
            </a:r>
            <a:r>
              <a:rPr lang="pt-BR" sz="3200" dirty="0" err="1"/>
              <a:t>radiobox</a:t>
            </a:r>
            <a:r>
              <a:rPr lang="pt-BR" sz="3200" dirty="0"/>
              <a:t> dentro de um </a:t>
            </a:r>
            <a:r>
              <a:rPr lang="pt-BR" sz="3200" i="1" dirty="0"/>
              <a:t>container</a:t>
            </a:r>
            <a:r>
              <a:rPr lang="pt-BR" sz="3200" dirty="0"/>
              <a:t> pai pode estar selecionado ao mesmo tempo.</a:t>
            </a:r>
            <a:endParaRPr lang="pt-BR" sz="3200" dirty="0">
              <a:solidFill>
                <a:schemeClr val="tx1"/>
              </a:solidFill>
            </a:endParaRPr>
          </a:p>
          <a:p>
            <a:endParaRPr lang="pt-BR" sz="3200" dirty="0"/>
          </a:p>
          <a:p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67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CheckBox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Controle utilizado para escolher uma opção como verdadeira ou falsa;</a:t>
            </a:r>
          </a:p>
          <a:p>
            <a:r>
              <a:rPr lang="pt-BR" sz="3200" dirty="0"/>
              <a:t>Principais propriedades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Text</a:t>
            </a:r>
            <a:r>
              <a:rPr lang="pt-BR" sz="2800" dirty="0">
                <a:solidFill>
                  <a:schemeClr val="tx1"/>
                </a:solidFill>
              </a:rPr>
              <a:t>: texto a ser exibido no controle (</a:t>
            </a:r>
            <a:r>
              <a:rPr lang="pt-BR" sz="2800" dirty="0" err="1">
                <a:solidFill>
                  <a:schemeClr val="tx1"/>
                </a:solidFill>
              </a:rPr>
              <a:t>string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Checked</a:t>
            </a:r>
            <a:r>
              <a:rPr lang="pt-BR" sz="2800" dirty="0">
                <a:solidFill>
                  <a:schemeClr val="tx1"/>
                </a:solidFill>
              </a:rPr>
              <a:t>: define se o controle está selecionado ou não (</a:t>
            </a:r>
            <a:r>
              <a:rPr lang="pt-BR" sz="2800" dirty="0" err="1">
                <a:solidFill>
                  <a:schemeClr val="tx1"/>
                </a:solidFill>
              </a:rPr>
              <a:t>bool</a:t>
            </a:r>
            <a:r>
              <a:rPr lang="pt-BR" sz="2800" dirty="0">
                <a:solidFill>
                  <a:schemeClr val="tx1"/>
                </a:solidFill>
              </a:rPr>
              <a:t>).</a:t>
            </a:r>
          </a:p>
          <a:p>
            <a:pPr lvl="1"/>
            <a:endParaRPr lang="pt-BR" sz="2800" dirty="0">
              <a:solidFill>
                <a:schemeClr val="tx1"/>
              </a:solidFill>
            </a:endParaRPr>
          </a:p>
          <a:p>
            <a:endParaRPr lang="pt-BR" sz="3200" dirty="0"/>
          </a:p>
          <a:p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144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ComboBox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3200" dirty="0"/>
              <a:t>Controle utilizado para escolher uma opção dentre várias disponíveis;</a:t>
            </a:r>
          </a:p>
          <a:p>
            <a:r>
              <a:rPr lang="pt-BR" sz="3200" dirty="0"/>
              <a:t>Principais propriedades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Items</a:t>
            </a:r>
            <a:r>
              <a:rPr lang="pt-BR" sz="2800" dirty="0">
                <a:solidFill>
                  <a:schemeClr val="tx1"/>
                </a:solidFill>
              </a:rPr>
              <a:t>: armazena as possíveis opções (</a:t>
            </a:r>
            <a:r>
              <a:rPr lang="pt-BR" sz="2800" dirty="0" err="1">
                <a:solidFill>
                  <a:schemeClr val="tx1"/>
                </a:solidFill>
              </a:rPr>
              <a:t>ObjectCollection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DropDownStyle</a:t>
            </a:r>
            <a:r>
              <a:rPr lang="pt-BR" sz="2800" dirty="0">
                <a:solidFill>
                  <a:schemeClr val="tx1"/>
                </a:solidFill>
              </a:rPr>
              <a:t>: define a forma de exibição do </a:t>
            </a:r>
            <a:r>
              <a:rPr lang="pt-BR" sz="2800" dirty="0" err="1">
                <a:solidFill>
                  <a:schemeClr val="tx1"/>
                </a:solidFill>
              </a:rPr>
              <a:t>combobox</a:t>
            </a:r>
            <a:r>
              <a:rPr lang="pt-BR" sz="2800" dirty="0">
                <a:solidFill>
                  <a:schemeClr val="tx1"/>
                </a:solidFill>
              </a:rPr>
              <a:t>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SelectedItem</a:t>
            </a:r>
            <a:r>
              <a:rPr lang="pt-BR" sz="2800" dirty="0">
                <a:solidFill>
                  <a:schemeClr val="tx1"/>
                </a:solidFill>
              </a:rPr>
              <a:t>: objeto selecionado no </a:t>
            </a:r>
            <a:r>
              <a:rPr lang="pt-BR" sz="2800" dirty="0" err="1">
                <a:solidFill>
                  <a:schemeClr val="tx1"/>
                </a:solidFill>
              </a:rPr>
              <a:t>combobox</a:t>
            </a:r>
            <a:r>
              <a:rPr lang="pt-BR" sz="2800" dirty="0">
                <a:solidFill>
                  <a:schemeClr val="tx1"/>
                </a:solidFill>
              </a:rPr>
              <a:t> (</a:t>
            </a:r>
            <a:r>
              <a:rPr lang="pt-BR" sz="2800" dirty="0" err="1">
                <a:solidFill>
                  <a:schemeClr val="tx1"/>
                </a:solidFill>
              </a:rPr>
              <a:t>object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SelectedText</a:t>
            </a:r>
            <a:r>
              <a:rPr lang="pt-BR" sz="2800" dirty="0">
                <a:solidFill>
                  <a:schemeClr val="tx1"/>
                </a:solidFill>
              </a:rPr>
              <a:t>: texto selecionado no </a:t>
            </a:r>
            <a:r>
              <a:rPr lang="pt-BR" sz="2800" dirty="0" err="1">
                <a:solidFill>
                  <a:schemeClr val="tx1"/>
                </a:solidFill>
              </a:rPr>
              <a:t>combobox</a:t>
            </a:r>
            <a:r>
              <a:rPr lang="pt-BR" sz="2800" dirty="0">
                <a:solidFill>
                  <a:schemeClr val="tx1"/>
                </a:solidFill>
              </a:rPr>
              <a:t> (</a:t>
            </a:r>
            <a:r>
              <a:rPr lang="pt-BR" sz="2800" dirty="0" err="1">
                <a:solidFill>
                  <a:schemeClr val="tx1"/>
                </a:solidFill>
              </a:rPr>
              <a:t>string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SelectedValue</a:t>
            </a:r>
            <a:r>
              <a:rPr lang="pt-BR" sz="2800" dirty="0">
                <a:solidFill>
                  <a:schemeClr val="tx1"/>
                </a:solidFill>
              </a:rPr>
              <a:t>: valor selecionado no </a:t>
            </a:r>
            <a:r>
              <a:rPr lang="pt-BR" sz="2800" dirty="0" err="1">
                <a:solidFill>
                  <a:schemeClr val="tx1"/>
                </a:solidFill>
              </a:rPr>
              <a:t>combobx</a:t>
            </a:r>
            <a:r>
              <a:rPr lang="pt-BR" sz="2800" dirty="0">
                <a:solidFill>
                  <a:schemeClr val="tx1"/>
                </a:solidFill>
              </a:rPr>
              <a:t> (</a:t>
            </a:r>
            <a:r>
              <a:rPr lang="pt-BR" sz="2800" dirty="0" err="1">
                <a:solidFill>
                  <a:schemeClr val="tx1"/>
                </a:solidFill>
              </a:rPr>
              <a:t>object</a:t>
            </a:r>
            <a:r>
              <a:rPr lang="pt-BR" sz="2800" dirty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SelectedIndex</a:t>
            </a:r>
            <a:r>
              <a:rPr lang="pt-BR" sz="2800" dirty="0">
                <a:solidFill>
                  <a:schemeClr val="tx1"/>
                </a:solidFill>
              </a:rPr>
              <a:t>: índice do objeto selecionado no </a:t>
            </a:r>
            <a:r>
              <a:rPr lang="pt-BR" sz="2800" dirty="0" err="1">
                <a:solidFill>
                  <a:schemeClr val="tx1"/>
                </a:solidFill>
              </a:rPr>
              <a:t>combobox</a:t>
            </a:r>
            <a:r>
              <a:rPr lang="pt-BR" sz="2800" dirty="0">
                <a:solidFill>
                  <a:schemeClr val="tx1"/>
                </a:solidFill>
              </a:rPr>
              <a:t> (</a:t>
            </a:r>
            <a:r>
              <a:rPr lang="pt-BR" sz="2800" dirty="0" err="1">
                <a:solidFill>
                  <a:schemeClr val="tx1"/>
                </a:solidFill>
              </a:rPr>
              <a:t>int</a:t>
            </a:r>
            <a:r>
              <a:rPr lang="pt-BR" sz="2800" dirty="0">
                <a:solidFill>
                  <a:schemeClr val="tx1"/>
                </a:solidFill>
              </a:rPr>
              <a:t>).</a:t>
            </a:r>
          </a:p>
          <a:p>
            <a:pPr lvl="1"/>
            <a:endParaRPr lang="pt-BR" sz="2800" dirty="0">
              <a:solidFill>
                <a:schemeClr val="tx1"/>
              </a:solidFill>
            </a:endParaRPr>
          </a:p>
          <a:p>
            <a:endParaRPr lang="pt-BR" sz="3200" dirty="0"/>
          </a:p>
          <a:p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23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Button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Controle utilizado para informar uma ação</a:t>
            </a:r>
          </a:p>
          <a:p>
            <a:r>
              <a:rPr lang="pt-BR" sz="3200" dirty="0"/>
              <a:t>Principal propriedade</a:t>
            </a:r>
          </a:p>
          <a:p>
            <a:pPr lvl="1"/>
            <a:r>
              <a:rPr lang="pt-BR" sz="2800" dirty="0" err="1">
                <a:solidFill>
                  <a:schemeClr val="tx1"/>
                </a:solidFill>
              </a:rPr>
              <a:t>Text</a:t>
            </a:r>
            <a:r>
              <a:rPr lang="pt-BR" sz="2800" dirty="0">
                <a:solidFill>
                  <a:schemeClr val="tx1"/>
                </a:solidFill>
              </a:rPr>
              <a:t>: texto exibido no controle;</a:t>
            </a:r>
          </a:p>
          <a:p>
            <a:pPr lvl="1"/>
            <a:endParaRPr lang="pt-BR" sz="2800" dirty="0">
              <a:solidFill>
                <a:schemeClr val="tx1"/>
              </a:solidFill>
            </a:endParaRPr>
          </a:p>
          <a:p>
            <a:r>
              <a:rPr lang="pt-BR" sz="3200" dirty="0"/>
              <a:t>Principal evento: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Click: ação executada quando o botão é clicado.</a:t>
            </a:r>
          </a:p>
          <a:p>
            <a:endParaRPr lang="pt-BR" sz="3200" dirty="0"/>
          </a:p>
          <a:p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851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Criar a interface de um sistema que recebe dois números inteiros e apresenta a soma destes dois números na tela.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412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(2)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Criar a interface de um sistema que recebe dois números inteiros e a operação a ser realizada entre ambos (adição, subtração, multiplicação ou divisão), e apresenta o resultado da operação na tela.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047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3200" dirty="0"/>
              <a:t>Desenvolver um programa que exiba um formulário como interface com o usuário. Este programa deve receber como entrada o nome do usuário, e como saída, exibir o mesmo nome, em caixa alta ou caixa baixa, a critério do usuário. A saída pode ser em um controle (como </a:t>
            </a:r>
            <a:r>
              <a:rPr lang="pt-BR" sz="3200" dirty="0" err="1"/>
              <a:t>TextBox</a:t>
            </a:r>
            <a:r>
              <a:rPr lang="pt-BR" sz="3200" dirty="0"/>
              <a:t> ou </a:t>
            </a:r>
            <a:r>
              <a:rPr lang="pt-BR" sz="3200" dirty="0" err="1"/>
              <a:t>Label</a:t>
            </a:r>
            <a:r>
              <a:rPr lang="pt-BR" sz="3200" dirty="0"/>
              <a:t>) ou então utilizando a classe </a:t>
            </a:r>
            <a:r>
              <a:rPr lang="pt-BR" sz="3200" dirty="0" err="1"/>
              <a:t>MessageBox</a:t>
            </a:r>
            <a:r>
              <a:rPr lang="pt-B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2825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arenR" startAt="2"/>
            </a:pPr>
            <a:r>
              <a:rPr lang="pt-BR" sz="3200" dirty="0"/>
              <a:t>Desenvolver um programa que exiba um formulário como interface com o usuário. Este programa deve receber como entrada a data de nascimento do usuário, e como saída, informar se o usuário está habilitado a solicitar sua Carteira Nacional de Habilitação (CNH). Lembre-se que, no Brasil, apenas pessoas com 18 anos ou mais podem solicitar a CNH. A saída pode ser em um controle (como </a:t>
            </a:r>
            <a:r>
              <a:rPr lang="pt-BR" sz="3200" dirty="0" err="1"/>
              <a:t>TextBox</a:t>
            </a:r>
            <a:r>
              <a:rPr lang="pt-BR" sz="3200" dirty="0"/>
              <a:t> ou </a:t>
            </a:r>
            <a:r>
              <a:rPr lang="pt-BR" sz="3200" dirty="0" err="1"/>
              <a:t>Label</a:t>
            </a:r>
            <a:r>
              <a:rPr lang="pt-BR" sz="3200" dirty="0"/>
              <a:t>) ou então utilizando a classe </a:t>
            </a:r>
            <a:r>
              <a:rPr lang="pt-BR" sz="3200" dirty="0" err="1"/>
              <a:t>MessageBox</a:t>
            </a:r>
            <a:r>
              <a:rPr lang="pt-B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9828876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TM02900743[[fn=Orgânico]]</Template>
  <TotalTime>1374</TotalTime>
  <Words>1046</Words>
  <Application>Microsoft Office PowerPoint</Application>
  <PresentationFormat>Widescreen</PresentationFormat>
  <Paragraphs>103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Calibri</vt:lpstr>
      <vt:lpstr>Calibri Light</vt:lpstr>
      <vt:lpstr>Consolas</vt:lpstr>
      <vt:lpstr>Wingdings 2</vt:lpstr>
      <vt:lpstr>HDOfficeLightV0</vt:lpstr>
      <vt:lpstr>Retrospectiva</vt:lpstr>
      <vt:lpstr>Linguagem de Programação 2</vt:lpstr>
      <vt:lpstr>Introdução</vt:lpstr>
      <vt:lpstr>Introdução</vt:lpstr>
      <vt:lpstr>Controles</vt:lpstr>
      <vt:lpstr>Controles</vt:lpstr>
      <vt:lpstr>Controles</vt:lpstr>
      <vt:lpstr>Controles</vt:lpstr>
      <vt:lpstr>Controles</vt:lpstr>
      <vt:lpstr>Label</vt:lpstr>
      <vt:lpstr>Textbox</vt:lpstr>
      <vt:lpstr>RadioBox</vt:lpstr>
      <vt:lpstr>CheckBox</vt:lpstr>
      <vt:lpstr>ComboBox</vt:lpstr>
      <vt:lpstr>Button</vt:lpstr>
      <vt:lpstr>Exemplo</vt:lpstr>
      <vt:lpstr>Exemplo (2)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 2</dc:title>
  <dc:creator>aluno</dc:creator>
  <cp:lastModifiedBy>Tiago Docusse</cp:lastModifiedBy>
  <cp:revision>181</cp:revision>
  <dcterms:created xsi:type="dcterms:W3CDTF">2017-07-05T21:06:24Z</dcterms:created>
  <dcterms:modified xsi:type="dcterms:W3CDTF">2026-04-14T01:13:15Z</dcterms:modified>
</cp:coreProperties>
</file>