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9" r:id="rId1"/>
  </p:sldMasterIdLst>
  <p:sldIdLst>
    <p:sldId id="317" r:id="rId2"/>
    <p:sldId id="347" r:id="rId3"/>
    <p:sldId id="354" r:id="rId4"/>
    <p:sldId id="355" r:id="rId5"/>
    <p:sldId id="350" r:id="rId6"/>
    <p:sldId id="351" r:id="rId7"/>
    <p:sldId id="352" r:id="rId8"/>
    <p:sldId id="257" r:id="rId9"/>
    <p:sldId id="304" r:id="rId10"/>
    <p:sldId id="318" r:id="rId11"/>
    <p:sldId id="319" r:id="rId12"/>
    <p:sldId id="321" r:id="rId13"/>
    <p:sldId id="320" r:id="rId14"/>
    <p:sldId id="322" r:id="rId15"/>
    <p:sldId id="280" r:id="rId16"/>
    <p:sldId id="305" r:id="rId17"/>
    <p:sldId id="306" r:id="rId18"/>
    <p:sldId id="325" r:id="rId19"/>
    <p:sldId id="326" r:id="rId20"/>
    <p:sldId id="327" r:id="rId21"/>
    <p:sldId id="328" r:id="rId22"/>
    <p:sldId id="329" r:id="rId23"/>
    <p:sldId id="330" r:id="rId24"/>
    <p:sldId id="332" r:id="rId25"/>
    <p:sldId id="356" r:id="rId26"/>
    <p:sldId id="333" r:id="rId27"/>
    <p:sldId id="331" r:id="rId28"/>
    <p:sldId id="334" r:id="rId29"/>
    <p:sldId id="363" r:id="rId30"/>
    <p:sldId id="364" r:id="rId31"/>
    <p:sldId id="365" r:id="rId32"/>
    <p:sldId id="366" r:id="rId33"/>
    <p:sldId id="367" r:id="rId34"/>
    <p:sldId id="357" r:id="rId35"/>
    <p:sldId id="358" r:id="rId36"/>
    <p:sldId id="359" r:id="rId37"/>
    <p:sldId id="360" r:id="rId38"/>
    <p:sldId id="395" r:id="rId39"/>
    <p:sldId id="361" r:id="rId40"/>
    <p:sldId id="362" r:id="rId41"/>
    <p:sldId id="396" r:id="rId42"/>
    <p:sldId id="353" r:id="rId43"/>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950" autoAdjust="0"/>
    <p:restoredTop sz="94660"/>
  </p:normalViewPr>
  <p:slideViewPr>
    <p:cSldViewPr snapToGrid="0">
      <p:cViewPr varScale="1">
        <p:scale>
          <a:sx n="104" d="100"/>
          <a:sy n="104" d="100"/>
        </p:scale>
        <p:origin x="852"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Slide de título">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pt-BR"/>
              <a:t>Clique para editar o título mestre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pt-BR"/>
              <a:t>Clique para editar o estilo do subtítulo mestre</a:t>
            </a:r>
            <a:endParaRPr lang="en-US" dirty="0"/>
          </a:p>
        </p:txBody>
      </p:sp>
      <p:sp>
        <p:nvSpPr>
          <p:cNvPr id="4" name="Date Placeholder 3"/>
          <p:cNvSpPr>
            <a:spLocks noGrp="1"/>
          </p:cNvSpPr>
          <p:nvPr>
            <p:ph type="dt" sz="half" idx="10"/>
          </p:nvPr>
        </p:nvSpPr>
        <p:spPr/>
        <p:txBody>
          <a:bodyPr/>
          <a:lstStyle/>
          <a:p>
            <a:fld id="{A80EC881-C8CC-4E75-B01E-514F6CA39D9F}" type="datetimeFigureOut">
              <a:rPr lang="pt-BR" smtClean="0"/>
              <a:t>28/02/2026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94731BDA-FDB6-4E72-8BC3-83A56295639A}" type="slidenum">
              <a:rPr lang="pt-BR" smtClean="0"/>
              <a:t>‹nº›</a:t>
            </a:fld>
            <a:endParaRPr lang="pt-BR"/>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906336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idx="1"/>
          </p:nvPr>
        </p:nvSpPr>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A80EC881-C8CC-4E75-B01E-514F6CA39D9F}" type="datetimeFigureOut">
              <a:rPr lang="pt-BR" smtClean="0"/>
              <a:t>28/02/2026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94731BDA-FDB6-4E72-8BC3-83A56295639A}" type="slidenum">
              <a:rPr lang="pt-BR" smtClean="0"/>
              <a:t>‹nº›</a:t>
            </a:fld>
            <a:endParaRPr lang="pt-BR"/>
          </a:p>
        </p:txBody>
      </p:sp>
    </p:spTree>
    <p:extLst>
      <p:ext uri="{BB962C8B-B14F-4D97-AF65-F5344CB8AC3E}">
        <p14:creationId xmlns:p14="http://schemas.microsoft.com/office/powerpoint/2010/main" val="28311434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Cabeçalho da Seção">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pt-BR"/>
              <a:t>Clique para editar o título mestre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Clique para editar o texto mestre</a:t>
            </a:r>
          </a:p>
        </p:txBody>
      </p:sp>
      <p:sp>
        <p:nvSpPr>
          <p:cNvPr id="4" name="Date Placeholder 3"/>
          <p:cNvSpPr>
            <a:spLocks noGrp="1"/>
          </p:cNvSpPr>
          <p:nvPr>
            <p:ph type="dt" sz="half" idx="10"/>
          </p:nvPr>
        </p:nvSpPr>
        <p:spPr/>
        <p:txBody>
          <a:bodyPr/>
          <a:lstStyle/>
          <a:p>
            <a:fld id="{A80EC881-C8CC-4E75-B01E-514F6CA39D9F}" type="datetimeFigureOut">
              <a:rPr lang="pt-BR" smtClean="0"/>
              <a:t>28/02/2026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94731BDA-FDB6-4E72-8BC3-83A56295639A}" type="slidenum">
              <a:rPr lang="pt-BR" smtClean="0"/>
              <a:t>‹nº›</a:t>
            </a:fld>
            <a:endParaRPr lang="pt-BR"/>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012162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pt-BR"/>
              <a:t>Clique para editar o título mestre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Date Placeholder 4"/>
          <p:cNvSpPr>
            <a:spLocks noGrp="1"/>
          </p:cNvSpPr>
          <p:nvPr>
            <p:ph type="dt" sz="half" idx="10"/>
          </p:nvPr>
        </p:nvSpPr>
        <p:spPr/>
        <p:txBody>
          <a:bodyPr/>
          <a:lstStyle/>
          <a:p>
            <a:fld id="{A80EC881-C8CC-4E75-B01E-514F6CA39D9F}" type="datetimeFigureOut">
              <a:rPr lang="pt-BR" smtClean="0"/>
              <a:t>28/02/2026</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94731BDA-FDB6-4E72-8BC3-83A56295639A}" type="slidenum">
              <a:rPr lang="pt-BR" smtClean="0"/>
              <a:t>‹nº›</a:t>
            </a:fld>
            <a:endParaRPr lang="pt-BR"/>
          </a:p>
        </p:txBody>
      </p:sp>
    </p:spTree>
    <p:extLst>
      <p:ext uri="{BB962C8B-B14F-4D97-AF65-F5344CB8AC3E}">
        <p14:creationId xmlns:p14="http://schemas.microsoft.com/office/powerpoint/2010/main" val="14560294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pt-BR"/>
              <a:t>Clique para editar o título mestre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 texto mestre</a:t>
            </a:r>
          </a:p>
        </p:txBody>
      </p:sp>
      <p:sp>
        <p:nvSpPr>
          <p:cNvPr id="4" name="Content Placeholder 3"/>
          <p:cNvSpPr>
            <a:spLocks noGrp="1"/>
          </p:cNvSpPr>
          <p:nvPr>
            <p:ph sz="half" idx="2"/>
          </p:nvPr>
        </p:nvSpPr>
        <p:spPr>
          <a:xfrm>
            <a:off x="1097280" y="2582334"/>
            <a:ext cx="4937760" cy="3378200"/>
          </a:xfrm>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 texto mestre</a:t>
            </a:r>
          </a:p>
        </p:txBody>
      </p:sp>
      <p:sp>
        <p:nvSpPr>
          <p:cNvPr id="6" name="Content Placeholder 5"/>
          <p:cNvSpPr>
            <a:spLocks noGrp="1"/>
          </p:cNvSpPr>
          <p:nvPr>
            <p:ph sz="quarter" idx="4"/>
          </p:nvPr>
        </p:nvSpPr>
        <p:spPr>
          <a:xfrm>
            <a:off x="6217920" y="2582334"/>
            <a:ext cx="4937760" cy="3378200"/>
          </a:xfrm>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7" name="Date Placeholder 6"/>
          <p:cNvSpPr>
            <a:spLocks noGrp="1"/>
          </p:cNvSpPr>
          <p:nvPr>
            <p:ph type="dt" sz="half" idx="10"/>
          </p:nvPr>
        </p:nvSpPr>
        <p:spPr/>
        <p:txBody>
          <a:bodyPr/>
          <a:lstStyle/>
          <a:p>
            <a:fld id="{A80EC881-C8CC-4E75-B01E-514F6CA39D9F}" type="datetimeFigureOut">
              <a:rPr lang="pt-BR" smtClean="0"/>
              <a:t>28/02/2026</a:t>
            </a:fld>
            <a:endParaRPr lang="pt-BR"/>
          </a:p>
        </p:txBody>
      </p:sp>
      <p:sp>
        <p:nvSpPr>
          <p:cNvPr id="8" name="Footer Placeholder 7"/>
          <p:cNvSpPr>
            <a:spLocks noGrp="1"/>
          </p:cNvSpPr>
          <p:nvPr>
            <p:ph type="ftr" sz="quarter" idx="11"/>
          </p:nvPr>
        </p:nvSpPr>
        <p:spPr/>
        <p:txBody>
          <a:bodyPr/>
          <a:lstStyle/>
          <a:p>
            <a:endParaRPr lang="pt-BR"/>
          </a:p>
        </p:txBody>
      </p:sp>
      <p:sp>
        <p:nvSpPr>
          <p:cNvPr id="9" name="Slide Number Placeholder 8"/>
          <p:cNvSpPr>
            <a:spLocks noGrp="1"/>
          </p:cNvSpPr>
          <p:nvPr>
            <p:ph type="sldNum" sz="quarter" idx="12"/>
          </p:nvPr>
        </p:nvSpPr>
        <p:spPr/>
        <p:txBody>
          <a:bodyPr/>
          <a:lstStyle/>
          <a:p>
            <a:fld id="{94731BDA-FDB6-4E72-8BC3-83A56295639A}" type="slidenum">
              <a:rPr lang="pt-BR" smtClean="0"/>
              <a:t>‹nº›</a:t>
            </a:fld>
            <a:endParaRPr lang="pt-BR"/>
          </a:p>
        </p:txBody>
      </p:sp>
    </p:spTree>
    <p:extLst>
      <p:ext uri="{BB962C8B-B14F-4D97-AF65-F5344CB8AC3E}">
        <p14:creationId xmlns:p14="http://schemas.microsoft.com/office/powerpoint/2010/main" val="4199233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Date Placeholder 2"/>
          <p:cNvSpPr>
            <a:spLocks noGrp="1"/>
          </p:cNvSpPr>
          <p:nvPr>
            <p:ph type="dt" sz="half" idx="10"/>
          </p:nvPr>
        </p:nvSpPr>
        <p:spPr/>
        <p:txBody>
          <a:bodyPr/>
          <a:lstStyle/>
          <a:p>
            <a:fld id="{A80EC881-C8CC-4E75-B01E-514F6CA39D9F}" type="datetimeFigureOut">
              <a:rPr lang="pt-BR" smtClean="0"/>
              <a:t>28/02/2026</a:t>
            </a:fld>
            <a:endParaRPr lang="pt-BR"/>
          </a:p>
        </p:txBody>
      </p:sp>
      <p:sp>
        <p:nvSpPr>
          <p:cNvPr id="4" name="Footer Placeholder 3"/>
          <p:cNvSpPr>
            <a:spLocks noGrp="1"/>
          </p:cNvSpPr>
          <p:nvPr>
            <p:ph type="ftr" sz="quarter" idx="11"/>
          </p:nvPr>
        </p:nvSpPr>
        <p:spPr/>
        <p:txBody>
          <a:bodyPr/>
          <a:lstStyle/>
          <a:p>
            <a:endParaRPr lang="pt-BR"/>
          </a:p>
        </p:txBody>
      </p:sp>
      <p:sp>
        <p:nvSpPr>
          <p:cNvPr id="5" name="Slide Number Placeholder 4"/>
          <p:cNvSpPr>
            <a:spLocks noGrp="1"/>
          </p:cNvSpPr>
          <p:nvPr>
            <p:ph type="sldNum" sz="quarter" idx="12"/>
          </p:nvPr>
        </p:nvSpPr>
        <p:spPr/>
        <p:txBody>
          <a:bodyPr/>
          <a:lstStyle/>
          <a:p>
            <a:fld id="{94731BDA-FDB6-4E72-8BC3-83A56295639A}" type="slidenum">
              <a:rPr lang="pt-BR" smtClean="0"/>
              <a:t>‹nº›</a:t>
            </a:fld>
            <a:endParaRPr lang="pt-BR"/>
          </a:p>
        </p:txBody>
      </p:sp>
    </p:spTree>
    <p:extLst>
      <p:ext uri="{BB962C8B-B14F-4D97-AF65-F5344CB8AC3E}">
        <p14:creationId xmlns:p14="http://schemas.microsoft.com/office/powerpoint/2010/main" val="10902885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Em branco">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A80EC881-C8CC-4E75-B01E-514F6CA39D9F}" type="datetimeFigureOut">
              <a:rPr lang="pt-BR" smtClean="0"/>
              <a:t>28/02/2026</a:t>
            </a:fld>
            <a:endParaRPr lang="pt-BR"/>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pt-BR"/>
          </a:p>
        </p:txBody>
      </p:sp>
      <p:sp>
        <p:nvSpPr>
          <p:cNvPr id="9" name="Slide Number Placeholder 8"/>
          <p:cNvSpPr>
            <a:spLocks noGrp="1"/>
          </p:cNvSpPr>
          <p:nvPr>
            <p:ph type="sldNum" sz="quarter" idx="12"/>
          </p:nvPr>
        </p:nvSpPr>
        <p:spPr/>
        <p:txBody>
          <a:bodyPr/>
          <a:lstStyle/>
          <a:p>
            <a:fld id="{94731BDA-FDB6-4E72-8BC3-83A56295639A}" type="slidenum">
              <a:rPr lang="pt-BR" smtClean="0"/>
              <a:t>‹nº›</a:t>
            </a:fld>
            <a:endParaRPr lang="pt-BR"/>
          </a:p>
        </p:txBody>
      </p:sp>
    </p:spTree>
    <p:extLst>
      <p:ext uri="{BB962C8B-B14F-4D97-AF65-F5344CB8AC3E}">
        <p14:creationId xmlns:p14="http://schemas.microsoft.com/office/powerpoint/2010/main" val="40415607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údo com Legenda">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pt-BR"/>
              <a:t>Clique para editar o título mestre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 texto mestre</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A80EC881-C8CC-4E75-B01E-514F6CA39D9F}" type="datetimeFigureOut">
              <a:rPr lang="pt-BR" smtClean="0"/>
              <a:t>28/02/2026</a:t>
            </a:fld>
            <a:endParaRPr lang="pt-BR"/>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pt-B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94731BDA-FDB6-4E72-8BC3-83A56295639A}" type="slidenum">
              <a:rPr lang="pt-BR" smtClean="0"/>
              <a:t>‹nº›</a:t>
            </a:fld>
            <a:endParaRPr lang="pt-BR"/>
          </a:p>
        </p:txBody>
      </p:sp>
    </p:spTree>
    <p:extLst>
      <p:ext uri="{BB962C8B-B14F-4D97-AF65-F5344CB8AC3E}">
        <p14:creationId xmlns:p14="http://schemas.microsoft.com/office/powerpoint/2010/main" val="36462806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m com Legenda">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pt-BR"/>
              <a:t>Clique para editar o título mestre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pt-BR"/>
              <a:t>Clique no ícone para adicionar uma imagem</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 texto mestre</a:t>
            </a:r>
          </a:p>
        </p:txBody>
      </p:sp>
      <p:sp>
        <p:nvSpPr>
          <p:cNvPr id="5" name="Date Placeholder 4"/>
          <p:cNvSpPr>
            <a:spLocks noGrp="1"/>
          </p:cNvSpPr>
          <p:nvPr>
            <p:ph type="dt" sz="half" idx="10"/>
          </p:nvPr>
        </p:nvSpPr>
        <p:spPr/>
        <p:txBody>
          <a:bodyPr/>
          <a:lstStyle/>
          <a:p>
            <a:fld id="{A80EC881-C8CC-4E75-B01E-514F6CA39D9F}" type="datetimeFigureOut">
              <a:rPr lang="pt-BR" smtClean="0"/>
              <a:t>28/02/2026</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94731BDA-FDB6-4E72-8BC3-83A56295639A}" type="slidenum">
              <a:rPr lang="pt-BR" smtClean="0"/>
              <a:t>‹nº›</a:t>
            </a:fld>
            <a:endParaRPr lang="pt-BR"/>
          </a:p>
        </p:txBody>
      </p:sp>
    </p:spTree>
    <p:extLst>
      <p:ext uri="{BB962C8B-B14F-4D97-AF65-F5344CB8AC3E}">
        <p14:creationId xmlns:p14="http://schemas.microsoft.com/office/powerpoint/2010/main" val="19022918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A80EC881-C8CC-4E75-B01E-514F6CA39D9F}" type="datetimeFigureOut">
              <a:rPr lang="pt-BR" smtClean="0"/>
              <a:t>28/02/2026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94731BDA-FDB6-4E72-8BC3-83A56295639A}" type="slidenum">
              <a:rPr lang="pt-BR" smtClean="0"/>
              <a:t>‹nº›</a:t>
            </a:fld>
            <a:endParaRPr lang="pt-BR"/>
          </a:p>
        </p:txBody>
      </p:sp>
    </p:spTree>
    <p:extLst>
      <p:ext uri="{BB962C8B-B14F-4D97-AF65-F5344CB8AC3E}">
        <p14:creationId xmlns:p14="http://schemas.microsoft.com/office/powerpoint/2010/main" val="5506470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ítulo e texto verticais">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pt-BR"/>
              <a:t>Clique para editar o título mestre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A80EC881-C8CC-4E75-B01E-514F6CA39D9F}" type="datetimeFigureOut">
              <a:rPr lang="pt-BR" smtClean="0"/>
              <a:t>28/02/2026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94731BDA-FDB6-4E72-8BC3-83A56295639A}" type="slidenum">
              <a:rPr lang="pt-BR" smtClean="0"/>
              <a:t>‹nº›</a:t>
            </a:fld>
            <a:endParaRPr lang="pt-BR"/>
          </a:p>
        </p:txBody>
      </p:sp>
    </p:spTree>
    <p:extLst>
      <p:ext uri="{BB962C8B-B14F-4D97-AF65-F5344CB8AC3E}">
        <p14:creationId xmlns:p14="http://schemas.microsoft.com/office/powerpoint/2010/main" val="33368064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pt-BR"/>
              <a:t>Clique para editar o título mestre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A80EC881-C8CC-4E75-B01E-514F6CA39D9F}" type="datetimeFigureOut">
              <a:rPr lang="pt-BR" smtClean="0"/>
              <a:t>28/02/2026</a:t>
            </a:fld>
            <a:endParaRPr lang="pt-BR"/>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pt-BR"/>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94731BDA-FDB6-4E72-8BC3-83A56295639A}" type="slidenum">
              <a:rPr lang="pt-BR" smtClean="0"/>
              <a:t>‹nº›</a:t>
            </a:fld>
            <a:endParaRPr lang="pt-BR"/>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0521116"/>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normAutofit/>
          </a:bodyPr>
          <a:lstStyle/>
          <a:p>
            <a:pPr algn="ctr"/>
            <a:r>
              <a:rPr lang="pt-BR" sz="6600" dirty="0"/>
              <a:t>Linguagem de Programação 2</a:t>
            </a:r>
          </a:p>
        </p:txBody>
      </p:sp>
      <p:sp>
        <p:nvSpPr>
          <p:cNvPr id="3" name="Subtítulo 2"/>
          <p:cNvSpPr>
            <a:spLocks noGrp="1"/>
          </p:cNvSpPr>
          <p:nvPr>
            <p:ph type="subTitle" idx="1"/>
          </p:nvPr>
        </p:nvSpPr>
        <p:spPr/>
        <p:txBody>
          <a:bodyPr>
            <a:normAutofit fontScale="92500" lnSpcReduction="10000"/>
          </a:bodyPr>
          <a:lstStyle/>
          <a:p>
            <a:pPr algn="ctr"/>
            <a:r>
              <a:rPr lang="pt-BR" dirty="0"/>
              <a:t>Tecnologia em Análise e Desenvolvimento de Sistemas</a:t>
            </a:r>
          </a:p>
          <a:p>
            <a:endParaRPr lang="pt-BR" sz="1800" cap="none" dirty="0"/>
          </a:p>
          <a:p>
            <a:pPr algn="ctr"/>
            <a:r>
              <a:rPr lang="pt-BR" sz="1800" cap="none" dirty="0"/>
              <a:t>Tiago Alexandre </a:t>
            </a:r>
            <a:r>
              <a:rPr lang="pt-BR" sz="1800" cap="none" dirty="0" err="1"/>
              <a:t>Dócusse</a:t>
            </a:r>
            <a:endParaRPr lang="pt-BR" dirty="0"/>
          </a:p>
        </p:txBody>
      </p:sp>
    </p:spTree>
    <p:extLst>
      <p:ext uri="{BB962C8B-B14F-4D97-AF65-F5344CB8AC3E}">
        <p14:creationId xmlns:p14="http://schemas.microsoft.com/office/powerpoint/2010/main" val="31922431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Atributos e métodos estáticos</a:t>
            </a:r>
          </a:p>
        </p:txBody>
      </p:sp>
      <p:sp>
        <p:nvSpPr>
          <p:cNvPr id="3" name="Espaço Reservado para Conteúdo 2"/>
          <p:cNvSpPr>
            <a:spLocks noGrp="1"/>
          </p:cNvSpPr>
          <p:nvPr>
            <p:ph idx="1"/>
          </p:nvPr>
        </p:nvSpPr>
        <p:spPr>
          <a:xfrm>
            <a:off x="1097279" y="1845734"/>
            <a:ext cx="9867207" cy="4023360"/>
          </a:xfrm>
        </p:spPr>
        <p:txBody>
          <a:bodyPr>
            <a:noAutofit/>
          </a:bodyPr>
          <a:lstStyle/>
          <a:p>
            <a:pPr>
              <a:buFont typeface="Wingdings" panose="05000000000000000000" pitchFamily="2" charset="2"/>
              <a:buChar char="§"/>
            </a:pPr>
            <a:r>
              <a:rPr lang="pt-BR" sz="3200" dirty="0"/>
              <a:t> Utilizados quando os atributos/métodos são relacionados com todos os objetos de uma classe, ou seja, o atributo/método diz respeito a uma classe, e não apenas a um objeto da classe;</a:t>
            </a:r>
          </a:p>
          <a:p>
            <a:pPr>
              <a:buFont typeface="Wingdings" panose="05000000000000000000" pitchFamily="2" charset="2"/>
              <a:buChar char="§"/>
            </a:pPr>
            <a:r>
              <a:rPr lang="pt-BR" sz="3200" dirty="0"/>
              <a:t> Dessa forma, todos os objetos da classe terão o mesmo valor para este atributo / mesmo comportamento para este método.</a:t>
            </a:r>
          </a:p>
          <a:p>
            <a:pPr>
              <a:buFont typeface="Wingdings" panose="05000000000000000000" pitchFamily="2" charset="2"/>
              <a:buChar char="§"/>
            </a:pPr>
            <a:endParaRPr lang="pt-BR" dirty="0"/>
          </a:p>
        </p:txBody>
      </p:sp>
    </p:spTree>
    <p:extLst>
      <p:ext uri="{BB962C8B-B14F-4D97-AF65-F5344CB8AC3E}">
        <p14:creationId xmlns:p14="http://schemas.microsoft.com/office/powerpoint/2010/main" val="8219183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Atributos e métodos estáticos</a:t>
            </a:r>
          </a:p>
        </p:txBody>
      </p:sp>
      <p:sp>
        <p:nvSpPr>
          <p:cNvPr id="3" name="Espaço Reservado para Conteúdo 2"/>
          <p:cNvSpPr>
            <a:spLocks noGrp="1"/>
          </p:cNvSpPr>
          <p:nvPr>
            <p:ph idx="1"/>
          </p:nvPr>
        </p:nvSpPr>
        <p:spPr>
          <a:xfrm>
            <a:off x="1097279" y="1845734"/>
            <a:ext cx="9867207" cy="4023360"/>
          </a:xfrm>
        </p:spPr>
        <p:txBody>
          <a:bodyPr>
            <a:noAutofit/>
          </a:bodyPr>
          <a:lstStyle/>
          <a:p>
            <a:pPr>
              <a:buFont typeface="Wingdings" panose="05000000000000000000" pitchFamily="2" charset="2"/>
              <a:buChar char="§"/>
            </a:pPr>
            <a:r>
              <a:rPr lang="pt-BR" sz="3200" dirty="0"/>
              <a:t>No momento da modelagem, identifica-se atributos/métodos que serão utilizados como estáticos;</a:t>
            </a:r>
          </a:p>
          <a:p>
            <a:pPr>
              <a:buFont typeface="Wingdings" panose="05000000000000000000" pitchFamily="2" charset="2"/>
              <a:buChar char="§"/>
            </a:pPr>
            <a:r>
              <a:rPr lang="pt-BR" sz="3200" dirty="0"/>
              <a:t> Atributos e métodos estáticos possuem seus nomes sublinhados em um diagrama de classes.</a:t>
            </a:r>
          </a:p>
          <a:p>
            <a:pPr>
              <a:buFont typeface="Wingdings" panose="05000000000000000000" pitchFamily="2" charset="2"/>
              <a:buChar char="§"/>
            </a:pPr>
            <a:endParaRPr lang="pt-BR" sz="3200" dirty="0"/>
          </a:p>
          <a:p>
            <a:pPr>
              <a:buFont typeface="Wingdings" panose="05000000000000000000" pitchFamily="2" charset="2"/>
              <a:buChar char="§"/>
            </a:pPr>
            <a:endParaRPr lang="pt-BR" sz="3200" dirty="0"/>
          </a:p>
        </p:txBody>
      </p:sp>
      <p:pic>
        <p:nvPicPr>
          <p:cNvPr id="4" name="Imagem 3"/>
          <p:cNvPicPr>
            <a:picLocks noChangeAspect="1"/>
          </p:cNvPicPr>
          <p:nvPr/>
        </p:nvPicPr>
        <p:blipFill>
          <a:blip r:embed="rId2"/>
          <a:stretch>
            <a:fillRect/>
          </a:stretch>
        </p:blipFill>
        <p:spPr>
          <a:xfrm>
            <a:off x="4488873" y="4222045"/>
            <a:ext cx="2482044" cy="1838551"/>
          </a:xfrm>
          <a:prstGeom prst="rect">
            <a:avLst/>
          </a:prstGeom>
        </p:spPr>
      </p:pic>
    </p:spTree>
    <p:extLst>
      <p:ext uri="{BB962C8B-B14F-4D97-AF65-F5344CB8AC3E}">
        <p14:creationId xmlns:p14="http://schemas.microsoft.com/office/powerpoint/2010/main" val="38037036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Atributos e métodos estáticos</a:t>
            </a:r>
          </a:p>
        </p:txBody>
      </p:sp>
      <p:sp>
        <p:nvSpPr>
          <p:cNvPr id="3" name="Espaço Reservado para Conteúdo 2"/>
          <p:cNvSpPr>
            <a:spLocks noGrp="1"/>
          </p:cNvSpPr>
          <p:nvPr>
            <p:ph idx="1"/>
          </p:nvPr>
        </p:nvSpPr>
        <p:spPr>
          <a:xfrm>
            <a:off x="1097279" y="1845734"/>
            <a:ext cx="9867207" cy="4023360"/>
          </a:xfrm>
        </p:spPr>
        <p:txBody>
          <a:bodyPr>
            <a:noAutofit/>
          </a:bodyPr>
          <a:lstStyle/>
          <a:p>
            <a:pPr>
              <a:buFont typeface="Wingdings" panose="05000000000000000000" pitchFamily="2" charset="2"/>
              <a:buChar char="§"/>
            </a:pPr>
            <a:r>
              <a:rPr lang="pt-BR" sz="2800" dirty="0"/>
              <a:t> </a:t>
            </a:r>
            <a:r>
              <a:rPr lang="pt-BR" sz="3200" dirty="0"/>
              <a:t>Exemplos:</a:t>
            </a:r>
          </a:p>
          <a:p>
            <a:pPr lvl="1">
              <a:buFont typeface="Wingdings" panose="05000000000000000000" pitchFamily="2" charset="2"/>
              <a:buChar char="§"/>
            </a:pPr>
            <a:r>
              <a:rPr lang="pt-BR" sz="2800" dirty="0" err="1"/>
              <a:t>Console.Write</a:t>
            </a:r>
            <a:r>
              <a:rPr lang="pt-BR" sz="2800" dirty="0"/>
              <a:t>();</a:t>
            </a:r>
          </a:p>
          <a:p>
            <a:pPr lvl="1">
              <a:buFont typeface="Wingdings" panose="05000000000000000000" pitchFamily="2" charset="2"/>
              <a:buChar char="§"/>
            </a:pPr>
            <a:r>
              <a:rPr lang="pt-BR" sz="2800" dirty="0" err="1"/>
              <a:t>DateTime.Now</a:t>
            </a:r>
            <a:r>
              <a:rPr lang="pt-BR" sz="2800" dirty="0"/>
              <a:t>;</a:t>
            </a:r>
          </a:p>
          <a:p>
            <a:pPr>
              <a:buFont typeface="Wingdings" panose="05000000000000000000" pitchFamily="2" charset="2"/>
              <a:buChar char="§"/>
            </a:pPr>
            <a:endParaRPr lang="pt-BR" sz="1800" dirty="0"/>
          </a:p>
          <a:p>
            <a:pPr>
              <a:buFont typeface="Wingdings" panose="05000000000000000000" pitchFamily="2" charset="2"/>
              <a:buChar char="§"/>
            </a:pPr>
            <a:r>
              <a:rPr lang="pt-BR" sz="3200" dirty="0"/>
              <a:t> Utilização</a:t>
            </a:r>
          </a:p>
          <a:p>
            <a:pPr lvl="1">
              <a:buFont typeface="Wingdings" panose="05000000000000000000" pitchFamily="2" charset="2"/>
              <a:buChar char="§"/>
            </a:pPr>
            <a:r>
              <a:rPr lang="pt-BR" sz="2800" dirty="0"/>
              <a:t>Utiliza-se a palavra-reservada </a:t>
            </a:r>
            <a:r>
              <a:rPr lang="pt-BR" sz="2800" i="1" dirty="0" err="1"/>
              <a:t>static</a:t>
            </a:r>
            <a:r>
              <a:rPr lang="pt-BR" sz="2800" i="1" dirty="0"/>
              <a:t> </a:t>
            </a:r>
            <a:r>
              <a:rPr lang="pt-BR" sz="2800" dirty="0"/>
              <a:t>antes do nome da variável.</a:t>
            </a:r>
          </a:p>
          <a:p>
            <a:pPr>
              <a:buFont typeface="Wingdings" panose="05000000000000000000" pitchFamily="2" charset="2"/>
              <a:buChar char="§"/>
            </a:pPr>
            <a:endParaRPr lang="pt-BR" sz="1800" dirty="0"/>
          </a:p>
          <a:p>
            <a:pPr>
              <a:buFont typeface="Wingdings" panose="05000000000000000000" pitchFamily="2" charset="2"/>
              <a:buChar char="§"/>
            </a:pPr>
            <a:endParaRPr lang="pt-BR" sz="1800" dirty="0"/>
          </a:p>
        </p:txBody>
      </p:sp>
      <p:sp>
        <p:nvSpPr>
          <p:cNvPr id="5" name="Retângulo 4"/>
          <p:cNvSpPr/>
          <p:nvPr/>
        </p:nvSpPr>
        <p:spPr>
          <a:xfrm>
            <a:off x="1227514" y="4934066"/>
            <a:ext cx="8029170" cy="1200329"/>
          </a:xfrm>
          <a:prstGeom prst="rect">
            <a:avLst/>
          </a:prstGeom>
        </p:spPr>
        <p:txBody>
          <a:bodyPr wrap="square">
            <a:spAutoFit/>
          </a:bodyPr>
          <a:lstStyle/>
          <a:p>
            <a:r>
              <a:rPr lang="pt-BR" sz="2400" dirty="0" err="1">
                <a:solidFill>
                  <a:srgbClr val="0000FF"/>
                </a:solidFill>
                <a:highlight>
                  <a:srgbClr val="FFFFFF"/>
                </a:highlight>
                <a:latin typeface="Consolas" panose="020B0609020204030204" pitchFamily="49" charset="0"/>
              </a:rPr>
              <a:t>static</a:t>
            </a:r>
            <a:r>
              <a:rPr lang="pt-BR" sz="2400" dirty="0">
                <a:solidFill>
                  <a:srgbClr val="000000"/>
                </a:solidFill>
                <a:highlight>
                  <a:srgbClr val="FFFFFF"/>
                </a:highlight>
                <a:latin typeface="Consolas" panose="020B0609020204030204" pitchFamily="49" charset="0"/>
              </a:rPr>
              <a:t> </a:t>
            </a:r>
            <a:r>
              <a:rPr lang="pt-BR" sz="2400" dirty="0" err="1">
                <a:solidFill>
                  <a:srgbClr val="0000FF"/>
                </a:solidFill>
                <a:highlight>
                  <a:srgbClr val="FFFFFF"/>
                </a:highlight>
                <a:latin typeface="Consolas" panose="020B0609020204030204" pitchFamily="49" charset="0"/>
              </a:rPr>
              <a:t>int</a:t>
            </a:r>
            <a:r>
              <a:rPr lang="pt-BR" sz="2400" dirty="0">
                <a:solidFill>
                  <a:srgbClr val="000000"/>
                </a:solidFill>
                <a:highlight>
                  <a:srgbClr val="FFFFFF"/>
                </a:highlight>
                <a:latin typeface="Consolas" panose="020B0609020204030204" pitchFamily="49" charset="0"/>
              </a:rPr>
              <a:t> Numero;</a:t>
            </a:r>
          </a:p>
          <a:p>
            <a:r>
              <a:rPr lang="pt-BR" sz="2400" dirty="0" err="1">
                <a:solidFill>
                  <a:srgbClr val="0000FF"/>
                </a:solidFill>
                <a:highlight>
                  <a:srgbClr val="FFFFFF"/>
                </a:highlight>
                <a:latin typeface="Consolas" panose="020B0609020204030204" pitchFamily="49" charset="0"/>
              </a:rPr>
              <a:t>public</a:t>
            </a:r>
            <a:r>
              <a:rPr lang="pt-BR" sz="2400" dirty="0">
                <a:solidFill>
                  <a:srgbClr val="000000"/>
                </a:solidFill>
                <a:highlight>
                  <a:srgbClr val="FFFFFF"/>
                </a:highlight>
                <a:latin typeface="Consolas" panose="020B0609020204030204" pitchFamily="49" charset="0"/>
              </a:rPr>
              <a:t> </a:t>
            </a:r>
            <a:r>
              <a:rPr lang="pt-BR" sz="2400" dirty="0" err="1">
                <a:solidFill>
                  <a:srgbClr val="0000FF"/>
                </a:solidFill>
                <a:highlight>
                  <a:srgbClr val="FFFFFF"/>
                </a:highlight>
                <a:latin typeface="Consolas" panose="020B0609020204030204" pitchFamily="49" charset="0"/>
              </a:rPr>
              <a:t>static</a:t>
            </a:r>
            <a:r>
              <a:rPr lang="pt-BR" sz="2400" dirty="0">
                <a:solidFill>
                  <a:srgbClr val="000000"/>
                </a:solidFill>
                <a:highlight>
                  <a:srgbClr val="FFFFFF"/>
                </a:highlight>
                <a:latin typeface="Consolas" panose="020B0609020204030204" pitchFamily="49" charset="0"/>
              </a:rPr>
              <a:t> </a:t>
            </a:r>
            <a:r>
              <a:rPr lang="pt-BR" sz="2400" dirty="0" err="1">
                <a:solidFill>
                  <a:srgbClr val="0000FF"/>
                </a:solidFill>
                <a:highlight>
                  <a:srgbClr val="FFFFFF"/>
                </a:highlight>
                <a:latin typeface="Consolas" panose="020B0609020204030204" pitchFamily="49" charset="0"/>
              </a:rPr>
              <a:t>bool</a:t>
            </a:r>
            <a:r>
              <a:rPr lang="pt-BR" sz="2400" dirty="0">
                <a:solidFill>
                  <a:srgbClr val="000000"/>
                </a:solidFill>
                <a:highlight>
                  <a:srgbClr val="FFFFFF"/>
                </a:highlight>
                <a:latin typeface="Consolas" panose="020B0609020204030204" pitchFamily="49" charset="0"/>
              </a:rPr>
              <a:t> Acesso;</a:t>
            </a:r>
          </a:p>
          <a:p>
            <a:r>
              <a:rPr lang="pt-BR" sz="2400" dirty="0" err="1">
                <a:solidFill>
                  <a:srgbClr val="0000FF"/>
                </a:solidFill>
                <a:highlight>
                  <a:srgbClr val="FFFFFF"/>
                </a:highlight>
                <a:latin typeface="Consolas" panose="020B0609020204030204" pitchFamily="49" charset="0"/>
              </a:rPr>
              <a:t>public</a:t>
            </a:r>
            <a:r>
              <a:rPr lang="pt-BR" sz="2400" dirty="0">
                <a:solidFill>
                  <a:srgbClr val="000000"/>
                </a:solidFill>
                <a:highlight>
                  <a:srgbClr val="FFFFFF"/>
                </a:highlight>
                <a:latin typeface="Consolas" panose="020B0609020204030204" pitchFamily="49" charset="0"/>
              </a:rPr>
              <a:t> </a:t>
            </a:r>
            <a:r>
              <a:rPr lang="pt-BR" sz="2400" dirty="0" err="1">
                <a:solidFill>
                  <a:srgbClr val="0000FF"/>
                </a:solidFill>
                <a:highlight>
                  <a:srgbClr val="FFFFFF"/>
                </a:highlight>
                <a:latin typeface="Consolas" panose="020B0609020204030204" pitchFamily="49" charset="0"/>
              </a:rPr>
              <a:t>static</a:t>
            </a:r>
            <a:r>
              <a:rPr lang="pt-BR" sz="2400" dirty="0">
                <a:solidFill>
                  <a:srgbClr val="000000"/>
                </a:solidFill>
                <a:highlight>
                  <a:srgbClr val="FFFFFF"/>
                </a:highlight>
                <a:latin typeface="Consolas" panose="020B0609020204030204" pitchFamily="49" charset="0"/>
              </a:rPr>
              <a:t> </a:t>
            </a:r>
            <a:r>
              <a:rPr lang="pt-BR" sz="2400" dirty="0" err="1">
                <a:solidFill>
                  <a:srgbClr val="0000FF"/>
                </a:solidFill>
                <a:highlight>
                  <a:srgbClr val="FFFFFF"/>
                </a:highlight>
                <a:latin typeface="Consolas" panose="020B0609020204030204" pitchFamily="49" charset="0"/>
              </a:rPr>
              <a:t>void</a:t>
            </a:r>
            <a:r>
              <a:rPr lang="pt-BR" sz="2400" dirty="0">
                <a:solidFill>
                  <a:srgbClr val="000000"/>
                </a:solidFill>
                <a:highlight>
                  <a:srgbClr val="FFFFFF"/>
                </a:highlight>
                <a:latin typeface="Consolas" panose="020B0609020204030204" pitchFamily="49" charset="0"/>
              </a:rPr>
              <a:t> Inicialização() { }</a:t>
            </a:r>
            <a:endParaRPr lang="pt-BR" sz="2400" dirty="0"/>
          </a:p>
        </p:txBody>
      </p:sp>
    </p:spTree>
    <p:extLst>
      <p:ext uri="{BB962C8B-B14F-4D97-AF65-F5344CB8AC3E}">
        <p14:creationId xmlns:p14="http://schemas.microsoft.com/office/powerpoint/2010/main" val="31306087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Atributos e métodos estáticos</a:t>
            </a:r>
          </a:p>
        </p:txBody>
      </p:sp>
      <p:sp>
        <p:nvSpPr>
          <p:cNvPr id="3" name="Espaço Reservado para Conteúdo 2"/>
          <p:cNvSpPr>
            <a:spLocks noGrp="1"/>
          </p:cNvSpPr>
          <p:nvPr>
            <p:ph idx="1"/>
          </p:nvPr>
        </p:nvSpPr>
        <p:spPr/>
        <p:txBody>
          <a:bodyPr>
            <a:normAutofit/>
          </a:bodyPr>
          <a:lstStyle/>
          <a:p>
            <a:pPr>
              <a:buFont typeface="Wingdings" panose="05000000000000000000" pitchFamily="2" charset="2"/>
              <a:buChar char="§"/>
            </a:pPr>
            <a:r>
              <a:rPr lang="pt-BR" sz="3200" dirty="0"/>
              <a:t> Não é necessário criar um objeto para acessar um método/atributo estático;</a:t>
            </a:r>
          </a:p>
          <a:p>
            <a:pPr>
              <a:buFont typeface="Wingdings" panose="05000000000000000000" pitchFamily="2" charset="2"/>
              <a:buChar char="§"/>
            </a:pPr>
            <a:r>
              <a:rPr lang="pt-BR" sz="3200" dirty="0"/>
              <a:t> Um método que não é estático pode fazer uma chamada para um método estático (ou acessar um atributo estático);</a:t>
            </a:r>
          </a:p>
          <a:p>
            <a:pPr>
              <a:buFont typeface="Wingdings" panose="05000000000000000000" pitchFamily="2" charset="2"/>
              <a:buChar char="§"/>
            </a:pPr>
            <a:r>
              <a:rPr lang="pt-BR" sz="3200" dirty="0"/>
              <a:t> Um método estático não pode fazer uma chamada para um método que não é estático (ou acessar um atributo que não é estático).</a:t>
            </a:r>
          </a:p>
          <a:p>
            <a:pPr>
              <a:buFont typeface="Wingdings" panose="05000000000000000000" pitchFamily="2" charset="2"/>
              <a:buChar char="§"/>
            </a:pPr>
            <a:endParaRPr lang="pt-BR" sz="3200" dirty="0"/>
          </a:p>
        </p:txBody>
      </p:sp>
    </p:spTree>
    <p:extLst>
      <p:ext uri="{BB962C8B-B14F-4D97-AF65-F5344CB8AC3E}">
        <p14:creationId xmlns:p14="http://schemas.microsoft.com/office/powerpoint/2010/main" val="15579554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Atributos e métodos estáticos</a:t>
            </a:r>
          </a:p>
        </p:txBody>
      </p:sp>
      <p:sp>
        <p:nvSpPr>
          <p:cNvPr id="4" name="Retângulo 3"/>
          <p:cNvSpPr/>
          <p:nvPr/>
        </p:nvSpPr>
        <p:spPr>
          <a:xfrm>
            <a:off x="1097280" y="1934292"/>
            <a:ext cx="8154785" cy="4278094"/>
          </a:xfrm>
          <a:prstGeom prst="rect">
            <a:avLst/>
          </a:prstGeom>
        </p:spPr>
        <p:txBody>
          <a:bodyPr wrap="square">
            <a:spAutoFit/>
          </a:bodyPr>
          <a:lstStyle/>
          <a:p>
            <a:r>
              <a:rPr lang="pt-BR" sz="1600" dirty="0" err="1">
                <a:solidFill>
                  <a:srgbClr val="0000FF"/>
                </a:solidFill>
                <a:latin typeface="Consolas" panose="020B0609020204030204" pitchFamily="49" charset="0"/>
              </a:rPr>
              <a:t>public</a:t>
            </a:r>
            <a:r>
              <a:rPr lang="pt-BR" sz="1600" dirty="0">
                <a:solidFill>
                  <a:srgbClr val="000000"/>
                </a:solidFill>
                <a:latin typeface="Consolas" panose="020B0609020204030204" pitchFamily="49" charset="0"/>
              </a:rPr>
              <a:t> </a:t>
            </a:r>
            <a:r>
              <a:rPr lang="pt-BR" sz="1600" dirty="0" err="1">
                <a:solidFill>
                  <a:srgbClr val="0000FF"/>
                </a:solidFill>
                <a:latin typeface="Consolas" panose="020B0609020204030204" pitchFamily="49" charset="0"/>
              </a:rPr>
              <a:t>class</a:t>
            </a:r>
            <a:r>
              <a:rPr lang="pt-BR" sz="1600" dirty="0">
                <a:solidFill>
                  <a:srgbClr val="000000"/>
                </a:solidFill>
                <a:latin typeface="Consolas" panose="020B0609020204030204" pitchFamily="49" charset="0"/>
              </a:rPr>
              <a:t> </a:t>
            </a:r>
            <a:r>
              <a:rPr lang="pt-BR" sz="1600" dirty="0" err="1">
                <a:solidFill>
                  <a:srgbClr val="2B91AF"/>
                </a:solidFill>
                <a:latin typeface="Consolas" panose="020B0609020204030204" pitchFamily="49" charset="0"/>
              </a:rPr>
              <a:t>ClasseExemplo</a:t>
            </a:r>
            <a:endParaRPr lang="pt-BR" sz="1600" dirty="0">
              <a:solidFill>
                <a:srgbClr val="000000"/>
              </a:solidFill>
              <a:latin typeface="Consolas" panose="020B0609020204030204" pitchFamily="49" charset="0"/>
            </a:endParaRPr>
          </a:p>
          <a:p>
            <a:r>
              <a:rPr lang="pt-BR" sz="1600" dirty="0">
                <a:solidFill>
                  <a:srgbClr val="000000"/>
                </a:solidFill>
                <a:latin typeface="Consolas" panose="020B0609020204030204" pitchFamily="49" charset="0"/>
              </a:rPr>
              <a:t>{</a:t>
            </a:r>
          </a:p>
          <a:p>
            <a:r>
              <a:rPr lang="pt-BR" sz="1600" dirty="0">
                <a:solidFill>
                  <a:srgbClr val="0000FF"/>
                </a:solidFill>
                <a:latin typeface="Consolas" panose="020B0609020204030204" pitchFamily="49" charset="0"/>
              </a:rPr>
              <a:t>	</a:t>
            </a:r>
            <a:r>
              <a:rPr lang="pt-BR" sz="1600" dirty="0" err="1">
                <a:solidFill>
                  <a:srgbClr val="0000FF"/>
                </a:solidFill>
                <a:latin typeface="Consolas" panose="020B0609020204030204" pitchFamily="49" charset="0"/>
              </a:rPr>
              <a:t>static</a:t>
            </a:r>
            <a:r>
              <a:rPr lang="pt-BR" sz="1600" dirty="0">
                <a:solidFill>
                  <a:srgbClr val="000000"/>
                </a:solidFill>
                <a:latin typeface="Consolas" panose="020B0609020204030204" pitchFamily="49" charset="0"/>
              </a:rPr>
              <a:t> </a:t>
            </a:r>
            <a:r>
              <a:rPr lang="pt-BR" sz="1600" dirty="0" err="1">
                <a:solidFill>
                  <a:srgbClr val="0000FF"/>
                </a:solidFill>
                <a:latin typeface="Consolas" panose="020B0609020204030204" pitchFamily="49" charset="0"/>
              </a:rPr>
              <a:t>int</a:t>
            </a:r>
            <a:r>
              <a:rPr lang="pt-BR" sz="1600" dirty="0">
                <a:solidFill>
                  <a:srgbClr val="000000"/>
                </a:solidFill>
                <a:latin typeface="Consolas" panose="020B0609020204030204" pitchFamily="49" charset="0"/>
              </a:rPr>
              <a:t> </a:t>
            </a:r>
            <a:r>
              <a:rPr lang="pt-BR" sz="1600" dirty="0" err="1">
                <a:solidFill>
                  <a:srgbClr val="000000"/>
                </a:solidFill>
                <a:latin typeface="Consolas" panose="020B0609020204030204" pitchFamily="49" charset="0"/>
              </a:rPr>
              <a:t>AtributoEstatico</a:t>
            </a:r>
            <a:r>
              <a:rPr lang="pt-BR" sz="1600" dirty="0">
                <a:solidFill>
                  <a:srgbClr val="000000"/>
                </a:solidFill>
                <a:latin typeface="Consolas" panose="020B0609020204030204" pitchFamily="49" charset="0"/>
              </a:rPr>
              <a:t>;</a:t>
            </a:r>
          </a:p>
          <a:p>
            <a:r>
              <a:rPr lang="pt-BR" sz="1600" dirty="0">
                <a:solidFill>
                  <a:srgbClr val="0000FF"/>
                </a:solidFill>
                <a:latin typeface="Consolas" panose="020B0609020204030204" pitchFamily="49" charset="0"/>
              </a:rPr>
              <a:t>	</a:t>
            </a:r>
            <a:r>
              <a:rPr lang="pt-BR" sz="1600" dirty="0" err="1">
                <a:solidFill>
                  <a:srgbClr val="0000FF"/>
                </a:solidFill>
                <a:latin typeface="Consolas" panose="020B0609020204030204" pitchFamily="49" charset="0"/>
              </a:rPr>
              <a:t>int</a:t>
            </a:r>
            <a:r>
              <a:rPr lang="pt-BR" sz="1600" dirty="0">
                <a:solidFill>
                  <a:srgbClr val="000000"/>
                </a:solidFill>
                <a:latin typeface="Consolas" panose="020B0609020204030204" pitchFamily="49" charset="0"/>
              </a:rPr>
              <a:t> </a:t>
            </a:r>
            <a:r>
              <a:rPr lang="pt-BR" sz="1600" dirty="0" err="1">
                <a:solidFill>
                  <a:srgbClr val="000000"/>
                </a:solidFill>
                <a:latin typeface="Consolas" panose="020B0609020204030204" pitchFamily="49" charset="0"/>
              </a:rPr>
              <a:t>AtributoNaoEstatico</a:t>
            </a:r>
            <a:r>
              <a:rPr lang="pt-BR" sz="1600" dirty="0">
                <a:solidFill>
                  <a:srgbClr val="000000"/>
                </a:solidFill>
                <a:latin typeface="Consolas" panose="020B0609020204030204" pitchFamily="49" charset="0"/>
              </a:rPr>
              <a:t>;</a:t>
            </a:r>
          </a:p>
          <a:p>
            <a:endParaRPr lang="pt-BR" sz="1600" dirty="0">
              <a:solidFill>
                <a:srgbClr val="000000"/>
              </a:solidFill>
              <a:latin typeface="Consolas" panose="020B0609020204030204" pitchFamily="49" charset="0"/>
            </a:endParaRPr>
          </a:p>
          <a:p>
            <a:r>
              <a:rPr lang="pt-BR" sz="1600" dirty="0">
                <a:solidFill>
                  <a:srgbClr val="0000FF"/>
                </a:solidFill>
                <a:latin typeface="Consolas" panose="020B0609020204030204" pitchFamily="49" charset="0"/>
              </a:rPr>
              <a:t>	</a:t>
            </a:r>
            <a:r>
              <a:rPr lang="pt-BR" sz="1600" dirty="0" err="1">
                <a:solidFill>
                  <a:srgbClr val="0000FF"/>
                </a:solidFill>
                <a:latin typeface="Consolas" panose="020B0609020204030204" pitchFamily="49" charset="0"/>
              </a:rPr>
              <a:t>static</a:t>
            </a:r>
            <a:r>
              <a:rPr lang="pt-BR" sz="1600" dirty="0">
                <a:solidFill>
                  <a:srgbClr val="000000"/>
                </a:solidFill>
                <a:latin typeface="Consolas" panose="020B0609020204030204" pitchFamily="49" charset="0"/>
              </a:rPr>
              <a:t> </a:t>
            </a:r>
            <a:r>
              <a:rPr lang="pt-BR" sz="1600" dirty="0" err="1">
                <a:solidFill>
                  <a:srgbClr val="0000FF"/>
                </a:solidFill>
                <a:latin typeface="Consolas" panose="020B0609020204030204" pitchFamily="49" charset="0"/>
              </a:rPr>
              <a:t>void</a:t>
            </a:r>
            <a:r>
              <a:rPr lang="pt-BR" sz="1600" dirty="0">
                <a:solidFill>
                  <a:srgbClr val="000000"/>
                </a:solidFill>
                <a:latin typeface="Consolas" panose="020B0609020204030204" pitchFamily="49" charset="0"/>
              </a:rPr>
              <a:t> </a:t>
            </a:r>
            <a:r>
              <a:rPr lang="pt-BR" sz="1600" dirty="0" err="1">
                <a:solidFill>
                  <a:srgbClr val="000000"/>
                </a:solidFill>
                <a:latin typeface="Consolas" panose="020B0609020204030204" pitchFamily="49" charset="0"/>
              </a:rPr>
              <a:t>MetodoEstatico</a:t>
            </a:r>
            <a:r>
              <a:rPr lang="pt-BR" sz="1600" dirty="0">
                <a:solidFill>
                  <a:srgbClr val="000000"/>
                </a:solidFill>
                <a:latin typeface="Consolas" panose="020B0609020204030204" pitchFamily="49" charset="0"/>
              </a:rPr>
              <a:t>()</a:t>
            </a:r>
          </a:p>
          <a:p>
            <a:r>
              <a:rPr lang="pt-BR" sz="1600" dirty="0">
                <a:solidFill>
                  <a:srgbClr val="000000"/>
                </a:solidFill>
                <a:latin typeface="Consolas" panose="020B0609020204030204" pitchFamily="49" charset="0"/>
              </a:rPr>
              <a:t>	{</a:t>
            </a:r>
          </a:p>
          <a:p>
            <a:r>
              <a:rPr lang="pt-BR" sz="1600" dirty="0">
                <a:solidFill>
                  <a:srgbClr val="000000"/>
                </a:solidFill>
                <a:latin typeface="Consolas" panose="020B0609020204030204" pitchFamily="49" charset="0"/>
              </a:rPr>
              <a:t>		</a:t>
            </a:r>
            <a:r>
              <a:rPr lang="pt-BR" sz="1600" dirty="0" err="1">
                <a:solidFill>
                  <a:srgbClr val="000000"/>
                </a:solidFill>
                <a:latin typeface="Consolas" panose="020B0609020204030204" pitchFamily="49" charset="0"/>
              </a:rPr>
              <a:t>AtributoEstatico</a:t>
            </a:r>
            <a:r>
              <a:rPr lang="pt-BR" sz="1600" dirty="0">
                <a:solidFill>
                  <a:srgbClr val="000000"/>
                </a:solidFill>
                <a:latin typeface="Consolas" panose="020B0609020204030204" pitchFamily="49" charset="0"/>
              </a:rPr>
              <a:t> = 10;</a:t>
            </a:r>
          </a:p>
          <a:p>
            <a:pPr lvl="2"/>
            <a:r>
              <a:rPr lang="pt-BR" sz="1600" dirty="0">
                <a:solidFill>
                  <a:srgbClr val="000000"/>
                </a:solidFill>
                <a:latin typeface="Consolas" panose="020B0609020204030204" pitchFamily="49" charset="0"/>
              </a:rPr>
              <a:t>	</a:t>
            </a:r>
            <a:r>
              <a:rPr lang="pt-BR" sz="1600" dirty="0" err="1">
                <a:solidFill>
                  <a:srgbClr val="000000"/>
                </a:solidFill>
                <a:latin typeface="Consolas" panose="020B0609020204030204" pitchFamily="49" charset="0"/>
              </a:rPr>
              <a:t>AtributoNaoEstatico</a:t>
            </a:r>
            <a:r>
              <a:rPr lang="pt-BR" sz="1600" dirty="0">
                <a:solidFill>
                  <a:srgbClr val="000000"/>
                </a:solidFill>
                <a:latin typeface="Consolas" panose="020B0609020204030204" pitchFamily="49" charset="0"/>
              </a:rPr>
              <a:t> = 20;</a:t>
            </a:r>
          </a:p>
          <a:p>
            <a:r>
              <a:rPr lang="pt-BR" sz="1600" dirty="0">
                <a:solidFill>
                  <a:srgbClr val="000000"/>
                </a:solidFill>
                <a:latin typeface="Consolas" panose="020B0609020204030204" pitchFamily="49" charset="0"/>
              </a:rPr>
              <a:t>	}</a:t>
            </a:r>
          </a:p>
          <a:p>
            <a:endParaRPr lang="pt-BR" sz="1600" dirty="0">
              <a:solidFill>
                <a:srgbClr val="000000"/>
              </a:solidFill>
              <a:latin typeface="Consolas" panose="020B0609020204030204" pitchFamily="49" charset="0"/>
            </a:endParaRPr>
          </a:p>
          <a:p>
            <a:r>
              <a:rPr lang="pt-BR" sz="1600" dirty="0">
                <a:solidFill>
                  <a:srgbClr val="0000FF"/>
                </a:solidFill>
                <a:latin typeface="Consolas" panose="020B0609020204030204" pitchFamily="49" charset="0"/>
              </a:rPr>
              <a:t>	</a:t>
            </a:r>
            <a:r>
              <a:rPr lang="pt-BR" sz="1600" dirty="0" err="1">
                <a:solidFill>
                  <a:srgbClr val="0000FF"/>
                </a:solidFill>
                <a:latin typeface="Consolas" panose="020B0609020204030204" pitchFamily="49" charset="0"/>
              </a:rPr>
              <a:t>void</a:t>
            </a:r>
            <a:r>
              <a:rPr lang="pt-BR" sz="1600" dirty="0">
                <a:solidFill>
                  <a:srgbClr val="000000"/>
                </a:solidFill>
                <a:latin typeface="Consolas" panose="020B0609020204030204" pitchFamily="49" charset="0"/>
              </a:rPr>
              <a:t> </a:t>
            </a:r>
            <a:r>
              <a:rPr lang="pt-BR" sz="1600" dirty="0" err="1">
                <a:solidFill>
                  <a:srgbClr val="000000"/>
                </a:solidFill>
                <a:latin typeface="Consolas" panose="020B0609020204030204" pitchFamily="49" charset="0"/>
              </a:rPr>
              <a:t>MetodoNaoEstatico</a:t>
            </a:r>
            <a:r>
              <a:rPr lang="pt-BR" sz="1600" dirty="0">
                <a:solidFill>
                  <a:srgbClr val="000000"/>
                </a:solidFill>
                <a:latin typeface="Consolas" panose="020B0609020204030204" pitchFamily="49" charset="0"/>
              </a:rPr>
              <a:t>()</a:t>
            </a:r>
          </a:p>
          <a:p>
            <a:r>
              <a:rPr lang="pt-BR" sz="1600" dirty="0">
                <a:solidFill>
                  <a:srgbClr val="000000"/>
                </a:solidFill>
                <a:latin typeface="Consolas" panose="020B0609020204030204" pitchFamily="49" charset="0"/>
              </a:rPr>
              <a:t>	{</a:t>
            </a:r>
          </a:p>
          <a:p>
            <a:r>
              <a:rPr lang="pt-BR" sz="1600" dirty="0">
                <a:solidFill>
                  <a:srgbClr val="000000"/>
                </a:solidFill>
                <a:latin typeface="Consolas" panose="020B0609020204030204" pitchFamily="49" charset="0"/>
              </a:rPr>
              <a:t>		</a:t>
            </a:r>
            <a:r>
              <a:rPr lang="pt-BR" sz="1600" dirty="0" err="1">
                <a:solidFill>
                  <a:srgbClr val="000000"/>
                </a:solidFill>
                <a:latin typeface="Consolas" panose="020B0609020204030204" pitchFamily="49" charset="0"/>
              </a:rPr>
              <a:t>AtributoEstatico</a:t>
            </a:r>
            <a:r>
              <a:rPr lang="pt-BR" sz="1600" dirty="0">
                <a:solidFill>
                  <a:srgbClr val="000000"/>
                </a:solidFill>
                <a:latin typeface="Consolas" panose="020B0609020204030204" pitchFamily="49" charset="0"/>
              </a:rPr>
              <a:t> = 10;</a:t>
            </a:r>
          </a:p>
          <a:p>
            <a:pPr lvl="2"/>
            <a:r>
              <a:rPr lang="pt-BR" sz="1600" dirty="0">
                <a:solidFill>
                  <a:srgbClr val="000000"/>
                </a:solidFill>
                <a:latin typeface="Consolas" panose="020B0609020204030204" pitchFamily="49" charset="0"/>
              </a:rPr>
              <a:t>	</a:t>
            </a:r>
            <a:r>
              <a:rPr lang="pt-BR" sz="1600" dirty="0" err="1">
                <a:solidFill>
                  <a:srgbClr val="000000"/>
                </a:solidFill>
                <a:latin typeface="Consolas" panose="020B0609020204030204" pitchFamily="49" charset="0"/>
              </a:rPr>
              <a:t>AtributoNaoEstatico</a:t>
            </a:r>
            <a:r>
              <a:rPr lang="pt-BR" sz="1600" dirty="0">
                <a:solidFill>
                  <a:srgbClr val="000000"/>
                </a:solidFill>
                <a:latin typeface="Consolas" panose="020B0609020204030204" pitchFamily="49" charset="0"/>
              </a:rPr>
              <a:t> = 20;</a:t>
            </a:r>
          </a:p>
          <a:p>
            <a:r>
              <a:rPr lang="pt-BR" sz="1600" dirty="0">
                <a:solidFill>
                  <a:srgbClr val="000000"/>
                </a:solidFill>
                <a:latin typeface="Consolas" panose="020B0609020204030204" pitchFamily="49" charset="0"/>
              </a:rPr>
              <a:t>	}</a:t>
            </a:r>
          </a:p>
          <a:p>
            <a:r>
              <a:rPr lang="pt-BR" sz="1600" dirty="0">
                <a:solidFill>
                  <a:srgbClr val="000000"/>
                </a:solidFill>
                <a:latin typeface="Consolas" panose="020B0609020204030204" pitchFamily="49" charset="0"/>
              </a:rPr>
              <a:t>}</a:t>
            </a:r>
            <a:endParaRPr lang="pt-BR" sz="1600" dirty="0"/>
          </a:p>
        </p:txBody>
      </p:sp>
      <p:sp>
        <p:nvSpPr>
          <p:cNvPr id="5" name="CaixaDeTexto 4"/>
          <p:cNvSpPr txBox="1"/>
          <p:nvPr/>
        </p:nvSpPr>
        <p:spPr>
          <a:xfrm>
            <a:off x="8065202" y="3862040"/>
            <a:ext cx="709810" cy="369332"/>
          </a:xfrm>
          <a:prstGeom prst="rect">
            <a:avLst/>
          </a:prstGeom>
          <a:noFill/>
        </p:spPr>
        <p:txBody>
          <a:bodyPr wrap="none" rtlCol="0">
            <a:spAutoFit/>
          </a:bodyPr>
          <a:lstStyle/>
          <a:p>
            <a:r>
              <a:rPr lang="pt-BR" b="1" dirty="0">
                <a:solidFill>
                  <a:srgbClr val="FF0000"/>
                </a:solidFill>
              </a:rPr>
              <a:t>ERRO</a:t>
            </a:r>
          </a:p>
        </p:txBody>
      </p:sp>
      <p:cxnSp>
        <p:nvCxnSpPr>
          <p:cNvPr id="7" name="Conector de Seta Reta 6"/>
          <p:cNvCxnSpPr/>
          <p:nvPr/>
        </p:nvCxnSpPr>
        <p:spPr>
          <a:xfrm flipH="1">
            <a:off x="6144962" y="4046706"/>
            <a:ext cx="1720734" cy="0"/>
          </a:xfrm>
          <a:prstGeom prst="straightConnector1">
            <a:avLst/>
          </a:prstGeom>
          <a:ln>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280036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Classes estáticas</a:t>
            </a:r>
          </a:p>
        </p:txBody>
      </p:sp>
      <p:sp>
        <p:nvSpPr>
          <p:cNvPr id="3" name="Espaço Reservado para Conteúdo 2"/>
          <p:cNvSpPr>
            <a:spLocks noGrp="1"/>
          </p:cNvSpPr>
          <p:nvPr>
            <p:ph idx="1"/>
          </p:nvPr>
        </p:nvSpPr>
        <p:spPr/>
        <p:txBody>
          <a:bodyPr>
            <a:normAutofit/>
          </a:bodyPr>
          <a:lstStyle/>
          <a:p>
            <a:pPr>
              <a:buFont typeface="Wingdings" panose="05000000000000000000" pitchFamily="2" charset="2"/>
              <a:buChar char="§"/>
            </a:pPr>
            <a:r>
              <a:rPr lang="pt-BR" sz="3200" dirty="0"/>
              <a:t> São classes que permitem apenas atributos e métodos estáticos;</a:t>
            </a:r>
          </a:p>
          <a:p>
            <a:pPr>
              <a:buFont typeface="Wingdings" panose="05000000000000000000" pitchFamily="2" charset="2"/>
              <a:buChar char="§"/>
            </a:pPr>
            <a:r>
              <a:rPr lang="pt-BR" sz="3200" dirty="0"/>
              <a:t> Não podem ser declarados objetos de classes estáticas.</a:t>
            </a:r>
          </a:p>
          <a:p>
            <a:pPr>
              <a:buFont typeface="Wingdings" panose="05000000000000000000" pitchFamily="2" charset="2"/>
              <a:buChar char="§"/>
            </a:pPr>
            <a:endParaRPr lang="pt-BR" sz="3200" dirty="0"/>
          </a:p>
        </p:txBody>
      </p:sp>
      <p:sp>
        <p:nvSpPr>
          <p:cNvPr id="4" name="Retângulo 3"/>
          <p:cNvSpPr/>
          <p:nvPr/>
        </p:nvSpPr>
        <p:spPr>
          <a:xfrm>
            <a:off x="350982" y="3590457"/>
            <a:ext cx="11219185" cy="1477328"/>
          </a:xfrm>
          <a:prstGeom prst="rect">
            <a:avLst/>
          </a:prstGeom>
        </p:spPr>
        <p:txBody>
          <a:bodyPr wrap="square">
            <a:spAutoFit/>
          </a:bodyPr>
          <a:lstStyle/>
          <a:p>
            <a:r>
              <a:rPr lang="pt-BR" dirty="0" err="1">
                <a:solidFill>
                  <a:srgbClr val="0000FF"/>
                </a:solidFill>
                <a:highlight>
                  <a:srgbClr val="FFFFFF"/>
                </a:highlight>
                <a:latin typeface="Consolas" panose="020B0609020204030204" pitchFamily="49" charset="0"/>
              </a:rPr>
              <a:t>public</a:t>
            </a:r>
            <a:r>
              <a:rPr lang="pt-BR" dirty="0">
                <a:solidFill>
                  <a:srgbClr val="000000"/>
                </a:solidFill>
                <a:highlight>
                  <a:srgbClr val="FFFFFF"/>
                </a:highlight>
                <a:latin typeface="Consolas" panose="020B0609020204030204" pitchFamily="49" charset="0"/>
              </a:rPr>
              <a:t> </a:t>
            </a:r>
            <a:r>
              <a:rPr lang="pt-BR" dirty="0" err="1">
                <a:solidFill>
                  <a:srgbClr val="0000FF"/>
                </a:solidFill>
                <a:highlight>
                  <a:srgbClr val="FFFFFF"/>
                </a:highlight>
                <a:latin typeface="Consolas" panose="020B0609020204030204" pitchFamily="49" charset="0"/>
              </a:rPr>
              <a:t>static</a:t>
            </a:r>
            <a:r>
              <a:rPr lang="pt-BR" dirty="0">
                <a:solidFill>
                  <a:srgbClr val="000000"/>
                </a:solidFill>
                <a:highlight>
                  <a:srgbClr val="FFFFFF"/>
                </a:highlight>
                <a:latin typeface="Consolas" panose="020B0609020204030204" pitchFamily="49" charset="0"/>
              </a:rPr>
              <a:t> </a:t>
            </a:r>
            <a:r>
              <a:rPr lang="pt-BR" dirty="0" err="1">
                <a:solidFill>
                  <a:srgbClr val="0000FF"/>
                </a:solidFill>
                <a:highlight>
                  <a:srgbClr val="FFFFFF"/>
                </a:highlight>
                <a:latin typeface="Consolas" panose="020B0609020204030204" pitchFamily="49" charset="0"/>
              </a:rPr>
              <a:t>class</a:t>
            </a:r>
            <a:r>
              <a:rPr lang="pt-BR" dirty="0">
                <a:solidFill>
                  <a:srgbClr val="000000"/>
                </a:solidFill>
                <a:highlight>
                  <a:srgbClr val="FFFFFF"/>
                </a:highlight>
                <a:latin typeface="Consolas" panose="020B0609020204030204" pitchFamily="49" charset="0"/>
              </a:rPr>
              <a:t> </a:t>
            </a:r>
            <a:r>
              <a:rPr lang="pt-BR" dirty="0">
                <a:solidFill>
                  <a:srgbClr val="2B91AF"/>
                </a:solidFill>
                <a:highlight>
                  <a:srgbClr val="FFFFFF"/>
                </a:highlight>
                <a:latin typeface="Consolas" panose="020B0609020204030204" pitchFamily="49" charset="0"/>
              </a:rPr>
              <a:t>Erros</a:t>
            </a:r>
            <a:endParaRPr lang="pt-BR" dirty="0">
              <a:solidFill>
                <a:srgbClr val="000000"/>
              </a:solidFill>
              <a:highlight>
                <a:srgbClr val="FFFFFF"/>
              </a:highlight>
              <a:latin typeface="Consolas" panose="020B0609020204030204" pitchFamily="49" charset="0"/>
            </a:endParaRPr>
          </a:p>
          <a:p>
            <a:r>
              <a:rPr lang="pt-BR" dirty="0">
                <a:solidFill>
                  <a:srgbClr val="000000"/>
                </a:solidFill>
                <a:highlight>
                  <a:srgbClr val="FFFFFF"/>
                </a:highlight>
                <a:latin typeface="Consolas" panose="020B0609020204030204" pitchFamily="49" charset="0"/>
              </a:rPr>
              <a:t>{</a:t>
            </a:r>
          </a:p>
          <a:p>
            <a:r>
              <a:rPr lang="pt-BR" dirty="0">
                <a:solidFill>
                  <a:srgbClr val="0000FF"/>
                </a:solidFill>
                <a:highlight>
                  <a:srgbClr val="FFFFFF"/>
                </a:highlight>
                <a:latin typeface="Consolas" panose="020B0609020204030204" pitchFamily="49" charset="0"/>
              </a:rPr>
              <a:t>    </a:t>
            </a:r>
            <a:r>
              <a:rPr lang="pt-BR" dirty="0" err="1">
                <a:solidFill>
                  <a:srgbClr val="0000FF"/>
                </a:solidFill>
                <a:highlight>
                  <a:srgbClr val="FFFFFF"/>
                </a:highlight>
                <a:latin typeface="Consolas" panose="020B0609020204030204" pitchFamily="49" charset="0"/>
              </a:rPr>
              <a:t>public</a:t>
            </a:r>
            <a:r>
              <a:rPr lang="pt-BR" dirty="0">
                <a:solidFill>
                  <a:srgbClr val="000000"/>
                </a:solidFill>
                <a:highlight>
                  <a:srgbClr val="FFFFFF"/>
                </a:highlight>
                <a:latin typeface="Consolas" panose="020B0609020204030204" pitchFamily="49" charset="0"/>
              </a:rPr>
              <a:t> </a:t>
            </a:r>
            <a:r>
              <a:rPr lang="pt-BR" dirty="0" err="1">
                <a:solidFill>
                  <a:srgbClr val="0000FF"/>
                </a:solidFill>
                <a:highlight>
                  <a:srgbClr val="FFFFFF"/>
                </a:highlight>
                <a:latin typeface="Consolas" panose="020B0609020204030204" pitchFamily="49" charset="0"/>
              </a:rPr>
              <a:t>static</a:t>
            </a:r>
            <a:r>
              <a:rPr lang="pt-BR" dirty="0">
                <a:solidFill>
                  <a:srgbClr val="000000"/>
                </a:solidFill>
                <a:highlight>
                  <a:srgbClr val="FFFFFF"/>
                </a:highlight>
                <a:latin typeface="Consolas" panose="020B0609020204030204" pitchFamily="49" charset="0"/>
              </a:rPr>
              <a:t> </a:t>
            </a:r>
            <a:r>
              <a:rPr lang="pt-BR" dirty="0" err="1">
                <a:solidFill>
                  <a:srgbClr val="0000FF"/>
                </a:solidFill>
                <a:highlight>
                  <a:srgbClr val="FFFFFF"/>
                </a:highlight>
                <a:latin typeface="Consolas" panose="020B0609020204030204" pitchFamily="49" charset="0"/>
              </a:rPr>
              <a:t>string</a:t>
            </a:r>
            <a:r>
              <a:rPr lang="pt-BR" dirty="0">
                <a:solidFill>
                  <a:srgbClr val="000000"/>
                </a:solidFill>
                <a:highlight>
                  <a:srgbClr val="FFFFFF"/>
                </a:highlight>
                <a:latin typeface="Consolas" panose="020B0609020204030204" pitchFamily="49" charset="0"/>
              </a:rPr>
              <a:t> FALHA_CONEXÃO = </a:t>
            </a:r>
            <a:r>
              <a:rPr lang="pt-BR" dirty="0">
                <a:solidFill>
                  <a:srgbClr val="A31515"/>
                </a:solidFill>
                <a:highlight>
                  <a:srgbClr val="FFFFFF"/>
                </a:highlight>
                <a:latin typeface="Consolas" panose="020B0609020204030204" pitchFamily="49" charset="0"/>
              </a:rPr>
              <a:t>"Impossível conectar com o banco de dados"</a:t>
            </a:r>
            <a:r>
              <a:rPr lang="pt-BR" dirty="0">
                <a:solidFill>
                  <a:srgbClr val="000000"/>
                </a:solidFill>
                <a:highlight>
                  <a:srgbClr val="FFFFFF"/>
                </a:highlight>
                <a:latin typeface="Consolas" panose="020B0609020204030204" pitchFamily="49" charset="0"/>
              </a:rPr>
              <a:t>;</a:t>
            </a:r>
          </a:p>
          <a:p>
            <a:r>
              <a:rPr lang="pt-BR" dirty="0">
                <a:solidFill>
                  <a:srgbClr val="000000"/>
                </a:solidFill>
                <a:highlight>
                  <a:srgbClr val="FFFFFF"/>
                </a:highlight>
                <a:latin typeface="Consolas" panose="020B0609020204030204" pitchFamily="49" charset="0"/>
              </a:rPr>
              <a:t>    </a:t>
            </a:r>
            <a:r>
              <a:rPr lang="pt-BR" dirty="0" err="1">
                <a:solidFill>
                  <a:srgbClr val="0000FF"/>
                </a:solidFill>
                <a:highlight>
                  <a:srgbClr val="FFFFFF"/>
                </a:highlight>
                <a:latin typeface="Consolas" panose="020B0609020204030204" pitchFamily="49" charset="0"/>
              </a:rPr>
              <a:t>public</a:t>
            </a:r>
            <a:r>
              <a:rPr lang="pt-BR" dirty="0">
                <a:solidFill>
                  <a:srgbClr val="000000"/>
                </a:solidFill>
                <a:highlight>
                  <a:srgbClr val="FFFFFF"/>
                </a:highlight>
                <a:latin typeface="Consolas" panose="020B0609020204030204" pitchFamily="49" charset="0"/>
              </a:rPr>
              <a:t> </a:t>
            </a:r>
            <a:r>
              <a:rPr lang="pt-BR" dirty="0" err="1">
                <a:solidFill>
                  <a:srgbClr val="0000FF"/>
                </a:solidFill>
                <a:highlight>
                  <a:srgbClr val="FFFFFF"/>
                </a:highlight>
                <a:latin typeface="Consolas" panose="020B0609020204030204" pitchFamily="49" charset="0"/>
              </a:rPr>
              <a:t>static</a:t>
            </a:r>
            <a:r>
              <a:rPr lang="pt-BR" dirty="0">
                <a:solidFill>
                  <a:srgbClr val="000000"/>
                </a:solidFill>
                <a:highlight>
                  <a:srgbClr val="FFFFFF"/>
                </a:highlight>
                <a:latin typeface="Consolas" panose="020B0609020204030204" pitchFamily="49" charset="0"/>
              </a:rPr>
              <a:t> </a:t>
            </a:r>
            <a:r>
              <a:rPr lang="pt-BR" dirty="0" err="1">
                <a:solidFill>
                  <a:srgbClr val="0000FF"/>
                </a:solidFill>
                <a:highlight>
                  <a:srgbClr val="FFFFFF"/>
                </a:highlight>
                <a:latin typeface="Consolas" panose="020B0609020204030204" pitchFamily="49" charset="0"/>
              </a:rPr>
              <a:t>string</a:t>
            </a:r>
            <a:r>
              <a:rPr lang="pt-BR" dirty="0">
                <a:solidFill>
                  <a:srgbClr val="000000"/>
                </a:solidFill>
                <a:highlight>
                  <a:srgbClr val="FFFFFF"/>
                </a:highlight>
                <a:latin typeface="Consolas" panose="020B0609020204030204" pitchFamily="49" charset="0"/>
              </a:rPr>
              <a:t> USUÁRIO_INVÁLIDO = </a:t>
            </a:r>
            <a:r>
              <a:rPr lang="pt-BR" dirty="0">
                <a:solidFill>
                  <a:srgbClr val="A31515"/>
                </a:solidFill>
                <a:highlight>
                  <a:srgbClr val="FFFFFF"/>
                </a:highlight>
                <a:latin typeface="Consolas" panose="020B0609020204030204" pitchFamily="49" charset="0"/>
              </a:rPr>
              <a:t>"</a:t>
            </a:r>
            <a:r>
              <a:rPr lang="pt-BR" dirty="0" err="1">
                <a:solidFill>
                  <a:srgbClr val="A31515"/>
                </a:solidFill>
                <a:highlight>
                  <a:srgbClr val="FFFFFF"/>
                </a:highlight>
                <a:latin typeface="Consolas" panose="020B0609020204030204" pitchFamily="49" charset="0"/>
              </a:rPr>
              <a:t>Login</a:t>
            </a:r>
            <a:r>
              <a:rPr lang="pt-BR" dirty="0">
                <a:solidFill>
                  <a:srgbClr val="A31515"/>
                </a:solidFill>
                <a:highlight>
                  <a:srgbClr val="FFFFFF"/>
                </a:highlight>
                <a:latin typeface="Consolas" panose="020B0609020204030204" pitchFamily="49" charset="0"/>
              </a:rPr>
              <a:t> ou senha inválidos!"</a:t>
            </a:r>
            <a:r>
              <a:rPr lang="pt-BR" dirty="0">
                <a:solidFill>
                  <a:srgbClr val="000000"/>
                </a:solidFill>
                <a:highlight>
                  <a:srgbClr val="FFFFFF"/>
                </a:highlight>
                <a:latin typeface="Consolas" panose="020B0609020204030204" pitchFamily="49" charset="0"/>
              </a:rPr>
              <a:t>;</a:t>
            </a:r>
          </a:p>
          <a:p>
            <a:r>
              <a:rPr lang="pt-BR" dirty="0">
                <a:solidFill>
                  <a:srgbClr val="000000"/>
                </a:solidFill>
                <a:highlight>
                  <a:srgbClr val="FFFFFF"/>
                </a:highlight>
                <a:latin typeface="Consolas" panose="020B0609020204030204" pitchFamily="49" charset="0"/>
              </a:rPr>
              <a:t>}</a:t>
            </a:r>
            <a:endParaRPr lang="pt-BR" dirty="0"/>
          </a:p>
        </p:txBody>
      </p:sp>
    </p:spTree>
    <p:extLst>
      <p:ext uri="{BB962C8B-B14F-4D97-AF65-F5344CB8AC3E}">
        <p14:creationId xmlns:p14="http://schemas.microsoft.com/office/powerpoint/2010/main" val="20792083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Herança</a:t>
            </a:r>
          </a:p>
        </p:txBody>
      </p:sp>
      <p:sp>
        <p:nvSpPr>
          <p:cNvPr id="3" name="Espaço Reservado para Conteúdo 2"/>
          <p:cNvSpPr>
            <a:spLocks noGrp="1"/>
          </p:cNvSpPr>
          <p:nvPr>
            <p:ph idx="1"/>
          </p:nvPr>
        </p:nvSpPr>
        <p:spPr/>
        <p:txBody>
          <a:bodyPr>
            <a:normAutofit/>
          </a:bodyPr>
          <a:lstStyle/>
          <a:p>
            <a:r>
              <a:rPr lang="pt-BR" sz="2800" dirty="0"/>
              <a:t>Uma classe pode herdar os atributos e métodos e demais características de outra classe;</a:t>
            </a:r>
          </a:p>
          <a:p>
            <a:r>
              <a:rPr lang="pt-BR" sz="2800" dirty="0"/>
              <a:t>Em C#, uma classe pode ser derivada de apenas uma única classe;</a:t>
            </a:r>
          </a:p>
          <a:p>
            <a:r>
              <a:rPr lang="pt-BR" sz="2800" dirty="0"/>
              <a:t>A classe derivada possui os mesmos membros da classe base, exceto construtores e destrutores;</a:t>
            </a:r>
          </a:p>
          <a:p>
            <a:r>
              <a:rPr lang="pt-BR" sz="2800" dirty="0"/>
              <a:t>A classe derivada pode ter mais atributos/métodos além dos da classe base;</a:t>
            </a:r>
          </a:p>
          <a:p>
            <a:r>
              <a:rPr lang="pt-BR" sz="2800" dirty="0"/>
              <a:t>Toda classe criada herda da classe </a:t>
            </a:r>
            <a:r>
              <a:rPr lang="pt-BR" sz="2800" dirty="0" err="1"/>
              <a:t>System.Object</a:t>
            </a:r>
            <a:r>
              <a:rPr lang="pt-BR" sz="2800" dirty="0"/>
              <a:t>.</a:t>
            </a:r>
          </a:p>
          <a:p>
            <a:endParaRPr lang="pt-BR" sz="3200" dirty="0"/>
          </a:p>
        </p:txBody>
      </p:sp>
    </p:spTree>
    <p:extLst>
      <p:ext uri="{BB962C8B-B14F-4D97-AF65-F5344CB8AC3E}">
        <p14:creationId xmlns:p14="http://schemas.microsoft.com/office/powerpoint/2010/main" val="11547419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Herança</a:t>
            </a:r>
          </a:p>
        </p:txBody>
      </p:sp>
      <p:sp>
        <p:nvSpPr>
          <p:cNvPr id="3" name="Espaço Reservado para Conteúdo 2"/>
          <p:cNvSpPr>
            <a:spLocks noGrp="1"/>
          </p:cNvSpPr>
          <p:nvPr>
            <p:ph idx="1"/>
          </p:nvPr>
        </p:nvSpPr>
        <p:spPr/>
        <p:txBody>
          <a:bodyPr>
            <a:normAutofit/>
          </a:bodyPr>
          <a:lstStyle/>
          <a:p>
            <a:r>
              <a:rPr lang="pt-BR" sz="3200" dirty="0"/>
              <a:t>A declaração da classe base é feita normalmente.</a:t>
            </a:r>
          </a:p>
          <a:p>
            <a:r>
              <a:rPr lang="pt-BR" sz="3200" dirty="0"/>
              <a:t>Declaração da classe derivada é feita da seguinte forma:</a:t>
            </a:r>
          </a:p>
          <a:p>
            <a:endParaRPr lang="pt-BR" sz="3200" dirty="0"/>
          </a:p>
        </p:txBody>
      </p:sp>
      <p:sp>
        <p:nvSpPr>
          <p:cNvPr id="5" name="Retângulo 4"/>
          <p:cNvSpPr/>
          <p:nvPr/>
        </p:nvSpPr>
        <p:spPr>
          <a:xfrm>
            <a:off x="970074" y="3429000"/>
            <a:ext cx="10462697" cy="1569660"/>
          </a:xfrm>
          <a:prstGeom prst="rect">
            <a:avLst/>
          </a:prstGeom>
        </p:spPr>
        <p:txBody>
          <a:bodyPr wrap="square">
            <a:spAutoFit/>
          </a:bodyPr>
          <a:lstStyle/>
          <a:p>
            <a:r>
              <a:rPr lang="pt-BR" sz="2400" dirty="0">
                <a:latin typeface="Consolas"/>
              </a:rPr>
              <a:t>[</a:t>
            </a:r>
            <a:r>
              <a:rPr lang="pt-BR" sz="2400" dirty="0" err="1">
                <a:latin typeface="Consolas"/>
              </a:rPr>
              <a:t>modificador_acesso</a:t>
            </a:r>
            <a:r>
              <a:rPr lang="pt-BR" sz="2400" dirty="0">
                <a:latin typeface="Consolas"/>
              </a:rPr>
              <a:t>] </a:t>
            </a:r>
            <a:r>
              <a:rPr lang="pt-BR" sz="2400" dirty="0" err="1">
                <a:solidFill>
                  <a:srgbClr val="0000FF"/>
                </a:solidFill>
                <a:latin typeface="Consolas"/>
              </a:rPr>
              <a:t>class</a:t>
            </a:r>
            <a:r>
              <a:rPr lang="pt-BR" sz="2400" dirty="0">
                <a:solidFill>
                  <a:prstClr val="black"/>
                </a:solidFill>
                <a:latin typeface="Consolas"/>
              </a:rPr>
              <a:t> &lt;</a:t>
            </a:r>
            <a:r>
              <a:rPr lang="pt-BR" sz="2400" dirty="0" err="1">
                <a:solidFill>
                  <a:prstClr val="black"/>
                </a:solidFill>
                <a:latin typeface="Consolas"/>
              </a:rPr>
              <a:t>classe_derivada</a:t>
            </a:r>
            <a:r>
              <a:rPr lang="pt-BR" sz="2400" dirty="0">
                <a:solidFill>
                  <a:prstClr val="black"/>
                </a:solidFill>
                <a:latin typeface="Consolas"/>
              </a:rPr>
              <a:t>&gt; : &lt;</a:t>
            </a:r>
            <a:r>
              <a:rPr lang="pt-BR" sz="2400" dirty="0" err="1">
                <a:solidFill>
                  <a:prstClr val="black"/>
                </a:solidFill>
                <a:latin typeface="Consolas"/>
              </a:rPr>
              <a:t>classe_base</a:t>
            </a:r>
            <a:r>
              <a:rPr lang="pt-BR" sz="2400" dirty="0">
                <a:solidFill>
                  <a:prstClr val="black"/>
                </a:solidFill>
                <a:latin typeface="Consolas"/>
              </a:rPr>
              <a:t>&gt; </a:t>
            </a:r>
          </a:p>
          <a:p>
            <a:r>
              <a:rPr lang="pt-BR" sz="2400" dirty="0">
                <a:solidFill>
                  <a:prstClr val="black"/>
                </a:solidFill>
                <a:latin typeface="Consolas"/>
              </a:rPr>
              <a:t>{</a:t>
            </a:r>
          </a:p>
          <a:p>
            <a:endParaRPr lang="pt-BR" sz="2400" dirty="0">
              <a:solidFill>
                <a:prstClr val="black"/>
              </a:solidFill>
              <a:latin typeface="Consolas"/>
            </a:endParaRPr>
          </a:p>
          <a:p>
            <a:r>
              <a:rPr lang="pt-BR" sz="2400" dirty="0">
                <a:solidFill>
                  <a:prstClr val="black"/>
                </a:solidFill>
                <a:latin typeface="Consolas"/>
              </a:rPr>
              <a:t>}</a:t>
            </a:r>
          </a:p>
        </p:txBody>
      </p:sp>
      <p:pic>
        <p:nvPicPr>
          <p:cNvPr id="4" name="Imagem 3"/>
          <p:cNvPicPr>
            <a:picLocks noChangeAspect="1"/>
          </p:cNvPicPr>
          <p:nvPr/>
        </p:nvPicPr>
        <p:blipFill>
          <a:blip r:embed="rId2"/>
          <a:stretch>
            <a:fillRect/>
          </a:stretch>
        </p:blipFill>
        <p:spPr>
          <a:xfrm>
            <a:off x="4715306" y="4537956"/>
            <a:ext cx="2261134" cy="1791842"/>
          </a:xfrm>
          <a:prstGeom prst="rect">
            <a:avLst/>
          </a:prstGeom>
        </p:spPr>
      </p:pic>
    </p:spTree>
    <p:extLst>
      <p:ext uri="{BB962C8B-B14F-4D97-AF65-F5344CB8AC3E}">
        <p14:creationId xmlns:p14="http://schemas.microsoft.com/office/powerpoint/2010/main" val="33796286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Exemplo</a:t>
            </a:r>
          </a:p>
        </p:txBody>
      </p:sp>
      <p:sp>
        <p:nvSpPr>
          <p:cNvPr id="3" name="Espaço Reservado para Conteúdo 2"/>
          <p:cNvSpPr>
            <a:spLocks noGrp="1"/>
          </p:cNvSpPr>
          <p:nvPr>
            <p:ph idx="1"/>
          </p:nvPr>
        </p:nvSpPr>
        <p:spPr/>
        <p:txBody>
          <a:bodyPr>
            <a:normAutofit/>
          </a:bodyPr>
          <a:lstStyle/>
          <a:p>
            <a:r>
              <a:rPr lang="pt-BR" sz="3200" dirty="0"/>
              <a:t>Um sistema de uma instituição de ensino permite a autenticação de professores e alunos, através de nome de usuário (</a:t>
            </a:r>
            <a:r>
              <a:rPr lang="pt-BR" sz="3200" i="1" dirty="0" err="1"/>
              <a:t>login</a:t>
            </a:r>
            <a:r>
              <a:rPr lang="pt-BR" sz="3200" dirty="0"/>
              <a:t>) e senha. O sistema armazena, dos professores, um telefone, para contato, e dos alunos, seus endereços, para o caso de envio de correspondência. Nesse sistema, apenas os professores podem alterar notas, sendo que os alunos podem apenas as consultar.</a:t>
            </a:r>
          </a:p>
        </p:txBody>
      </p:sp>
    </p:spTree>
    <p:extLst>
      <p:ext uri="{BB962C8B-B14F-4D97-AF65-F5344CB8AC3E}">
        <p14:creationId xmlns:p14="http://schemas.microsoft.com/office/powerpoint/2010/main" val="39170208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Exemplo (modelagem 1)</a:t>
            </a:r>
          </a:p>
        </p:txBody>
      </p:sp>
      <p:sp>
        <p:nvSpPr>
          <p:cNvPr id="3" name="Espaço Reservado para Conteúdo 2"/>
          <p:cNvSpPr>
            <a:spLocks noGrp="1"/>
          </p:cNvSpPr>
          <p:nvPr>
            <p:ph idx="1"/>
          </p:nvPr>
        </p:nvSpPr>
        <p:spPr/>
        <p:txBody>
          <a:bodyPr/>
          <a:lstStyle/>
          <a:p>
            <a:r>
              <a:rPr lang="pt-BR" dirty="0"/>
              <a:t>Um sistema de uma instituição de ensino permite a autenticação de professores e alunos, através de nome de usuário (</a:t>
            </a:r>
            <a:r>
              <a:rPr lang="pt-BR" i="1" dirty="0" err="1"/>
              <a:t>login</a:t>
            </a:r>
            <a:r>
              <a:rPr lang="pt-BR" dirty="0"/>
              <a:t>)  e senha. O sistema armazena, dos professores, um telefone, para contato, e dos alunos, seu endereço, para o caso de envio de correspondência. Nesse sistema, apenas os professores podem alterar notas, sendo que os alunos podem apenas as consultar.</a:t>
            </a:r>
          </a:p>
        </p:txBody>
      </p:sp>
      <p:pic>
        <p:nvPicPr>
          <p:cNvPr id="6" name="Imagem 5"/>
          <p:cNvPicPr>
            <a:picLocks noChangeAspect="1"/>
          </p:cNvPicPr>
          <p:nvPr/>
        </p:nvPicPr>
        <p:blipFill>
          <a:blip r:embed="rId2"/>
          <a:stretch>
            <a:fillRect/>
          </a:stretch>
        </p:blipFill>
        <p:spPr>
          <a:xfrm>
            <a:off x="3083242" y="3449744"/>
            <a:ext cx="5629275" cy="2419350"/>
          </a:xfrm>
          <a:prstGeom prst="rect">
            <a:avLst/>
          </a:prstGeom>
        </p:spPr>
      </p:pic>
    </p:spTree>
    <p:extLst>
      <p:ext uri="{BB962C8B-B14F-4D97-AF65-F5344CB8AC3E}">
        <p14:creationId xmlns:p14="http://schemas.microsoft.com/office/powerpoint/2010/main" val="18468981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Exemplo (modelagem 1)</a:t>
            </a:r>
          </a:p>
        </p:txBody>
      </p:sp>
      <p:sp>
        <p:nvSpPr>
          <p:cNvPr id="5" name="Retângulo 4"/>
          <p:cNvSpPr/>
          <p:nvPr/>
        </p:nvSpPr>
        <p:spPr>
          <a:xfrm>
            <a:off x="1097280" y="1814959"/>
            <a:ext cx="10271760" cy="2339102"/>
          </a:xfrm>
          <a:prstGeom prst="rect">
            <a:avLst/>
          </a:prstGeom>
        </p:spPr>
        <p:txBody>
          <a:bodyPr wrap="square">
            <a:spAutoFit/>
          </a:bodyPr>
          <a:lstStyle/>
          <a:p>
            <a:r>
              <a:rPr lang="pt-BR" sz="1600" dirty="0">
                <a:solidFill>
                  <a:srgbClr val="000000"/>
                </a:solidFill>
                <a:highlight>
                  <a:srgbClr val="FFFFFF"/>
                </a:highlight>
                <a:latin typeface="Consolas" panose="020B0609020204030204" pitchFamily="49" charset="0"/>
              </a:rPr>
              <a:t> </a:t>
            </a:r>
            <a:r>
              <a:rPr lang="pt-BR" sz="1600" dirty="0" err="1">
                <a:solidFill>
                  <a:srgbClr val="0000FF"/>
                </a:solidFill>
                <a:highlight>
                  <a:srgbClr val="FFFFFF"/>
                </a:highlight>
                <a:latin typeface="Consolas" panose="020B0609020204030204" pitchFamily="49" charset="0"/>
              </a:rPr>
              <a:t>public</a:t>
            </a:r>
            <a:r>
              <a:rPr lang="pt-BR" sz="1600" dirty="0">
                <a:solidFill>
                  <a:srgbClr val="000000"/>
                </a:solidFill>
                <a:highlight>
                  <a:srgbClr val="FFFFFF"/>
                </a:highlight>
                <a:latin typeface="Consolas" panose="020B0609020204030204" pitchFamily="49" charset="0"/>
              </a:rPr>
              <a:t> </a:t>
            </a:r>
            <a:r>
              <a:rPr lang="pt-BR" sz="1600" dirty="0" err="1">
                <a:solidFill>
                  <a:srgbClr val="0000FF"/>
                </a:solidFill>
                <a:highlight>
                  <a:srgbClr val="FFFFFF"/>
                </a:highlight>
                <a:latin typeface="Consolas" panose="020B0609020204030204" pitchFamily="49" charset="0"/>
              </a:rPr>
              <a:t>class</a:t>
            </a:r>
            <a:r>
              <a:rPr lang="pt-BR" sz="1600" dirty="0">
                <a:solidFill>
                  <a:srgbClr val="000000"/>
                </a:solidFill>
                <a:highlight>
                  <a:srgbClr val="FFFFFF"/>
                </a:highlight>
                <a:latin typeface="Consolas" panose="020B0609020204030204" pitchFamily="49" charset="0"/>
              </a:rPr>
              <a:t> </a:t>
            </a:r>
            <a:r>
              <a:rPr lang="pt-BR" sz="1600" dirty="0">
                <a:solidFill>
                  <a:srgbClr val="2B91AF"/>
                </a:solidFill>
                <a:highlight>
                  <a:srgbClr val="FFFFFF"/>
                </a:highlight>
                <a:latin typeface="Consolas" panose="020B0609020204030204" pitchFamily="49" charset="0"/>
              </a:rPr>
              <a:t>Professor</a:t>
            </a:r>
            <a:endParaRPr lang="pt-BR" sz="1600" dirty="0">
              <a:solidFill>
                <a:srgbClr val="000000"/>
              </a:solidFill>
              <a:highlight>
                <a:srgbClr val="FFFFFF"/>
              </a:highlight>
              <a:latin typeface="Consolas" panose="020B0609020204030204" pitchFamily="49" charset="0"/>
            </a:endParaRPr>
          </a:p>
          <a:p>
            <a:r>
              <a:rPr lang="pt-BR" sz="1600" dirty="0">
                <a:solidFill>
                  <a:srgbClr val="000000"/>
                </a:solidFill>
                <a:highlight>
                  <a:srgbClr val="FFFFFF"/>
                </a:highlight>
                <a:latin typeface="Consolas" panose="020B0609020204030204" pitchFamily="49" charset="0"/>
              </a:rPr>
              <a:t>{</a:t>
            </a:r>
          </a:p>
          <a:p>
            <a:r>
              <a:rPr lang="pt-BR" sz="1600" dirty="0">
                <a:solidFill>
                  <a:srgbClr val="000000"/>
                </a:solidFill>
                <a:highlight>
                  <a:srgbClr val="FFFFFF"/>
                </a:highlight>
                <a:latin typeface="Consolas" panose="020B0609020204030204" pitchFamily="49" charset="0"/>
              </a:rPr>
              <a:t>	</a:t>
            </a:r>
            <a:r>
              <a:rPr lang="pt-BR" sz="1600" dirty="0" err="1">
                <a:solidFill>
                  <a:srgbClr val="0000FF"/>
                </a:solidFill>
                <a:highlight>
                  <a:srgbClr val="FFFFFF"/>
                </a:highlight>
                <a:latin typeface="Consolas" panose="020B0609020204030204" pitchFamily="49" charset="0"/>
              </a:rPr>
              <a:t>public</a:t>
            </a:r>
            <a:r>
              <a:rPr lang="pt-BR" sz="1600" dirty="0">
                <a:solidFill>
                  <a:srgbClr val="000000"/>
                </a:solidFill>
                <a:highlight>
                  <a:srgbClr val="FFFFFF"/>
                </a:highlight>
                <a:latin typeface="Consolas" panose="020B0609020204030204" pitchFamily="49" charset="0"/>
              </a:rPr>
              <a:t> </a:t>
            </a:r>
            <a:r>
              <a:rPr lang="pt-BR" sz="1600" dirty="0" err="1">
                <a:solidFill>
                  <a:srgbClr val="0000FF"/>
                </a:solidFill>
                <a:highlight>
                  <a:srgbClr val="FFFFFF"/>
                </a:highlight>
                <a:latin typeface="Consolas" panose="020B0609020204030204" pitchFamily="49" charset="0"/>
              </a:rPr>
              <a:t>string</a:t>
            </a:r>
            <a:r>
              <a:rPr lang="pt-BR" sz="1600" dirty="0">
                <a:solidFill>
                  <a:srgbClr val="000000"/>
                </a:solidFill>
                <a:highlight>
                  <a:srgbClr val="FFFFFF"/>
                </a:highlight>
                <a:latin typeface="Consolas" panose="020B0609020204030204" pitchFamily="49" charset="0"/>
              </a:rPr>
              <a:t> </a:t>
            </a:r>
            <a:r>
              <a:rPr lang="pt-BR" sz="1600" dirty="0" err="1">
                <a:solidFill>
                  <a:srgbClr val="000000"/>
                </a:solidFill>
                <a:highlight>
                  <a:srgbClr val="FFFFFF"/>
                </a:highlight>
                <a:latin typeface="Consolas" panose="020B0609020204030204" pitchFamily="49" charset="0"/>
              </a:rPr>
              <a:t>Login</a:t>
            </a:r>
            <a:r>
              <a:rPr lang="pt-BR" sz="1600" dirty="0">
                <a:solidFill>
                  <a:srgbClr val="000000"/>
                </a:solidFill>
                <a:highlight>
                  <a:srgbClr val="FFFFFF"/>
                </a:highlight>
                <a:latin typeface="Consolas" panose="020B0609020204030204" pitchFamily="49" charset="0"/>
              </a:rPr>
              <a:t>;</a:t>
            </a:r>
          </a:p>
          <a:p>
            <a:r>
              <a:rPr lang="pt-BR" sz="1600" dirty="0">
                <a:solidFill>
                  <a:srgbClr val="0000FF"/>
                </a:solidFill>
                <a:highlight>
                  <a:srgbClr val="FFFFFF"/>
                </a:highlight>
                <a:latin typeface="Consolas" panose="020B0609020204030204" pitchFamily="49" charset="0"/>
              </a:rPr>
              <a:t>	</a:t>
            </a:r>
            <a:r>
              <a:rPr lang="pt-BR" sz="1600" dirty="0" err="1">
                <a:solidFill>
                  <a:srgbClr val="0000FF"/>
                </a:solidFill>
                <a:highlight>
                  <a:srgbClr val="FFFFFF"/>
                </a:highlight>
                <a:latin typeface="Consolas" panose="020B0609020204030204" pitchFamily="49" charset="0"/>
              </a:rPr>
              <a:t>public</a:t>
            </a:r>
            <a:r>
              <a:rPr lang="pt-BR" sz="1600" dirty="0">
                <a:solidFill>
                  <a:srgbClr val="000000"/>
                </a:solidFill>
                <a:highlight>
                  <a:srgbClr val="FFFFFF"/>
                </a:highlight>
                <a:latin typeface="Consolas" panose="020B0609020204030204" pitchFamily="49" charset="0"/>
              </a:rPr>
              <a:t> </a:t>
            </a:r>
            <a:r>
              <a:rPr lang="pt-BR" sz="1600" dirty="0" err="1">
                <a:solidFill>
                  <a:srgbClr val="0000FF"/>
                </a:solidFill>
                <a:highlight>
                  <a:srgbClr val="FFFFFF"/>
                </a:highlight>
                <a:latin typeface="Consolas" panose="020B0609020204030204" pitchFamily="49" charset="0"/>
              </a:rPr>
              <a:t>string</a:t>
            </a:r>
            <a:r>
              <a:rPr lang="pt-BR" sz="1600" dirty="0">
                <a:solidFill>
                  <a:srgbClr val="000000"/>
                </a:solidFill>
                <a:highlight>
                  <a:srgbClr val="FFFFFF"/>
                </a:highlight>
                <a:latin typeface="Consolas" panose="020B0609020204030204" pitchFamily="49" charset="0"/>
              </a:rPr>
              <a:t> Senha;</a:t>
            </a:r>
          </a:p>
          <a:p>
            <a:r>
              <a:rPr lang="pt-BR" sz="1600" dirty="0">
                <a:solidFill>
                  <a:srgbClr val="0000FF"/>
                </a:solidFill>
                <a:highlight>
                  <a:srgbClr val="FFFFFF"/>
                </a:highlight>
                <a:latin typeface="Consolas" panose="020B0609020204030204" pitchFamily="49" charset="0"/>
              </a:rPr>
              <a:t>	</a:t>
            </a:r>
            <a:r>
              <a:rPr lang="pt-BR" sz="1600" dirty="0" err="1">
                <a:solidFill>
                  <a:srgbClr val="0000FF"/>
                </a:solidFill>
                <a:highlight>
                  <a:srgbClr val="FFFFFF"/>
                </a:highlight>
                <a:latin typeface="Consolas" panose="020B0609020204030204" pitchFamily="49" charset="0"/>
              </a:rPr>
              <a:t>public</a:t>
            </a:r>
            <a:r>
              <a:rPr lang="pt-BR" sz="1600" dirty="0">
                <a:solidFill>
                  <a:srgbClr val="000000"/>
                </a:solidFill>
                <a:highlight>
                  <a:srgbClr val="FFFFFF"/>
                </a:highlight>
                <a:latin typeface="Consolas" panose="020B0609020204030204" pitchFamily="49" charset="0"/>
              </a:rPr>
              <a:t> </a:t>
            </a:r>
            <a:r>
              <a:rPr lang="pt-BR" sz="1600" dirty="0" err="1">
                <a:solidFill>
                  <a:srgbClr val="0000FF"/>
                </a:solidFill>
                <a:highlight>
                  <a:srgbClr val="FFFFFF"/>
                </a:highlight>
                <a:latin typeface="Consolas" panose="020B0609020204030204" pitchFamily="49" charset="0"/>
              </a:rPr>
              <a:t>string</a:t>
            </a:r>
            <a:r>
              <a:rPr lang="pt-BR" sz="1600" dirty="0">
                <a:solidFill>
                  <a:srgbClr val="000000"/>
                </a:solidFill>
                <a:highlight>
                  <a:srgbClr val="FFFFFF"/>
                </a:highlight>
                <a:latin typeface="Consolas" panose="020B0609020204030204" pitchFamily="49" charset="0"/>
              </a:rPr>
              <a:t> Telefone;</a:t>
            </a:r>
          </a:p>
          <a:p>
            <a:endParaRPr lang="pt-BR" sz="1600" dirty="0">
              <a:solidFill>
                <a:srgbClr val="000000"/>
              </a:solidFill>
              <a:highlight>
                <a:srgbClr val="FFFFFF"/>
              </a:highlight>
              <a:latin typeface="Consolas" panose="020B0609020204030204" pitchFamily="49" charset="0"/>
            </a:endParaRPr>
          </a:p>
          <a:p>
            <a:r>
              <a:rPr lang="pt-BR" sz="1600" dirty="0">
                <a:solidFill>
                  <a:srgbClr val="000000"/>
                </a:solidFill>
                <a:highlight>
                  <a:srgbClr val="FFFFFF"/>
                </a:highlight>
                <a:latin typeface="Consolas" panose="020B0609020204030204" pitchFamily="49" charset="0"/>
              </a:rPr>
              <a:t>       </a:t>
            </a:r>
            <a:r>
              <a:rPr lang="pt-BR" sz="1600" dirty="0" err="1">
                <a:solidFill>
                  <a:srgbClr val="0000FF"/>
                </a:solidFill>
                <a:highlight>
                  <a:srgbClr val="FFFFFF"/>
                </a:highlight>
                <a:latin typeface="Consolas" panose="020B0609020204030204" pitchFamily="49" charset="0"/>
              </a:rPr>
              <a:t>public</a:t>
            </a:r>
            <a:r>
              <a:rPr lang="pt-BR" sz="1600" dirty="0">
                <a:solidFill>
                  <a:srgbClr val="000000"/>
                </a:solidFill>
                <a:highlight>
                  <a:srgbClr val="FFFFFF"/>
                </a:highlight>
                <a:latin typeface="Consolas" panose="020B0609020204030204" pitchFamily="49" charset="0"/>
              </a:rPr>
              <a:t> </a:t>
            </a:r>
            <a:r>
              <a:rPr lang="pt-BR" sz="1600" dirty="0" err="1">
                <a:solidFill>
                  <a:srgbClr val="0000FF"/>
                </a:solidFill>
                <a:highlight>
                  <a:srgbClr val="FFFFFF"/>
                </a:highlight>
                <a:latin typeface="Consolas" panose="020B0609020204030204" pitchFamily="49" charset="0"/>
              </a:rPr>
              <a:t>void</a:t>
            </a:r>
            <a:r>
              <a:rPr lang="pt-BR" sz="1600" dirty="0">
                <a:solidFill>
                  <a:srgbClr val="000000"/>
                </a:solidFill>
                <a:highlight>
                  <a:srgbClr val="FFFFFF"/>
                </a:highlight>
                <a:latin typeface="Consolas" panose="020B0609020204030204" pitchFamily="49" charset="0"/>
              </a:rPr>
              <a:t> Autenticar() { }</a:t>
            </a:r>
          </a:p>
          <a:p>
            <a:r>
              <a:rPr lang="en-US" sz="1600" dirty="0">
                <a:solidFill>
                  <a:srgbClr val="000000"/>
                </a:solidFill>
                <a:highlight>
                  <a:srgbClr val="FFFFFF"/>
                </a:highlight>
                <a:latin typeface="Consolas" panose="020B0609020204030204" pitchFamily="49" charset="0"/>
              </a:rPr>
              <a:t>       </a:t>
            </a:r>
            <a:r>
              <a:rPr lang="en-US" sz="1600" dirty="0">
                <a:solidFill>
                  <a:srgbClr val="0000FF"/>
                </a:solidFill>
                <a:highlight>
                  <a:srgbClr val="FFFFFF"/>
                </a:highlight>
                <a:latin typeface="Consolas" panose="020B0609020204030204" pitchFamily="49" charset="0"/>
              </a:rPr>
              <a:t>public</a:t>
            </a:r>
            <a:r>
              <a:rPr lang="en-US" sz="1600" dirty="0">
                <a:solidFill>
                  <a:srgbClr val="000000"/>
                </a:solidFill>
                <a:highlight>
                  <a:srgbClr val="FFFFFF"/>
                </a:highlight>
                <a:latin typeface="Consolas" panose="020B0609020204030204" pitchFamily="49" charset="0"/>
              </a:rPr>
              <a:t> </a:t>
            </a:r>
            <a:r>
              <a:rPr lang="en-US" sz="1600" dirty="0" err="1">
                <a:solidFill>
                  <a:srgbClr val="0000FF"/>
                </a:solidFill>
                <a:highlight>
                  <a:srgbClr val="FFFFFF"/>
                </a:highlight>
                <a:latin typeface="Consolas" panose="020B0609020204030204" pitchFamily="49" charset="0"/>
              </a:rPr>
              <a:t>bool</a:t>
            </a:r>
            <a:r>
              <a:rPr lang="en-US" sz="1600" dirty="0">
                <a:solidFill>
                  <a:srgbClr val="000000"/>
                </a:solidFill>
                <a:highlight>
                  <a:srgbClr val="FFFFFF"/>
                </a:highlight>
                <a:latin typeface="Consolas" panose="020B0609020204030204" pitchFamily="49" charset="0"/>
              </a:rPr>
              <a:t> </a:t>
            </a:r>
            <a:r>
              <a:rPr lang="en-US" sz="1600" dirty="0" err="1">
                <a:solidFill>
                  <a:srgbClr val="000000"/>
                </a:solidFill>
                <a:highlight>
                  <a:srgbClr val="FFFFFF"/>
                </a:highlight>
                <a:latin typeface="Consolas" panose="020B0609020204030204" pitchFamily="49" charset="0"/>
              </a:rPr>
              <a:t>AlterarNota</a:t>
            </a:r>
            <a:r>
              <a:rPr lang="en-US" sz="1600" dirty="0">
                <a:solidFill>
                  <a:srgbClr val="000000"/>
                </a:solidFill>
                <a:highlight>
                  <a:srgbClr val="FFFFFF"/>
                </a:highlight>
                <a:latin typeface="Consolas" panose="020B0609020204030204" pitchFamily="49" charset="0"/>
              </a:rPr>
              <a:t>(</a:t>
            </a:r>
            <a:r>
              <a:rPr lang="en-US" sz="1600" dirty="0" err="1">
                <a:solidFill>
                  <a:srgbClr val="000000"/>
                </a:solidFill>
                <a:highlight>
                  <a:srgbClr val="FFFFFF"/>
                </a:highlight>
                <a:latin typeface="Consolas" panose="020B0609020204030204" pitchFamily="49" charset="0"/>
              </a:rPr>
              <a:t>Aluno</a:t>
            </a:r>
            <a:r>
              <a:rPr lang="en-US" sz="1600" dirty="0">
                <a:solidFill>
                  <a:srgbClr val="000000"/>
                </a:solidFill>
                <a:highlight>
                  <a:srgbClr val="FFFFFF"/>
                </a:highlight>
                <a:latin typeface="Consolas" panose="020B0609020204030204" pitchFamily="49" charset="0"/>
              </a:rPr>
              <a:t> a, </a:t>
            </a:r>
            <a:r>
              <a:rPr lang="en-US" sz="1600" dirty="0">
                <a:solidFill>
                  <a:srgbClr val="0000FF"/>
                </a:solidFill>
                <a:highlight>
                  <a:srgbClr val="FFFFFF"/>
                </a:highlight>
                <a:latin typeface="Consolas" panose="020B0609020204030204" pitchFamily="49" charset="0"/>
              </a:rPr>
              <a:t>float</a:t>
            </a:r>
            <a:r>
              <a:rPr lang="en-US" sz="1600" dirty="0">
                <a:solidFill>
                  <a:srgbClr val="000000"/>
                </a:solidFill>
                <a:highlight>
                  <a:srgbClr val="FFFFFF"/>
                </a:highlight>
                <a:latin typeface="Consolas" panose="020B0609020204030204" pitchFamily="49" charset="0"/>
              </a:rPr>
              <a:t> </a:t>
            </a:r>
            <a:r>
              <a:rPr lang="en-US" sz="1600" dirty="0" err="1">
                <a:solidFill>
                  <a:srgbClr val="000000"/>
                </a:solidFill>
                <a:highlight>
                  <a:srgbClr val="FFFFFF"/>
                </a:highlight>
                <a:latin typeface="Consolas" panose="020B0609020204030204" pitchFamily="49" charset="0"/>
              </a:rPr>
              <a:t>novaNota</a:t>
            </a:r>
            <a:r>
              <a:rPr lang="en-US" sz="1600" dirty="0">
                <a:solidFill>
                  <a:srgbClr val="000000"/>
                </a:solidFill>
                <a:highlight>
                  <a:srgbClr val="FFFFFF"/>
                </a:highlight>
                <a:latin typeface="Consolas" panose="020B0609020204030204" pitchFamily="49" charset="0"/>
              </a:rPr>
              <a:t>) { </a:t>
            </a:r>
            <a:r>
              <a:rPr lang="en-US" sz="1600" dirty="0">
                <a:solidFill>
                  <a:srgbClr val="0000FF"/>
                </a:solidFill>
                <a:highlight>
                  <a:srgbClr val="FFFFFF"/>
                </a:highlight>
                <a:latin typeface="Consolas" panose="020B0609020204030204" pitchFamily="49" charset="0"/>
              </a:rPr>
              <a:t>return</a:t>
            </a:r>
            <a:r>
              <a:rPr lang="en-US" sz="1600" dirty="0">
                <a:solidFill>
                  <a:srgbClr val="000000"/>
                </a:solidFill>
                <a:highlight>
                  <a:srgbClr val="FFFFFF"/>
                </a:highlight>
                <a:latin typeface="Consolas" panose="020B0609020204030204" pitchFamily="49" charset="0"/>
              </a:rPr>
              <a:t> </a:t>
            </a:r>
            <a:r>
              <a:rPr lang="en-US" sz="1600" dirty="0">
                <a:solidFill>
                  <a:srgbClr val="0000FF"/>
                </a:solidFill>
                <a:highlight>
                  <a:srgbClr val="FFFFFF"/>
                </a:highlight>
                <a:latin typeface="Consolas" panose="020B0609020204030204" pitchFamily="49" charset="0"/>
              </a:rPr>
              <a:t>true</a:t>
            </a:r>
            <a:r>
              <a:rPr lang="en-US" sz="1600" dirty="0">
                <a:solidFill>
                  <a:srgbClr val="000000"/>
                </a:solidFill>
                <a:highlight>
                  <a:srgbClr val="FFFFFF"/>
                </a:highlight>
                <a:latin typeface="Consolas" panose="020B0609020204030204" pitchFamily="49" charset="0"/>
              </a:rPr>
              <a:t>; }</a:t>
            </a:r>
          </a:p>
          <a:p>
            <a:r>
              <a:rPr lang="pt-BR" sz="1600" dirty="0">
                <a:solidFill>
                  <a:srgbClr val="000000"/>
                </a:solidFill>
                <a:highlight>
                  <a:srgbClr val="FFFFFF"/>
                </a:highlight>
                <a:latin typeface="Consolas" panose="020B0609020204030204" pitchFamily="49" charset="0"/>
              </a:rPr>
              <a:t>}</a:t>
            </a:r>
            <a:endParaRPr lang="pt-BR" sz="1600" dirty="0"/>
          </a:p>
        </p:txBody>
      </p:sp>
      <p:sp>
        <p:nvSpPr>
          <p:cNvPr id="7" name="Retângulo 6"/>
          <p:cNvSpPr/>
          <p:nvPr/>
        </p:nvSpPr>
        <p:spPr>
          <a:xfrm>
            <a:off x="1097280" y="4231660"/>
            <a:ext cx="6096000" cy="2123658"/>
          </a:xfrm>
          <a:prstGeom prst="rect">
            <a:avLst/>
          </a:prstGeom>
        </p:spPr>
        <p:txBody>
          <a:bodyPr>
            <a:spAutoFit/>
          </a:bodyPr>
          <a:lstStyle/>
          <a:p>
            <a:r>
              <a:rPr lang="pt-BR" sz="1600" dirty="0" err="1">
                <a:solidFill>
                  <a:srgbClr val="0000FF"/>
                </a:solidFill>
                <a:highlight>
                  <a:srgbClr val="FFFFFF"/>
                </a:highlight>
                <a:latin typeface="Consolas" panose="020B0609020204030204" pitchFamily="49" charset="0"/>
              </a:rPr>
              <a:t>public</a:t>
            </a:r>
            <a:r>
              <a:rPr lang="pt-BR" sz="1600" dirty="0">
                <a:solidFill>
                  <a:srgbClr val="000000"/>
                </a:solidFill>
                <a:highlight>
                  <a:srgbClr val="FFFFFF"/>
                </a:highlight>
                <a:latin typeface="Consolas" panose="020B0609020204030204" pitchFamily="49" charset="0"/>
              </a:rPr>
              <a:t> </a:t>
            </a:r>
            <a:r>
              <a:rPr lang="pt-BR" sz="1600" dirty="0" err="1">
                <a:solidFill>
                  <a:srgbClr val="0000FF"/>
                </a:solidFill>
                <a:highlight>
                  <a:srgbClr val="FFFFFF"/>
                </a:highlight>
                <a:latin typeface="Consolas" panose="020B0609020204030204" pitchFamily="49" charset="0"/>
              </a:rPr>
              <a:t>class</a:t>
            </a:r>
            <a:r>
              <a:rPr lang="pt-BR" sz="1600" dirty="0">
                <a:solidFill>
                  <a:srgbClr val="000000"/>
                </a:solidFill>
                <a:highlight>
                  <a:srgbClr val="FFFFFF"/>
                </a:highlight>
                <a:latin typeface="Consolas" panose="020B0609020204030204" pitchFamily="49" charset="0"/>
              </a:rPr>
              <a:t> </a:t>
            </a:r>
            <a:r>
              <a:rPr lang="pt-BR" sz="1600" dirty="0">
                <a:solidFill>
                  <a:srgbClr val="2B91AF"/>
                </a:solidFill>
                <a:highlight>
                  <a:srgbClr val="FFFFFF"/>
                </a:highlight>
                <a:latin typeface="Consolas" panose="020B0609020204030204" pitchFamily="49" charset="0"/>
              </a:rPr>
              <a:t>Aluno</a:t>
            </a:r>
            <a:endParaRPr lang="pt-BR" sz="1600" dirty="0">
              <a:solidFill>
                <a:srgbClr val="000000"/>
              </a:solidFill>
              <a:highlight>
                <a:srgbClr val="FFFFFF"/>
              </a:highlight>
              <a:latin typeface="Consolas" panose="020B0609020204030204" pitchFamily="49" charset="0"/>
            </a:endParaRPr>
          </a:p>
          <a:p>
            <a:r>
              <a:rPr lang="pt-BR" sz="1600" dirty="0">
                <a:solidFill>
                  <a:srgbClr val="000000"/>
                </a:solidFill>
                <a:highlight>
                  <a:srgbClr val="FFFFFF"/>
                </a:highlight>
                <a:latin typeface="Consolas" panose="020B0609020204030204" pitchFamily="49" charset="0"/>
              </a:rPr>
              <a:t>{ </a:t>
            </a:r>
          </a:p>
          <a:p>
            <a:r>
              <a:rPr lang="pt-BR" sz="1600" dirty="0">
                <a:solidFill>
                  <a:srgbClr val="0000FF"/>
                </a:solidFill>
                <a:highlight>
                  <a:srgbClr val="FFFFFF"/>
                </a:highlight>
                <a:latin typeface="Consolas" panose="020B0609020204030204" pitchFamily="49" charset="0"/>
              </a:rPr>
              <a:t>	</a:t>
            </a:r>
            <a:r>
              <a:rPr lang="pt-BR" sz="1600" dirty="0" err="1">
                <a:solidFill>
                  <a:srgbClr val="0000FF"/>
                </a:solidFill>
                <a:highlight>
                  <a:srgbClr val="FFFFFF"/>
                </a:highlight>
                <a:latin typeface="Consolas" panose="020B0609020204030204" pitchFamily="49" charset="0"/>
              </a:rPr>
              <a:t>public</a:t>
            </a:r>
            <a:r>
              <a:rPr lang="pt-BR" sz="1600" dirty="0">
                <a:solidFill>
                  <a:srgbClr val="000000"/>
                </a:solidFill>
                <a:highlight>
                  <a:srgbClr val="FFFFFF"/>
                </a:highlight>
                <a:latin typeface="Consolas" panose="020B0609020204030204" pitchFamily="49" charset="0"/>
              </a:rPr>
              <a:t> </a:t>
            </a:r>
            <a:r>
              <a:rPr lang="pt-BR" sz="1600" dirty="0" err="1">
                <a:solidFill>
                  <a:srgbClr val="0000FF"/>
                </a:solidFill>
                <a:highlight>
                  <a:srgbClr val="FFFFFF"/>
                </a:highlight>
                <a:latin typeface="Consolas" panose="020B0609020204030204" pitchFamily="49" charset="0"/>
              </a:rPr>
              <a:t>string</a:t>
            </a:r>
            <a:r>
              <a:rPr lang="pt-BR" sz="1600" dirty="0">
                <a:solidFill>
                  <a:srgbClr val="000000"/>
                </a:solidFill>
                <a:highlight>
                  <a:srgbClr val="FFFFFF"/>
                </a:highlight>
                <a:latin typeface="Consolas" panose="020B0609020204030204" pitchFamily="49" charset="0"/>
              </a:rPr>
              <a:t> </a:t>
            </a:r>
            <a:r>
              <a:rPr lang="pt-BR" sz="1600" dirty="0" err="1">
                <a:solidFill>
                  <a:srgbClr val="000000"/>
                </a:solidFill>
                <a:highlight>
                  <a:srgbClr val="FFFFFF"/>
                </a:highlight>
                <a:latin typeface="Consolas" panose="020B0609020204030204" pitchFamily="49" charset="0"/>
              </a:rPr>
              <a:t>Login</a:t>
            </a:r>
            <a:r>
              <a:rPr lang="pt-BR" sz="1600" dirty="0">
                <a:solidFill>
                  <a:srgbClr val="000000"/>
                </a:solidFill>
                <a:highlight>
                  <a:srgbClr val="FFFFFF"/>
                </a:highlight>
                <a:latin typeface="Consolas" panose="020B0609020204030204" pitchFamily="49" charset="0"/>
              </a:rPr>
              <a:t>;</a:t>
            </a:r>
          </a:p>
          <a:p>
            <a:r>
              <a:rPr lang="pt-BR" sz="1600" dirty="0">
                <a:solidFill>
                  <a:srgbClr val="0000FF"/>
                </a:solidFill>
                <a:highlight>
                  <a:srgbClr val="FFFFFF"/>
                </a:highlight>
                <a:latin typeface="Consolas" panose="020B0609020204030204" pitchFamily="49" charset="0"/>
              </a:rPr>
              <a:t>	</a:t>
            </a:r>
            <a:r>
              <a:rPr lang="pt-BR" sz="1600" dirty="0" err="1">
                <a:solidFill>
                  <a:srgbClr val="0000FF"/>
                </a:solidFill>
                <a:highlight>
                  <a:srgbClr val="FFFFFF"/>
                </a:highlight>
                <a:latin typeface="Consolas" panose="020B0609020204030204" pitchFamily="49" charset="0"/>
              </a:rPr>
              <a:t>public</a:t>
            </a:r>
            <a:r>
              <a:rPr lang="pt-BR" sz="1600" dirty="0">
                <a:solidFill>
                  <a:srgbClr val="000000"/>
                </a:solidFill>
                <a:highlight>
                  <a:srgbClr val="FFFFFF"/>
                </a:highlight>
                <a:latin typeface="Consolas" panose="020B0609020204030204" pitchFamily="49" charset="0"/>
              </a:rPr>
              <a:t> </a:t>
            </a:r>
            <a:r>
              <a:rPr lang="pt-BR" sz="1600" dirty="0" err="1">
                <a:solidFill>
                  <a:srgbClr val="0000FF"/>
                </a:solidFill>
                <a:highlight>
                  <a:srgbClr val="FFFFFF"/>
                </a:highlight>
                <a:latin typeface="Consolas" panose="020B0609020204030204" pitchFamily="49" charset="0"/>
              </a:rPr>
              <a:t>string</a:t>
            </a:r>
            <a:r>
              <a:rPr lang="pt-BR" sz="1600" dirty="0">
                <a:solidFill>
                  <a:srgbClr val="000000"/>
                </a:solidFill>
                <a:highlight>
                  <a:srgbClr val="FFFFFF"/>
                </a:highlight>
                <a:latin typeface="Consolas" panose="020B0609020204030204" pitchFamily="49" charset="0"/>
              </a:rPr>
              <a:t> Senha;</a:t>
            </a:r>
          </a:p>
          <a:p>
            <a:r>
              <a:rPr lang="pt-BR" sz="1600" dirty="0">
                <a:solidFill>
                  <a:srgbClr val="0000FF"/>
                </a:solidFill>
                <a:highlight>
                  <a:srgbClr val="FFFFFF"/>
                </a:highlight>
                <a:latin typeface="Consolas" panose="020B0609020204030204" pitchFamily="49" charset="0"/>
              </a:rPr>
              <a:t>	</a:t>
            </a:r>
            <a:r>
              <a:rPr lang="pt-BR" sz="1600" dirty="0" err="1">
                <a:solidFill>
                  <a:srgbClr val="0000FF"/>
                </a:solidFill>
                <a:highlight>
                  <a:srgbClr val="FFFFFF"/>
                </a:highlight>
                <a:latin typeface="Consolas" panose="020B0609020204030204" pitchFamily="49" charset="0"/>
              </a:rPr>
              <a:t>public</a:t>
            </a:r>
            <a:r>
              <a:rPr lang="pt-BR" sz="1600" dirty="0">
                <a:solidFill>
                  <a:srgbClr val="000000"/>
                </a:solidFill>
                <a:highlight>
                  <a:srgbClr val="FFFFFF"/>
                </a:highlight>
                <a:latin typeface="Consolas" panose="020B0609020204030204" pitchFamily="49" charset="0"/>
              </a:rPr>
              <a:t> </a:t>
            </a:r>
            <a:r>
              <a:rPr lang="pt-BR" sz="1600" dirty="0" err="1">
                <a:solidFill>
                  <a:srgbClr val="0000FF"/>
                </a:solidFill>
                <a:highlight>
                  <a:srgbClr val="FFFFFF"/>
                </a:highlight>
                <a:latin typeface="Consolas" panose="020B0609020204030204" pitchFamily="49" charset="0"/>
              </a:rPr>
              <a:t>string</a:t>
            </a:r>
            <a:r>
              <a:rPr lang="pt-BR" sz="1600" dirty="0">
                <a:solidFill>
                  <a:srgbClr val="000000"/>
                </a:solidFill>
                <a:highlight>
                  <a:srgbClr val="FFFFFF"/>
                </a:highlight>
                <a:latin typeface="Consolas" panose="020B0609020204030204" pitchFamily="49" charset="0"/>
              </a:rPr>
              <a:t> Endereço;</a:t>
            </a:r>
          </a:p>
          <a:p>
            <a:r>
              <a:rPr lang="pt-BR" sz="1600" dirty="0">
                <a:solidFill>
                  <a:srgbClr val="0000FF"/>
                </a:solidFill>
                <a:highlight>
                  <a:srgbClr val="FFFFFF"/>
                </a:highlight>
                <a:latin typeface="Consolas" panose="020B0609020204030204" pitchFamily="49" charset="0"/>
              </a:rPr>
              <a:t>	</a:t>
            </a:r>
            <a:r>
              <a:rPr lang="pt-BR" sz="1600" dirty="0" err="1">
                <a:solidFill>
                  <a:srgbClr val="0000FF"/>
                </a:solidFill>
                <a:highlight>
                  <a:srgbClr val="FFFFFF"/>
                </a:highlight>
                <a:latin typeface="Consolas" panose="020B0609020204030204" pitchFamily="49" charset="0"/>
              </a:rPr>
              <a:t>public</a:t>
            </a:r>
            <a:r>
              <a:rPr lang="pt-BR" sz="1600" dirty="0">
                <a:solidFill>
                  <a:srgbClr val="000000"/>
                </a:solidFill>
                <a:highlight>
                  <a:srgbClr val="FFFFFF"/>
                </a:highlight>
                <a:latin typeface="Consolas" panose="020B0609020204030204" pitchFamily="49" charset="0"/>
              </a:rPr>
              <a:t> </a:t>
            </a:r>
            <a:r>
              <a:rPr lang="pt-BR" sz="1600" dirty="0" err="1">
                <a:solidFill>
                  <a:srgbClr val="0000FF"/>
                </a:solidFill>
                <a:highlight>
                  <a:srgbClr val="FFFFFF"/>
                </a:highlight>
                <a:latin typeface="Consolas" panose="020B0609020204030204" pitchFamily="49" charset="0"/>
              </a:rPr>
              <a:t>void</a:t>
            </a:r>
            <a:r>
              <a:rPr lang="pt-BR" sz="1600" dirty="0">
                <a:solidFill>
                  <a:srgbClr val="000000"/>
                </a:solidFill>
                <a:highlight>
                  <a:srgbClr val="FFFFFF"/>
                </a:highlight>
                <a:latin typeface="Consolas" panose="020B0609020204030204" pitchFamily="49" charset="0"/>
              </a:rPr>
              <a:t> Autenticar() { }</a:t>
            </a:r>
          </a:p>
          <a:p>
            <a:r>
              <a:rPr lang="pt-BR" sz="1600" dirty="0">
                <a:solidFill>
                  <a:srgbClr val="0000FF"/>
                </a:solidFill>
                <a:highlight>
                  <a:srgbClr val="FFFFFF"/>
                </a:highlight>
                <a:latin typeface="Consolas" panose="020B0609020204030204" pitchFamily="49" charset="0"/>
              </a:rPr>
              <a:t>	</a:t>
            </a:r>
            <a:r>
              <a:rPr lang="pt-BR" sz="1600" dirty="0" err="1">
                <a:solidFill>
                  <a:srgbClr val="0000FF"/>
                </a:solidFill>
                <a:highlight>
                  <a:srgbClr val="FFFFFF"/>
                </a:highlight>
                <a:latin typeface="Consolas" panose="020B0609020204030204" pitchFamily="49" charset="0"/>
              </a:rPr>
              <a:t>public</a:t>
            </a:r>
            <a:r>
              <a:rPr lang="pt-BR" sz="1600" dirty="0">
                <a:solidFill>
                  <a:srgbClr val="000000"/>
                </a:solidFill>
                <a:highlight>
                  <a:srgbClr val="FFFFFF"/>
                </a:highlight>
                <a:latin typeface="Consolas" panose="020B0609020204030204" pitchFamily="49" charset="0"/>
              </a:rPr>
              <a:t> </a:t>
            </a:r>
            <a:r>
              <a:rPr lang="pt-BR" sz="1600" dirty="0" err="1">
                <a:solidFill>
                  <a:srgbClr val="0000FF"/>
                </a:solidFill>
                <a:highlight>
                  <a:srgbClr val="FFFFFF"/>
                </a:highlight>
                <a:latin typeface="Consolas" panose="020B0609020204030204" pitchFamily="49" charset="0"/>
              </a:rPr>
              <a:t>void</a:t>
            </a:r>
            <a:r>
              <a:rPr lang="pt-BR" sz="1600" dirty="0">
                <a:solidFill>
                  <a:srgbClr val="000000"/>
                </a:solidFill>
                <a:highlight>
                  <a:srgbClr val="FFFFFF"/>
                </a:highlight>
                <a:latin typeface="Consolas" panose="020B0609020204030204" pitchFamily="49" charset="0"/>
              </a:rPr>
              <a:t> </a:t>
            </a:r>
            <a:r>
              <a:rPr lang="pt-BR" sz="1600" dirty="0" err="1">
                <a:solidFill>
                  <a:srgbClr val="000000"/>
                </a:solidFill>
                <a:highlight>
                  <a:srgbClr val="FFFFFF"/>
                </a:highlight>
                <a:latin typeface="Consolas" panose="020B0609020204030204" pitchFamily="49" charset="0"/>
              </a:rPr>
              <a:t>ConsultarNotas</a:t>
            </a:r>
            <a:r>
              <a:rPr lang="pt-BR" sz="1600" dirty="0">
                <a:solidFill>
                  <a:srgbClr val="000000"/>
                </a:solidFill>
                <a:highlight>
                  <a:srgbClr val="FFFFFF"/>
                </a:highlight>
                <a:latin typeface="Consolas" panose="020B0609020204030204" pitchFamily="49" charset="0"/>
              </a:rPr>
              <a:t>() { }</a:t>
            </a:r>
          </a:p>
          <a:p>
            <a:r>
              <a:rPr lang="pt-BR" sz="1600" dirty="0">
                <a:solidFill>
                  <a:srgbClr val="000000"/>
                </a:solidFill>
                <a:highlight>
                  <a:srgbClr val="FFFFFF"/>
                </a:highlight>
                <a:latin typeface="Consolas" panose="020B0609020204030204" pitchFamily="49" charset="0"/>
              </a:rPr>
              <a:t>}</a:t>
            </a:r>
            <a:endParaRPr lang="pt-BR" sz="1600" dirty="0"/>
          </a:p>
        </p:txBody>
      </p:sp>
      <p:pic>
        <p:nvPicPr>
          <p:cNvPr id="8" name="Imagem 7"/>
          <p:cNvPicPr>
            <a:picLocks noChangeAspect="1"/>
          </p:cNvPicPr>
          <p:nvPr/>
        </p:nvPicPr>
        <p:blipFill>
          <a:blip r:embed="rId2"/>
          <a:stretch>
            <a:fillRect/>
          </a:stretch>
        </p:blipFill>
        <p:spPr>
          <a:xfrm>
            <a:off x="6233160" y="3905488"/>
            <a:ext cx="5629275" cy="2419350"/>
          </a:xfrm>
          <a:prstGeom prst="rect">
            <a:avLst/>
          </a:prstGeom>
        </p:spPr>
      </p:pic>
    </p:spTree>
    <p:extLst>
      <p:ext uri="{BB962C8B-B14F-4D97-AF65-F5344CB8AC3E}">
        <p14:creationId xmlns:p14="http://schemas.microsoft.com/office/powerpoint/2010/main" val="37360811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Exemplo (modelagem 2)</a:t>
            </a:r>
          </a:p>
        </p:txBody>
      </p:sp>
      <p:sp>
        <p:nvSpPr>
          <p:cNvPr id="3" name="Espaço Reservado para Conteúdo 2"/>
          <p:cNvSpPr>
            <a:spLocks noGrp="1"/>
          </p:cNvSpPr>
          <p:nvPr>
            <p:ph idx="1"/>
          </p:nvPr>
        </p:nvSpPr>
        <p:spPr/>
        <p:txBody>
          <a:bodyPr/>
          <a:lstStyle/>
          <a:p>
            <a:r>
              <a:rPr lang="pt-BR" dirty="0"/>
              <a:t>Um sistema de uma instituição de ensino permite a autenticação de professores e alunos, através de nome de usuário (</a:t>
            </a:r>
            <a:r>
              <a:rPr lang="pt-BR" i="1" dirty="0" err="1"/>
              <a:t>login</a:t>
            </a:r>
            <a:r>
              <a:rPr lang="pt-BR" dirty="0"/>
              <a:t>)  e senha. O sistema armazena, dos professores, um telefone, para contato, e dos alunos, seus endereços, para o caso de envio de correspondência. Nesse sistema, apenas os professores podem alterar notas, sendo que os alunos podem apenas as consultar.</a:t>
            </a:r>
          </a:p>
        </p:txBody>
      </p:sp>
      <p:pic>
        <p:nvPicPr>
          <p:cNvPr id="4" name="Imagem 3"/>
          <p:cNvPicPr>
            <a:picLocks noChangeAspect="1"/>
          </p:cNvPicPr>
          <p:nvPr/>
        </p:nvPicPr>
        <p:blipFill>
          <a:blip r:embed="rId2"/>
          <a:stretch>
            <a:fillRect/>
          </a:stretch>
        </p:blipFill>
        <p:spPr>
          <a:xfrm>
            <a:off x="3009900" y="3271837"/>
            <a:ext cx="5867400" cy="3057525"/>
          </a:xfrm>
          <a:prstGeom prst="rect">
            <a:avLst/>
          </a:prstGeom>
        </p:spPr>
      </p:pic>
    </p:spTree>
    <p:extLst>
      <p:ext uri="{BB962C8B-B14F-4D97-AF65-F5344CB8AC3E}">
        <p14:creationId xmlns:p14="http://schemas.microsoft.com/office/powerpoint/2010/main" val="38499144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Exemplo (modelagem 2)</a:t>
            </a:r>
          </a:p>
        </p:txBody>
      </p:sp>
      <p:sp>
        <p:nvSpPr>
          <p:cNvPr id="6" name="Retângulo 5"/>
          <p:cNvSpPr/>
          <p:nvPr/>
        </p:nvSpPr>
        <p:spPr>
          <a:xfrm>
            <a:off x="0" y="1905000"/>
            <a:ext cx="8427720" cy="4524315"/>
          </a:xfrm>
          <a:prstGeom prst="rect">
            <a:avLst/>
          </a:prstGeom>
        </p:spPr>
        <p:txBody>
          <a:bodyPr wrap="square">
            <a:spAutoFit/>
          </a:bodyPr>
          <a:lstStyle/>
          <a:p>
            <a:r>
              <a:rPr lang="pt-BR" sz="1600" dirty="0" err="1">
                <a:solidFill>
                  <a:srgbClr val="0000FF"/>
                </a:solidFill>
                <a:highlight>
                  <a:srgbClr val="FFFFFF"/>
                </a:highlight>
                <a:latin typeface="Consolas" panose="020B0609020204030204" pitchFamily="49" charset="0"/>
              </a:rPr>
              <a:t>public</a:t>
            </a:r>
            <a:r>
              <a:rPr lang="pt-BR" sz="1600" dirty="0">
                <a:solidFill>
                  <a:srgbClr val="000000"/>
                </a:solidFill>
                <a:highlight>
                  <a:srgbClr val="FFFFFF"/>
                </a:highlight>
                <a:latin typeface="Consolas" panose="020B0609020204030204" pitchFamily="49" charset="0"/>
              </a:rPr>
              <a:t> </a:t>
            </a:r>
            <a:r>
              <a:rPr lang="pt-BR" sz="1600" dirty="0" err="1">
                <a:solidFill>
                  <a:srgbClr val="0000FF"/>
                </a:solidFill>
                <a:highlight>
                  <a:srgbClr val="FFFFFF"/>
                </a:highlight>
                <a:latin typeface="Consolas" panose="020B0609020204030204" pitchFamily="49" charset="0"/>
              </a:rPr>
              <a:t>class</a:t>
            </a:r>
            <a:r>
              <a:rPr lang="pt-BR" sz="1600" dirty="0">
                <a:solidFill>
                  <a:srgbClr val="000000"/>
                </a:solidFill>
                <a:highlight>
                  <a:srgbClr val="FFFFFF"/>
                </a:highlight>
                <a:latin typeface="Consolas" panose="020B0609020204030204" pitchFamily="49" charset="0"/>
              </a:rPr>
              <a:t> </a:t>
            </a:r>
            <a:r>
              <a:rPr lang="pt-BR" sz="1600" dirty="0">
                <a:solidFill>
                  <a:srgbClr val="2B91AF"/>
                </a:solidFill>
                <a:highlight>
                  <a:srgbClr val="FFFFFF"/>
                </a:highlight>
                <a:latin typeface="Consolas" panose="020B0609020204030204" pitchFamily="49" charset="0"/>
              </a:rPr>
              <a:t>Usuário</a:t>
            </a:r>
            <a:endParaRPr lang="pt-BR" sz="1600" dirty="0">
              <a:solidFill>
                <a:srgbClr val="000000"/>
              </a:solidFill>
              <a:highlight>
                <a:srgbClr val="FFFFFF"/>
              </a:highlight>
              <a:latin typeface="Consolas" panose="020B0609020204030204" pitchFamily="49" charset="0"/>
            </a:endParaRPr>
          </a:p>
          <a:p>
            <a:r>
              <a:rPr lang="pt-BR" sz="1600" dirty="0">
                <a:solidFill>
                  <a:srgbClr val="000000"/>
                </a:solidFill>
                <a:highlight>
                  <a:srgbClr val="FFFFFF"/>
                </a:highlight>
                <a:latin typeface="Consolas" panose="020B0609020204030204" pitchFamily="49" charset="0"/>
              </a:rPr>
              <a:t>{</a:t>
            </a:r>
          </a:p>
          <a:p>
            <a:r>
              <a:rPr lang="pt-BR" sz="1600" dirty="0">
                <a:solidFill>
                  <a:srgbClr val="0000FF"/>
                </a:solidFill>
                <a:highlight>
                  <a:srgbClr val="FFFFFF"/>
                </a:highlight>
                <a:latin typeface="Consolas" panose="020B0609020204030204" pitchFamily="49" charset="0"/>
              </a:rPr>
              <a:t>	</a:t>
            </a:r>
            <a:r>
              <a:rPr lang="pt-BR" sz="1600" dirty="0" err="1">
                <a:solidFill>
                  <a:srgbClr val="0000FF"/>
                </a:solidFill>
                <a:highlight>
                  <a:srgbClr val="FFFFFF"/>
                </a:highlight>
                <a:latin typeface="Consolas" panose="020B0609020204030204" pitchFamily="49" charset="0"/>
              </a:rPr>
              <a:t>public</a:t>
            </a:r>
            <a:r>
              <a:rPr lang="pt-BR" sz="1600" dirty="0">
                <a:solidFill>
                  <a:srgbClr val="000000"/>
                </a:solidFill>
                <a:highlight>
                  <a:srgbClr val="FFFFFF"/>
                </a:highlight>
                <a:latin typeface="Consolas" panose="020B0609020204030204" pitchFamily="49" charset="0"/>
              </a:rPr>
              <a:t> </a:t>
            </a:r>
            <a:r>
              <a:rPr lang="pt-BR" sz="1600" dirty="0" err="1">
                <a:solidFill>
                  <a:srgbClr val="0000FF"/>
                </a:solidFill>
                <a:highlight>
                  <a:srgbClr val="FFFFFF"/>
                </a:highlight>
                <a:latin typeface="Consolas" panose="020B0609020204030204" pitchFamily="49" charset="0"/>
              </a:rPr>
              <a:t>string</a:t>
            </a:r>
            <a:r>
              <a:rPr lang="pt-BR" sz="1600" dirty="0">
                <a:solidFill>
                  <a:srgbClr val="000000"/>
                </a:solidFill>
                <a:highlight>
                  <a:srgbClr val="FFFFFF"/>
                </a:highlight>
                <a:latin typeface="Consolas" panose="020B0609020204030204" pitchFamily="49" charset="0"/>
              </a:rPr>
              <a:t> </a:t>
            </a:r>
            <a:r>
              <a:rPr lang="pt-BR" sz="1600" dirty="0" err="1">
                <a:solidFill>
                  <a:srgbClr val="000000"/>
                </a:solidFill>
                <a:highlight>
                  <a:srgbClr val="FFFFFF"/>
                </a:highlight>
                <a:latin typeface="Consolas" panose="020B0609020204030204" pitchFamily="49" charset="0"/>
              </a:rPr>
              <a:t>Login</a:t>
            </a:r>
            <a:r>
              <a:rPr lang="pt-BR" sz="1600" dirty="0">
                <a:solidFill>
                  <a:srgbClr val="000000"/>
                </a:solidFill>
                <a:highlight>
                  <a:srgbClr val="FFFFFF"/>
                </a:highlight>
                <a:latin typeface="Consolas" panose="020B0609020204030204" pitchFamily="49" charset="0"/>
              </a:rPr>
              <a:t>;</a:t>
            </a:r>
          </a:p>
          <a:p>
            <a:r>
              <a:rPr lang="pt-BR" sz="1600" dirty="0">
                <a:solidFill>
                  <a:srgbClr val="0000FF"/>
                </a:solidFill>
                <a:highlight>
                  <a:srgbClr val="FFFFFF"/>
                </a:highlight>
                <a:latin typeface="Consolas" panose="020B0609020204030204" pitchFamily="49" charset="0"/>
              </a:rPr>
              <a:t>	</a:t>
            </a:r>
            <a:r>
              <a:rPr lang="pt-BR" sz="1600" dirty="0" err="1">
                <a:solidFill>
                  <a:srgbClr val="0000FF"/>
                </a:solidFill>
                <a:highlight>
                  <a:srgbClr val="FFFFFF"/>
                </a:highlight>
                <a:latin typeface="Consolas" panose="020B0609020204030204" pitchFamily="49" charset="0"/>
              </a:rPr>
              <a:t>public</a:t>
            </a:r>
            <a:r>
              <a:rPr lang="pt-BR" sz="1600" dirty="0">
                <a:solidFill>
                  <a:srgbClr val="000000"/>
                </a:solidFill>
                <a:highlight>
                  <a:srgbClr val="FFFFFF"/>
                </a:highlight>
                <a:latin typeface="Consolas" panose="020B0609020204030204" pitchFamily="49" charset="0"/>
              </a:rPr>
              <a:t> </a:t>
            </a:r>
            <a:r>
              <a:rPr lang="pt-BR" sz="1600" dirty="0" err="1">
                <a:solidFill>
                  <a:srgbClr val="0000FF"/>
                </a:solidFill>
                <a:highlight>
                  <a:srgbClr val="FFFFFF"/>
                </a:highlight>
                <a:latin typeface="Consolas" panose="020B0609020204030204" pitchFamily="49" charset="0"/>
              </a:rPr>
              <a:t>string</a:t>
            </a:r>
            <a:r>
              <a:rPr lang="pt-BR" sz="1600" dirty="0">
                <a:solidFill>
                  <a:srgbClr val="000000"/>
                </a:solidFill>
                <a:highlight>
                  <a:srgbClr val="FFFFFF"/>
                </a:highlight>
                <a:latin typeface="Consolas" panose="020B0609020204030204" pitchFamily="49" charset="0"/>
              </a:rPr>
              <a:t> Senha;</a:t>
            </a:r>
          </a:p>
          <a:p>
            <a:r>
              <a:rPr lang="pt-BR" sz="1600" dirty="0">
                <a:solidFill>
                  <a:srgbClr val="0000FF"/>
                </a:solidFill>
                <a:highlight>
                  <a:srgbClr val="FFFFFF"/>
                </a:highlight>
                <a:latin typeface="Consolas" panose="020B0609020204030204" pitchFamily="49" charset="0"/>
              </a:rPr>
              <a:t>	</a:t>
            </a:r>
            <a:r>
              <a:rPr lang="pt-BR" sz="1600" dirty="0" err="1">
                <a:solidFill>
                  <a:srgbClr val="0000FF"/>
                </a:solidFill>
                <a:highlight>
                  <a:srgbClr val="FFFFFF"/>
                </a:highlight>
                <a:latin typeface="Consolas" panose="020B0609020204030204" pitchFamily="49" charset="0"/>
              </a:rPr>
              <a:t>public</a:t>
            </a:r>
            <a:r>
              <a:rPr lang="pt-BR" sz="1600" dirty="0">
                <a:solidFill>
                  <a:srgbClr val="000000"/>
                </a:solidFill>
                <a:highlight>
                  <a:srgbClr val="FFFFFF"/>
                </a:highlight>
                <a:latin typeface="Consolas" panose="020B0609020204030204" pitchFamily="49" charset="0"/>
              </a:rPr>
              <a:t> </a:t>
            </a:r>
            <a:r>
              <a:rPr lang="pt-BR" sz="1600" dirty="0" err="1">
                <a:solidFill>
                  <a:srgbClr val="0000FF"/>
                </a:solidFill>
                <a:highlight>
                  <a:srgbClr val="FFFFFF"/>
                </a:highlight>
                <a:latin typeface="Consolas" panose="020B0609020204030204" pitchFamily="49" charset="0"/>
              </a:rPr>
              <a:t>void</a:t>
            </a:r>
            <a:r>
              <a:rPr lang="pt-BR" sz="1600" dirty="0">
                <a:solidFill>
                  <a:srgbClr val="000000"/>
                </a:solidFill>
                <a:highlight>
                  <a:srgbClr val="FFFFFF"/>
                </a:highlight>
                <a:latin typeface="Consolas" panose="020B0609020204030204" pitchFamily="49" charset="0"/>
              </a:rPr>
              <a:t> Autenticar() { }</a:t>
            </a:r>
          </a:p>
          <a:p>
            <a:r>
              <a:rPr lang="pt-BR" sz="1600" dirty="0">
                <a:solidFill>
                  <a:srgbClr val="000000"/>
                </a:solidFill>
                <a:highlight>
                  <a:srgbClr val="FFFFFF"/>
                </a:highlight>
                <a:latin typeface="Consolas" panose="020B0609020204030204" pitchFamily="49" charset="0"/>
              </a:rPr>
              <a:t>}</a:t>
            </a:r>
          </a:p>
          <a:p>
            <a:endParaRPr lang="pt-BR" sz="1600" dirty="0">
              <a:solidFill>
                <a:srgbClr val="000000"/>
              </a:solidFill>
              <a:highlight>
                <a:srgbClr val="FFFFFF"/>
              </a:highlight>
              <a:latin typeface="Consolas" panose="020B0609020204030204" pitchFamily="49" charset="0"/>
            </a:endParaRPr>
          </a:p>
          <a:p>
            <a:r>
              <a:rPr lang="pt-BR" sz="1600" dirty="0" err="1">
                <a:solidFill>
                  <a:srgbClr val="0000FF"/>
                </a:solidFill>
                <a:highlight>
                  <a:srgbClr val="FFFFFF"/>
                </a:highlight>
                <a:latin typeface="Consolas" panose="020B0609020204030204" pitchFamily="49" charset="0"/>
              </a:rPr>
              <a:t>public</a:t>
            </a:r>
            <a:r>
              <a:rPr lang="pt-BR" sz="1600" dirty="0">
                <a:solidFill>
                  <a:srgbClr val="000000"/>
                </a:solidFill>
                <a:highlight>
                  <a:srgbClr val="FFFFFF"/>
                </a:highlight>
                <a:latin typeface="Consolas" panose="020B0609020204030204" pitchFamily="49" charset="0"/>
              </a:rPr>
              <a:t> </a:t>
            </a:r>
            <a:r>
              <a:rPr lang="pt-BR" sz="1600" dirty="0" err="1">
                <a:solidFill>
                  <a:srgbClr val="0000FF"/>
                </a:solidFill>
                <a:highlight>
                  <a:srgbClr val="FFFFFF"/>
                </a:highlight>
                <a:latin typeface="Consolas" panose="020B0609020204030204" pitchFamily="49" charset="0"/>
              </a:rPr>
              <a:t>class</a:t>
            </a:r>
            <a:r>
              <a:rPr lang="pt-BR" sz="1600" dirty="0">
                <a:solidFill>
                  <a:srgbClr val="000000"/>
                </a:solidFill>
                <a:highlight>
                  <a:srgbClr val="FFFFFF"/>
                </a:highlight>
                <a:latin typeface="Consolas" panose="020B0609020204030204" pitchFamily="49" charset="0"/>
              </a:rPr>
              <a:t> </a:t>
            </a:r>
            <a:r>
              <a:rPr lang="pt-BR" sz="1600" dirty="0">
                <a:solidFill>
                  <a:srgbClr val="2B91AF"/>
                </a:solidFill>
                <a:highlight>
                  <a:srgbClr val="FFFFFF"/>
                </a:highlight>
                <a:latin typeface="Consolas" panose="020B0609020204030204" pitchFamily="49" charset="0"/>
              </a:rPr>
              <a:t>Professor</a:t>
            </a:r>
            <a:r>
              <a:rPr lang="pt-BR" sz="1600" dirty="0">
                <a:solidFill>
                  <a:srgbClr val="000000"/>
                </a:solidFill>
                <a:highlight>
                  <a:srgbClr val="FFFFFF"/>
                </a:highlight>
                <a:latin typeface="Consolas" panose="020B0609020204030204" pitchFamily="49" charset="0"/>
              </a:rPr>
              <a:t> : </a:t>
            </a:r>
            <a:r>
              <a:rPr lang="pt-BR" sz="1600" dirty="0">
                <a:solidFill>
                  <a:srgbClr val="2B91AF"/>
                </a:solidFill>
                <a:highlight>
                  <a:srgbClr val="FFFFFF"/>
                </a:highlight>
                <a:latin typeface="Consolas" panose="020B0609020204030204" pitchFamily="49" charset="0"/>
              </a:rPr>
              <a:t>Usuário</a:t>
            </a:r>
            <a:endParaRPr lang="pt-BR" sz="1600" dirty="0">
              <a:solidFill>
                <a:srgbClr val="000000"/>
              </a:solidFill>
              <a:highlight>
                <a:srgbClr val="FFFFFF"/>
              </a:highlight>
              <a:latin typeface="Consolas" panose="020B0609020204030204" pitchFamily="49" charset="0"/>
            </a:endParaRPr>
          </a:p>
          <a:p>
            <a:r>
              <a:rPr lang="pt-BR" sz="1600" dirty="0">
                <a:solidFill>
                  <a:srgbClr val="000000"/>
                </a:solidFill>
                <a:highlight>
                  <a:srgbClr val="FFFFFF"/>
                </a:highlight>
                <a:latin typeface="Consolas" panose="020B0609020204030204" pitchFamily="49" charset="0"/>
              </a:rPr>
              <a:t>{</a:t>
            </a:r>
          </a:p>
          <a:p>
            <a:r>
              <a:rPr lang="pt-BR" sz="1600" dirty="0">
                <a:solidFill>
                  <a:srgbClr val="0000FF"/>
                </a:solidFill>
                <a:highlight>
                  <a:srgbClr val="FFFFFF"/>
                </a:highlight>
                <a:latin typeface="Consolas" panose="020B0609020204030204" pitchFamily="49" charset="0"/>
              </a:rPr>
              <a:t>	</a:t>
            </a:r>
            <a:r>
              <a:rPr lang="pt-BR" sz="1600" dirty="0" err="1">
                <a:solidFill>
                  <a:srgbClr val="0000FF"/>
                </a:solidFill>
                <a:highlight>
                  <a:srgbClr val="FFFFFF"/>
                </a:highlight>
                <a:latin typeface="Consolas" panose="020B0609020204030204" pitchFamily="49" charset="0"/>
              </a:rPr>
              <a:t>public</a:t>
            </a:r>
            <a:r>
              <a:rPr lang="pt-BR" sz="1600" dirty="0">
                <a:solidFill>
                  <a:srgbClr val="000000"/>
                </a:solidFill>
                <a:highlight>
                  <a:srgbClr val="FFFFFF"/>
                </a:highlight>
                <a:latin typeface="Consolas" panose="020B0609020204030204" pitchFamily="49" charset="0"/>
              </a:rPr>
              <a:t> </a:t>
            </a:r>
            <a:r>
              <a:rPr lang="pt-BR" sz="1600" dirty="0" err="1">
                <a:solidFill>
                  <a:srgbClr val="0000FF"/>
                </a:solidFill>
                <a:highlight>
                  <a:srgbClr val="FFFFFF"/>
                </a:highlight>
                <a:latin typeface="Consolas" panose="020B0609020204030204" pitchFamily="49" charset="0"/>
              </a:rPr>
              <a:t>string</a:t>
            </a:r>
            <a:r>
              <a:rPr lang="pt-BR" sz="1600" dirty="0">
                <a:solidFill>
                  <a:srgbClr val="000000"/>
                </a:solidFill>
                <a:highlight>
                  <a:srgbClr val="FFFFFF"/>
                </a:highlight>
                <a:latin typeface="Consolas" panose="020B0609020204030204" pitchFamily="49" charset="0"/>
              </a:rPr>
              <a:t> Telefone;</a:t>
            </a:r>
          </a:p>
          <a:p>
            <a:r>
              <a:rPr lang="en-US" sz="1600" dirty="0">
                <a:solidFill>
                  <a:srgbClr val="0000FF"/>
                </a:solidFill>
                <a:highlight>
                  <a:srgbClr val="FFFFFF"/>
                </a:highlight>
                <a:latin typeface="Consolas" panose="020B0609020204030204" pitchFamily="49" charset="0"/>
              </a:rPr>
              <a:t>	public</a:t>
            </a:r>
            <a:r>
              <a:rPr lang="en-US" sz="1600" dirty="0">
                <a:solidFill>
                  <a:srgbClr val="000000"/>
                </a:solidFill>
                <a:highlight>
                  <a:srgbClr val="FFFFFF"/>
                </a:highlight>
                <a:latin typeface="Consolas" panose="020B0609020204030204" pitchFamily="49" charset="0"/>
              </a:rPr>
              <a:t> </a:t>
            </a:r>
            <a:r>
              <a:rPr lang="en-US" sz="1600" dirty="0" err="1">
                <a:solidFill>
                  <a:srgbClr val="0000FF"/>
                </a:solidFill>
                <a:highlight>
                  <a:srgbClr val="FFFFFF"/>
                </a:highlight>
                <a:latin typeface="Consolas" panose="020B0609020204030204" pitchFamily="49" charset="0"/>
              </a:rPr>
              <a:t>bool</a:t>
            </a:r>
            <a:r>
              <a:rPr lang="en-US" sz="1600" dirty="0">
                <a:solidFill>
                  <a:srgbClr val="000000"/>
                </a:solidFill>
                <a:highlight>
                  <a:srgbClr val="FFFFFF"/>
                </a:highlight>
                <a:latin typeface="Consolas" panose="020B0609020204030204" pitchFamily="49" charset="0"/>
              </a:rPr>
              <a:t> </a:t>
            </a:r>
            <a:r>
              <a:rPr lang="en-US" sz="1600" dirty="0" err="1">
                <a:solidFill>
                  <a:srgbClr val="000000"/>
                </a:solidFill>
                <a:highlight>
                  <a:srgbClr val="FFFFFF"/>
                </a:highlight>
                <a:latin typeface="Consolas" panose="020B0609020204030204" pitchFamily="49" charset="0"/>
              </a:rPr>
              <a:t>AlterarNota</a:t>
            </a:r>
            <a:r>
              <a:rPr lang="en-US" sz="1600" dirty="0">
                <a:solidFill>
                  <a:srgbClr val="000000"/>
                </a:solidFill>
                <a:highlight>
                  <a:srgbClr val="FFFFFF"/>
                </a:highlight>
                <a:latin typeface="Consolas" panose="020B0609020204030204" pitchFamily="49" charset="0"/>
              </a:rPr>
              <a:t>(</a:t>
            </a:r>
            <a:r>
              <a:rPr lang="en-US" sz="1600" dirty="0" err="1">
                <a:solidFill>
                  <a:srgbClr val="2B91AF"/>
                </a:solidFill>
                <a:highlight>
                  <a:srgbClr val="FFFFFF"/>
                </a:highlight>
                <a:latin typeface="Consolas" panose="020B0609020204030204" pitchFamily="49" charset="0"/>
              </a:rPr>
              <a:t>Aluno</a:t>
            </a:r>
            <a:r>
              <a:rPr lang="en-US" sz="1600" dirty="0">
                <a:solidFill>
                  <a:srgbClr val="000000"/>
                </a:solidFill>
                <a:highlight>
                  <a:srgbClr val="FFFFFF"/>
                </a:highlight>
                <a:latin typeface="Consolas" panose="020B0609020204030204" pitchFamily="49" charset="0"/>
              </a:rPr>
              <a:t> a, </a:t>
            </a:r>
            <a:r>
              <a:rPr lang="en-US" sz="1600" dirty="0">
                <a:solidFill>
                  <a:srgbClr val="0000FF"/>
                </a:solidFill>
                <a:highlight>
                  <a:srgbClr val="FFFFFF"/>
                </a:highlight>
                <a:latin typeface="Consolas" panose="020B0609020204030204" pitchFamily="49" charset="0"/>
              </a:rPr>
              <a:t>float</a:t>
            </a:r>
            <a:r>
              <a:rPr lang="en-US" sz="1600" dirty="0">
                <a:solidFill>
                  <a:srgbClr val="000000"/>
                </a:solidFill>
                <a:highlight>
                  <a:srgbClr val="FFFFFF"/>
                </a:highlight>
                <a:latin typeface="Consolas" panose="020B0609020204030204" pitchFamily="49" charset="0"/>
              </a:rPr>
              <a:t> </a:t>
            </a:r>
            <a:r>
              <a:rPr lang="en-US" sz="1600" dirty="0" err="1">
                <a:solidFill>
                  <a:srgbClr val="000000"/>
                </a:solidFill>
                <a:highlight>
                  <a:srgbClr val="FFFFFF"/>
                </a:highlight>
                <a:latin typeface="Consolas" panose="020B0609020204030204" pitchFamily="49" charset="0"/>
              </a:rPr>
              <a:t>novaNota</a:t>
            </a:r>
            <a:r>
              <a:rPr lang="en-US" sz="1600" dirty="0">
                <a:solidFill>
                  <a:srgbClr val="000000"/>
                </a:solidFill>
                <a:highlight>
                  <a:srgbClr val="FFFFFF"/>
                </a:highlight>
                <a:latin typeface="Consolas" panose="020B0609020204030204" pitchFamily="49" charset="0"/>
              </a:rPr>
              <a:t>) { </a:t>
            </a:r>
            <a:r>
              <a:rPr lang="en-US" sz="1600" dirty="0">
                <a:solidFill>
                  <a:srgbClr val="0000FF"/>
                </a:solidFill>
                <a:highlight>
                  <a:srgbClr val="FFFFFF"/>
                </a:highlight>
                <a:latin typeface="Consolas" panose="020B0609020204030204" pitchFamily="49" charset="0"/>
              </a:rPr>
              <a:t>return</a:t>
            </a:r>
            <a:r>
              <a:rPr lang="en-US" sz="1600" dirty="0">
                <a:solidFill>
                  <a:srgbClr val="000000"/>
                </a:solidFill>
                <a:highlight>
                  <a:srgbClr val="FFFFFF"/>
                </a:highlight>
                <a:latin typeface="Consolas" panose="020B0609020204030204" pitchFamily="49" charset="0"/>
              </a:rPr>
              <a:t> </a:t>
            </a:r>
            <a:r>
              <a:rPr lang="en-US" sz="1600" dirty="0">
                <a:solidFill>
                  <a:srgbClr val="0000FF"/>
                </a:solidFill>
                <a:highlight>
                  <a:srgbClr val="FFFFFF"/>
                </a:highlight>
                <a:latin typeface="Consolas" panose="020B0609020204030204" pitchFamily="49" charset="0"/>
              </a:rPr>
              <a:t>true</a:t>
            </a:r>
            <a:r>
              <a:rPr lang="en-US" sz="1600" dirty="0">
                <a:solidFill>
                  <a:srgbClr val="000000"/>
                </a:solidFill>
                <a:highlight>
                  <a:srgbClr val="FFFFFF"/>
                </a:highlight>
                <a:latin typeface="Consolas" panose="020B0609020204030204" pitchFamily="49" charset="0"/>
              </a:rPr>
              <a:t>; }</a:t>
            </a:r>
          </a:p>
          <a:p>
            <a:r>
              <a:rPr lang="pt-BR" sz="1600" dirty="0">
                <a:solidFill>
                  <a:srgbClr val="000000"/>
                </a:solidFill>
                <a:highlight>
                  <a:srgbClr val="FFFFFF"/>
                </a:highlight>
                <a:latin typeface="Consolas" panose="020B0609020204030204" pitchFamily="49" charset="0"/>
              </a:rPr>
              <a:t>}</a:t>
            </a:r>
          </a:p>
          <a:p>
            <a:endParaRPr lang="pt-BR" sz="1600" dirty="0">
              <a:solidFill>
                <a:srgbClr val="000000"/>
              </a:solidFill>
              <a:highlight>
                <a:srgbClr val="FFFFFF"/>
              </a:highlight>
              <a:latin typeface="Consolas" panose="020B0609020204030204" pitchFamily="49" charset="0"/>
            </a:endParaRPr>
          </a:p>
          <a:p>
            <a:r>
              <a:rPr lang="pt-BR" sz="1600" dirty="0" err="1">
                <a:solidFill>
                  <a:srgbClr val="0000FF"/>
                </a:solidFill>
                <a:highlight>
                  <a:srgbClr val="FFFFFF"/>
                </a:highlight>
                <a:latin typeface="Consolas" panose="020B0609020204030204" pitchFamily="49" charset="0"/>
              </a:rPr>
              <a:t>public</a:t>
            </a:r>
            <a:r>
              <a:rPr lang="pt-BR" sz="1600" dirty="0">
                <a:solidFill>
                  <a:srgbClr val="000000"/>
                </a:solidFill>
                <a:highlight>
                  <a:srgbClr val="FFFFFF"/>
                </a:highlight>
                <a:latin typeface="Consolas" panose="020B0609020204030204" pitchFamily="49" charset="0"/>
              </a:rPr>
              <a:t> </a:t>
            </a:r>
            <a:r>
              <a:rPr lang="pt-BR" sz="1600" dirty="0" err="1">
                <a:solidFill>
                  <a:srgbClr val="0000FF"/>
                </a:solidFill>
                <a:highlight>
                  <a:srgbClr val="FFFFFF"/>
                </a:highlight>
                <a:latin typeface="Consolas" panose="020B0609020204030204" pitchFamily="49" charset="0"/>
              </a:rPr>
              <a:t>class</a:t>
            </a:r>
            <a:r>
              <a:rPr lang="pt-BR" sz="1600" dirty="0">
                <a:solidFill>
                  <a:srgbClr val="000000"/>
                </a:solidFill>
                <a:highlight>
                  <a:srgbClr val="FFFFFF"/>
                </a:highlight>
                <a:latin typeface="Consolas" panose="020B0609020204030204" pitchFamily="49" charset="0"/>
              </a:rPr>
              <a:t> </a:t>
            </a:r>
            <a:r>
              <a:rPr lang="pt-BR" sz="1600" dirty="0">
                <a:solidFill>
                  <a:srgbClr val="2B91AF"/>
                </a:solidFill>
                <a:highlight>
                  <a:srgbClr val="FFFFFF"/>
                </a:highlight>
                <a:latin typeface="Consolas" panose="020B0609020204030204" pitchFamily="49" charset="0"/>
              </a:rPr>
              <a:t>Aluno</a:t>
            </a:r>
            <a:r>
              <a:rPr lang="pt-BR" sz="1600" dirty="0">
                <a:solidFill>
                  <a:srgbClr val="000000"/>
                </a:solidFill>
                <a:highlight>
                  <a:srgbClr val="FFFFFF"/>
                </a:highlight>
                <a:latin typeface="Consolas" panose="020B0609020204030204" pitchFamily="49" charset="0"/>
              </a:rPr>
              <a:t> : </a:t>
            </a:r>
            <a:r>
              <a:rPr lang="pt-BR" sz="1600" dirty="0">
                <a:solidFill>
                  <a:srgbClr val="2B91AF"/>
                </a:solidFill>
                <a:highlight>
                  <a:srgbClr val="FFFFFF"/>
                </a:highlight>
                <a:latin typeface="Consolas" panose="020B0609020204030204" pitchFamily="49" charset="0"/>
              </a:rPr>
              <a:t>Usuário</a:t>
            </a:r>
            <a:endParaRPr lang="pt-BR" sz="1600" dirty="0">
              <a:solidFill>
                <a:srgbClr val="000000"/>
              </a:solidFill>
              <a:highlight>
                <a:srgbClr val="FFFFFF"/>
              </a:highlight>
              <a:latin typeface="Consolas" panose="020B0609020204030204" pitchFamily="49" charset="0"/>
            </a:endParaRPr>
          </a:p>
          <a:p>
            <a:r>
              <a:rPr lang="pt-BR" sz="1600" dirty="0">
                <a:solidFill>
                  <a:srgbClr val="000000"/>
                </a:solidFill>
                <a:highlight>
                  <a:srgbClr val="FFFFFF"/>
                </a:highlight>
                <a:latin typeface="Consolas" panose="020B0609020204030204" pitchFamily="49" charset="0"/>
              </a:rPr>
              <a:t>{ </a:t>
            </a:r>
          </a:p>
          <a:p>
            <a:r>
              <a:rPr lang="pt-BR" sz="1600" dirty="0">
                <a:solidFill>
                  <a:srgbClr val="0000FF"/>
                </a:solidFill>
                <a:highlight>
                  <a:srgbClr val="FFFFFF"/>
                </a:highlight>
                <a:latin typeface="Consolas" panose="020B0609020204030204" pitchFamily="49" charset="0"/>
              </a:rPr>
              <a:t>	</a:t>
            </a:r>
            <a:r>
              <a:rPr lang="pt-BR" sz="1600" dirty="0" err="1">
                <a:solidFill>
                  <a:srgbClr val="0000FF"/>
                </a:solidFill>
                <a:highlight>
                  <a:srgbClr val="FFFFFF"/>
                </a:highlight>
                <a:latin typeface="Consolas" panose="020B0609020204030204" pitchFamily="49" charset="0"/>
              </a:rPr>
              <a:t>public</a:t>
            </a:r>
            <a:r>
              <a:rPr lang="pt-BR" sz="1600" dirty="0">
                <a:solidFill>
                  <a:srgbClr val="000000"/>
                </a:solidFill>
                <a:highlight>
                  <a:srgbClr val="FFFFFF"/>
                </a:highlight>
                <a:latin typeface="Consolas" panose="020B0609020204030204" pitchFamily="49" charset="0"/>
              </a:rPr>
              <a:t> </a:t>
            </a:r>
            <a:r>
              <a:rPr lang="pt-BR" sz="1600" dirty="0" err="1">
                <a:solidFill>
                  <a:srgbClr val="0000FF"/>
                </a:solidFill>
                <a:highlight>
                  <a:srgbClr val="FFFFFF"/>
                </a:highlight>
                <a:latin typeface="Consolas" panose="020B0609020204030204" pitchFamily="49" charset="0"/>
              </a:rPr>
              <a:t>string</a:t>
            </a:r>
            <a:r>
              <a:rPr lang="pt-BR" sz="1600" dirty="0">
                <a:solidFill>
                  <a:srgbClr val="000000"/>
                </a:solidFill>
                <a:highlight>
                  <a:srgbClr val="FFFFFF"/>
                </a:highlight>
                <a:latin typeface="Consolas" panose="020B0609020204030204" pitchFamily="49" charset="0"/>
              </a:rPr>
              <a:t> Endereço;</a:t>
            </a:r>
          </a:p>
          <a:p>
            <a:r>
              <a:rPr lang="pt-BR" sz="1600" dirty="0">
                <a:solidFill>
                  <a:srgbClr val="0000FF"/>
                </a:solidFill>
                <a:highlight>
                  <a:srgbClr val="FFFFFF"/>
                </a:highlight>
                <a:latin typeface="Consolas" panose="020B0609020204030204" pitchFamily="49" charset="0"/>
              </a:rPr>
              <a:t>	</a:t>
            </a:r>
            <a:r>
              <a:rPr lang="pt-BR" sz="1600" dirty="0" err="1">
                <a:solidFill>
                  <a:srgbClr val="0000FF"/>
                </a:solidFill>
                <a:highlight>
                  <a:srgbClr val="FFFFFF"/>
                </a:highlight>
                <a:latin typeface="Consolas" panose="020B0609020204030204" pitchFamily="49" charset="0"/>
              </a:rPr>
              <a:t>public</a:t>
            </a:r>
            <a:r>
              <a:rPr lang="pt-BR" sz="1600" dirty="0">
                <a:solidFill>
                  <a:srgbClr val="000000"/>
                </a:solidFill>
                <a:highlight>
                  <a:srgbClr val="FFFFFF"/>
                </a:highlight>
                <a:latin typeface="Consolas" panose="020B0609020204030204" pitchFamily="49" charset="0"/>
              </a:rPr>
              <a:t> </a:t>
            </a:r>
            <a:r>
              <a:rPr lang="pt-BR" sz="1600" dirty="0" err="1">
                <a:solidFill>
                  <a:srgbClr val="0000FF"/>
                </a:solidFill>
                <a:highlight>
                  <a:srgbClr val="FFFFFF"/>
                </a:highlight>
                <a:latin typeface="Consolas" panose="020B0609020204030204" pitchFamily="49" charset="0"/>
              </a:rPr>
              <a:t>void</a:t>
            </a:r>
            <a:r>
              <a:rPr lang="pt-BR" sz="1600" dirty="0">
                <a:solidFill>
                  <a:srgbClr val="000000"/>
                </a:solidFill>
                <a:highlight>
                  <a:srgbClr val="FFFFFF"/>
                </a:highlight>
                <a:latin typeface="Consolas" panose="020B0609020204030204" pitchFamily="49" charset="0"/>
              </a:rPr>
              <a:t> </a:t>
            </a:r>
            <a:r>
              <a:rPr lang="pt-BR" sz="1600" dirty="0" err="1">
                <a:solidFill>
                  <a:srgbClr val="000000"/>
                </a:solidFill>
                <a:highlight>
                  <a:srgbClr val="FFFFFF"/>
                </a:highlight>
                <a:latin typeface="Consolas" panose="020B0609020204030204" pitchFamily="49" charset="0"/>
              </a:rPr>
              <a:t>ConsultarNotas</a:t>
            </a:r>
            <a:r>
              <a:rPr lang="pt-BR" sz="1600" dirty="0">
                <a:solidFill>
                  <a:srgbClr val="000000"/>
                </a:solidFill>
                <a:highlight>
                  <a:srgbClr val="FFFFFF"/>
                </a:highlight>
                <a:latin typeface="Consolas" panose="020B0609020204030204" pitchFamily="49" charset="0"/>
              </a:rPr>
              <a:t>() { }</a:t>
            </a:r>
          </a:p>
          <a:p>
            <a:r>
              <a:rPr lang="pt-BR" sz="1600" dirty="0">
                <a:solidFill>
                  <a:srgbClr val="000000"/>
                </a:solidFill>
                <a:highlight>
                  <a:srgbClr val="FFFFFF"/>
                </a:highlight>
                <a:latin typeface="Consolas" panose="020B0609020204030204" pitchFamily="49" charset="0"/>
              </a:rPr>
              <a:t>}</a:t>
            </a:r>
            <a:endParaRPr lang="pt-BR" sz="1600" dirty="0"/>
          </a:p>
        </p:txBody>
      </p:sp>
      <p:pic>
        <p:nvPicPr>
          <p:cNvPr id="7" name="Imagem 6"/>
          <p:cNvPicPr>
            <a:picLocks noChangeAspect="1"/>
          </p:cNvPicPr>
          <p:nvPr/>
        </p:nvPicPr>
        <p:blipFill>
          <a:blip r:embed="rId2"/>
          <a:stretch>
            <a:fillRect/>
          </a:stretch>
        </p:blipFill>
        <p:spPr>
          <a:xfrm>
            <a:off x="7437120" y="1905000"/>
            <a:ext cx="4556760" cy="2374545"/>
          </a:xfrm>
          <a:prstGeom prst="rect">
            <a:avLst/>
          </a:prstGeom>
        </p:spPr>
      </p:pic>
    </p:spTree>
    <p:extLst>
      <p:ext uri="{BB962C8B-B14F-4D97-AF65-F5344CB8AC3E}">
        <p14:creationId xmlns:p14="http://schemas.microsoft.com/office/powerpoint/2010/main" val="38356732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Encapsulamento</a:t>
            </a:r>
          </a:p>
        </p:txBody>
      </p:sp>
      <p:sp>
        <p:nvSpPr>
          <p:cNvPr id="3" name="Espaço Reservado para Conteúdo 2"/>
          <p:cNvSpPr>
            <a:spLocks noGrp="1"/>
          </p:cNvSpPr>
          <p:nvPr>
            <p:ph idx="1"/>
          </p:nvPr>
        </p:nvSpPr>
        <p:spPr>
          <a:xfrm>
            <a:off x="1097280" y="1845734"/>
            <a:ext cx="10058400" cy="4023360"/>
          </a:xfrm>
        </p:spPr>
        <p:txBody>
          <a:bodyPr>
            <a:normAutofit/>
          </a:bodyPr>
          <a:lstStyle/>
          <a:p>
            <a:pPr>
              <a:buFont typeface="Wingdings" panose="05000000000000000000" pitchFamily="2" charset="2"/>
              <a:buChar char="§"/>
            </a:pPr>
            <a:r>
              <a:rPr lang="pt-BR" sz="3200" dirty="0"/>
              <a:t>Modificadores de acesso</a:t>
            </a:r>
          </a:p>
          <a:p>
            <a:pPr lvl="1">
              <a:buFont typeface="Wingdings" panose="05000000000000000000" pitchFamily="2" charset="2"/>
              <a:buChar char="§"/>
            </a:pPr>
            <a:r>
              <a:rPr lang="pt-BR" sz="2800" dirty="0"/>
              <a:t>Indicam a visibilidade de um atributo/método/propriedade/etc.</a:t>
            </a:r>
            <a:endParaRPr lang="pt-BR" sz="4000" dirty="0"/>
          </a:p>
        </p:txBody>
      </p:sp>
      <p:graphicFrame>
        <p:nvGraphicFramePr>
          <p:cNvPr id="4" name="Tabela 4">
            <a:extLst>
              <a:ext uri="{FF2B5EF4-FFF2-40B4-BE49-F238E27FC236}">
                <a16:creationId xmlns:a16="http://schemas.microsoft.com/office/drawing/2014/main" id="{13CE5C28-FB37-C698-509E-FBD4FBC93CB6}"/>
              </a:ext>
            </a:extLst>
          </p:cNvPr>
          <p:cNvGraphicFramePr>
            <a:graphicFrameLocks noGrp="1"/>
          </p:cNvGraphicFramePr>
          <p:nvPr>
            <p:extLst>
              <p:ext uri="{D42A27DB-BD31-4B8C-83A1-F6EECF244321}">
                <p14:modId xmlns:p14="http://schemas.microsoft.com/office/powerpoint/2010/main" val="967199439"/>
              </p:ext>
            </p:extLst>
          </p:nvPr>
        </p:nvGraphicFramePr>
        <p:xfrm>
          <a:off x="926537" y="2792305"/>
          <a:ext cx="10338925" cy="3474720"/>
        </p:xfrm>
        <a:graphic>
          <a:graphicData uri="http://schemas.openxmlformats.org/drawingml/2006/table">
            <a:tbl>
              <a:tblPr firstRow="1" bandRow="1">
                <a:tableStyleId>{5C22544A-7EE6-4342-B048-85BDC9FD1C3A}</a:tableStyleId>
              </a:tblPr>
              <a:tblGrid>
                <a:gridCol w="2492502">
                  <a:extLst>
                    <a:ext uri="{9D8B030D-6E8A-4147-A177-3AD203B41FA5}">
                      <a16:colId xmlns:a16="http://schemas.microsoft.com/office/drawing/2014/main" val="2349967198"/>
                    </a:ext>
                  </a:extLst>
                </a:gridCol>
                <a:gridCol w="7846423">
                  <a:extLst>
                    <a:ext uri="{9D8B030D-6E8A-4147-A177-3AD203B41FA5}">
                      <a16:colId xmlns:a16="http://schemas.microsoft.com/office/drawing/2014/main" val="772476005"/>
                    </a:ext>
                  </a:extLst>
                </a:gridCol>
              </a:tblGrid>
              <a:tr h="370840">
                <a:tc>
                  <a:txBody>
                    <a:bodyPr/>
                    <a:lstStyle/>
                    <a:p>
                      <a:r>
                        <a:rPr lang="pt-BR" sz="2400" dirty="0"/>
                        <a:t>Modificador</a:t>
                      </a:r>
                    </a:p>
                  </a:txBody>
                  <a:tcPr/>
                </a:tc>
                <a:tc>
                  <a:txBody>
                    <a:bodyPr/>
                    <a:lstStyle/>
                    <a:p>
                      <a:r>
                        <a:rPr lang="pt-BR" sz="2400" dirty="0"/>
                        <a:t>Descrição</a:t>
                      </a:r>
                    </a:p>
                  </a:txBody>
                  <a:tcPr/>
                </a:tc>
                <a:extLst>
                  <a:ext uri="{0D108BD9-81ED-4DB2-BD59-A6C34878D82A}">
                    <a16:rowId xmlns:a16="http://schemas.microsoft.com/office/drawing/2014/main" val="2270633280"/>
                  </a:ext>
                </a:extLst>
              </a:tr>
              <a:tr h="370840">
                <a:tc>
                  <a:txBody>
                    <a:bodyPr/>
                    <a:lstStyle/>
                    <a:p>
                      <a:r>
                        <a:rPr lang="pt-BR" sz="2400" b="1" dirty="0" err="1"/>
                        <a:t>public</a:t>
                      </a:r>
                      <a:endParaRPr lang="pt-BR" sz="2400" b="1" dirty="0"/>
                    </a:p>
                  </a:txBody>
                  <a:tcPr/>
                </a:tc>
                <a:tc>
                  <a:txBody>
                    <a:bodyPr/>
                    <a:lstStyle/>
                    <a:p>
                      <a:r>
                        <a:rPr lang="pt-BR" sz="2400" dirty="0"/>
                        <a:t>Acessível por todo o código-fonte que tenha acesso</a:t>
                      </a:r>
                    </a:p>
                  </a:txBody>
                  <a:tcPr/>
                </a:tc>
                <a:extLst>
                  <a:ext uri="{0D108BD9-81ED-4DB2-BD59-A6C34878D82A}">
                    <a16:rowId xmlns:a16="http://schemas.microsoft.com/office/drawing/2014/main" val="202258424"/>
                  </a:ext>
                </a:extLst>
              </a:tr>
              <a:tr h="370840">
                <a:tc>
                  <a:txBody>
                    <a:bodyPr/>
                    <a:lstStyle/>
                    <a:p>
                      <a:r>
                        <a:rPr lang="pt-BR" sz="2400" b="1" dirty="0" err="1"/>
                        <a:t>private</a:t>
                      </a:r>
                      <a:endParaRPr lang="pt-BR" sz="2400"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2400" dirty="0"/>
                        <a:t>Acessível apenas pelo tipo onde foram definidos; </a:t>
                      </a:r>
                      <a:r>
                        <a:rPr lang="pt-BR" sz="2400" b="1" dirty="0"/>
                        <a:t>(Padrão)</a:t>
                      </a:r>
                    </a:p>
                  </a:txBody>
                  <a:tcPr/>
                </a:tc>
                <a:extLst>
                  <a:ext uri="{0D108BD9-81ED-4DB2-BD59-A6C34878D82A}">
                    <a16:rowId xmlns:a16="http://schemas.microsoft.com/office/drawing/2014/main" val="3161791340"/>
                  </a:ext>
                </a:extLst>
              </a:tr>
              <a:tr h="370840">
                <a:tc>
                  <a:txBody>
                    <a:bodyPr/>
                    <a:lstStyle/>
                    <a:p>
                      <a:r>
                        <a:rPr lang="pt-BR" sz="2400" b="1" dirty="0" err="1">
                          <a:solidFill>
                            <a:schemeClr val="bg1"/>
                          </a:solidFill>
                        </a:rPr>
                        <a:t>protected</a:t>
                      </a:r>
                      <a:endParaRPr lang="pt-BR" sz="2400" b="1" dirty="0">
                        <a:solidFill>
                          <a:schemeClr val="bg1"/>
                        </a:solidFill>
                      </a:endParaRPr>
                    </a:p>
                  </a:txBody>
                  <a:tcPr>
                    <a:solidFill>
                      <a:srgbClr val="C000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2400" dirty="0">
                          <a:solidFill>
                            <a:schemeClr val="bg1"/>
                          </a:solidFill>
                        </a:rPr>
                        <a:t>Acessível apenas pelo tipo onde foram definidos </a:t>
                      </a:r>
                      <a:r>
                        <a:rPr lang="pt-BR" sz="2400" b="1" dirty="0">
                          <a:solidFill>
                            <a:schemeClr val="bg1"/>
                          </a:solidFill>
                        </a:rPr>
                        <a:t>e</a:t>
                      </a:r>
                      <a:r>
                        <a:rPr lang="pt-BR" sz="2400" dirty="0">
                          <a:solidFill>
                            <a:schemeClr val="bg1"/>
                          </a:solidFill>
                        </a:rPr>
                        <a:t> tipos derivados</a:t>
                      </a:r>
                      <a:endParaRPr lang="pt-BR" sz="2400" b="1" dirty="0">
                        <a:solidFill>
                          <a:schemeClr val="bg1"/>
                        </a:solidFill>
                      </a:endParaRPr>
                    </a:p>
                  </a:txBody>
                  <a:tcPr>
                    <a:solidFill>
                      <a:srgbClr val="C00000"/>
                    </a:solidFill>
                  </a:tcPr>
                </a:tc>
                <a:extLst>
                  <a:ext uri="{0D108BD9-81ED-4DB2-BD59-A6C34878D82A}">
                    <a16:rowId xmlns:a16="http://schemas.microsoft.com/office/drawing/2014/main" val="680950517"/>
                  </a:ext>
                </a:extLst>
              </a:tr>
              <a:tr h="370840">
                <a:tc>
                  <a:txBody>
                    <a:bodyPr/>
                    <a:lstStyle/>
                    <a:p>
                      <a:r>
                        <a:rPr lang="pt-BR" sz="2400" b="1" dirty="0" err="1"/>
                        <a:t>internal</a:t>
                      </a:r>
                      <a:endParaRPr lang="pt-BR" sz="2400"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2400" dirty="0"/>
                        <a:t>Acessível apenas dentro do mesmo </a:t>
                      </a:r>
                      <a:r>
                        <a:rPr lang="pt-BR" sz="2400" i="1" dirty="0" err="1"/>
                        <a:t>assembly</a:t>
                      </a:r>
                      <a:endParaRPr lang="pt-BR" sz="2400" b="1" dirty="0"/>
                    </a:p>
                  </a:txBody>
                  <a:tcPr/>
                </a:tc>
                <a:extLst>
                  <a:ext uri="{0D108BD9-81ED-4DB2-BD59-A6C34878D82A}">
                    <a16:rowId xmlns:a16="http://schemas.microsoft.com/office/drawing/2014/main" val="4168539825"/>
                  </a:ext>
                </a:extLst>
              </a:tr>
              <a:tr h="370840">
                <a:tc>
                  <a:txBody>
                    <a:bodyPr/>
                    <a:lstStyle/>
                    <a:p>
                      <a:r>
                        <a:rPr lang="pt-BR" sz="2400" b="1" dirty="0" err="1"/>
                        <a:t>protected</a:t>
                      </a:r>
                      <a:r>
                        <a:rPr lang="pt-BR" sz="2400" b="1" dirty="0"/>
                        <a:t> </a:t>
                      </a:r>
                      <a:r>
                        <a:rPr lang="pt-BR" sz="2400" b="1" dirty="0" err="1"/>
                        <a:t>internal</a:t>
                      </a:r>
                      <a:endParaRPr lang="pt-BR" sz="2400"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2400" dirty="0"/>
                        <a:t>Acessível pelo tipo onde foram definidos e tipos derivados </a:t>
                      </a:r>
                      <a:r>
                        <a:rPr lang="pt-BR" sz="2400" b="1" dirty="0"/>
                        <a:t>ou</a:t>
                      </a:r>
                      <a:r>
                        <a:rPr lang="pt-BR" sz="2400" dirty="0"/>
                        <a:t> dentro do mesmo </a:t>
                      </a:r>
                      <a:r>
                        <a:rPr lang="pt-BR" sz="2400" i="1" dirty="0" err="1"/>
                        <a:t>assembly</a:t>
                      </a:r>
                      <a:endParaRPr lang="pt-BR" sz="2400" b="1" dirty="0"/>
                    </a:p>
                  </a:txBody>
                  <a:tcPr/>
                </a:tc>
                <a:extLst>
                  <a:ext uri="{0D108BD9-81ED-4DB2-BD59-A6C34878D82A}">
                    <a16:rowId xmlns:a16="http://schemas.microsoft.com/office/drawing/2014/main" val="1572881329"/>
                  </a:ext>
                </a:extLst>
              </a:tr>
            </a:tbl>
          </a:graphicData>
        </a:graphic>
      </p:graphicFrame>
    </p:spTree>
    <p:extLst>
      <p:ext uri="{BB962C8B-B14F-4D97-AF65-F5344CB8AC3E}">
        <p14:creationId xmlns:p14="http://schemas.microsoft.com/office/powerpoint/2010/main" val="34734571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Modificador de acesso</a:t>
            </a:r>
          </a:p>
        </p:txBody>
      </p:sp>
      <p:sp>
        <p:nvSpPr>
          <p:cNvPr id="3" name="Espaço Reservado para Conteúdo 2"/>
          <p:cNvSpPr>
            <a:spLocks noGrp="1"/>
          </p:cNvSpPr>
          <p:nvPr>
            <p:ph idx="1"/>
          </p:nvPr>
        </p:nvSpPr>
        <p:spPr/>
        <p:txBody>
          <a:bodyPr>
            <a:normAutofit/>
          </a:bodyPr>
          <a:lstStyle/>
          <a:p>
            <a:r>
              <a:rPr lang="pt-BR" sz="3200" dirty="0" err="1"/>
              <a:t>protected</a:t>
            </a:r>
            <a:endParaRPr lang="pt-BR" sz="3200" dirty="0"/>
          </a:p>
          <a:p>
            <a:pPr lvl="1"/>
            <a:r>
              <a:rPr lang="pt-BR" sz="2800" dirty="0"/>
              <a:t>Diz que o método (ou atributo) é acessível pelo próprio objeto e pelos objetos das classes herdadas.</a:t>
            </a:r>
          </a:p>
          <a:p>
            <a:endParaRPr lang="pt-BR" sz="3200" dirty="0"/>
          </a:p>
          <a:p>
            <a:pPr marL="114300" indent="0">
              <a:buNone/>
            </a:pPr>
            <a:endParaRPr lang="pt-BR" sz="3200" dirty="0"/>
          </a:p>
        </p:txBody>
      </p:sp>
      <p:sp>
        <p:nvSpPr>
          <p:cNvPr id="4" name="Retângulo 3"/>
          <p:cNvSpPr/>
          <p:nvPr/>
        </p:nvSpPr>
        <p:spPr>
          <a:xfrm>
            <a:off x="1354057" y="3429000"/>
            <a:ext cx="7983906" cy="2308324"/>
          </a:xfrm>
          <a:prstGeom prst="rect">
            <a:avLst/>
          </a:prstGeom>
        </p:spPr>
        <p:txBody>
          <a:bodyPr wrap="square">
            <a:spAutoFit/>
          </a:bodyPr>
          <a:lstStyle/>
          <a:p>
            <a:r>
              <a:rPr lang="en-US" sz="2400" dirty="0">
                <a:solidFill>
                  <a:srgbClr val="0000FF"/>
                </a:solidFill>
                <a:latin typeface="Consolas"/>
              </a:rPr>
              <a:t>protected string</a:t>
            </a:r>
            <a:r>
              <a:rPr lang="en-US" sz="2400" dirty="0">
                <a:solidFill>
                  <a:prstClr val="black"/>
                </a:solidFill>
                <a:latin typeface="Consolas"/>
              </a:rPr>
              <a:t> Nome;</a:t>
            </a:r>
          </a:p>
          <a:p>
            <a:endParaRPr lang="pt-BR" sz="2400" dirty="0">
              <a:solidFill>
                <a:prstClr val="black"/>
              </a:solidFill>
              <a:latin typeface="Consolas"/>
            </a:endParaRPr>
          </a:p>
          <a:p>
            <a:r>
              <a:rPr lang="en-US" sz="2400" dirty="0">
                <a:solidFill>
                  <a:srgbClr val="0000FF"/>
                </a:solidFill>
                <a:latin typeface="Consolas"/>
              </a:rPr>
              <a:t>protected string </a:t>
            </a:r>
            <a:r>
              <a:rPr lang="en-US" sz="2400" dirty="0" err="1">
                <a:solidFill>
                  <a:prstClr val="black"/>
                </a:solidFill>
                <a:latin typeface="Consolas"/>
              </a:rPr>
              <a:t>RetornarNomeMaisculo</a:t>
            </a:r>
            <a:r>
              <a:rPr lang="en-US" sz="2400" dirty="0">
                <a:solidFill>
                  <a:prstClr val="black"/>
                </a:solidFill>
                <a:latin typeface="Consolas"/>
              </a:rPr>
              <a:t>()</a:t>
            </a:r>
          </a:p>
          <a:p>
            <a:r>
              <a:rPr lang="pt-BR" sz="2400" dirty="0">
                <a:solidFill>
                  <a:prstClr val="black"/>
                </a:solidFill>
                <a:latin typeface="Consolas"/>
              </a:rPr>
              <a:t>{</a:t>
            </a:r>
          </a:p>
          <a:p>
            <a:r>
              <a:rPr lang="pt-BR" sz="2400" dirty="0">
                <a:solidFill>
                  <a:prstClr val="black"/>
                </a:solidFill>
                <a:latin typeface="Consolas"/>
              </a:rPr>
              <a:t>	</a:t>
            </a:r>
            <a:r>
              <a:rPr lang="pt-BR" sz="2400" dirty="0" err="1">
                <a:solidFill>
                  <a:prstClr val="black"/>
                </a:solidFill>
                <a:latin typeface="Consolas"/>
              </a:rPr>
              <a:t>return</a:t>
            </a:r>
            <a:r>
              <a:rPr lang="pt-BR" sz="2400" dirty="0">
                <a:solidFill>
                  <a:prstClr val="black"/>
                </a:solidFill>
                <a:latin typeface="Consolas"/>
              </a:rPr>
              <a:t> </a:t>
            </a:r>
            <a:r>
              <a:rPr lang="pt-BR" sz="2400" dirty="0" err="1">
                <a:solidFill>
                  <a:prstClr val="black"/>
                </a:solidFill>
                <a:latin typeface="Consolas"/>
              </a:rPr>
              <a:t>Nome.ToUpper</a:t>
            </a:r>
            <a:r>
              <a:rPr lang="pt-BR" sz="2400" dirty="0">
                <a:solidFill>
                  <a:prstClr val="black"/>
                </a:solidFill>
                <a:latin typeface="Consolas"/>
              </a:rPr>
              <a:t>();</a:t>
            </a:r>
          </a:p>
          <a:p>
            <a:r>
              <a:rPr lang="pt-BR" sz="2400" dirty="0">
                <a:solidFill>
                  <a:prstClr val="black"/>
                </a:solidFill>
                <a:latin typeface="Consolas"/>
              </a:rPr>
              <a:t>}</a:t>
            </a:r>
          </a:p>
        </p:txBody>
      </p:sp>
    </p:spTree>
    <p:extLst>
      <p:ext uri="{BB962C8B-B14F-4D97-AF65-F5344CB8AC3E}">
        <p14:creationId xmlns:p14="http://schemas.microsoft.com/office/powerpoint/2010/main" val="16773349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Classes “</a:t>
            </a:r>
            <a:r>
              <a:rPr lang="pt-BR" dirty="0" err="1"/>
              <a:t>Sealed</a:t>
            </a:r>
            <a:r>
              <a:rPr lang="pt-BR" dirty="0"/>
              <a:t>”</a:t>
            </a:r>
          </a:p>
        </p:txBody>
      </p:sp>
      <p:sp>
        <p:nvSpPr>
          <p:cNvPr id="3" name="Espaço Reservado para Conteúdo 2"/>
          <p:cNvSpPr>
            <a:spLocks noGrp="1"/>
          </p:cNvSpPr>
          <p:nvPr>
            <p:ph idx="1"/>
          </p:nvPr>
        </p:nvSpPr>
        <p:spPr/>
        <p:txBody>
          <a:bodyPr>
            <a:normAutofit/>
          </a:bodyPr>
          <a:lstStyle/>
          <a:p>
            <a:r>
              <a:rPr lang="pt-BR" sz="3200" dirty="0"/>
              <a:t>Uma classe pode não ser especializada. Ou seja, não há como criar classes derivadas a partir dessa classe base;</a:t>
            </a:r>
          </a:p>
          <a:p>
            <a:r>
              <a:rPr lang="pt-BR" sz="3200" dirty="0"/>
              <a:t>Para indicar essa propriedade, utilizamos a palavra reservada </a:t>
            </a:r>
            <a:r>
              <a:rPr lang="pt-BR" sz="3200" b="1" dirty="0" err="1"/>
              <a:t>sealed</a:t>
            </a:r>
            <a:r>
              <a:rPr lang="pt-BR" sz="3200" dirty="0"/>
              <a:t>;</a:t>
            </a:r>
          </a:p>
        </p:txBody>
      </p:sp>
      <p:sp>
        <p:nvSpPr>
          <p:cNvPr id="5" name="Retângulo 4"/>
          <p:cNvSpPr/>
          <p:nvPr/>
        </p:nvSpPr>
        <p:spPr>
          <a:xfrm>
            <a:off x="1097280" y="4212527"/>
            <a:ext cx="5452134" cy="1569660"/>
          </a:xfrm>
          <a:prstGeom prst="rect">
            <a:avLst/>
          </a:prstGeom>
        </p:spPr>
        <p:txBody>
          <a:bodyPr wrap="none">
            <a:spAutoFit/>
          </a:bodyPr>
          <a:lstStyle/>
          <a:p>
            <a:r>
              <a:rPr lang="pt-BR" sz="2400" dirty="0" err="1">
                <a:solidFill>
                  <a:srgbClr val="0000FF"/>
                </a:solidFill>
                <a:latin typeface="Consolas"/>
              </a:rPr>
              <a:t>public</a:t>
            </a:r>
            <a:r>
              <a:rPr lang="pt-BR" sz="2400" dirty="0">
                <a:solidFill>
                  <a:prstClr val="black"/>
                </a:solidFill>
                <a:latin typeface="Consolas"/>
              </a:rPr>
              <a:t> </a:t>
            </a:r>
            <a:r>
              <a:rPr lang="pt-BR" sz="2400" dirty="0" err="1">
                <a:solidFill>
                  <a:srgbClr val="0000FF"/>
                </a:solidFill>
                <a:latin typeface="Consolas"/>
              </a:rPr>
              <a:t>sealed</a:t>
            </a:r>
            <a:r>
              <a:rPr lang="pt-BR" sz="2400" dirty="0">
                <a:solidFill>
                  <a:prstClr val="black"/>
                </a:solidFill>
                <a:latin typeface="Consolas"/>
              </a:rPr>
              <a:t> </a:t>
            </a:r>
            <a:r>
              <a:rPr lang="pt-BR" sz="2400" dirty="0" err="1">
                <a:solidFill>
                  <a:srgbClr val="0000FF"/>
                </a:solidFill>
                <a:latin typeface="Consolas"/>
              </a:rPr>
              <a:t>class</a:t>
            </a:r>
            <a:r>
              <a:rPr lang="pt-BR" sz="2400" dirty="0">
                <a:solidFill>
                  <a:prstClr val="black"/>
                </a:solidFill>
                <a:latin typeface="Consolas"/>
              </a:rPr>
              <a:t> </a:t>
            </a:r>
            <a:r>
              <a:rPr lang="pt-BR" sz="2400" dirty="0" err="1">
                <a:solidFill>
                  <a:srgbClr val="2B91AF"/>
                </a:solidFill>
                <a:latin typeface="Consolas"/>
              </a:rPr>
              <a:t>ClasseFinal</a:t>
            </a:r>
            <a:endParaRPr lang="pt-BR" sz="2400" dirty="0">
              <a:solidFill>
                <a:srgbClr val="2B91AF"/>
              </a:solidFill>
              <a:latin typeface="Consolas"/>
            </a:endParaRPr>
          </a:p>
          <a:p>
            <a:r>
              <a:rPr lang="pt-BR" sz="2400" dirty="0">
                <a:solidFill>
                  <a:srgbClr val="2B91AF"/>
                </a:solidFill>
                <a:latin typeface="Consolas"/>
              </a:rPr>
              <a:t>{</a:t>
            </a:r>
          </a:p>
          <a:p>
            <a:r>
              <a:rPr lang="pt-BR" sz="2400" dirty="0">
                <a:solidFill>
                  <a:srgbClr val="2B91AF"/>
                </a:solidFill>
                <a:latin typeface="Consolas"/>
              </a:rPr>
              <a:t>	</a:t>
            </a:r>
          </a:p>
          <a:p>
            <a:r>
              <a:rPr lang="pt-BR" sz="2400" dirty="0">
                <a:solidFill>
                  <a:srgbClr val="2B91AF"/>
                </a:solidFill>
                <a:latin typeface="Consolas"/>
              </a:rPr>
              <a:t>}</a:t>
            </a:r>
          </a:p>
        </p:txBody>
      </p:sp>
    </p:spTree>
    <p:extLst>
      <p:ext uri="{BB962C8B-B14F-4D97-AF65-F5344CB8AC3E}">
        <p14:creationId xmlns:p14="http://schemas.microsoft.com/office/powerpoint/2010/main" val="23085222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Exemplo</a:t>
            </a:r>
          </a:p>
        </p:txBody>
      </p:sp>
      <p:sp>
        <p:nvSpPr>
          <p:cNvPr id="3" name="Espaço Reservado para Conteúdo 2"/>
          <p:cNvSpPr>
            <a:spLocks noGrp="1"/>
          </p:cNvSpPr>
          <p:nvPr>
            <p:ph idx="1"/>
          </p:nvPr>
        </p:nvSpPr>
        <p:spPr/>
        <p:txBody>
          <a:bodyPr>
            <a:normAutofit/>
          </a:bodyPr>
          <a:lstStyle/>
          <a:p>
            <a:r>
              <a:rPr lang="pt-BR" sz="3200" dirty="0"/>
              <a:t>No exemplo anterior, pode existir um usuário que não seja aluno ou professor?</a:t>
            </a:r>
          </a:p>
          <a:p>
            <a:endParaRPr lang="pt-BR" sz="3200" dirty="0"/>
          </a:p>
        </p:txBody>
      </p:sp>
    </p:spTree>
    <p:extLst>
      <p:ext uri="{BB962C8B-B14F-4D97-AF65-F5344CB8AC3E}">
        <p14:creationId xmlns:p14="http://schemas.microsoft.com/office/powerpoint/2010/main" val="7546221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Classes abstratas</a:t>
            </a:r>
          </a:p>
        </p:txBody>
      </p:sp>
      <p:sp>
        <p:nvSpPr>
          <p:cNvPr id="3" name="Espaço Reservado para Conteúdo 2"/>
          <p:cNvSpPr>
            <a:spLocks noGrp="1"/>
          </p:cNvSpPr>
          <p:nvPr>
            <p:ph idx="1"/>
          </p:nvPr>
        </p:nvSpPr>
        <p:spPr/>
        <p:txBody>
          <a:bodyPr>
            <a:normAutofit/>
          </a:bodyPr>
          <a:lstStyle/>
          <a:p>
            <a:r>
              <a:rPr lang="pt-BR" sz="3200" dirty="0"/>
              <a:t>São classes que não podem ser instanciadas;</a:t>
            </a:r>
          </a:p>
          <a:p>
            <a:r>
              <a:rPr lang="pt-BR" sz="3200" dirty="0"/>
              <a:t>Podem possuir atributos, métodos e propriedades;</a:t>
            </a:r>
          </a:p>
          <a:p>
            <a:r>
              <a:rPr lang="pt-BR" sz="3200" dirty="0"/>
              <a:t>Seus métodos podem ser abstratos ou não;</a:t>
            </a:r>
          </a:p>
          <a:p>
            <a:r>
              <a:rPr lang="pt-BR" sz="3200" dirty="0"/>
              <a:t>Declaração:</a:t>
            </a:r>
          </a:p>
        </p:txBody>
      </p:sp>
      <p:sp>
        <p:nvSpPr>
          <p:cNvPr id="4" name="Retângulo 3"/>
          <p:cNvSpPr/>
          <p:nvPr/>
        </p:nvSpPr>
        <p:spPr>
          <a:xfrm>
            <a:off x="1097280" y="4407808"/>
            <a:ext cx="9750112" cy="1569660"/>
          </a:xfrm>
          <a:prstGeom prst="rect">
            <a:avLst/>
          </a:prstGeom>
        </p:spPr>
        <p:txBody>
          <a:bodyPr wrap="square">
            <a:spAutoFit/>
          </a:bodyPr>
          <a:lstStyle/>
          <a:p>
            <a:r>
              <a:rPr lang="pt-BR" sz="2400" dirty="0">
                <a:latin typeface="Consolas"/>
              </a:rPr>
              <a:t>[</a:t>
            </a:r>
            <a:r>
              <a:rPr lang="pt-BR" sz="2400" dirty="0" err="1">
                <a:latin typeface="Consolas"/>
              </a:rPr>
              <a:t>modificador_acesso</a:t>
            </a:r>
            <a:r>
              <a:rPr lang="pt-BR" sz="2400" dirty="0">
                <a:latin typeface="Consolas"/>
              </a:rPr>
              <a:t>] </a:t>
            </a:r>
            <a:r>
              <a:rPr lang="pt-BR" sz="2400" dirty="0">
                <a:solidFill>
                  <a:srgbClr val="0000FF"/>
                </a:solidFill>
                <a:latin typeface="Consolas"/>
              </a:rPr>
              <a:t>abstract</a:t>
            </a:r>
            <a:r>
              <a:rPr lang="pt-BR" sz="2400" dirty="0">
                <a:solidFill>
                  <a:prstClr val="black"/>
                </a:solidFill>
                <a:latin typeface="Consolas"/>
              </a:rPr>
              <a:t> </a:t>
            </a:r>
            <a:r>
              <a:rPr lang="pt-BR" sz="2400" dirty="0" err="1">
                <a:solidFill>
                  <a:srgbClr val="0000FF"/>
                </a:solidFill>
                <a:latin typeface="Consolas"/>
              </a:rPr>
              <a:t>class</a:t>
            </a:r>
            <a:r>
              <a:rPr lang="pt-BR" sz="2400" dirty="0">
                <a:solidFill>
                  <a:prstClr val="black"/>
                </a:solidFill>
                <a:latin typeface="Consolas"/>
              </a:rPr>
              <a:t> &lt;</a:t>
            </a:r>
            <a:r>
              <a:rPr lang="pt-BR" sz="2400" dirty="0" err="1">
                <a:solidFill>
                  <a:prstClr val="black"/>
                </a:solidFill>
                <a:latin typeface="Consolas"/>
              </a:rPr>
              <a:t>classe_derivada</a:t>
            </a:r>
            <a:r>
              <a:rPr lang="pt-BR" sz="2400" dirty="0">
                <a:solidFill>
                  <a:prstClr val="black"/>
                </a:solidFill>
                <a:latin typeface="Consolas"/>
              </a:rPr>
              <a:t>&gt;</a:t>
            </a:r>
          </a:p>
          <a:p>
            <a:r>
              <a:rPr lang="pt-BR" sz="2400" dirty="0">
                <a:solidFill>
                  <a:prstClr val="black"/>
                </a:solidFill>
                <a:latin typeface="Consolas"/>
              </a:rPr>
              <a:t>{</a:t>
            </a:r>
          </a:p>
          <a:p>
            <a:endParaRPr lang="pt-BR" sz="2400" dirty="0">
              <a:solidFill>
                <a:prstClr val="black"/>
              </a:solidFill>
              <a:latin typeface="Consolas"/>
            </a:endParaRPr>
          </a:p>
          <a:p>
            <a:r>
              <a:rPr lang="pt-BR" sz="2400" dirty="0">
                <a:solidFill>
                  <a:prstClr val="black"/>
                </a:solidFill>
                <a:latin typeface="Consolas"/>
              </a:rPr>
              <a:t>}</a:t>
            </a:r>
          </a:p>
        </p:txBody>
      </p:sp>
    </p:spTree>
    <p:extLst>
      <p:ext uri="{BB962C8B-B14F-4D97-AF65-F5344CB8AC3E}">
        <p14:creationId xmlns:p14="http://schemas.microsoft.com/office/powerpoint/2010/main" val="13878432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Classes abstratas</a:t>
            </a:r>
          </a:p>
        </p:txBody>
      </p:sp>
      <p:sp>
        <p:nvSpPr>
          <p:cNvPr id="3" name="Espaço Reservado para Conteúdo 2"/>
          <p:cNvSpPr>
            <a:spLocks noGrp="1"/>
          </p:cNvSpPr>
          <p:nvPr>
            <p:ph idx="1"/>
          </p:nvPr>
        </p:nvSpPr>
        <p:spPr/>
        <p:txBody>
          <a:bodyPr>
            <a:normAutofit/>
          </a:bodyPr>
          <a:lstStyle/>
          <a:p>
            <a:r>
              <a:rPr lang="pt-BR" sz="3200" dirty="0"/>
              <a:t>No exemplo anterior, se não existe um usuário que não seja aluno ou professor, podemos marcar a classe Usuário como abstrata: dessa forma, não é possível que um objeto seja instanciado como desta classe.</a:t>
            </a:r>
          </a:p>
        </p:txBody>
      </p:sp>
      <p:sp>
        <p:nvSpPr>
          <p:cNvPr id="4" name="Retângulo 3"/>
          <p:cNvSpPr/>
          <p:nvPr/>
        </p:nvSpPr>
        <p:spPr>
          <a:xfrm>
            <a:off x="1097280" y="3681767"/>
            <a:ext cx="8311804" cy="2308324"/>
          </a:xfrm>
          <a:prstGeom prst="rect">
            <a:avLst/>
          </a:prstGeom>
        </p:spPr>
        <p:txBody>
          <a:bodyPr wrap="square">
            <a:spAutoFit/>
          </a:bodyPr>
          <a:lstStyle/>
          <a:p>
            <a:r>
              <a:rPr lang="pt-BR" sz="2400" dirty="0" err="1">
                <a:solidFill>
                  <a:srgbClr val="0000FF"/>
                </a:solidFill>
                <a:highlight>
                  <a:srgbClr val="FFFFFF"/>
                </a:highlight>
                <a:latin typeface="Consolas" panose="020B0609020204030204" pitchFamily="49" charset="0"/>
              </a:rPr>
              <a:t>public</a:t>
            </a:r>
            <a:r>
              <a:rPr lang="pt-BR" sz="2400" dirty="0">
                <a:solidFill>
                  <a:srgbClr val="0000FF"/>
                </a:solidFill>
                <a:highlight>
                  <a:srgbClr val="FFFFFF"/>
                </a:highlight>
                <a:latin typeface="Consolas" panose="020B0609020204030204" pitchFamily="49" charset="0"/>
              </a:rPr>
              <a:t> abstract</a:t>
            </a:r>
            <a:r>
              <a:rPr lang="pt-BR" sz="2400" dirty="0">
                <a:solidFill>
                  <a:srgbClr val="000000"/>
                </a:solidFill>
                <a:highlight>
                  <a:srgbClr val="FFFFFF"/>
                </a:highlight>
                <a:latin typeface="Consolas" panose="020B0609020204030204" pitchFamily="49" charset="0"/>
              </a:rPr>
              <a:t> </a:t>
            </a:r>
            <a:r>
              <a:rPr lang="pt-BR" sz="2400" dirty="0" err="1">
                <a:solidFill>
                  <a:srgbClr val="0000FF"/>
                </a:solidFill>
                <a:highlight>
                  <a:srgbClr val="FFFFFF"/>
                </a:highlight>
                <a:latin typeface="Consolas" panose="020B0609020204030204" pitchFamily="49" charset="0"/>
              </a:rPr>
              <a:t>class</a:t>
            </a:r>
            <a:r>
              <a:rPr lang="pt-BR" sz="2400" dirty="0">
                <a:solidFill>
                  <a:srgbClr val="000000"/>
                </a:solidFill>
                <a:highlight>
                  <a:srgbClr val="FFFFFF"/>
                </a:highlight>
                <a:latin typeface="Consolas" panose="020B0609020204030204" pitchFamily="49" charset="0"/>
              </a:rPr>
              <a:t> </a:t>
            </a:r>
            <a:r>
              <a:rPr lang="pt-BR" sz="2400" dirty="0">
                <a:solidFill>
                  <a:srgbClr val="2B91AF"/>
                </a:solidFill>
                <a:highlight>
                  <a:srgbClr val="FFFFFF"/>
                </a:highlight>
                <a:latin typeface="Consolas" panose="020B0609020204030204" pitchFamily="49" charset="0"/>
              </a:rPr>
              <a:t>Usuário</a:t>
            </a:r>
            <a:endParaRPr lang="pt-BR" sz="2400" dirty="0">
              <a:solidFill>
                <a:srgbClr val="000000"/>
              </a:solidFill>
              <a:highlight>
                <a:srgbClr val="FFFFFF"/>
              </a:highlight>
              <a:latin typeface="Consolas" panose="020B0609020204030204" pitchFamily="49" charset="0"/>
            </a:endParaRPr>
          </a:p>
          <a:p>
            <a:r>
              <a:rPr lang="pt-BR" sz="2400" dirty="0">
                <a:solidFill>
                  <a:srgbClr val="000000"/>
                </a:solidFill>
                <a:highlight>
                  <a:srgbClr val="FFFFFF"/>
                </a:highlight>
                <a:latin typeface="Consolas" panose="020B0609020204030204" pitchFamily="49" charset="0"/>
              </a:rPr>
              <a:t>{</a:t>
            </a:r>
          </a:p>
          <a:p>
            <a:r>
              <a:rPr lang="pt-BR" sz="2400" dirty="0">
                <a:solidFill>
                  <a:srgbClr val="0000FF"/>
                </a:solidFill>
                <a:highlight>
                  <a:srgbClr val="FFFFFF"/>
                </a:highlight>
                <a:latin typeface="Consolas" panose="020B0609020204030204" pitchFamily="49" charset="0"/>
              </a:rPr>
              <a:t>	</a:t>
            </a:r>
            <a:r>
              <a:rPr lang="pt-BR" sz="2400" dirty="0" err="1">
                <a:solidFill>
                  <a:srgbClr val="0000FF"/>
                </a:solidFill>
                <a:highlight>
                  <a:srgbClr val="FFFFFF"/>
                </a:highlight>
                <a:latin typeface="Consolas" panose="020B0609020204030204" pitchFamily="49" charset="0"/>
              </a:rPr>
              <a:t>public</a:t>
            </a:r>
            <a:r>
              <a:rPr lang="pt-BR" sz="2400" dirty="0">
                <a:solidFill>
                  <a:srgbClr val="000000"/>
                </a:solidFill>
                <a:highlight>
                  <a:srgbClr val="FFFFFF"/>
                </a:highlight>
                <a:latin typeface="Consolas" panose="020B0609020204030204" pitchFamily="49" charset="0"/>
              </a:rPr>
              <a:t> </a:t>
            </a:r>
            <a:r>
              <a:rPr lang="pt-BR" sz="2400" dirty="0" err="1">
                <a:solidFill>
                  <a:srgbClr val="0000FF"/>
                </a:solidFill>
                <a:highlight>
                  <a:srgbClr val="FFFFFF"/>
                </a:highlight>
                <a:latin typeface="Consolas" panose="020B0609020204030204" pitchFamily="49" charset="0"/>
              </a:rPr>
              <a:t>string</a:t>
            </a:r>
            <a:r>
              <a:rPr lang="pt-BR" sz="2400" dirty="0">
                <a:solidFill>
                  <a:srgbClr val="000000"/>
                </a:solidFill>
                <a:highlight>
                  <a:srgbClr val="FFFFFF"/>
                </a:highlight>
                <a:latin typeface="Consolas" panose="020B0609020204030204" pitchFamily="49" charset="0"/>
              </a:rPr>
              <a:t> Login;</a:t>
            </a:r>
          </a:p>
          <a:p>
            <a:r>
              <a:rPr lang="pt-BR" sz="2400" dirty="0">
                <a:solidFill>
                  <a:srgbClr val="0000FF"/>
                </a:solidFill>
                <a:highlight>
                  <a:srgbClr val="FFFFFF"/>
                </a:highlight>
                <a:latin typeface="Consolas" panose="020B0609020204030204" pitchFamily="49" charset="0"/>
              </a:rPr>
              <a:t>	</a:t>
            </a:r>
            <a:r>
              <a:rPr lang="pt-BR" sz="2400" dirty="0" err="1">
                <a:solidFill>
                  <a:srgbClr val="0000FF"/>
                </a:solidFill>
                <a:highlight>
                  <a:srgbClr val="FFFFFF"/>
                </a:highlight>
                <a:latin typeface="Consolas" panose="020B0609020204030204" pitchFamily="49" charset="0"/>
              </a:rPr>
              <a:t>public</a:t>
            </a:r>
            <a:r>
              <a:rPr lang="pt-BR" sz="2400" dirty="0">
                <a:solidFill>
                  <a:srgbClr val="000000"/>
                </a:solidFill>
                <a:highlight>
                  <a:srgbClr val="FFFFFF"/>
                </a:highlight>
                <a:latin typeface="Consolas" panose="020B0609020204030204" pitchFamily="49" charset="0"/>
              </a:rPr>
              <a:t> </a:t>
            </a:r>
            <a:r>
              <a:rPr lang="pt-BR" sz="2400" dirty="0" err="1">
                <a:solidFill>
                  <a:srgbClr val="0000FF"/>
                </a:solidFill>
                <a:highlight>
                  <a:srgbClr val="FFFFFF"/>
                </a:highlight>
                <a:latin typeface="Consolas" panose="020B0609020204030204" pitchFamily="49" charset="0"/>
              </a:rPr>
              <a:t>string</a:t>
            </a:r>
            <a:r>
              <a:rPr lang="pt-BR" sz="2400" dirty="0">
                <a:solidFill>
                  <a:srgbClr val="000000"/>
                </a:solidFill>
                <a:highlight>
                  <a:srgbClr val="FFFFFF"/>
                </a:highlight>
                <a:latin typeface="Consolas" panose="020B0609020204030204" pitchFamily="49" charset="0"/>
              </a:rPr>
              <a:t> Senha;</a:t>
            </a:r>
          </a:p>
          <a:p>
            <a:r>
              <a:rPr lang="pt-BR" sz="2400" dirty="0">
                <a:solidFill>
                  <a:srgbClr val="0000FF"/>
                </a:solidFill>
                <a:highlight>
                  <a:srgbClr val="FFFFFF"/>
                </a:highlight>
                <a:latin typeface="Consolas" panose="020B0609020204030204" pitchFamily="49" charset="0"/>
              </a:rPr>
              <a:t>	</a:t>
            </a:r>
            <a:r>
              <a:rPr lang="pt-BR" sz="2400" dirty="0" err="1">
                <a:solidFill>
                  <a:srgbClr val="0000FF"/>
                </a:solidFill>
                <a:highlight>
                  <a:srgbClr val="FFFFFF"/>
                </a:highlight>
                <a:latin typeface="Consolas" panose="020B0609020204030204" pitchFamily="49" charset="0"/>
              </a:rPr>
              <a:t>public</a:t>
            </a:r>
            <a:r>
              <a:rPr lang="pt-BR" sz="2400" dirty="0">
                <a:solidFill>
                  <a:srgbClr val="000000"/>
                </a:solidFill>
                <a:highlight>
                  <a:srgbClr val="FFFFFF"/>
                </a:highlight>
                <a:latin typeface="Consolas" panose="020B0609020204030204" pitchFamily="49" charset="0"/>
              </a:rPr>
              <a:t> </a:t>
            </a:r>
            <a:r>
              <a:rPr lang="pt-BR" sz="2400" dirty="0" err="1">
                <a:solidFill>
                  <a:srgbClr val="0000FF"/>
                </a:solidFill>
                <a:highlight>
                  <a:srgbClr val="FFFFFF"/>
                </a:highlight>
                <a:latin typeface="Consolas" panose="020B0609020204030204" pitchFamily="49" charset="0"/>
              </a:rPr>
              <a:t>void</a:t>
            </a:r>
            <a:r>
              <a:rPr lang="pt-BR" sz="2400" dirty="0">
                <a:solidFill>
                  <a:srgbClr val="000000"/>
                </a:solidFill>
                <a:highlight>
                  <a:srgbClr val="FFFFFF"/>
                </a:highlight>
                <a:latin typeface="Consolas" panose="020B0609020204030204" pitchFamily="49" charset="0"/>
              </a:rPr>
              <a:t> Autenticar() { }</a:t>
            </a:r>
          </a:p>
          <a:p>
            <a:r>
              <a:rPr lang="pt-BR" sz="2400" dirty="0">
                <a:solidFill>
                  <a:srgbClr val="000000"/>
                </a:solidFill>
                <a:highlight>
                  <a:srgbClr val="FFFFFF"/>
                </a:highlight>
                <a:latin typeface="Consolas" panose="020B0609020204030204" pitchFamily="49" charset="0"/>
              </a:rPr>
              <a:t>}</a:t>
            </a:r>
          </a:p>
        </p:txBody>
      </p:sp>
    </p:spTree>
    <p:extLst>
      <p:ext uri="{BB962C8B-B14F-4D97-AF65-F5344CB8AC3E}">
        <p14:creationId xmlns:p14="http://schemas.microsoft.com/office/powerpoint/2010/main" val="19238915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Exercício</a:t>
            </a:r>
          </a:p>
        </p:txBody>
      </p:sp>
      <mc:AlternateContent xmlns:mc="http://schemas.openxmlformats.org/markup-compatibility/2006" xmlns:a14="http://schemas.microsoft.com/office/drawing/2010/main">
        <mc:Choice Requires="a14">
          <p:sp>
            <p:nvSpPr>
              <p:cNvPr id="3" name="Espaço Reservado para Conteúdo 2"/>
              <p:cNvSpPr>
                <a:spLocks noGrp="1"/>
              </p:cNvSpPr>
              <p:nvPr>
                <p:ph idx="1"/>
              </p:nvPr>
            </p:nvSpPr>
            <p:spPr/>
            <p:txBody>
              <a:bodyPr>
                <a:normAutofit/>
              </a:bodyPr>
              <a:lstStyle/>
              <a:p>
                <a:r>
                  <a:rPr lang="pt-BR" sz="3200" dirty="0"/>
                  <a:t>Um </a:t>
                </a:r>
                <a:r>
                  <a:rPr lang="pt-BR" sz="3200" i="1" dirty="0"/>
                  <a:t>software </a:t>
                </a:r>
                <a:r>
                  <a:rPr lang="pt-BR" sz="3200" dirty="0"/>
                  <a:t>de cálculo matemático armazena informações sobre triângulos (base e altura) e quadrados (lado). Dessas formas geométricas é possível calcular sua área:</a:t>
                </a:r>
              </a:p>
              <a:p>
                <a:pPr lvl="1"/>
                <a:r>
                  <a:rPr lang="pt-BR" sz="2800" dirty="0"/>
                  <a:t>Triângulo </a:t>
                </a:r>
                <a14:m>
                  <m:oMath xmlns:m="http://schemas.openxmlformats.org/officeDocument/2006/math">
                    <m:d>
                      <m:dPr>
                        <m:ctrlPr>
                          <a:rPr lang="pt-BR" sz="2800" b="0" i="1" smtClean="0">
                            <a:latin typeface="Cambria Math" panose="02040503050406030204" pitchFamily="18" charset="0"/>
                          </a:rPr>
                        </m:ctrlPr>
                      </m:dPr>
                      <m:e>
                        <m:f>
                          <m:fPr>
                            <m:ctrlPr>
                              <a:rPr lang="pt-BR" sz="2800" i="1" smtClean="0">
                                <a:latin typeface="Cambria Math" panose="02040503050406030204" pitchFamily="18" charset="0"/>
                              </a:rPr>
                            </m:ctrlPr>
                          </m:fPr>
                          <m:num>
                            <m:r>
                              <a:rPr lang="pt-BR" sz="2800" b="0" i="1" smtClean="0">
                                <a:latin typeface="Cambria Math" panose="02040503050406030204" pitchFamily="18" charset="0"/>
                              </a:rPr>
                              <m:t>𝑏𝑎𝑠𝑒</m:t>
                            </m:r>
                            <m:r>
                              <a:rPr lang="pt-BR" sz="2800" b="0" i="1" smtClean="0">
                                <a:latin typeface="Cambria Math" panose="02040503050406030204" pitchFamily="18" charset="0"/>
                              </a:rPr>
                              <m:t> </m:t>
                            </m:r>
                            <m:r>
                              <a:rPr lang="pt-BR" sz="2800" b="0" i="1" smtClean="0">
                                <a:latin typeface="Cambria Math" panose="02040503050406030204" pitchFamily="18" charset="0"/>
                              </a:rPr>
                              <m:t>𝑥</m:t>
                            </m:r>
                            <m:r>
                              <a:rPr lang="pt-BR" sz="2800" b="0" i="1" smtClean="0">
                                <a:latin typeface="Cambria Math" panose="02040503050406030204" pitchFamily="18" charset="0"/>
                              </a:rPr>
                              <m:t> </m:t>
                            </m:r>
                            <m:r>
                              <a:rPr lang="pt-BR" sz="2800" b="0" i="1" smtClean="0">
                                <a:latin typeface="Cambria Math" panose="02040503050406030204" pitchFamily="18" charset="0"/>
                              </a:rPr>
                              <m:t>𝑎𝑙𝑡𝑢𝑟𝑎</m:t>
                            </m:r>
                          </m:num>
                          <m:den>
                            <m:r>
                              <a:rPr lang="pt-BR" sz="2800" b="0" i="1" smtClean="0">
                                <a:latin typeface="Cambria Math" panose="02040503050406030204" pitchFamily="18" charset="0"/>
                              </a:rPr>
                              <m:t>2</m:t>
                            </m:r>
                          </m:den>
                        </m:f>
                      </m:e>
                    </m:d>
                    <m:r>
                      <a:rPr lang="pt-BR" sz="2800" b="0" i="0" smtClean="0">
                        <a:latin typeface="Cambria Math" panose="02040503050406030204" pitchFamily="18" charset="0"/>
                      </a:rPr>
                      <m:t>;</m:t>
                    </m:r>
                  </m:oMath>
                </a14:m>
                <a:endParaRPr lang="pt-BR" sz="2800" b="0" dirty="0"/>
              </a:p>
              <a:p>
                <a:pPr lvl="1"/>
                <a:r>
                  <a:rPr lang="pt-BR" sz="2800" dirty="0"/>
                  <a:t>Quadrado </a:t>
                </a:r>
                <a14:m>
                  <m:oMath xmlns:m="http://schemas.openxmlformats.org/officeDocument/2006/math">
                    <m:r>
                      <a:rPr lang="pt-BR" sz="2800" b="0" i="1" smtClean="0">
                        <a:latin typeface="Cambria Math" panose="02040503050406030204" pitchFamily="18" charset="0"/>
                      </a:rPr>
                      <m:t>(</m:t>
                    </m:r>
                    <m:sSup>
                      <m:sSupPr>
                        <m:ctrlPr>
                          <a:rPr lang="pt-BR" sz="2800" b="0" i="1" smtClean="0">
                            <a:latin typeface="Cambria Math" panose="02040503050406030204" pitchFamily="18" charset="0"/>
                          </a:rPr>
                        </m:ctrlPr>
                      </m:sSupPr>
                      <m:e>
                        <m:r>
                          <a:rPr lang="pt-BR" sz="2800" b="0" i="1" smtClean="0">
                            <a:latin typeface="Cambria Math" panose="02040503050406030204" pitchFamily="18" charset="0"/>
                          </a:rPr>
                          <m:t>𝑙𝑎𝑑𝑜</m:t>
                        </m:r>
                      </m:e>
                      <m:sup>
                        <m:r>
                          <a:rPr lang="pt-BR" sz="2800" b="0" i="1" smtClean="0">
                            <a:latin typeface="Cambria Math" panose="02040503050406030204" pitchFamily="18" charset="0"/>
                          </a:rPr>
                          <m:t>2</m:t>
                        </m:r>
                      </m:sup>
                    </m:sSup>
                    <m:r>
                      <a:rPr lang="pt-BR" sz="2800" b="0" i="1" smtClean="0">
                        <a:latin typeface="Cambria Math" panose="02040503050406030204" pitchFamily="18" charset="0"/>
                      </a:rPr>
                      <m:t>)</m:t>
                    </m:r>
                  </m:oMath>
                </a14:m>
                <a:r>
                  <a:rPr lang="pt-BR" sz="2800" dirty="0"/>
                  <a:t>.</a:t>
                </a:r>
              </a:p>
              <a:p>
                <a:endParaRPr lang="pt-BR" sz="2800" dirty="0"/>
              </a:p>
              <a:p>
                <a:r>
                  <a:rPr lang="pt-BR" sz="2800" dirty="0"/>
                  <a:t>Modelar esse sistema.</a:t>
                </a:r>
              </a:p>
            </p:txBody>
          </p:sp>
        </mc:Choice>
        <mc:Fallback xmlns="">
          <p:sp>
            <p:nvSpPr>
              <p:cNvPr id="3" name="Espaço Reservado para Conteúdo 2"/>
              <p:cNvSpPr>
                <a:spLocks noGrp="1" noRot="1" noChangeAspect="1" noMove="1" noResize="1" noEditPoints="1" noAdjustHandles="1" noChangeArrowheads="1" noChangeShapeType="1" noTextEdit="1"/>
              </p:cNvSpPr>
              <p:nvPr>
                <p:ph idx="1"/>
              </p:nvPr>
            </p:nvSpPr>
            <p:spPr>
              <a:blipFill>
                <a:blip r:embed="rId2"/>
                <a:stretch>
                  <a:fillRect l="-1515" t="-3182" r="-1758"/>
                </a:stretch>
              </a:blipFill>
            </p:spPr>
            <p:txBody>
              <a:bodyPr/>
              <a:lstStyle/>
              <a:p>
                <a:r>
                  <a:rPr lang="pt-BR">
                    <a:noFill/>
                  </a:rPr>
                  <a:t> </a:t>
                </a:r>
              </a:p>
            </p:txBody>
          </p:sp>
        </mc:Fallback>
      </mc:AlternateContent>
    </p:spTree>
    <p:extLst>
      <p:ext uri="{BB962C8B-B14F-4D97-AF65-F5344CB8AC3E}">
        <p14:creationId xmlns:p14="http://schemas.microsoft.com/office/powerpoint/2010/main" val="11094403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Solução inicial (modelagem simples)</a:t>
            </a:r>
          </a:p>
        </p:txBody>
      </p:sp>
      <p:sp>
        <p:nvSpPr>
          <p:cNvPr id="3" name="Espaço Reservado para Conteúdo 2"/>
          <p:cNvSpPr>
            <a:spLocks noGrp="1"/>
          </p:cNvSpPr>
          <p:nvPr>
            <p:ph idx="1"/>
          </p:nvPr>
        </p:nvSpPr>
        <p:spPr/>
        <p:txBody>
          <a:bodyPr>
            <a:normAutofit/>
          </a:bodyPr>
          <a:lstStyle/>
          <a:p>
            <a:r>
              <a:rPr lang="pt-BR" sz="3200" dirty="0"/>
              <a:t>Criação das classes Triângulo e Quadrado;</a:t>
            </a:r>
          </a:p>
        </p:txBody>
      </p:sp>
      <p:pic>
        <p:nvPicPr>
          <p:cNvPr id="5" name="Imagem 4"/>
          <p:cNvPicPr>
            <a:picLocks noChangeAspect="1"/>
          </p:cNvPicPr>
          <p:nvPr/>
        </p:nvPicPr>
        <p:blipFill>
          <a:blip r:embed="rId2"/>
          <a:stretch>
            <a:fillRect/>
          </a:stretch>
        </p:blipFill>
        <p:spPr>
          <a:xfrm>
            <a:off x="3658324" y="2886166"/>
            <a:ext cx="4087685" cy="1942495"/>
          </a:xfrm>
          <a:prstGeom prst="rect">
            <a:avLst/>
          </a:prstGeom>
        </p:spPr>
      </p:pic>
    </p:spTree>
    <p:extLst>
      <p:ext uri="{BB962C8B-B14F-4D97-AF65-F5344CB8AC3E}">
        <p14:creationId xmlns:p14="http://schemas.microsoft.com/office/powerpoint/2010/main" val="4883850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Solução 2 (herança)</a:t>
            </a:r>
          </a:p>
        </p:txBody>
      </p:sp>
      <p:sp>
        <p:nvSpPr>
          <p:cNvPr id="3" name="Espaço Reservado para Conteúdo 2"/>
          <p:cNvSpPr>
            <a:spLocks noGrp="1"/>
          </p:cNvSpPr>
          <p:nvPr>
            <p:ph idx="1"/>
          </p:nvPr>
        </p:nvSpPr>
        <p:spPr/>
        <p:txBody>
          <a:bodyPr>
            <a:normAutofit/>
          </a:bodyPr>
          <a:lstStyle/>
          <a:p>
            <a:r>
              <a:rPr lang="pt-BR" sz="3200" dirty="0"/>
              <a:t>Criação de uma superclasse chamada </a:t>
            </a:r>
            <a:r>
              <a:rPr lang="pt-BR" sz="3200" dirty="0" err="1"/>
              <a:t>FormaGeométrica</a:t>
            </a:r>
            <a:r>
              <a:rPr lang="pt-BR" sz="3200" dirty="0"/>
              <a:t>.</a:t>
            </a:r>
          </a:p>
        </p:txBody>
      </p:sp>
      <p:sp>
        <p:nvSpPr>
          <p:cNvPr id="6" name="CaixaDeTexto 5"/>
          <p:cNvSpPr txBox="1"/>
          <p:nvPr/>
        </p:nvSpPr>
        <p:spPr>
          <a:xfrm>
            <a:off x="995680" y="5439824"/>
            <a:ext cx="10392756" cy="954107"/>
          </a:xfrm>
          <a:prstGeom prst="rect">
            <a:avLst/>
          </a:prstGeom>
          <a:noFill/>
        </p:spPr>
        <p:txBody>
          <a:bodyPr wrap="square" rtlCol="0">
            <a:spAutoFit/>
          </a:bodyPr>
          <a:lstStyle/>
          <a:p>
            <a:r>
              <a:rPr lang="pt-BR" sz="2800" dirty="0"/>
              <a:t>Como implementar o método Área na superclasse se a implementação depende do tipo do objeto?</a:t>
            </a:r>
          </a:p>
        </p:txBody>
      </p:sp>
      <p:pic>
        <p:nvPicPr>
          <p:cNvPr id="7" name="Imagem 6"/>
          <p:cNvPicPr>
            <a:picLocks noChangeAspect="1"/>
          </p:cNvPicPr>
          <p:nvPr/>
        </p:nvPicPr>
        <p:blipFill>
          <a:blip r:embed="rId2"/>
          <a:stretch>
            <a:fillRect/>
          </a:stretch>
        </p:blipFill>
        <p:spPr>
          <a:xfrm>
            <a:off x="3215573" y="2370571"/>
            <a:ext cx="3431176" cy="2973685"/>
          </a:xfrm>
          <a:prstGeom prst="rect">
            <a:avLst/>
          </a:prstGeom>
        </p:spPr>
      </p:pic>
    </p:spTree>
    <p:extLst>
      <p:ext uri="{BB962C8B-B14F-4D97-AF65-F5344CB8AC3E}">
        <p14:creationId xmlns:p14="http://schemas.microsoft.com/office/powerpoint/2010/main" val="16352143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Métodos abstratos</a:t>
            </a:r>
          </a:p>
        </p:txBody>
      </p:sp>
      <p:sp>
        <p:nvSpPr>
          <p:cNvPr id="3" name="Espaço Reservado para Conteúdo 2"/>
          <p:cNvSpPr>
            <a:spLocks noGrp="1"/>
          </p:cNvSpPr>
          <p:nvPr>
            <p:ph idx="1"/>
          </p:nvPr>
        </p:nvSpPr>
        <p:spPr/>
        <p:txBody>
          <a:bodyPr>
            <a:normAutofit/>
          </a:bodyPr>
          <a:lstStyle/>
          <a:p>
            <a:pPr>
              <a:buFont typeface="Wingdings" panose="05000000000000000000" pitchFamily="2" charset="2"/>
              <a:buChar char="§"/>
            </a:pPr>
            <a:r>
              <a:rPr lang="pt-BR" sz="3200" dirty="0"/>
              <a:t> Não são implementados na classe base (são apenas declarados);</a:t>
            </a:r>
          </a:p>
          <a:p>
            <a:pPr>
              <a:buFont typeface="Wingdings" panose="05000000000000000000" pitchFamily="2" charset="2"/>
              <a:buChar char="§"/>
            </a:pPr>
            <a:r>
              <a:rPr lang="pt-BR" sz="3200" dirty="0"/>
              <a:t> Porém, toda classe que derivar de uma classe base, deve </a:t>
            </a:r>
            <a:r>
              <a:rPr lang="pt-BR" sz="3200" dirty="0">
                <a:solidFill>
                  <a:srgbClr val="FF0000"/>
                </a:solidFill>
              </a:rPr>
              <a:t>obrigatoriamente</a:t>
            </a:r>
            <a:r>
              <a:rPr lang="pt-BR" sz="3200" dirty="0"/>
              <a:t> implementar os seus métodos abstratos;</a:t>
            </a:r>
          </a:p>
          <a:p>
            <a:pPr>
              <a:buFont typeface="Wingdings" panose="05000000000000000000" pitchFamily="2" charset="2"/>
              <a:buChar char="§"/>
            </a:pPr>
            <a:r>
              <a:rPr lang="pt-BR" sz="3200" dirty="0"/>
              <a:t> Dessa forma, apesar de classes derivadas da mesma classe base possuírem os mesmos métodos, suas implementações podem ser diferentes.</a:t>
            </a:r>
          </a:p>
        </p:txBody>
      </p:sp>
    </p:spTree>
    <p:extLst>
      <p:ext uri="{BB962C8B-B14F-4D97-AF65-F5344CB8AC3E}">
        <p14:creationId xmlns:p14="http://schemas.microsoft.com/office/powerpoint/2010/main" val="20054390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Métodos abstratos</a:t>
            </a:r>
          </a:p>
        </p:txBody>
      </p:sp>
      <p:sp>
        <p:nvSpPr>
          <p:cNvPr id="3" name="Espaço Reservado para Conteúdo 2"/>
          <p:cNvSpPr>
            <a:spLocks noGrp="1"/>
          </p:cNvSpPr>
          <p:nvPr>
            <p:ph idx="1"/>
          </p:nvPr>
        </p:nvSpPr>
        <p:spPr/>
        <p:txBody>
          <a:bodyPr>
            <a:normAutofit/>
          </a:bodyPr>
          <a:lstStyle/>
          <a:p>
            <a:pPr>
              <a:buFont typeface="Wingdings" panose="05000000000000000000" pitchFamily="2" charset="2"/>
              <a:buChar char="§"/>
            </a:pPr>
            <a:r>
              <a:rPr lang="pt-BR" sz="3200" dirty="0"/>
              <a:t>Devem utilizar a palavra reservada </a:t>
            </a:r>
            <a:r>
              <a:rPr lang="pt-BR" sz="3200" i="1" dirty="0" err="1"/>
              <a:t>override</a:t>
            </a:r>
            <a:r>
              <a:rPr lang="pt-BR" sz="3200" dirty="0"/>
              <a:t> na sua declaração;</a:t>
            </a:r>
          </a:p>
          <a:p>
            <a:pPr>
              <a:buFont typeface="Wingdings" panose="05000000000000000000" pitchFamily="2" charset="2"/>
              <a:buChar char="§"/>
            </a:pPr>
            <a:r>
              <a:rPr lang="pt-BR" sz="3200" dirty="0"/>
              <a:t> Devem ser declarados dentro de uma classe abstrata;</a:t>
            </a:r>
          </a:p>
          <a:p>
            <a:pPr>
              <a:buFont typeface="Wingdings" panose="05000000000000000000" pitchFamily="2" charset="2"/>
              <a:buChar char="§"/>
            </a:pPr>
            <a:r>
              <a:rPr lang="pt-BR" sz="3200" dirty="0"/>
              <a:t> Escritos em itálico no diagrama de classes.</a:t>
            </a:r>
          </a:p>
        </p:txBody>
      </p:sp>
    </p:spTree>
    <p:extLst>
      <p:ext uri="{BB962C8B-B14F-4D97-AF65-F5344CB8AC3E}">
        <p14:creationId xmlns:p14="http://schemas.microsoft.com/office/powerpoint/2010/main" val="11496864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Solução Correta</a:t>
            </a:r>
          </a:p>
        </p:txBody>
      </p:sp>
      <p:sp>
        <p:nvSpPr>
          <p:cNvPr id="3" name="Espaço Reservado para Conteúdo 2"/>
          <p:cNvSpPr>
            <a:spLocks noGrp="1"/>
          </p:cNvSpPr>
          <p:nvPr>
            <p:ph idx="1"/>
          </p:nvPr>
        </p:nvSpPr>
        <p:spPr/>
        <p:txBody>
          <a:bodyPr/>
          <a:lstStyle/>
          <a:p>
            <a:endParaRPr lang="pt-BR" dirty="0"/>
          </a:p>
        </p:txBody>
      </p:sp>
      <p:sp>
        <p:nvSpPr>
          <p:cNvPr id="5" name="Retângulo 4"/>
          <p:cNvSpPr/>
          <p:nvPr/>
        </p:nvSpPr>
        <p:spPr>
          <a:xfrm>
            <a:off x="5062187" y="335845"/>
            <a:ext cx="7020956" cy="6186309"/>
          </a:xfrm>
          <a:prstGeom prst="rect">
            <a:avLst/>
          </a:prstGeom>
        </p:spPr>
        <p:txBody>
          <a:bodyPr wrap="square">
            <a:spAutoFit/>
          </a:bodyPr>
          <a:lstStyle/>
          <a:p>
            <a:r>
              <a:rPr lang="pt-BR" dirty="0">
                <a:solidFill>
                  <a:srgbClr val="0000FF"/>
                </a:solidFill>
                <a:latin typeface="Consolas" panose="020B0609020204030204" pitchFamily="49" charset="0"/>
              </a:rPr>
              <a:t>    </a:t>
            </a:r>
            <a:r>
              <a:rPr lang="pt-BR" dirty="0" err="1">
                <a:solidFill>
                  <a:srgbClr val="0000FF"/>
                </a:solidFill>
                <a:latin typeface="Consolas" panose="020B0609020204030204" pitchFamily="49" charset="0"/>
              </a:rPr>
              <a:t>public</a:t>
            </a:r>
            <a:r>
              <a:rPr lang="pt-BR" dirty="0">
                <a:solidFill>
                  <a:srgbClr val="000000"/>
                </a:solidFill>
                <a:latin typeface="Consolas" panose="020B0609020204030204" pitchFamily="49" charset="0"/>
              </a:rPr>
              <a:t> </a:t>
            </a:r>
            <a:r>
              <a:rPr lang="pt-BR" dirty="0">
                <a:solidFill>
                  <a:srgbClr val="0000FF"/>
                </a:solidFill>
                <a:latin typeface="Consolas" panose="020B0609020204030204" pitchFamily="49" charset="0"/>
              </a:rPr>
              <a:t>abstract</a:t>
            </a:r>
            <a:r>
              <a:rPr lang="pt-BR" dirty="0">
                <a:solidFill>
                  <a:srgbClr val="000000"/>
                </a:solidFill>
                <a:latin typeface="Consolas" panose="020B0609020204030204" pitchFamily="49" charset="0"/>
              </a:rPr>
              <a:t> </a:t>
            </a:r>
            <a:r>
              <a:rPr lang="pt-BR" dirty="0" err="1">
                <a:solidFill>
                  <a:srgbClr val="0000FF"/>
                </a:solidFill>
                <a:latin typeface="Consolas" panose="020B0609020204030204" pitchFamily="49" charset="0"/>
              </a:rPr>
              <a:t>class</a:t>
            </a:r>
            <a:r>
              <a:rPr lang="pt-BR" dirty="0">
                <a:solidFill>
                  <a:srgbClr val="000000"/>
                </a:solidFill>
                <a:latin typeface="Consolas" panose="020B0609020204030204" pitchFamily="49" charset="0"/>
              </a:rPr>
              <a:t> </a:t>
            </a:r>
            <a:r>
              <a:rPr lang="pt-BR" dirty="0" err="1">
                <a:solidFill>
                  <a:srgbClr val="2B91AF"/>
                </a:solidFill>
                <a:latin typeface="Consolas" panose="020B0609020204030204" pitchFamily="49" charset="0"/>
              </a:rPr>
              <a:t>FormaGeométrica</a:t>
            </a:r>
            <a:endParaRPr lang="pt-BR" dirty="0">
              <a:solidFill>
                <a:srgbClr val="000000"/>
              </a:solidFill>
              <a:latin typeface="Consolas" panose="020B0609020204030204" pitchFamily="49" charset="0"/>
            </a:endParaRPr>
          </a:p>
          <a:p>
            <a:r>
              <a:rPr lang="pt-BR" dirty="0">
                <a:solidFill>
                  <a:srgbClr val="000000"/>
                </a:solidFill>
                <a:latin typeface="Consolas" panose="020B0609020204030204" pitchFamily="49" charset="0"/>
              </a:rPr>
              <a:t>    {</a:t>
            </a:r>
          </a:p>
          <a:p>
            <a:r>
              <a:rPr lang="pt-BR" dirty="0">
                <a:solidFill>
                  <a:srgbClr val="000000"/>
                </a:solidFill>
                <a:latin typeface="Consolas" panose="020B0609020204030204" pitchFamily="49" charset="0"/>
              </a:rPr>
              <a:t>        </a:t>
            </a:r>
            <a:r>
              <a:rPr lang="pt-BR" dirty="0" err="1">
                <a:solidFill>
                  <a:srgbClr val="0000FF"/>
                </a:solidFill>
                <a:latin typeface="Consolas" panose="020B0609020204030204" pitchFamily="49" charset="0"/>
              </a:rPr>
              <a:t>public</a:t>
            </a:r>
            <a:r>
              <a:rPr lang="pt-BR" dirty="0">
                <a:solidFill>
                  <a:srgbClr val="000000"/>
                </a:solidFill>
                <a:latin typeface="Consolas" panose="020B0609020204030204" pitchFamily="49" charset="0"/>
              </a:rPr>
              <a:t> </a:t>
            </a:r>
            <a:r>
              <a:rPr lang="pt-BR" dirty="0">
                <a:solidFill>
                  <a:srgbClr val="0000FF"/>
                </a:solidFill>
                <a:latin typeface="Consolas" panose="020B0609020204030204" pitchFamily="49" charset="0"/>
              </a:rPr>
              <a:t>abstract</a:t>
            </a:r>
            <a:r>
              <a:rPr lang="pt-BR" dirty="0">
                <a:solidFill>
                  <a:srgbClr val="000000"/>
                </a:solidFill>
                <a:latin typeface="Consolas" panose="020B0609020204030204" pitchFamily="49" charset="0"/>
              </a:rPr>
              <a:t> </a:t>
            </a:r>
            <a:r>
              <a:rPr lang="pt-BR" dirty="0" err="1">
                <a:solidFill>
                  <a:srgbClr val="0000FF"/>
                </a:solidFill>
                <a:latin typeface="Consolas" panose="020B0609020204030204" pitchFamily="49" charset="0"/>
              </a:rPr>
              <a:t>float</a:t>
            </a:r>
            <a:r>
              <a:rPr lang="pt-BR" dirty="0">
                <a:solidFill>
                  <a:srgbClr val="000000"/>
                </a:solidFill>
                <a:latin typeface="Consolas" panose="020B0609020204030204" pitchFamily="49" charset="0"/>
              </a:rPr>
              <a:t> Área();</a:t>
            </a:r>
          </a:p>
          <a:p>
            <a:r>
              <a:rPr lang="pt-BR" dirty="0">
                <a:solidFill>
                  <a:srgbClr val="000000"/>
                </a:solidFill>
                <a:latin typeface="Consolas" panose="020B0609020204030204" pitchFamily="49" charset="0"/>
              </a:rPr>
              <a:t>    }</a:t>
            </a:r>
          </a:p>
          <a:p>
            <a:endParaRPr lang="pt-BR" dirty="0">
              <a:solidFill>
                <a:srgbClr val="000000"/>
              </a:solidFill>
              <a:latin typeface="Consolas" panose="020B0609020204030204" pitchFamily="49" charset="0"/>
            </a:endParaRPr>
          </a:p>
          <a:p>
            <a:r>
              <a:rPr lang="pt-BR" dirty="0">
                <a:solidFill>
                  <a:srgbClr val="000000"/>
                </a:solidFill>
                <a:latin typeface="Consolas" panose="020B0609020204030204" pitchFamily="49" charset="0"/>
              </a:rPr>
              <a:t>    </a:t>
            </a:r>
            <a:r>
              <a:rPr lang="pt-BR" dirty="0" err="1">
                <a:solidFill>
                  <a:srgbClr val="0000FF"/>
                </a:solidFill>
                <a:latin typeface="Consolas" panose="020B0609020204030204" pitchFamily="49" charset="0"/>
              </a:rPr>
              <a:t>public</a:t>
            </a:r>
            <a:r>
              <a:rPr lang="pt-BR" dirty="0">
                <a:solidFill>
                  <a:srgbClr val="000000"/>
                </a:solidFill>
                <a:latin typeface="Consolas" panose="020B0609020204030204" pitchFamily="49" charset="0"/>
              </a:rPr>
              <a:t> </a:t>
            </a:r>
            <a:r>
              <a:rPr lang="pt-BR" dirty="0" err="1">
                <a:solidFill>
                  <a:srgbClr val="0000FF"/>
                </a:solidFill>
                <a:latin typeface="Consolas" panose="020B0609020204030204" pitchFamily="49" charset="0"/>
              </a:rPr>
              <a:t>class</a:t>
            </a:r>
            <a:r>
              <a:rPr lang="pt-BR" dirty="0">
                <a:solidFill>
                  <a:srgbClr val="000000"/>
                </a:solidFill>
                <a:latin typeface="Consolas" panose="020B0609020204030204" pitchFamily="49" charset="0"/>
              </a:rPr>
              <a:t> </a:t>
            </a:r>
            <a:r>
              <a:rPr lang="pt-BR" dirty="0">
                <a:solidFill>
                  <a:srgbClr val="2B91AF"/>
                </a:solidFill>
                <a:latin typeface="Consolas" panose="020B0609020204030204" pitchFamily="49" charset="0"/>
              </a:rPr>
              <a:t>Triângulo</a:t>
            </a:r>
            <a:r>
              <a:rPr lang="pt-BR" dirty="0">
                <a:solidFill>
                  <a:srgbClr val="000000"/>
                </a:solidFill>
                <a:latin typeface="Consolas" panose="020B0609020204030204" pitchFamily="49" charset="0"/>
              </a:rPr>
              <a:t> : </a:t>
            </a:r>
            <a:r>
              <a:rPr lang="pt-BR" dirty="0" err="1">
                <a:solidFill>
                  <a:srgbClr val="2B91AF"/>
                </a:solidFill>
                <a:latin typeface="Consolas" panose="020B0609020204030204" pitchFamily="49" charset="0"/>
              </a:rPr>
              <a:t>FormaGeométrica</a:t>
            </a:r>
            <a:endParaRPr lang="pt-BR" dirty="0">
              <a:solidFill>
                <a:srgbClr val="000000"/>
              </a:solidFill>
              <a:latin typeface="Consolas" panose="020B0609020204030204" pitchFamily="49" charset="0"/>
            </a:endParaRPr>
          </a:p>
          <a:p>
            <a:r>
              <a:rPr lang="pt-BR" dirty="0">
                <a:solidFill>
                  <a:srgbClr val="000000"/>
                </a:solidFill>
                <a:latin typeface="Consolas" panose="020B0609020204030204" pitchFamily="49" charset="0"/>
              </a:rPr>
              <a:t>    {</a:t>
            </a:r>
          </a:p>
          <a:p>
            <a:r>
              <a:rPr lang="pt-BR" dirty="0">
                <a:solidFill>
                  <a:srgbClr val="000000"/>
                </a:solidFill>
                <a:latin typeface="Consolas" panose="020B0609020204030204" pitchFamily="49" charset="0"/>
              </a:rPr>
              <a:t>        </a:t>
            </a:r>
            <a:r>
              <a:rPr lang="pt-BR" dirty="0" err="1">
                <a:solidFill>
                  <a:srgbClr val="0000FF"/>
                </a:solidFill>
                <a:latin typeface="Consolas" panose="020B0609020204030204" pitchFamily="49" charset="0"/>
              </a:rPr>
              <a:t>public</a:t>
            </a:r>
            <a:r>
              <a:rPr lang="pt-BR" dirty="0">
                <a:solidFill>
                  <a:srgbClr val="000000"/>
                </a:solidFill>
                <a:latin typeface="Consolas" panose="020B0609020204030204" pitchFamily="49" charset="0"/>
              </a:rPr>
              <a:t> </a:t>
            </a:r>
            <a:r>
              <a:rPr lang="pt-BR" dirty="0" err="1">
                <a:solidFill>
                  <a:srgbClr val="0000FF"/>
                </a:solidFill>
                <a:latin typeface="Consolas" panose="020B0609020204030204" pitchFamily="49" charset="0"/>
              </a:rPr>
              <a:t>float</a:t>
            </a:r>
            <a:r>
              <a:rPr lang="pt-BR" dirty="0">
                <a:solidFill>
                  <a:srgbClr val="000000"/>
                </a:solidFill>
                <a:latin typeface="Consolas" panose="020B0609020204030204" pitchFamily="49" charset="0"/>
              </a:rPr>
              <a:t> Base, Altura;</a:t>
            </a:r>
          </a:p>
          <a:p>
            <a:r>
              <a:rPr lang="pt-BR" dirty="0">
                <a:solidFill>
                  <a:srgbClr val="000000"/>
                </a:solidFill>
                <a:latin typeface="Consolas" panose="020B0609020204030204" pitchFamily="49" charset="0"/>
              </a:rPr>
              <a:t>        </a:t>
            </a:r>
            <a:r>
              <a:rPr lang="pt-BR" dirty="0" err="1">
                <a:solidFill>
                  <a:srgbClr val="0000FF"/>
                </a:solidFill>
                <a:latin typeface="Consolas" panose="020B0609020204030204" pitchFamily="49" charset="0"/>
              </a:rPr>
              <a:t>public</a:t>
            </a:r>
            <a:r>
              <a:rPr lang="pt-BR" dirty="0">
                <a:solidFill>
                  <a:srgbClr val="000000"/>
                </a:solidFill>
                <a:latin typeface="Consolas" panose="020B0609020204030204" pitchFamily="49" charset="0"/>
              </a:rPr>
              <a:t> </a:t>
            </a:r>
            <a:r>
              <a:rPr lang="pt-BR" dirty="0" err="1">
                <a:solidFill>
                  <a:srgbClr val="0000FF"/>
                </a:solidFill>
                <a:latin typeface="Consolas" panose="020B0609020204030204" pitchFamily="49" charset="0"/>
              </a:rPr>
              <a:t>override</a:t>
            </a:r>
            <a:r>
              <a:rPr lang="pt-BR" dirty="0">
                <a:solidFill>
                  <a:srgbClr val="000000"/>
                </a:solidFill>
                <a:latin typeface="Consolas" panose="020B0609020204030204" pitchFamily="49" charset="0"/>
              </a:rPr>
              <a:t> </a:t>
            </a:r>
            <a:r>
              <a:rPr lang="pt-BR" dirty="0" err="1">
                <a:solidFill>
                  <a:srgbClr val="0000FF"/>
                </a:solidFill>
                <a:latin typeface="Consolas" panose="020B0609020204030204" pitchFamily="49" charset="0"/>
              </a:rPr>
              <a:t>float</a:t>
            </a:r>
            <a:r>
              <a:rPr lang="pt-BR" dirty="0">
                <a:solidFill>
                  <a:srgbClr val="000000"/>
                </a:solidFill>
                <a:latin typeface="Consolas" panose="020B0609020204030204" pitchFamily="49" charset="0"/>
              </a:rPr>
              <a:t> Área()</a:t>
            </a:r>
          </a:p>
          <a:p>
            <a:r>
              <a:rPr lang="pt-BR" dirty="0">
                <a:solidFill>
                  <a:srgbClr val="000000"/>
                </a:solidFill>
                <a:latin typeface="Consolas" panose="020B0609020204030204" pitchFamily="49" charset="0"/>
              </a:rPr>
              <a:t>        {</a:t>
            </a:r>
          </a:p>
          <a:p>
            <a:r>
              <a:rPr lang="pt-BR" dirty="0">
                <a:solidFill>
                  <a:srgbClr val="000000"/>
                </a:solidFill>
                <a:latin typeface="Consolas" panose="020B0609020204030204" pitchFamily="49" charset="0"/>
              </a:rPr>
              <a:t>            </a:t>
            </a:r>
            <a:r>
              <a:rPr lang="pt-BR" dirty="0" err="1">
                <a:solidFill>
                  <a:srgbClr val="0000FF"/>
                </a:solidFill>
                <a:latin typeface="Consolas" panose="020B0609020204030204" pitchFamily="49" charset="0"/>
              </a:rPr>
              <a:t>return</a:t>
            </a:r>
            <a:r>
              <a:rPr lang="pt-BR" dirty="0">
                <a:solidFill>
                  <a:srgbClr val="000000"/>
                </a:solidFill>
                <a:latin typeface="Consolas" panose="020B0609020204030204" pitchFamily="49" charset="0"/>
              </a:rPr>
              <a:t> (Base * Altura) / 2.0f;</a:t>
            </a:r>
          </a:p>
          <a:p>
            <a:r>
              <a:rPr lang="pt-BR" dirty="0">
                <a:solidFill>
                  <a:srgbClr val="000000"/>
                </a:solidFill>
                <a:latin typeface="Consolas" panose="020B0609020204030204" pitchFamily="49" charset="0"/>
              </a:rPr>
              <a:t>        }</a:t>
            </a:r>
          </a:p>
          <a:p>
            <a:r>
              <a:rPr lang="pt-BR" dirty="0">
                <a:solidFill>
                  <a:srgbClr val="000000"/>
                </a:solidFill>
                <a:latin typeface="Consolas" panose="020B0609020204030204" pitchFamily="49" charset="0"/>
              </a:rPr>
              <a:t>    }</a:t>
            </a:r>
          </a:p>
          <a:p>
            <a:endParaRPr lang="pt-BR" dirty="0">
              <a:solidFill>
                <a:srgbClr val="000000"/>
              </a:solidFill>
              <a:latin typeface="Consolas" panose="020B0609020204030204" pitchFamily="49" charset="0"/>
            </a:endParaRPr>
          </a:p>
          <a:p>
            <a:r>
              <a:rPr lang="pt-BR" dirty="0">
                <a:solidFill>
                  <a:srgbClr val="000000"/>
                </a:solidFill>
                <a:latin typeface="Consolas" panose="020B0609020204030204" pitchFamily="49" charset="0"/>
              </a:rPr>
              <a:t>    </a:t>
            </a:r>
            <a:r>
              <a:rPr lang="pt-BR" dirty="0" err="1">
                <a:solidFill>
                  <a:srgbClr val="0000FF"/>
                </a:solidFill>
                <a:latin typeface="Consolas" panose="020B0609020204030204" pitchFamily="49" charset="0"/>
              </a:rPr>
              <a:t>public</a:t>
            </a:r>
            <a:r>
              <a:rPr lang="pt-BR" dirty="0">
                <a:solidFill>
                  <a:srgbClr val="000000"/>
                </a:solidFill>
                <a:latin typeface="Consolas" panose="020B0609020204030204" pitchFamily="49" charset="0"/>
              </a:rPr>
              <a:t> </a:t>
            </a:r>
            <a:r>
              <a:rPr lang="pt-BR" dirty="0" err="1">
                <a:solidFill>
                  <a:srgbClr val="0000FF"/>
                </a:solidFill>
                <a:latin typeface="Consolas" panose="020B0609020204030204" pitchFamily="49" charset="0"/>
              </a:rPr>
              <a:t>class</a:t>
            </a:r>
            <a:r>
              <a:rPr lang="pt-BR" dirty="0">
                <a:solidFill>
                  <a:srgbClr val="000000"/>
                </a:solidFill>
                <a:latin typeface="Consolas" panose="020B0609020204030204" pitchFamily="49" charset="0"/>
              </a:rPr>
              <a:t> </a:t>
            </a:r>
            <a:r>
              <a:rPr lang="pt-BR" dirty="0">
                <a:solidFill>
                  <a:srgbClr val="2B91AF"/>
                </a:solidFill>
                <a:latin typeface="Consolas" panose="020B0609020204030204" pitchFamily="49" charset="0"/>
              </a:rPr>
              <a:t>Quadrado</a:t>
            </a:r>
            <a:r>
              <a:rPr lang="pt-BR" dirty="0">
                <a:solidFill>
                  <a:srgbClr val="000000"/>
                </a:solidFill>
                <a:latin typeface="Consolas" panose="020B0609020204030204" pitchFamily="49" charset="0"/>
              </a:rPr>
              <a:t> : </a:t>
            </a:r>
            <a:r>
              <a:rPr lang="pt-BR" dirty="0" err="1">
                <a:solidFill>
                  <a:srgbClr val="2B91AF"/>
                </a:solidFill>
                <a:latin typeface="Consolas" panose="020B0609020204030204" pitchFamily="49" charset="0"/>
              </a:rPr>
              <a:t>FormaGeométrica</a:t>
            </a:r>
            <a:endParaRPr lang="pt-BR" dirty="0">
              <a:solidFill>
                <a:srgbClr val="000000"/>
              </a:solidFill>
              <a:latin typeface="Consolas" panose="020B0609020204030204" pitchFamily="49" charset="0"/>
            </a:endParaRPr>
          </a:p>
          <a:p>
            <a:r>
              <a:rPr lang="pt-BR" dirty="0">
                <a:solidFill>
                  <a:srgbClr val="000000"/>
                </a:solidFill>
                <a:latin typeface="Consolas" panose="020B0609020204030204" pitchFamily="49" charset="0"/>
              </a:rPr>
              <a:t>    {</a:t>
            </a:r>
          </a:p>
          <a:p>
            <a:r>
              <a:rPr lang="pt-BR" dirty="0">
                <a:solidFill>
                  <a:srgbClr val="000000"/>
                </a:solidFill>
                <a:latin typeface="Consolas" panose="020B0609020204030204" pitchFamily="49" charset="0"/>
              </a:rPr>
              <a:t>        </a:t>
            </a:r>
            <a:r>
              <a:rPr lang="pt-BR" dirty="0" err="1">
                <a:solidFill>
                  <a:srgbClr val="0000FF"/>
                </a:solidFill>
                <a:latin typeface="Consolas" panose="020B0609020204030204" pitchFamily="49" charset="0"/>
              </a:rPr>
              <a:t>public</a:t>
            </a:r>
            <a:r>
              <a:rPr lang="pt-BR" dirty="0">
                <a:solidFill>
                  <a:srgbClr val="000000"/>
                </a:solidFill>
                <a:latin typeface="Consolas" panose="020B0609020204030204" pitchFamily="49" charset="0"/>
              </a:rPr>
              <a:t> </a:t>
            </a:r>
            <a:r>
              <a:rPr lang="pt-BR" dirty="0" err="1">
                <a:solidFill>
                  <a:srgbClr val="0000FF"/>
                </a:solidFill>
                <a:latin typeface="Consolas" panose="020B0609020204030204" pitchFamily="49" charset="0"/>
              </a:rPr>
              <a:t>float</a:t>
            </a:r>
            <a:r>
              <a:rPr lang="pt-BR" dirty="0">
                <a:solidFill>
                  <a:srgbClr val="000000"/>
                </a:solidFill>
                <a:latin typeface="Consolas" panose="020B0609020204030204" pitchFamily="49" charset="0"/>
              </a:rPr>
              <a:t> Lado;</a:t>
            </a:r>
          </a:p>
          <a:p>
            <a:r>
              <a:rPr lang="pt-BR" dirty="0">
                <a:solidFill>
                  <a:srgbClr val="000000"/>
                </a:solidFill>
                <a:latin typeface="Consolas" panose="020B0609020204030204" pitchFamily="49" charset="0"/>
              </a:rPr>
              <a:t>        </a:t>
            </a:r>
            <a:r>
              <a:rPr lang="pt-BR" dirty="0" err="1">
                <a:solidFill>
                  <a:srgbClr val="0000FF"/>
                </a:solidFill>
                <a:latin typeface="Consolas" panose="020B0609020204030204" pitchFamily="49" charset="0"/>
              </a:rPr>
              <a:t>public</a:t>
            </a:r>
            <a:r>
              <a:rPr lang="pt-BR" dirty="0">
                <a:solidFill>
                  <a:srgbClr val="000000"/>
                </a:solidFill>
                <a:latin typeface="Consolas" panose="020B0609020204030204" pitchFamily="49" charset="0"/>
              </a:rPr>
              <a:t> </a:t>
            </a:r>
            <a:r>
              <a:rPr lang="pt-BR" dirty="0" err="1">
                <a:solidFill>
                  <a:srgbClr val="0000FF"/>
                </a:solidFill>
                <a:latin typeface="Consolas" panose="020B0609020204030204" pitchFamily="49" charset="0"/>
              </a:rPr>
              <a:t>override</a:t>
            </a:r>
            <a:r>
              <a:rPr lang="pt-BR" dirty="0">
                <a:solidFill>
                  <a:srgbClr val="000000"/>
                </a:solidFill>
                <a:latin typeface="Consolas" panose="020B0609020204030204" pitchFamily="49" charset="0"/>
              </a:rPr>
              <a:t> </a:t>
            </a:r>
            <a:r>
              <a:rPr lang="pt-BR" dirty="0" err="1">
                <a:solidFill>
                  <a:srgbClr val="0000FF"/>
                </a:solidFill>
                <a:latin typeface="Consolas" panose="020B0609020204030204" pitchFamily="49" charset="0"/>
              </a:rPr>
              <a:t>float</a:t>
            </a:r>
            <a:r>
              <a:rPr lang="pt-BR" dirty="0">
                <a:solidFill>
                  <a:srgbClr val="000000"/>
                </a:solidFill>
                <a:latin typeface="Consolas" panose="020B0609020204030204" pitchFamily="49" charset="0"/>
              </a:rPr>
              <a:t> Área()</a:t>
            </a:r>
          </a:p>
          <a:p>
            <a:r>
              <a:rPr lang="pt-BR" dirty="0">
                <a:solidFill>
                  <a:srgbClr val="000000"/>
                </a:solidFill>
                <a:latin typeface="Consolas" panose="020B0609020204030204" pitchFamily="49" charset="0"/>
              </a:rPr>
              <a:t>        {</a:t>
            </a:r>
          </a:p>
          <a:p>
            <a:r>
              <a:rPr lang="pt-BR" dirty="0">
                <a:solidFill>
                  <a:srgbClr val="000000"/>
                </a:solidFill>
                <a:latin typeface="Consolas" panose="020B0609020204030204" pitchFamily="49" charset="0"/>
              </a:rPr>
              <a:t>            </a:t>
            </a:r>
            <a:r>
              <a:rPr lang="pt-BR" dirty="0" err="1">
                <a:solidFill>
                  <a:srgbClr val="0000FF"/>
                </a:solidFill>
                <a:latin typeface="Consolas" panose="020B0609020204030204" pitchFamily="49" charset="0"/>
              </a:rPr>
              <a:t>return</a:t>
            </a:r>
            <a:r>
              <a:rPr lang="pt-BR" dirty="0">
                <a:solidFill>
                  <a:srgbClr val="000000"/>
                </a:solidFill>
                <a:latin typeface="Consolas" panose="020B0609020204030204" pitchFamily="49" charset="0"/>
              </a:rPr>
              <a:t> Lado * Lado;</a:t>
            </a:r>
          </a:p>
          <a:p>
            <a:r>
              <a:rPr lang="pt-BR" dirty="0">
                <a:solidFill>
                  <a:srgbClr val="000000"/>
                </a:solidFill>
                <a:latin typeface="Consolas" panose="020B0609020204030204" pitchFamily="49" charset="0"/>
              </a:rPr>
              <a:t>        }</a:t>
            </a:r>
          </a:p>
          <a:p>
            <a:r>
              <a:rPr lang="pt-BR" dirty="0">
                <a:solidFill>
                  <a:srgbClr val="000000"/>
                </a:solidFill>
                <a:latin typeface="Consolas" panose="020B0609020204030204" pitchFamily="49" charset="0"/>
              </a:rPr>
              <a:t>    }</a:t>
            </a:r>
            <a:endParaRPr lang="pt-BR" dirty="0"/>
          </a:p>
        </p:txBody>
      </p:sp>
      <p:pic>
        <p:nvPicPr>
          <p:cNvPr id="6" name="Imagem 5"/>
          <p:cNvPicPr>
            <a:picLocks noChangeAspect="1"/>
          </p:cNvPicPr>
          <p:nvPr/>
        </p:nvPicPr>
        <p:blipFill>
          <a:blip r:embed="rId2"/>
          <a:stretch>
            <a:fillRect/>
          </a:stretch>
        </p:blipFill>
        <p:spPr>
          <a:xfrm>
            <a:off x="2024743" y="2384650"/>
            <a:ext cx="2852738" cy="2482253"/>
          </a:xfrm>
          <a:prstGeom prst="rect">
            <a:avLst/>
          </a:prstGeom>
        </p:spPr>
      </p:pic>
    </p:spTree>
    <p:extLst>
      <p:ext uri="{BB962C8B-B14F-4D97-AF65-F5344CB8AC3E}">
        <p14:creationId xmlns:p14="http://schemas.microsoft.com/office/powerpoint/2010/main" val="32170699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Exemplo</a:t>
            </a:r>
          </a:p>
        </p:txBody>
      </p:sp>
      <p:sp>
        <p:nvSpPr>
          <p:cNvPr id="3" name="Espaço Reservado para Conteúdo 2"/>
          <p:cNvSpPr>
            <a:spLocks noGrp="1"/>
          </p:cNvSpPr>
          <p:nvPr>
            <p:ph idx="1"/>
          </p:nvPr>
        </p:nvSpPr>
        <p:spPr>
          <a:xfrm>
            <a:off x="1097280" y="1845734"/>
            <a:ext cx="10058400" cy="4023360"/>
          </a:xfrm>
        </p:spPr>
        <p:txBody>
          <a:bodyPr>
            <a:normAutofit/>
          </a:bodyPr>
          <a:lstStyle/>
          <a:p>
            <a:pPr algn="just"/>
            <a:r>
              <a:rPr lang="pt-BR" sz="2800" dirty="0"/>
              <a:t>Um sistema de ordenação de valores exibe, automaticamente, um menu com os algoritmos que estão implementados nesse sistema. Os algoritmos podem ser de dois tipos: iterativos e recursivos. Algoritmos de ambos os tipos possuem um campo para armazenar seu nome e devem, obrigatoriamente, implementar um método chamado Ordenar, que recebe como parâmetro um vetor de objetos. </a:t>
            </a:r>
          </a:p>
          <a:p>
            <a:pPr algn="just"/>
            <a:endParaRPr lang="pt-BR" sz="2800" dirty="0"/>
          </a:p>
          <a:p>
            <a:pPr algn="just"/>
            <a:r>
              <a:rPr lang="pt-BR" sz="2800" dirty="0"/>
              <a:t>Modelar o sistema especificado.</a:t>
            </a:r>
          </a:p>
        </p:txBody>
      </p:sp>
    </p:spTree>
    <p:extLst>
      <p:ext uri="{BB962C8B-B14F-4D97-AF65-F5344CB8AC3E}">
        <p14:creationId xmlns:p14="http://schemas.microsoft.com/office/powerpoint/2010/main" val="19860131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Solução</a:t>
            </a:r>
          </a:p>
        </p:txBody>
      </p:sp>
      <p:pic>
        <p:nvPicPr>
          <p:cNvPr id="3" name="Imagem 2"/>
          <p:cNvPicPr>
            <a:picLocks noChangeAspect="1"/>
          </p:cNvPicPr>
          <p:nvPr/>
        </p:nvPicPr>
        <p:blipFill>
          <a:blip r:embed="rId2"/>
          <a:stretch>
            <a:fillRect/>
          </a:stretch>
        </p:blipFill>
        <p:spPr>
          <a:xfrm>
            <a:off x="4186237" y="1909762"/>
            <a:ext cx="3819525" cy="3038475"/>
          </a:xfrm>
          <a:prstGeom prst="rect">
            <a:avLst/>
          </a:prstGeom>
        </p:spPr>
      </p:pic>
    </p:spTree>
    <p:extLst>
      <p:ext uri="{BB962C8B-B14F-4D97-AF65-F5344CB8AC3E}">
        <p14:creationId xmlns:p14="http://schemas.microsoft.com/office/powerpoint/2010/main" val="16019149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Exemplo</a:t>
            </a:r>
          </a:p>
        </p:txBody>
      </p:sp>
      <p:sp>
        <p:nvSpPr>
          <p:cNvPr id="3" name="Espaço Reservado para Conteúdo 2"/>
          <p:cNvSpPr>
            <a:spLocks noGrp="1"/>
          </p:cNvSpPr>
          <p:nvPr>
            <p:ph idx="1"/>
          </p:nvPr>
        </p:nvSpPr>
        <p:spPr>
          <a:xfrm>
            <a:off x="1097280" y="1845734"/>
            <a:ext cx="10058400" cy="4023360"/>
          </a:xfrm>
        </p:spPr>
        <p:txBody>
          <a:bodyPr>
            <a:normAutofit fontScale="92500" lnSpcReduction="10000"/>
          </a:bodyPr>
          <a:lstStyle/>
          <a:p>
            <a:pPr algn="just"/>
            <a:r>
              <a:rPr lang="pt-BR" sz="2800" dirty="0"/>
              <a:t>Um sistema de ordenação de valores exibe, automaticamente, um menu com os algoritmos que estão implementados nesse sistema. Os algoritmos podem ser de dois tipos: iterativos e recursivos. Algoritmos de ambos os tipos possuem um campo para armazenar seu nome e devem, obrigatoriamente, implementar um método chamado Ordenar, que recebe como parâmetro um vetor de objetos. Apenas algoritmos recursivos devem, obrigatoriamente, implementar um método chamado Dividir, que recebe um vetor de objetos e os índices inicial e final da divisão.</a:t>
            </a:r>
          </a:p>
          <a:p>
            <a:pPr algn="just"/>
            <a:endParaRPr lang="pt-BR" sz="2800" dirty="0"/>
          </a:p>
          <a:p>
            <a:pPr algn="just"/>
            <a:r>
              <a:rPr lang="pt-BR" sz="2800" dirty="0"/>
              <a:t>Modelar o sistema especificado.</a:t>
            </a:r>
          </a:p>
        </p:txBody>
      </p:sp>
    </p:spTree>
    <p:extLst>
      <p:ext uri="{BB962C8B-B14F-4D97-AF65-F5344CB8AC3E}">
        <p14:creationId xmlns:p14="http://schemas.microsoft.com/office/powerpoint/2010/main" val="16331267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Solução inicial</a:t>
            </a:r>
          </a:p>
        </p:txBody>
      </p:sp>
      <p:pic>
        <p:nvPicPr>
          <p:cNvPr id="5" name="Imagem 4"/>
          <p:cNvPicPr>
            <a:picLocks noChangeAspect="1"/>
          </p:cNvPicPr>
          <p:nvPr/>
        </p:nvPicPr>
        <p:blipFill>
          <a:blip r:embed="rId2"/>
          <a:stretch>
            <a:fillRect/>
          </a:stretch>
        </p:blipFill>
        <p:spPr>
          <a:xfrm>
            <a:off x="3955103" y="2079352"/>
            <a:ext cx="3817295" cy="3660749"/>
          </a:xfrm>
          <a:prstGeom prst="rect">
            <a:avLst/>
          </a:prstGeom>
        </p:spPr>
      </p:pic>
    </p:spTree>
    <p:extLst>
      <p:ext uri="{BB962C8B-B14F-4D97-AF65-F5344CB8AC3E}">
        <p14:creationId xmlns:p14="http://schemas.microsoft.com/office/powerpoint/2010/main" val="6925148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Interfaces</a:t>
            </a:r>
          </a:p>
        </p:txBody>
      </p:sp>
      <p:sp>
        <p:nvSpPr>
          <p:cNvPr id="3" name="Espaço Reservado para Conteúdo 2"/>
          <p:cNvSpPr>
            <a:spLocks noGrp="1"/>
          </p:cNvSpPr>
          <p:nvPr>
            <p:ph idx="1"/>
          </p:nvPr>
        </p:nvSpPr>
        <p:spPr/>
        <p:txBody>
          <a:bodyPr>
            <a:normAutofit fontScale="92500"/>
          </a:bodyPr>
          <a:lstStyle/>
          <a:p>
            <a:r>
              <a:rPr lang="pt-BR" sz="3200" dirty="0"/>
              <a:t>Especificam operações que uma classe deve, obrigatoriamente, implementar;</a:t>
            </a:r>
          </a:p>
          <a:p>
            <a:r>
              <a:rPr lang="pt-BR" sz="3200" dirty="0"/>
              <a:t>Todos os métodos são declarados mas não são implementados;</a:t>
            </a:r>
          </a:p>
          <a:p>
            <a:pPr lvl="1"/>
            <a:r>
              <a:rPr lang="pt-BR" sz="2800" dirty="0"/>
              <a:t>Não se utiliza os modificadores de acesso (todos são públicos);</a:t>
            </a:r>
          </a:p>
          <a:p>
            <a:pPr lvl="1"/>
            <a:r>
              <a:rPr lang="pt-BR" sz="2800" dirty="0"/>
              <a:t>Não é necessário utilizar </a:t>
            </a:r>
            <a:r>
              <a:rPr lang="pt-BR" sz="2800" i="1" dirty="0" err="1"/>
              <a:t>override</a:t>
            </a:r>
            <a:r>
              <a:rPr lang="pt-BR" sz="2800" dirty="0"/>
              <a:t> na implementação da classe derivada.</a:t>
            </a:r>
          </a:p>
          <a:p>
            <a:r>
              <a:rPr lang="pt-BR" sz="3200" dirty="0"/>
              <a:t>Não permite a declaração de atributos;</a:t>
            </a:r>
          </a:p>
          <a:p>
            <a:r>
              <a:rPr lang="pt-BR" sz="3200" dirty="0"/>
              <a:t>Uma classe pode realizar várias interfaces.</a:t>
            </a:r>
          </a:p>
        </p:txBody>
      </p:sp>
    </p:spTree>
    <p:extLst>
      <p:ext uri="{BB962C8B-B14F-4D97-AF65-F5344CB8AC3E}">
        <p14:creationId xmlns:p14="http://schemas.microsoft.com/office/powerpoint/2010/main" val="27514050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Interfaces</a:t>
            </a:r>
          </a:p>
        </p:txBody>
      </p:sp>
      <p:sp>
        <p:nvSpPr>
          <p:cNvPr id="3" name="Espaço Reservado para Conteúdo 2"/>
          <p:cNvSpPr>
            <a:spLocks noGrp="1"/>
          </p:cNvSpPr>
          <p:nvPr>
            <p:ph idx="1"/>
          </p:nvPr>
        </p:nvSpPr>
        <p:spPr/>
        <p:txBody>
          <a:bodyPr>
            <a:normAutofit/>
          </a:bodyPr>
          <a:lstStyle/>
          <a:p>
            <a:r>
              <a:rPr lang="pt-BR" sz="2400" dirty="0"/>
              <a:t>Declaração:</a:t>
            </a:r>
          </a:p>
          <a:p>
            <a:endParaRPr lang="pt-BR" sz="1800" dirty="0"/>
          </a:p>
          <a:p>
            <a:endParaRPr lang="pt-BR" sz="1800" dirty="0"/>
          </a:p>
          <a:p>
            <a:r>
              <a:rPr lang="pt-BR" sz="2400" dirty="0"/>
              <a:t>Utilização (apenas realização de interface):</a:t>
            </a:r>
          </a:p>
          <a:p>
            <a:endParaRPr lang="pt-BR" sz="1800" dirty="0"/>
          </a:p>
          <a:p>
            <a:endParaRPr lang="pt-BR" sz="2400" dirty="0"/>
          </a:p>
          <a:p>
            <a:r>
              <a:rPr lang="pt-BR" sz="2400" dirty="0"/>
              <a:t>Utilização (com herança e realização de interface):</a:t>
            </a:r>
          </a:p>
        </p:txBody>
      </p:sp>
      <p:sp>
        <p:nvSpPr>
          <p:cNvPr id="4" name="Retângulo 3"/>
          <p:cNvSpPr/>
          <p:nvPr/>
        </p:nvSpPr>
        <p:spPr>
          <a:xfrm>
            <a:off x="1097280" y="2106757"/>
            <a:ext cx="7920880" cy="954107"/>
          </a:xfrm>
          <a:prstGeom prst="rect">
            <a:avLst/>
          </a:prstGeom>
        </p:spPr>
        <p:txBody>
          <a:bodyPr wrap="square">
            <a:spAutoFit/>
          </a:bodyPr>
          <a:lstStyle/>
          <a:p>
            <a:r>
              <a:rPr lang="pt-BR" sz="1400" dirty="0">
                <a:latin typeface="Consolas"/>
              </a:rPr>
              <a:t>[</a:t>
            </a:r>
            <a:r>
              <a:rPr lang="pt-BR" sz="1400" dirty="0" err="1">
                <a:latin typeface="Consolas"/>
              </a:rPr>
              <a:t>modificador_acesso</a:t>
            </a:r>
            <a:r>
              <a:rPr lang="pt-BR" sz="1400" dirty="0">
                <a:latin typeface="Consolas"/>
              </a:rPr>
              <a:t>] </a:t>
            </a:r>
            <a:r>
              <a:rPr lang="pt-BR" sz="1400" dirty="0">
                <a:solidFill>
                  <a:srgbClr val="0000FF"/>
                </a:solidFill>
                <a:latin typeface="Consolas"/>
              </a:rPr>
              <a:t>interface </a:t>
            </a:r>
            <a:r>
              <a:rPr lang="pt-BR" sz="1400" dirty="0">
                <a:solidFill>
                  <a:prstClr val="black"/>
                </a:solidFill>
                <a:latin typeface="Consolas"/>
              </a:rPr>
              <a:t>&lt;</a:t>
            </a:r>
            <a:r>
              <a:rPr lang="pt-BR" sz="1400" dirty="0" err="1">
                <a:solidFill>
                  <a:prstClr val="black"/>
                </a:solidFill>
                <a:latin typeface="Consolas"/>
              </a:rPr>
              <a:t>Nome_Interface</a:t>
            </a:r>
            <a:r>
              <a:rPr lang="pt-BR" sz="1400" dirty="0">
                <a:solidFill>
                  <a:prstClr val="black"/>
                </a:solidFill>
                <a:latin typeface="Consolas"/>
              </a:rPr>
              <a:t>&gt;</a:t>
            </a:r>
          </a:p>
          <a:p>
            <a:r>
              <a:rPr lang="pt-BR" sz="1400" dirty="0">
                <a:solidFill>
                  <a:prstClr val="black"/>
                </a:solidFill>
                <a:latin typeface="Consolas"/>
              </a:rPr>
              <a:t>{</a:t>
            </a:r>
          </a:p>
          <a:p>
            <a:endParaRPr lang="pt-BR" sz="1400" dirty="0">
              <a:solidFill>
                <a:prstClr val="black"/>
              </a:solidFill>
              <a:latin typeface="Consolas"/>
            </a:endParaRPr>
          </a:p>
          <a:p>
            <a:r>
              <a:rPr lang="pt-BR" sz="1400" dirty="0">
                <a:solidFill>
                  <a:prstClr val="black"/>
                </a:solidFill>
                <a:latin typeface="Consolas"/>
              </a:rPr>
              <a:t>}</a:t>
            </a:r>
          </a:p>
        </p:txBody>
      </p:sp>
      <p:sp>
        <p:nvSpPr>
          <p:cNvPr id="7" name="Retângulo 6"/>
          <p:cNvSpPr/>
          <p:nvPr/>
        </p:nvSpPr>
        <p:spPr>
          <a:xfrm>
            <a:off x="1097280" y="3497244"/>
            <a:ext cx="7920880" cy="954107"/>
          </a:xfrm>
          <a:prstGeom prst="rect">
            <a:avLst/>
          </a:prstGeom>
        </p:spPr>
        <p:txBody>
          <a:bodyPr wrap="square">
            <a:spAutoFit/>
          </a:bodyPr>
          <a:lstStyle/>
          <a:p>
            <a:r>
              <a:rPr lang="pt-BR" sz="1400" dirty="0">
                <a:latin typeface="Consolas"/>
              </a:rPr>
              <a:t>[</a:t>
            </a:r>
            <a:r>
              <a:rPr lang="pt-BR" sz="1400" dirty="0" err="1">
                <a:latin typeface="Consolas"/>
              </a:rPr>
              <a:t>modificador_acesso</a:t>
            </a:r>
            <a:r>
              <a:rPr lang="pt-BR" sz="1400" dirty="0">
                <a:latin typeface="Consolas"/>
              </a:rPr>
              <a:t>] </a:t>
            </a:r>
            <a:r>
              <a:rPr lang="pt-BR" sz="1400" dirty="0" err="1">
                <a:solidFill>
                  <a:srgbClr val="0000FF"/>
                </a:solidFill>
                <a:latin typeface="Consolas"/>
              </a:rPr>
              <a:t>class</a:t>
            </a:r>
            <a:r>
              <a:rPr lang="pt-BR" sz="1400" dirty="0">
                <a:solidFill>
                  <a:srgbClr val="0000FF"/>
                </a:solidFill>
                <a:latin typeface="Consolas"/>
              </a:rPr>
              <a:t> </a:t>
            </a:r>
            <a:r>
              <a:rPr lang="pt-BR" sz="1400" dirty="0">
                <a:solidFill>
                  <a:prstClr val="black"/>
                </a:solidFill>
                <a:latin typeface="Consolas"/>
              </a:rPr>
              <a:t>&lt;classe&gt; : &lt;interface&gt; </a:t>
            </a:r>
          </a:p>
          <a:p>
            <a:r>
              <a:rPr lang="pt-BR" sz="1400" dirty="0">
                <a:solidFill>
                  <a:prstClr val="black"/>
                </a:solidFill>
                <a:latin typeface="Consolas"/>
              </a:rPr>
              <a:t>{</a:t>
            </a:r>
          </a:p>
          <a:p>
            <a:endParaRPr lang="pt-BR" sz="1400" dirty="0">
              <a:solidFill>
                <a:prstClr val="black"/>
              </a:solidFill>
              <a:latin typeface="Consolas"/>
            </a:endParaRPr>
          </a:p>
          <a:p>
            <a:r>
              <a:rPr lang="pt-BR" sz="1400" dirty="0">
                <a:solidFill>
                  <a:prstClr val="black"/>
                </a:solidFill>
                <a:latin typeface="Consolas"/>
              </a:rPr>
              <a:t>}</a:t>
            </a:r>
          </a:p>
        </p:txBody>
      </p:sp>
      <p:sp>
        <p:nvSpPr>
          <p:cNvPr id="8" name="Retângulo 7"/>
          <p:cNvSpPr/>
          <p:nvPr/>
        </p:nvSpPr>
        <p:spPr>
          <a:xfrm>
            <a:off x="1097280" y="5023361"/>
            <a:ext cx="7920880" cy="954107"/>
          </a:xfrm>
          <a:prstGeom prst="rect">
            <a:avLst/>
          </a:prstGeom>
        </p:spPr>
        <p:txBody>
          <a:bodyPr wrap="square">
            <a:spAutoFit/>
          </a:bodyPr>
          <a:lstStyle/>
          <a:p>
            <a:r>
              <a:rPr lang="pt-BR" sz="1400" dirty="0">
                <a:latin typeface="Consolas"/>
              </a:rPr>
              <a:t>[</a:t>
            </a:r>
            <a:r>
              <a:rPr lang="pt-BR" sz="1400" dirty="0" err="1">
                <a:latin typeface="Consolas"/>
              </a:rPr>
              <a:t>modificador_acesso</a:t>
            </a:r>
            <a:r>
              <a:rPr lang="pt-BR" sz="1400" dirty="0">
                <a:latin typeface="Consolas"/>
              </a:rPr>
              <a:t>] </a:t>
            </a:r>
            <a:r>
              <a:rPr lang="pt-BR" sz="1400" dirty="0" err="1">
                <a:solidFill>
                  <a:srgbClr val="0000FF"/>
                </a:solidFill>
                <a:latin typeface="Consolas"/>
              </a:rPr>
              <a:t>class</a:t>
            </a:r>
            <a:r>
              <a:rPr lang="pt-BR" sz="1400" dirty="0">
                <a:solidFill>
                  <a:srgbClr val="0000FF"/>
                </a:solidFill>
                <a:latin typeface="Consolas"/>
              </a:rPr>
              <a:t> </a:t>
            </a:r>
            <a:r>
              <a:rPr lang="pt-BR" sz="1400" dirty="0">
                <a:solidFill>
                  <a:prstClr val="black"/>
                </a:solidFill>
                <a:latin typeface="Consolas"/>
              </a:rPr>
              <a:t>&lt;</a:t>
            </a:r>
            <a:r>
              <a:rPr lang="pt-BR" sz="1400" dirty="0" err="1">
                <a:solidFill>
                  <a:prstClr val="black"/>
                </a:solidFill>
                <a:latin typeface="Consolas"/>
              </a:rPr>
              <a:t>classe_derivada</a:t>
            </a:r>
            <a:r>
              <a:rPr lang="pt-BR" sz="1400" dirty="0">
                <a:solidFill>
                  <a:prstClr val="black"/>
                </a:solidFill>
                <a:latin typeface="Consolas"/>
              </a:rPr>
              <a:t>&gt; : &lt;</a:t>
            </a:r>
            <a:r>
              <a:rPr lang="pt-BR" sz="1400" dirty="0" err="1">
                <a:solidFill>
                  <a:prstClr val="black"/>
                </a:solidFill>
                <a:latin typeface="Consolas"/>
              </a:rPr>
              <a:t>classe_base</a:t>
            </a:r>
            <a:r>
              <a:rPr lang="pt-BR" sz="1400" dirty="0">
                <a:solidFill>
                  <a:prstClr val="black"/>
                </a:solidFill>
                <a:latin typeface="Consolas"/>
              </a:rPr>
              <a:t>&gt;, &lt;interface&gt; </a:t>
            </a:r>
          </a:p>
          <a:p>
            <a:r>
              <a:rPr lang="pt-BR" sz="1400" dirty="0">
                <a:solidFill>
                  <a:prstClr val="black"/>
                </a:solidFill>
                <a:latin typeface="Consolas"/>
              </a:rPr>
              <a:t>{</a:t>
            </a:r>
          </a:p>
          <a:p>
            <a:endParaRPr lang="pt-BR" sz="1400" dirty="0">
              <a:solidFill>
                <a:prstClr val="black"/>
              </a:solidFill>
              <a:latin typeface="Consolas"/>
            </a:endParaRPr>
          </a:p>
          <a:p>
            <a:r>
              <a:rPr lang="pt-BR" sz="1400" dirty="0">
                <a:solidFill>
                  <a:prstClr val="black"/>
                </a:solidFill>
                <a:latin typeface="Consolas"/>
              </a:rPr>
              <a:t>}</a:t>
            </a:r>
          </a:p>
        </p:txBody>
      </p:sp>
    </p:spTree>
    <p:extLst>
      <p:ext uri="{BB962C8B-B14F-4D97-AF65-F5344CB8AC3E}">
        <p14:creationId xmlns:p14="http://schemas.microsoft.com/office/powerpoint/2010/main" val="30239622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m 3"/>
          <p:cNvPicPr>
            <a:picLocks noChangeAspect="1"/>
          </p:cNvPicPr>
          <p:nvPr/>
        </p:nvPicPr>
        <p:blipFill>
          <a:blip r:embed="rId2"/>
          <a:stretch>
            <a:fillRect/>
          </a:stretch>
        </p:blipFill>
        <p:spPr>
          <a:xfrm>
            <a:off x="2774882" y="1839685"/>
            <a:ext cx="5926203" cy="1739673"/>
          </a:xfrm>
          <a:prstGeom prst="rect">
            <a:avLst/>
          </a:prstGeom>
        </p:spPr>
      </p:pic>
      <p:pic>
        <p:nvPicPr>
          <p:cNvPr id="5" name="Imagem 4"/>
          <p:cNvPicPr>
            <a:picLocks noChangeAspect="1"/>
          </p:cNvPicPr>
          <p:nvPr/>
        </p:nvPicPr>
        <p:blipFill>
          <a:blip r:embed="rId3"/>
          <a:stretch>
            <a:fillRect/>
          </a:stretch>
        </p:blipFill>
        <p:spPr>
          <a:xfrm>
            <a:off x="2992676" y="3579358"/>
            <a:ext cx="5490613" cy="1972356"/>
          </a:xfrm>
          <a:prstGeom prst="rect">
            <a:avLst/>
          </a:prstGeom>
        </p:spPr>
      </p:pic>
      <p:sp>
        <p:nvSpPr>
          <p:cNvPr id="6" name="Título 1"/>
          <p:cNvSpPr>
            <a:spLocks noGrp="1"/>
          </p:cNvSpPr>
          <p:nvPr>
            <p:ph type="title"/>
          </p:nvPr>
        </p:nvSpPr>
        <p:spPr>
          <a:xfrm>
            <a:off x="1097280" y="286603"/>
            <a:ext cx="10058400" cy="1450757"/>
          </a:xfrm>
        </p:spPr>
        <p:txBody>
          <a:bodyPr/>
          <a:lstStyle/>
          <a:p>
            <a:r>
              <a:rPr lang="pt-BR" dirty="0"/>
              <a:t>Exemplo</a:t>
            </a:r>
          </a:p>
        </p:txBody>
      </p:sp>
    </p:spTree>
    <p:extLst>
      <p:ext uri="{BB962C8B-B14F-4D97-AF65-F5344CB8AC3E}">
        <p14:creationId xmlns:p14="http://schemas.microsoft.com/office/powerpoint/2010/main" val="323620045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m 3"/>
          <p:cNvPicPr>
            <a:picLocks noChangeAspect="1"/>
          </p:cNvPicPr>
          <p:nvPr/>
        </p:nvPicPr>
        <p:blipFill>
          <a:blip r:embed="rId2"/>
          <a:stretch>
            <a:fillRect/>
          </a:stretch>
        </p:blipFill>
        <p:spPr>
          <a:xfrm>
            <a:off x="470253" y="2704149"/>
            <a:ext cx="4798433" cy="1408609"/>
          </a:xfrm>
          <a:prstGeom prst="rect">
            <a:avLst/>
          </a:prstGeom>
        </p:spPr>
      </p:pic>
      <p:sp>
        <p:nvSpPr>
          <p:cNvPr id="6" name="Título 1"/>
          <p:cNvSpPr>
            <a:spLocks noGrp="1"/>
          </p:cNvSpPr>
          <p:nvPr>
            <p:ph type="title"/>
          </p:nvPr>
        </p:nvSpPr>
        <p:spPr>
          <a:xfrm>
            <a:off x="1097280" y="286603"/>
            <a:ext cx="10058400" cy="1450757"/>
          </a:xfrm>
        </p:spPr>
        <p:txBody>
          <a:bodyPr/>
          <a:lstStyle/>
          <a:p>
            <a:r>
              <a:rPr lang="pt-BR" dirty="0"/>
              <a:t>Exemplo</a:t>
            </a:r>
          </a:p>
        </p:txBody>
      </p:sp>
      <p:sp>
        <p:nvSpPr>
          <p:cNvPr id="7" name="Retângulo 6"/>
          <p:cNvSpPr/>
          <p:nvPr/>
        </p:nvSpPr>
        <p:spPr>
          <a:xfrm>
            <a:off x="5551715" y="836589"/>
            <a:ext cx="6466114" cy="4832092"/>
          </a:xfrm>
          <a:prstGeom prst="rect">
            <a:avLst/>
          </a:prstGeom>
        </p:spPr>
        <p:txBody>
          <a:bodyPr wrap="square">
            <a:spAutoFit/>
          </a:bodyPr>
          <a:lstStyle/>
          <a:p>
            <a:r>
              <a:rPr lang="pt-BR" sz="1400" dirty="0">
                <a:solidFill>
                  <a:srgbClr val="0000FF"/>
                </a:solidFill>
                <a:latin typeface="Consolas" panose="020B0609020204030204" pitchFamily="49" charset="0"/>
              </a:rPr>
              <a:t>    </a:t>
            </a:r>
            <a:r>
              <a:rPr lang="pt-BR" sz="1400" dirty="0" err="1">
                <a:solidFill>
                  <a:srgbClr val="0000FF"/>
                </a:solidFill>
                <a:latin typeface="Consolas" panose="020B0609020204030204" pitchFamily="49" charset="0"/>
              </a:rPr>
              <a:t>public</a:t>
            </a:r>
            <a:r>
              <a:rPr lang="pt-BR" sz="1400" dirty="0">
                <a:solidFill>
                  <a:srgbClr val="000000"/>
                </a:solidFill>
                <a:latin typeface="Consolas" panose="020B0609020204030204" pitchFamily="49" charset="0"/>
              </a:rPr>
              <a:t> </a:t>
            </a:r>
            <a:r>
              <a:rPr lang="pt-BR" sz="1400" dirty="0">
                <a:solidFill>
                  <a:srgbClr val="0000FF"/>
                </a:solidFill>
                <a:latin typeface="Consolas" panose="020B0609020204030204" pitchFamily="49" charset="0"/>
              </a:rPr>
              <a:t>interface </a:t>
            </a:r>
            <a:r>
              <a:rPr lang="pt-BR" sz="1400" dirty="0" err="1">
                <a:solidFill>
                  <a:srgbClr val="2B91AF"/>
                </a:solidFill>
                <a:latin typeface="Consolas" panose="020B0609020204030204" pitchFamily="49" charset="0"/>
              </a:rPr>
              <a:t>FormaGeométrica</a:t>
            </a:r>
            <a:endParaRPr lang="pt-BR" sz="1400" dirty="0">
              <a:solidFill>
                <a:srgbClr val="000000"/>
              </a:solidFill>
              <a:latin typeface="Consolas" panose="020B0609020204030204" pitchFamily="49" charset="0"/>
            </a:endParaRPr>
          </a:p>
          <a:p>
            <a:r>
              <a:rPr lang="pt-BR" sz="1400" dirty="0">
                <a:solidFill>
                  <a:srgbClr val="000000"/>
                </a:solidFill>
                <a:latin typeface="Consolas" panose="020B0609020204030204" pitchFamily="49" charset="0"/>
              </a:rPr>
              <a:t>    {</a:t>
            </a:r>
          </a:p>
          <a:p>
            <a:r>
              <a:rPr lang="pt-BR" sz="1400" dirty="0">
                <a:solidFill>
                  <a:srgbClr val="0000FF"/>
                </a:solidFill>
                <a:latin typeface="Consolas" panose="020B0609020204030204" pitchFamily="49" charset="0"/>
              </a:rPr>
              <a:t>	</a:t>
            </a:r>
            <a:r>
              <a:rPr lang="pt-BR" sz="1400" dirty="0" err="1">
                <a:solidFill>
                  <a:srgbClr val="0000FF"/>
                </a:solidFill>
                <a:latin typeface="Consolas" panose="020B0609020204030204" pitchFamily="49" charset="0"/>
              </a:rPr>
              <a:t>float</a:t>
            </a:r>
            <a:r>
              <a:rPr lang="pt-BR" sz="1400" dirty="0">
                <a:solidFill>
                  <a:srgbClr val="000000"/>
                </a:solidFill>
                <a:latin typeface="Consolas" panose="020B0609020204030204" pitchFamily="49" charset="0"/>
              </a:rPr>
              <a:t> Área();</a:t>
            </a:r>
          </a:p>
          <a:p>
            <a:r>
              <a:rPr lang="pt-BR" sz="1400" dirty="0">
                <a:solidFill>
                  <a:srgbClr val="000000"/>
                </a:solidFill>
                <a:latin typeface="Consolas" panose="020B0609020204030204" pitchFamily="49" charset="0"/>
              </a:rPr>
              <a:t>    }</a:t>
            </a:r>
          </a:p>
          <a:p>
            <a:endParaRPr lang="pt-BR" sz="1400" dirty="0">
              <a:solidFill>
                <a:srgbClr val="000000"/>
              </a:solidFill>
              <a:latin typeface="Consolas" panose="020B0609020204030204" pitchFamily="49" charset="0"/>
            </a:endParaRPr>
          </a:p>
          <a:p>
            <a:r>
              <a:rPr lang="pt-BR" sz="1400" dirty="0">
                <a:solidFill>
                  <a:srgbClr val="000000"/>
                </a:solidFill>
                <a:latin typeface="Consolas" panose="020B0609020204030204" pitchFamily="49" charset="0"/>
              </a:rPr>
              <a:t>    </a:t>
            </a:r>
            <a:r>
              <a:rPr lang="pt-BR" sz="1400" dirty="0" err="1">
                <a:solidFill>
                  <a:srgbClr val="0000FF"/>
                </a:solidFill>
                <a:latin typeface="Consolas" panose="020B0609020204030204" pitchFamily="49" charset="0"/>
              </a:rPr>
              <a:t>public</a:t>
            </a:r>
            <a:r>
              <a:rPr lang="pt-BR" sz="1400" dirty="0">
                <a:solidFill>
                  <a:srgbClr val="000000"/>
                </a:solidFill>
                <a:latin typeface="Consolas" panose="020B0609020204030204" pitchFamily="49" charset="0"/>
              </a:rPr>
              <a:t> </a:t>
            </a:r>
            <a:r>
              <a:rPr lang="pt-BR" sz="1400" dirty="0" err="1">
                <a:solidFill>
                  <a:srgbClr val="0000FF"/>
                </a:solidFill>
                <a:latin typeface="Consolas" panose="020B0609020204030204" pitchFamily="49" charset="0"/>
              </a:rPr>
              <a:t>class</a:t>
            </a:r>
            <a:r>
              <a:rPr lang="pt-BR" sz="1400" dirty="0">
                <a:solidFill>
                  <a:srgbClr val="000000"/>
                </a:solidFill>
                <a:latin typeface="Consolas" panose="020B0609020204030204" pitchFamily="49" charset="0"/>
              </a:rPr>
              <a:t> </a:t>
            </a:r>
            <a:r>
              <a:rPr lang="pt-BR" sz="1400" dirty="0">
                <a:solidFill>
                  <a:srgbClr val="2B91AF"/>
                </a:solidFill>
                <a:latin typeface="Consolas" panose="020B0609020204030204" pitchFamily="49" charset="0"/>
              </a:rPr>
              <a:t>Triângulo</a:t>
            </a:r>
            <a:r>
              <a:rPr lang="pt-BR" sz="1400" dirty="0">
                <a:solidFill>
                  <a:srgbClr val="000000"/>
                </a:solidFill>
                <a:latin typeface="Consolas" panose="020B0609020204030204" pitchFamily="49" charset="0"/>
              </a:rPr>
              <a:t> : </a:t>
            </a:r>
            <a:r>
              <a:rPr lang="pt-BR" sz="1400" dirty="0" err="1">
                <a:solidFill>
                  <a:srgbClr val="2B91AF"/>
                </a:solidFill>
                <a:latin typeface="Consolas" panose="020B0609020204030204" pitchFamily="49" charset="0"/>
              </a:rPr>
              <a:t>FormaGeométrica</a:t>
            </a:r>
            <a:endParaRPr lang="pt-BR" sz="1400" dirty="0">
              <a:solidFill>
                <a:srgbClr val="000000"/>
              </a:solidFill>
              <a:latin typeface="Consolas" panose="020B0609020204030204" pitchFamily="49" charset="0"/>
            </a:endParaRPr>
          </a:p>
          <a:p>
            <a:r>
              <a:rPr lang="pt-BR" sz="1400" dirty="0">
                <a:solidFill>
                  <a:srgbClr val="000000"/>
                </a:solidFill>
                <a:latin typeface="Consolas" panose="020B0609020204030204" pitchFamily="49" charset="0"/>
              </a:rPr>
              <a:t>    {</a:t>
            </a:r>
          </a:p>
          <a:p>
            <a:r>
              <a:rPr lang="pt-BR" sz="1400" dirty="0">
                <a:solidFill>
                  <a:srgbClr val="000000"/>
                </a:solidFill>
                <a:latin typeface="Consolas" panose="020B0609020204030204" pitchFamily="49" charset="0"/>
              </a:rPr>
              <a:t>        </a:t>
            </a:r>
            <a:r>
              <a:rPr lang="pt-BR" sz="1400" dirty="0" err="1">
                <a:solidFill>
                  <a:srgbClr val="0000FF"/>
                </a:solidFill>
                <a:latin typeface="Consolas" panose="020B0609020204030204" pitchFamily="49" charset="0"/>
              </a:rPr>
              <a:t>public</a:t>
            </a:r>
            <a:r>
              <a:rPr lang="pt-BR" sz="1400" dirty="0">
                <a:solidFill>
                  <a:srgbClr val="000000"/>
                </a:solidFill>
                <a:latin typeface="Consolas" panose="020B0609020204030204" pitchFamily="49" charset="0"/>
              </a:rPr>
              <a:t> </a:t>
            </a:r>
            <a:r>
              <a:rPr lang="pt-BR" sz="1400" dirty="0" err="1">
                <a:solidFill>
                  <a:srgbClr val="0000FF"/>
                </a:solidFill>
                <a:latin typeface="Consolas" panose="020B0609020204030204" pitchFamily="49" charset="0"/>
              </a:rPr>
              <a:t>float</a:t>
            </a:r>
            <a:r>
              <a:rPr lang="pt-BR" sz="1400" dirty="0">
                <a:solidFill>
                  <a:srgbClr val="000000"/>
                </a:solidFill>
                <a:latin typeface="Consolas" panose="020B0609020204030204" pitchFamily="49" charset="0"/>
              </a:rPr>
              <a:t> Base, Altura;</a:t>
            </a:r>
          </a:p>
          <a:p>
            <a:r>
              <a:rPr lang="pt-BR" sz="1400" dirty="0">
                <a:solidFill>
                  <a:srgbClr val="000000"/>
                </a:solidFill>
                <a:latin typeface="Consolas" panose="020B0609020204030204" pitchFamily="49" charset="0"/>
              </a:rPr>
              <a:t>        </a:t>
            </a:r>
            <a:r>
              <a:rPr lang="pt-BR" sz="1400" dirty="0" err="1">
                <a:solidFill>
                  <a:srgbClr val="0000FF"/>
                </a:solidFill>
                <a:latin typeface="Consolas" panose="020B0609020204030204" pitchFamily="49" charset="0"/>
              </a:rPr>
              <a:t>public</a:t>
            </a:r>
            <a:r>
              <a:rPr lang="pt-BR" sz="1400" dirty="0">
                <a:solidFill>
                  <a:srgbClr val="000000"/>
                </a:solidFill>
                <a:latin typeface="Consolas" panose="020B0609020204030204" pitchFamily="49" charset="0"/>
              </a:rPr>
              <a:t> </a:t>
            </a:r>
            <a:r>
              <a:rPr lang="pt-BR" sz="1400" dirty="0" err="1">
                <a:solidFill>
                  <a:srgbClr val="0000FF"/>
                </a:solidFill>
                <a:latin typeface="Consolas" panose="020B0609020204030204" pitchFamily="49" charset="0"/>
              </a:rPr>
              <a:t>float</a:t>
            </a:r>
            <a:r>
              <a:rPr lang="pt-BR" sz="1400" dirty="0">
                <a:solidFill>
                  <a:srgbClr val="000000"/>
                </a:solidFill>
                <a:latin typeface="Consolas" panose="020B0609020204030204" pitchFamily="49" charset="0"/>
              </a:rPr>
              <a:t> Área()</a:t>
            </a:r>
          </a:p>
          <a:p>
            <a:r>
              <a:rPr lang="pt-BR" sz="1400" dirty="0">
                <a:solidFill>
                  <a:srgbClr val="000000"/>
                </a:solidFill>
                <a:latin typeface="Consolas" panose="020B0609020204030204" pitchFamily="49" charset="0"/>
              </a:rPr>
              <a:t>        {</a:t>
            </a:r>
          </a:p>
          <a:p>
            <a:r>
              <a:rPr lang="pt-BR" sz="1400" dirty="0">
                <a:solidFill>
                  <a:srgbClr val="000000"/>
                </a:solidFill>
                <a:latin typeface="Consolas" panose="020B0609020204030204" pitchFamily="49" charset="0"/>
              </a:rPr>
              <a:t>            </a:t>
            </a:r>
            <a:r>
              <a:rPr lang="pt-BR" sz="1400" dirty="0" err="1">
                <a:solidFill>
                  <a:srgbClr val="0000FF"/>
                </a:solidFill>
                <a:latin typeface="Consolas" panose="020B0609020204030204" pitchFamily="49" charset="0"/>
              </a:rPr>
              <a:t>return</a:t>
            </a:r>
            <a:r>
              <a:rPr lang="pt-BR" sz="1400" dirty="0">
                <a:solidFill>
                  <a:srgbClr val="000000"/>
                </a:solidFill>
                <a:latin typeface="Consolas" panose="020B0609020204030204" pitchFamily="49" charset="0"/>
              </a:rPr>
              <a:t> (Base * Altura) / 2.0f;</a:t>
            </a:r>
          </a:p>
          <a:p>
            <a:r>
              <a:rPr lang="pt-BR" sz="1400" dirty="0">
                <a:solidFill>
                  <a:srgbClr val="000000"/>
                </a:solidFill>
                <a:latin typeface="Consolas" panose="020B0609020204030204" pitchFamily="49" charset="0"/>
              </a:rPr>
              <a:t>        }</a:t>
            </a:r>
          </a:p>
          <a:p>
            <a:r>
              <a:rPr lang="pt-BR" sz="1400" dirty="0">
                <a:solidFill>
                  <a:srgbClr val="000000"/>
                </a:solidFill>
                <a:latin typeface="Consolas" panose="020B0609020204030204" pitchFamily="49" charset="0"/>
              </a:rPr>
              <a:t>    }</a:t>
            </a:r>
          </a:p>
          <a:p>
            <a:endParaRPr lang="pt-BR" sz="1400" dirty="0">
              <a:solidFill>
                <a:srgbClr val="000000"/>
              </a:solidFill>
              <a:latin typeface="Consolas" panose="020B0609020204030204" pitchFamily="49" charset="0"/>
            </a:endParaRPr>
          </a:p>
          <a:p>
            <a:r>
              <a:rPr lang="pt-BR" sz="1400" dirty="0">
                <a:solidFill>
                  <a:srgbClr val="000000"/>
                </a:solidFill>
                <a:latin typeface="Consolas" panose="020B0609020204030204" pitchFamily="49" charset="0"/>
              </a:rPr>
              <a:t>    </a:t>
            </a:r>
            <a:r>
              <a:rPr lang="pt-BR" sz="1400" dirty="0" err="1">
                <a:solidFill>
                  <a:srgbClr val="0000FF"/>
                </a:solidFill>
                <a:latin typeface="Consolas" panose="020B0609020204030204" pitchFamily="49" charset="0"/>
              </a:rPr>
              <a:t>public</a:t>
            </a:r>
            <a:r>
              <a:rPr lang="pt-BR" sz="1400" dirty="0">
                <a:solidFill>
                  <a:srgbClr val="000000"/>
                </a:solidFill>
                <a:latin typeface="Consolas" panose="020B0609020204030204" pitchFamily="49" charset="0"/>
              </a:rPr>
              <a:t> </a:t>
            </a:r>
            <a:r>
              <a:rPr lang="pt-BR" sz="1400" dirty="0" err="1">
                <a:solidFill>
                  <a:srgbClr val="0000FF"/>
                </a:solidFill>
                <a:latin typeface="Consolas" panose="020B0609020204030204" pitchFamily="49" charset="0"/>
              </a:rPr>
              <a:t>class</a:t>
            </a:r>
            <a:r>
              <a:rPr lang="pt-BR" sz="1400" dirty="0">
                <a:solidFill>
                  <a:srgbClr val="000000"/>
                </a:solidFill>
                <a:latin typeface="Consolas" panose="020B0609020204030204" pitchFamily="49" charset="0"/>
              </a:rPr>
              <a:t> </a:t>
            </a:r>
            <a:r>
              <a:rPr lang="pt-BR" sz="1400" dirty="0">
                <a:solidFill>
                  <a:srgbClr val="2B91AF"/>
                </a:solidFill>
                <a:latin typeface="Consolas" panose="020B0609020204030204" pitchFamily="49" charset="0"/>
              </a:rPr>
              <a:t>Quadrado</a:t>
            </a:r>
            <a:r>
              <a:rPr lang="pt-BR" sz="1400" dirty="0">
                <a:solidFill>
                  <a:srgbClr val="000000"/>
                </a:solidFill>
                <a:latin typeface="Consolas" panose="020B0609020204030204" pitchFamily="49" charset="0"/>
              </a:rPr>
              <a:t> : </a:t>
            </a:r>
            <a:r>
              <a:rPr lang="pt-BR" sz="1400" dirty="0" err="1">
                <a:solidFill>
                  <a:srgbClr val="2B91AF"/>
                </a:solidFill>
                <a:latin typeface="Consolas" panose="020B0609020204030204" pitchFamily="49" charset="0"/>
              </a:rPr>
              <a:t>FormaGeométrica</a:t>
            </a:r>
            <a:endParaRPr lang="pt-BR" sz="1400" dirty="0">
              <a:solidFill>
                <a:srgbClr val="000000"/>
              </a:solidFill>
              <a:latin typeface="Consolas" panose="020B0609020204030204" pitchFamily="49" charset="0"/>
            </a:endParaRPr>
          </a:p>
          <a:p>
            <a:r>
              <a:rPr lang="pt-BR" sz="1400" dirty="0">
                <a:solidFill>
                  <a:srgbClr val="000000"/>
                </a:solidFill>
                <a:latin typeface="Consolas" panose="020B0609020204030204" pitchFamily="49" charset="0"/>
              </a:rPr>
              <a:t>    {</a:t>
            </a:r>
          </a:p>
          <a:p>
            <a:r>
              <a:rPr lang="pt-BR" sz="1400" dirty="0">
                <a:solidFill>
                  <a:srgbClr val="000000"/>
                </a:solidFill>
                <a:latin typeface="Consolas" panose="020B0609020204030204" pitchFamily="49" charset="0"/>
              </a:rPr>
              <a:t>        </a:t>
            </a:r>
            <a:r>
              <a:rPr lang="pt-BR" sz="1400" dirty="0" err="1">
                <a:solidFill>
                  <a:srgbClr val="0000FF"/>
                </a:solidFill>
                <a:latin typeface="Consolas" panose="020B0609020204030204" pitchFamily="49" charset="0"/>
              </a:rPr>
              <a:t>public</a:t>
            </a:r>
            <a:r>
              <a:rPr lang="pt-BR" sz="1400" dirty="0">
                <a:solidFill>
                  <a:srgbClr val="000000"/>
                </a:solidFill>
                <a:latin typeface="Consolas" panose="020B0609020204030204" pitchFamily="49" charset="0"/>
              </a:rPr>
              <a:t> </a:t>
            </a:r>
            <a:r>
              <a:rPr lang="pt-BR" sz="1400" dirty="0" err="1">
                <a:solidFill>
                  <a:srgbClr val="0000FF"/>
                </a:solidFill>
                <a:latin typeface="Consolas" panose="020B0609020204030204" pitchFamily="49" charset="0"/>
              </a:rPr>
              <a:t>float</a:t>
            </a:r>
            <a:r>
              <a:rPr lang="pt-BR" sz="1400" dirty="0">
                <a:solidFill>
                  <a:srgbClr val="000000"/>
                </a:solidFill>
                <a:latin typeface="Consolas" panose="020B0609020204030204" pitchFamily="49" charset="0"/>
              </a:rPr>
              <a:t> Lado;</a:t>
            </a:r>
          </a:p>
          <a:p>
            <a:r>
              <a:rPr lang="pt-BR" sz="1400" dirty="0">
                <a:solidFill>
                  <a:srgbClr val="000000"/>
                </a:solidFill>
                <a:latin typeface="Consolas" panose="020B0609020204030204" pitchFamily="49" charset="0"/>
              </a:rPr>
              <a:t>        </a:t>
            </a:r>
            <a:r>
              <a:rPr lang="pt-BR" sz="1400" dirty="0" err="1">
                <a:solidFill>
                  <a:srgbClr val="0000FF"/>
                </a:solidFill>
                <a:latin typeface="Consolas" panose="020B0609020204030204" pitchFamily="49" charset="0"/>
              </a:rPr>
              <a:t>public</a:t>
            </a:r>
            <a:r>
              <a:rPr lang="pt-BR" sz="1400" dirty="0">
                <a:solidFill>
                  <a:srgbClr val="000000"/>
                </a:solidFill>
                <a:latin typeface="Consolas" panose="020B0609020204030204" pitchFamily="49" charset="0"/>
              </a:rPr>
              <a:t> </a:t>
            </a:r>
            <a:r>
              <a:rPr lang="pt-BR" sz="1400" dirty="0" err="1">
                <a:solidFill>
                  <a:srgbClr val="0000FF"/>
                </a:solidFill>
                <a:latin typeface="Consolas" panose="020B0609020204030204" pitchFamily="49" charset="0"/>
              </a:rPr>
              <a:t>float</a:t>
            </a:r>
            <a:r>
              <a:rPr lang="pt-BR" sz="1400" dirty="0">
                <a:solidFill>
                  <a:srgbClr val="000000"/>
                </a:solidFill>
                <a:latin typeface="Consolas" panose="020B0609020204030204" pitchFamily="49" charset="0"/>
              </a:rPr>
              <a:t> Área()</a:t>
            </a:r>
          </a:p>
          <a:p>
            <a:r>
              <a:rPr lang="pt-BR" sz="1400" dirty="0">
                <a:solidFill>
                  <a:srgbClr val="000000"/>
                </a:solidFill>
                <a:latin typeface="Consolas" panose="020B0609020204030204" pitchFamily="49" charset="0"/>
              </a:rPr>
              <a:t>        {</a:t>
            </a:r>
          </a:p>
          <a:p>
            <a:r>
              <a:rPr lang="pt-BR" sz="1400" dirty="0">
                <a:solidFill>
                  <a:srgbClr val="000000"/>
                </a:solidFill>
                <a:latin typeface="Consolas" panose="020B0609020204030204" pitchFamily="49" charset="0"/>
              </a:rPr>
              <a:t>            </a:t>
            </a:r>
            <a:r>
              <a:rPr lang="pt-BR" sz="1400" dirty="0" err="1">
                <a:solidFill>
                  <a:srgbClr val="0000FF"/>
                </a:solidFill>
                <a:latin typeface="Consolas" panose="020B0609020204030204" pitchFamily="49" charset="0"/>
              </a:rPr>
              <a:t>return</a:t>
            </a:r>
            <a:r>
              <a:rPr lang="pt-BR" sz="1400" dirty="0">
                <a:solidFill>
                  <a:srgbClr val="000000"/>
                </a:solidFill>
                <a:latin typeface="Consolas" panose="020B0609020204030204" pitchFamily="49" charset="0"/>
              </a:rPr>
              <a:t> Lado * Lado;</a:t>
            </a:r>
          </a:p>
          <a:p>
            <a:r>
              <a:rPr lang="pt-BR" sz="1400" dirty="0">
                <a:solidFill>
                  <a:srgbClr val="000000"/>
                </a:solidFill>
                <a:latin typeface="Consolas" panose="020B0609020204030204" pitchFamily="49" charset="0"/>
              </a:rPr>
              <a:t>        }</a:t>
            </a:r>
          </a:p>
          <a:p>
            <a:r>
              <a:rPr lang="pt-BR" sz="1400" dirty="0">
                <a:solidFill>
                  <a:srgbClr val="000000"/>
                </a:solidFill>
                <a:latin typeface="Consolas" panose="020B0609020204030204" pitchFamily="49" charset="0"/>
              </a:rPr>
              <a:t>    }</a:t>
            </a:r>
            <a:endParaRPr lang="pt-BR" sz="1400" dirty="0"/>
          </a:p>
        </p:txBody>
      </p:sp>
    </p:spTree>
    <p:extLst>
      <p:ext uri="{BB962C8B-B14F-4D97-AF65-F5344CB8AC3E}">
        <p14:creationId xmlns:p14="http://schemas.microsoft.com/office/powerpoint/2010/main" val="263267425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Exemplo</a:t>
            </a:r>
          </a:p>
        </p:txBody>
      </p:sp>
      <p:sp>
        <p:nvSpPr>
          <p:cNvPr id="3" name="Espaço Reservado para Conteúdo 2"/>
          <p:cNvSpPr>
            <a:spLocks noGrp="1"/>
          </p:cNvSpPr>
          <p:nvPr>
            <p:ph idx="1"/>
          </p:nvPr>
        </p:nvSpPr>
        <p:spPr/>
        <p:txBody>
          <a:bodyPr>
            <a:normAutofit fontScale="92500" lnSpcReduction="10000"/>
          </a:bodyPr>
          <a:lstStyle/>
          <a:p>
            <a:pPr algn="just"/>
            <a:r>
              <a:rPr lang="pt-BR" sz="2800" dirty="0"/>
              <a:t>Um sistema de ordenação de valores exibe, automaticamente, um menu com os algoritmos que estão implementados nesse sistema. Os algoritmos podem ser de dois tipos: interativos e recursivos. Algoritmos de ambos os tipos possuem um campo para armazenar seu nome e devem, obrigatoriamente, implementar um método chamado Ordenar, que recebe como parâmetro um vetor de objetos. Apenas algoritmos recursivos devem, obrigatoriamente, implementar um método chamado Dividir, que recebe um vetor de objetos e os índices inicial e final da divisão, retornando um vetor de objetos.</a:t>
            </a:r>
          </a:p>
          <a:p>
            <a:pPr algn="just"/>
            <a:endParaRPr lang="pt-BR" sz="2800" dirty="0"/>
          </a:p>
          <a:p>
            <a:pPr algn="just"/>
            <a:r>
              <a:rPr lang="pt-BR" sz="2800" dirty="0"/>
              <a:t>Modelar o sistema especificado.</a:t>
            </a:r>
          </a:p>
        </p:txBody>
      </p:sp>
    </p:spTree>
    <p:extLst>
      <p:ext uri="{BB962C8B-B14F-4D97-AF65-F5344CB8AC3E}">
        <p14:creationId xmlns:p14="http://schemas.microsoft.com/office/powerpoint/2010/main" val="28583678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Solução correta</a:t>
            </a:r>
          </a:p>
        </p:txBody>
      </p:sp>
      <p:pic>
        <p:nvPicPr>
          <p:cNvPr id="6" name="Imagem 5"/>
          <p:cNvPicPr>
            <a:picLocks noChangeAspect="1"/>
          </p:cNvPicPr>
          <p:nvPr/>
        </p:nvPicPr>
        <p:blipFill>
          <a:blip r:embed="rId2"/>
          <a:stretch>
            <a:fillRect/>
          </a:stretch>
        </p:blipFill>
        <p:spPr>
          <a:xfrm>
            <a:off x="2689211" y="2453485"/>
            <a:ext cx="6443638" cy="2847857"/>
          </a:xfrm>
          <a:prstGeom prst="rect">
            <a:avLst/>
          </a:prstGeom>
        </p:spPr>
      </p:pic>
    </p:spTree>
    <p:extLst>
      <p:ext uri="{BB962C8B-B14F-4D97-AF65-F5344CB8AC3E}">
        <p14:creationId xmlns:p14="http://schemas.microsoft.com/office/powerpoint/2010/main" val="41871128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p:cNvSpPr/>
          <p:nvPr/>
        </p:nvSpPr>
        <p:spPr>
          <a:xfrm>
            <a:off x="0" y="0"/>
            <a:ext cx="10319657" cy="6124754"/>
          </a:xfrm>
          <a:prstGeom prst="rect">
            <a:avLst/>
          </a:prstGeom>
        </p:spPr>
        <p:txBody>
          <a:bodyPr wrap="square">
            <a:spAutoFit/>
          </a:bodyPr>
          <a:lstStyle/>
          <a:p>
            <a:r>
              <a:rPr lang="pt-BR" sz="1400" dirty="0" err="1">
                <a:solidFill>
                  <a:srgbClr val="0000FF"/>
                </a:solidFill>
                <a:latin typeface="Consolas" panose="020B0609020204030204" pitchFamily="49" charset="0"/>
              </a:rPr>
              <a:t>public</a:t>
            </a:r>
            <a:r>
              <a:rPr lang="pt-BR" sz="1400" dirty="0">
                <a:solidFill>
                  <a:srgbClr val="000000"/>
                </a:solidFill>
                <a:latin typeface="Consolas" panose="020B0609020204030204" pitchFamily="49" charset="0"/>
              </a:rPr>
              <a:t> </a:t>
            </a:r>
            <a:r>
              <a:rPr lang="pt-BR" sz="1400" dirty="0">
                <a:solidFill>
                  <a:srgbClr val="0000FF"/>
                </a:solidFill>
                <a:latin typeface="Consolas" panose="020B0609020204030204" pitchFamily="49" charset="0"/>
              </a:rPr>
              <a:t>abstract</a:t>
            </a:r>
            <a:r>
              <a:rPr lang="pt-BR" sz="1400" dirty="0">
                <a:solidFill>
                  <a:srgbClr val="000000"/>
                </a:solidFill>
                <a:latin typeface="Consolas" panose="020B0609020204030204" pitchFamily="49" charset="0"/>
              </a:rPr>
              <a:t> </a:t>
            </a:r>
            <a:r>
              <a:rPr lang="pt-BR" sz="1400" dirty="0" err="1">
                <a:solidFill>
                  <a:srgbClr val="0000FF"/>
                </a:solidFill>
                <a:latin typeface="Consolas" panose="020B0609020204030204" pitchFamily="49" charset="0"/>
              </a:rPr>
              <a:t>class</a:t>
            </a:r>
            <a:r>
              <a:rPr lang="pt-BR" sz="1400" dirty="0">
                <a:solidFill>
                  <a:srgbClr val="000000"/>
                </a:solidFill>
                <a:latin typeface="Consolas" panose="020B0609020204030204" pitchFamily="49" charset="0"/>
              </a:rPr>
              <a:t> </a:t>
            </a:r>
            <a:r>
              <a:rPr lang="pt-BR" sz="1400" dirty="0" err="1">
                <a:solidFill>
                  <a:srgbClr val="2B91AF"/>
                </a:solidFill>
                <a:latin typeface="Consolas" panose="020B0609020204030204" pitchFamily="49" charset="0"/>
              </a:rPr>
              <a:t>AlgoritmoOrdenacao</a:t>
            </a:r>
            <a:endParaRPr lang="pt-BR" sz="1400" dirty="0">
              <a:solidFill>
                <a:srgbClr val="000000"/>
              </a:solidFill>
              <a:latin typeface="Consolas" panose="020B0609020204030204" pitchFamily="49" charset="0"/>
            </a:endParaRPr>
          </a:p>
          <a:p>
            <a:r>
              <a:rPr lang="pt-BR" sz="1400" dirty="0">
                <a:solidFill>
                  <a:srgbClr val="000000"/>
                </a:solidFill>
                <a:latin typeface="Consolas" panose="020B0609020204030204" pitchFamily="49" charset="0"/>
              </a:rPr>
              <a:t>{</a:t>
            </a:r>
          </a:p>
          <a:p>
            <a:r>
              <a:rPr lang="pt-BR" sz="1400" dirty="0">
                <a:solidFill>
                  <a:srgbClr val="000000"/>
                </a:solidFill>
                <a:latin typeface="Consolas" panose="020B0609020204030204" pitchFamily="49" charset="0"/>
              </a:rPr>
              <a:t>        </a:t>
            </a:r>
            <a:r>
              <a:rPr lang="pt-BR" sz="1400" dirty="0" err="1">
                <a:solidFill>
                  <a:srgbClr val="0000FF"/>
                </a:solidFill>
                <a:latin typeface="Consolas" panose="020B0609020204030204" pitchFamily="49" charset="0"/>
              </a:rPr>
              <a:t>public</a:t>
            </a:r>
            <a:r>
              <a:rPr lang="pt-BR" sz="1400" dirty="0">
                <a:solidFill>
                  <a:srgbClr val="000000"/>
                </a:solidFill>
                <a:latin typeface="Consolas" panose="020B0609020204030204" pitchFamily="49" charset="0"/>
              </a:rPr>
              <a:t> </a:t>
            </a:r>
            <a:r>
              <a:rPr lang="pt-BR" sz="1400" dirty="0" err="1">
                <a:solidFill>
                  <a:srgbClr val="0000FF"/>
                </a:solidFill>
                <a:latin typeface="Consolas" panose="020B0609020204030204" pitchFamily="49" charset="0"/>
              </a:rPr>
              <a:t>string</a:t>
            </a:r>
            <a:r>
              <a:rPr lang="pt-BR" sz="1400" dirty="0">
                <a:solidFill>
                  <a:srgbClr val="000000"/>
                </a:solidFill>
                <a:latin typeface="Consolas" panose="020B0609020204030204" pitchFamily="49" charset="0"/>
              </a:rPr>
              <a:t> Nome;</a:t>
            </a:r>
          </a:p>
          <a:p>
            <a:r>
              <a:rPr lang="pt-BR" sz="1400" dirty="0">
                <a:solidFill>
                  <a:srgbClr val="000000"/>
                </a:solidFill>
                <a:latin typeface="Consolas" panose="020B0609020204030204" pitchFamily="49" charset="0"/>
              </a:rPr>
              <a:t>        </a:t>
            </a:r>
            <a:r>
              <a:rPr lang="pt-BR" sz="1400" dirty="0" err="1">
                <a:solidFill>
                  <a:srgbClr val="0000FF"/>
                </a:solidFill>
                <a:latin typeface="Consolas" panose="020B0609020204030204" pitchFamily="49" charset="0"/>
              </a:rPr>
              <a:t>public</a:t>
            </a:r>
            <a:r>
              <a:rPr lang="pt-BR" sz="1400" dirty="0">
                <a:solidFill>
                  <a:srgbClr val="000000"/>
                </a:solidFill>
                <a:latin typeface="Consolas" panose="020B0609020204030204" pitchFamily="49" charset="0"/>
              </a:rPr>
              <a:t> </a:t>
            </a:r>
            <a:r>
              <a:rPr lang="pt-BR" sz="1400" dirty="0">
                <a:solidFill>
                  <a:srgbClr val="0000FF"/>
                </a:solidFill>
                <a:latin typeface="Consolas" panose="020B0609020204030204" pitchFamily="49" charset="0"/>
              </a:rPr>
              <a:t>abstract</a:t>
            </a:r>
            <a:r>
              <a:rPr lang="pt-BR" sz="1400" dirty="0">
                <a:solidFill>
                  <a:srgbClr val="000000"/>
                </a:solidFill>
                <a:latin typeface="Consolas" panose="020B0609020204030204" pitchFamily="49" charset="0"/>
              </a:rPr>
              <a:t> </a:t>
            </a:r>
            <a:r>
              <a:rPr lang="pt-BR" sz="1400" dirty="0" err="1">
                <a:solidFill>
                  <a:srgbClr val="0000FF"/>
                </a:solidFill>
                <a:latin typeface="Consolas" panose="020B0609020204030204" pitchFamily="49" charset="0"/>
              </a:rPr>
              <a:t>void</a:t>
            </a:r>
            <a:r>
              <a:rPr lang="pt-BR" sz="1400" dirty="0">
                <a:solidFill>
                  <a:srgbClr val="000000"/>
                </a:solidFill>
                <a:latin typeface="Consolas" panose="020B0609020204030204" pitchFamily="49" charset="0"/>
              </a:rPr>
              <a:t> Ordenar(</a:t>
            </a:r>
            <a:r>
              <a:rPr lang="pt-BR" sz="1400" dirty="0" err="1">
                <a:solidFill>
                  <a:srgbClr val="0000FF"/>
                </a:solidFill>
                <a:latin typeface="Consolas" panose="020B0609020204030204" pitchFamily="49" charset="0"/>
              </a:rPr>
              <a:t>object</a:t>
            </a:r>
            <a:r>
              <a:rPr lang="pt-BR" sz="1400" dirty="0">
                <a:solidFill>
                  <a:srgbClr val="000000"/>
                </a:solidFill>
                <a:latin typeface="Consolas" panose="020B0609020204030204" pitchFamily="49" charset="0"/>
              </a:rPr>
              <a:t>[] v);</a:t>
            </a:r>
          </a:p>
          <a:p>
            <a:r>
              <a:rPr lang="pt-BR" sz="1400" dirty="0">
                <a:solidFill>
                  <a:srgbClr val="000000"/>
                </a:solidFill>
                <a:latin typeface="Consolas" panose="020B0609020204030204" pitchFamily="49" charset="0"/>
              </a:rPr>
              <a:t>}</a:t>
            </a:r>
          </a:p>
          <a:p>
            <a:endParaRPr lang="pt-BR" sz="1400" dirty="0">
              <a:solidFill>
                <a:srgbClr val="000000"/>
              </a:solidFill>
              <a:latin typeface="Consolas" panose="020B0609020204030204" pitchFamily="49" charset="0"/>
            </a:endParaRPr>
          </a:p>
          <a:p>
            <a:r>
              <a:rPr lang="pt-BR" sz="1400" dirty="0" err="1">
                <a:solidFill>
                  <a:srgbClr val="0000FF"/>
                </a:solidFill>
                <a:latin typeface="Consolas" panose="020B0609020204030204" pitchFamily="49" charset="0"/>
              </a:rPr>
              <a:t>public</a:t>
            </a:r>
            <a:r>
              <a:rPr lang="pt-BR" sz="1400" dirty="0">
                <a:solidFill>
                  <a:srgbClr val="000000"/>
                </a:solidFill>
                <a:latin typeface="Consolas" panose="020B0609020204030204" pitchFamily="49" charset="0"/>
              </a:rPr>
              <a:t> </a:t>
            </a:r>
            <a:r>
              <a:rPr lang="pt-BR" sz="1400" dirty="0">
                <a:solidFill>
                  <a:srgbClr val="0000FF"/>
                </a:solidFill>
                <a:latin typeface="Consolas" panose="020B0609020204030204" pitchFamily="49" charset="0"/>
              </a:rPr>
              <a:t>interface</a:t>
            </a:r>
            <a:r>
              <a:rPr lang="pt-BR" sz="1400" dirty="0">
                <a:solidFill>
                  <a:srgbClr val="000000"/>
                </a:solidFill>
                <a:latin typeface="Consolas" panose="020B0609020204030204" pitchFamily="49" charset="0"/>
              </a:rPr>
              <a:t> </a:t>
            </a:r>
            <a:r>
              <a:rPr lang="pt-BR" sz="1400" dirty="0" err="1">
                <a:solidFill>
                  <a:srgbClr val="2B91AF"/>
                </a:solidFill>
                <a:latin typeface="Consolas" panose="020B0609020204030204" pitchFamily="49" charset="0"/>
              </a:rPr>
              <a:t>IRecursivo</a:t>
            </a:r>
            <a:endParaRPr lang="pt-BR" sz="1400" dirty="0">
              <a:solidFill>
                <a:srgbClr val="000000"/>
              </a:solidFill>
              <a:latin typeface="Consolas" panose="020B0609020204030204" pitchFamily="49" charset="0"/>
            </a:endParaRPr>
          </a:p>
          <a:p>
            <a:r>
              <a:rPr lang="pt-BR" sz="1400" dirty="0">
                <a:solidFill>
                  <a:srgbClr val="000000"/>
                </a:solidFill>
                <a:latin typeface="Consolas" panose="020B0609020204030204" pitchFamily="49" charset="0"/>
              </a:rPr>
              <a:t>{</a:t>
            </a:r>
          </a:p>
          <a:p>
            <a:r>
              <a:rPr lang="pt-BR" sz="1400" dirty="0">
                <a:solidFill>
                  <a:srgbClr val="000000"/>
                </a:solidFill>
                <a:latin typeface="Consolas" panose="020B0609020204030204" pitchFamily="49" charset="0"/>
              </a:rPr>
              <a:t>        </a:t>
            </a:r>
            <a:r>
              <a:rPr lang="pt-BR" sz="1400" dirty="0" err="1">
                <a:solidFill>
                  <a:srgbClr val="0000FF"/>
                </a:solidFill>
                <a:latin typeface="Consolas" panose="020B0609020204030204" pitchFamily="49" charset="0"/>
              </a:rPr>
              <a:t>object</a:t>
            </a:r>
            <a:r>
              <a:rPr lang="pt-BR" sz="1400" dirty="0">
                <a:solidFill>
                  <a:srgbClr val="000000"/>
                </a:solidFill>
                <a:latin typeface="Consolas" panose="020B0609020204030204" pitchFamily="49" charset="0"/>
              </a:rPr>
              <a:t>[] Dividir(</a:t>
            </a:r>
            <a:r>
              <a:rPr lang="pt-BR" sz="1400" dirty="0" err="1">
                <a:solidFill>
                  <a:srgbClr val="0000FF"/>
                </a:solidFill>
                <a:latin typeface="Consolas" panose="020B0609020204030204" pitchFamily="49" charset="0"/>
              </a:rPr>
              <a:t>object</a:t>
            </a:r>
            <a:r>
              <a:rPr lang="pt-BR" sz="1400" dirty="0">
                <a:solidFill>
                  <a:srgbClr val="000000"/>
                </a:solidFill>
                <a:latin typeface="Consolas" panose="020B0609020204030204" pitchFamily="49" charset="0"/>
              </a:rPr>
              <a:t>[] v, </a:t>
            </a:r>
            <a:r>
              <a:rPr lang="pt-BR" sz="1400" dirty="0" err="1">
                <a:solidFill>
                  <a:srgbClr val="0000FF"/>
                </a:solidFill>
                <a:latin typeface="Consolas" panose="020B0609020204030204" pitchFamily="49" charset="0"/>
              </a:rPr>
              <a:t>int</a:t>
            </a:r>
            <a:r>
              <a:rPr lang="pt-BR" sz="1400" dirty="0">
                <a:solidFill>
                  <a:srgbClr val="000000"/>
                </a:solidFill>
                <a:latin typeface="Consolas" panose="020B0609020204030204" pitchFamily="49" charset="0"/>
              </a:rPr>
              <a:t> inicio, </a:t>
            </a:r>
            <a:r>
              <a:rPr lang="pt-BR" sz="1400" dirty="0" err="1">
                <a:solidFill>
                  <a:srgbClr val="0000FF"/>
                </a:solidFill>
                <a:latin typeface="Consolas" panose="020B0609020204030204" pitchFamily="49" charset="0"/>
              </a:rPr>
              <a:t>int</a:t>
            </a:r>
            <a:r>
              <a:rPr lang="pt-BR" sz="1400" dirty="0">
                <a:solidFill>
                  <a:srgbClr val="000000"/>
                </a:solidFill>
                <a:latin typeface="Consolas" panose="020B0609020204030204" pitchFamily="49" charset="0"/>
              </a:rPr>
              <a:t> final);</a:t>
            </a:r>
          </a:p>
          <a:p>
            <a:r>
              <a:rPr lang="pt-BR" sz="1400" dirty="0">
                <a:solidFill>
                  <a:srgbClr val="000000"/>
                </a:solidFill>
                <a:latin typeface="Consolas" panose="020B0609020204030204" pitchFamily="49" charset="0"/>
              </a:rPr>
              <a:t>}</a:t>
            </a:r>
          </a:p>
          <a:p>
            <a:endParaRPr lang="pt-BR" sz="1400" dirty="0">
              <a:solidFill>
                <a:srgbClr val="000000"/>
              </a:solidFill>
              <a:latin typeface="Consolas" panose="020B0609020204030204" pitchFamily="49" charset="0"/>
            </a:endParaRPr>
          </a:p>
          <a:p>
            <a:r>
              <a:rPr lang="pt-BR" sz="1400" dirty="0" err="1">
                <a:solidFill>
                  <a:srgbClr val="0000FF"/>
                </a:solidFill>
                <a:latin typeface="Consolas" panose="020B0609020204030204" pitchFamily="49" charset="0"/>
              </a:rPr>
              <a:t>public</a:t>
            </a:r>
            <a:r>
              <a:rPr lang="pt-BR" sz="1400" dirty="0">
                <a:solidFill>
                  <a:srgbClr val="000000"/>
                </a:solidFill>
                <a:latin typeface="Consolas" panose="020B0609020204030204" pitchFamily="49" charset="0"/>
              </a:rPr>
              <a:t> </a:t>
            </a:r>
            <a:r>
              <a:rPr lang="pt-BR" sz="1400" dirty="0" err="1">
                <a:solidFill>
                  <a:srgbClr val="0000FF"/>
                </a:solidFill>
                <a:latin typeface="Consolas" panose="020B0609020204030204" pitchFamily="49" charset="0"/>
              </a:rPr>
              <a:t>class</a:t>
            </a:r>
            <a:r>
              <a:rPr lang="pt-BR" sz="1400" dirty="0">
                <a:solidFill>
                  <a:srgbClr val="000000"/>
                </a:solidFill>
                <a:latin typeface="Consolas" panose="020B0609020204030204" pitchFamily="49" charset="0"/>
              </a:rPr>
              <a:t> </a:t>
            </a:r>
            <a:r>
              <a:rPr lang="pt-BR" sz="1400" dirty="0">
                <a:solidFill>
                  <a:srgbClr val="2B91AF"/>
                </a:solidFill>
                <a:latin typeface="Consolas" panose="020B0609020204030204" pitchFamily="49" charset="0"/>
              </a:rPr>
              <a:t>Interativo</a:t>
            </a:r>
            <a:r>
              <a:rPr lang="pt-BR" sz="1400" dirty="0">
                <a:solidFill>
                  <a:srgbClr val="000000"/>
                </a:solidFill>
                <a:latin typeface="Consolas" panose="020B0609020204030204" pitchFamily="49" charset="0"/>
              </a:rPr>
              <a:t> : </a:t>
            </a:r>
            <a:r>
              <a:rPr lang="pt-BR" sz="1400" dirty="0" err="1">
                <a:solidFill>
                  <a:srgbClr val="2B91AF"/>
                </a:solidFill>
                <a:latin typeface="Consolas" panose="020B0609020204030204" pitchFamily="49" charset="0"/>
              </a:rPr>
              <a:t>AlgoritmoOrdenacao</a:t>
            </a:r>
            <a:endParaRPr lang="pt-BR" sz="1400" dirty="0">
              <a:solidFill>
                <a:srgbClr val="000000"/>
              </a:solidFill>
              <a:latin typeface="Consolas" panose="020B0609020204030204" pitchFamily="49" charset="0"/>
            </a:endParaRPr>
          </a:p>
          <a:p>
            <a:r>
              <a:rPr lang="pt-BR" sz="1400" dirty="0">
                <a:solidFill>
                  <a:srgbClr val="000000"/>
                </a:solidFill>
                <a:latin typeface="Consolas" panose="020B0609020204030204" pitchFamily="49" charset="0"/>
              </a:rPr>
              <a:t>{</a:t>
            </a:r>
          </a:p>
          <a:p>
            <a:r>
              <a:rPr lang="pt-BR" sz="1400" dirty="0">
                <a:solidFill>
                  <a:srgbClr val="000000"/>
                </a:solidFill>
                <a:latin typeface="Consolas" panose="020B0609020204030204" pitchFamily="49" charset="0"/>
              </a:rPr>
              <a:t>        </a:t>
            </a:r>
            <a:r>
              <a:rPr lang="pt-BR" sz="1400" dirty="0" err="1">
                <a:solidFill>
                  <a:srgbClr val="0000FF"/>
                </a:solidFill>
                <a:latin typeface="Consolas" panose="020B0609020204030204" pitchFamily="49" charset="0"/>
              </a:rPr>
              <a:t>public</a:t>
            </a:r>
            <a:r>
              <a:rPr lang="pt-BR" sz="1400" dirty="0">
                <a:solidFill>
                  <a:srgbClr val="000000"/>
                </a:solidFill>
                <a:latin typeface="Consolas" panose="020B0609020204030204" pitchFamily="49" charset="0"/>
              </a:rPr>
              <a:t> </a:t>
            </a:r>
            <a:r>
              <a:rPr lang="pt-BR" sz="1400" dirty="0" err="1">
                <a:solidFill>
                  <a:srgbClr val="0000FF"/>
                </a:solidFill>
                <a:latin typeface="Consolas" panose="020B0609020204030204" pitchFamily="49" charset="0"/>
              </a:rPr>
              <a:t>override</a:t>
            </a:r>
            <a:r>
              <a:rPr lang="pt-BR" sz="1400" dirty="0">
                <a:solidFill>
                  <a:srgbClr val="000000"/>
                </a:solidFill>
                <a:latin typeface="Consolas" panose="020B0609020204030204" pitchFamily="49" charset="0"/>
              </a:rPr>
              <a:t> </a:t>
            </a:r>
            <a:r>
              <a:rPr lang="pt-BR" sz="1400" dirty="0" err="1">
                <a:solidFill>
                  <a:srgbClr val="0000FF"/>
                </a:solidFill>
                <a:latin typeface="Consolas" panose="020B0609020204030204" pitchFamily="49" charset="0"/>
              </a:rPr>
              <a:t>void</a:t>
            </a:r>
            <a:r>
              <a:rPr lang="pt-BR" sz="1400" dirty="0">
                <a:solidFill>
                  <a:srgbClr val="000000"/>
                </a:solidFill>
                <a:latin typeface="Consolas" panose="020B0609020204030204" pitchFamily="49" charset="0"/>
              </a:rPr>
              <a:t> Ordenar(</a:t>
            </a:r>
            <a:r>
              <a:rPr lang="pt-BR" sz="1400" dirty="0" err="1">
                <a:solidFill>
                  <a:srgbClr val="0000FF"/>
                </a:solidFill>
                <a:latin typeface="Consolas" panose="020B0609020204030204" pitchFamily="49" charset="0"/>
              </a:rPr>
              <a:t>object</a:t>
            </a:r>
            <a:r>
              <a:rPr lang="pt-BR" sz="1400" dirty="0">
                <a:solidFill>
                  <a:srgbClr val="000000"/>
                </a:solidFill>
                <a:latin typeface="Consolas" panose="020B0609020204030204" pitchFamily="49" charset="0"/>
              </a:rPr>
              <a:t>[] v)</a:t>
            </a:r>
          </a:p>
          <a:p>
            <a:r>
              <a:rPr lang="pt-BR" sz="1400" dirty="0">
                <a:solidFill>
                  <a:srgbClr val="000000"/>
                </a:solidFill>
                <a:latin typeface="Consolas" panose="020B0609020204030204" pitchFamily="49" charset="0"/>
              </a:rPr>
              <a:t>        { </a:t>
            </a:r>
            <a:r>
              <a:rPr lang="pt-BR" sz="1400" dirty="0">
                <a:solidFill>
                  <a:srgbClr val="008000"/>
                </a:solidFill>
                <a:latin typeface="Consolas" panose="020B0609020204030204" pitchFamily="49" charset="0"/>
              </a:rPr>
              <a:t>/*todo*/ </a:t>
            </a:r>
            <a:r>
              <a:rPr lang="pt-BR" sz="1400" dirty="0">
                <a:solidFill>
                  <a:srgbClr val="000000"/>
                </a:solidFill>
                <a:latin typeface="Consolas" panose="020B0609020204030204" pitchFamily="49" charset="0"/>
              </a:rPr>
              <a:t>}</a:t>
            </a:r>
          </a:p>
          <a:p>
            <a:r>
              <a:rPr lang="pt-BR" sz="1400" dirty="0">
                <a:solidFill>
                  <a:srgbClr val="000000"/>
                </a:solidFill>
                <a:latin typeface="Consolas" panose="020B0609020204030204" pitchFamily="49" charset="0"/>
              </a:rPr>
              <a:t>}</a:t>
            </a:r>
          </a:p>
          <a:p>
            <a:endParaRPr lang="pt-BR" sz="1400" dirty="0">
              <a:solidFill>
                <a:srgbClr val="000000"/>
              </a:solidFill>
              <a:latin typeface="Consolas" panose="020B0609020204030204" pitchFamily="49" charset="0"/>
            </a:endParaRPr>
          </a:p>
          <a:p>
            <a:r>
              <a:rPr lang="pt-BR" sz="1400" dirty="0" err="1">
                <a:solidFill>
                  <a:srgbClr val="0000FF"/>
                </a:solidFill>
                <a:latin typeface="Consolas" panose="020B0609020204030204" pitchFamily="49" charset="0"/>
              </a:rPr>
              <a:t>public</a:t>
            </a:r>
            <a:r>
              <a:rPr lang="pt-BR" sz="1400" dirty="0">
                <a:solidFill>
                  <a:srgbClr val="000000"/>
                </a:solidFill>
                <a:latin typeface="Consolas" panose="020B0609020204030204" pitchFamily="49" charset="0"/>
              </a:rPr>
              <a:t> </a:t>
            </a:r>
            <a:r>
              <a:rPr lang="pt-BR" sz="1400" dirty="0" err="1">
                <a:solidFill>
                  <a:srgbClr val="0000FF"/>
                </a:solidFill>
                <a:latin typeface="Consolas" panose="020B0609020204030204" pitchFamily="49" charset="0"/>
              </a:rPr>
              <a:t>class</a:t>
            </a:r>
            <a:r>
              <a:rPr lang="pt-BR" sz="1400" dirty="0">
                <a:solidFill>
                  <a:srgbClr val="000000"/>
                </a:solidFill>
                <a:latin typeface="Consolas" panose="020B0609020204030204" pitchFamily="49" charset="0"/>
              </a:rPr>
              <a:t> </a:t>
            </a:r>
            <a:r>
              <a:rPr lang="pt-BR" sz="1400" dirty="0">
                <a:solidFill>
                  <a:srgbClr val="2B91AF"/>
                </a:solidFill>
                <a:latin typeface="Consolas" panose="020B0609020204030204" pitchFamily="49" charset="0"/>
              </a:rPr>
              <a:t>Recursivo</a:t>
            </a:r>
            <a:r>
              <a:rPr lang="pt-BR" sz="1400" dirty="0">
                <a:solidFill>
                  <a:srgbClr val="000000"/>
                </a:solidFill>
                <a:latin typeface="Consolas" panose="020B0609020204030204" pitchFamily="49" charset="0"/>
              </a:rPr>
              <a:t> : </a:t>
            </a:r>
            <a:r>
              <a:rPr lang="pt-BR" sz="1400" dirty="0" err="1">
                <a:solidFill>
                  <a:srgbClr val="2B91AF"/>
                </a:solidFill>
                <a:latin typeface="Consolas" panose="020B0609020204030204" pitchFamily="49" charset="0"/>
              </a:rPr>
              <a:t>AlgoritmoOrdenacao</a:t>
            </a:r>
            <a:r>
              <a:rPr lang="pt-BR" sz="1400" dirty="0">
                <a:solidFill>
                  <a:srgbClr val="000000"/>
                </a:solidFill>
                <a:latin typeface="Consolas" panose="020B0609020204030204" pitchFamily="49" charset="0"/>
              </a:rPr>
              <a:t>, </a:t>
            </a:r>
            <a:r>
              <a:rPr lang="pt-BR" sz="1400" dirty="0" err="1">
                <a:solidFill>
                  <a:srgbClr val="2B91AF"/>
                </a:solidFill>
                <a:latin typeface="Consolas" panose="020B0609020204030204" pitchFamily="49" charset="0"/>
              </a:rPr>
              <a:t>IRecursivo</a:t>
            </a:r>
            <a:endParaRPr lang="pt-BR" sz="1400" dirty="0">
              <a:solidFill>
                <a:srgbClr val="000000"/>
              </a:solidFill>
              <a:latin typeface="Consolas" panose="020B0609020204030204" pitchFamily="49" charset="0"/>
            </a:endParaRPr>
          </a:p>
          <a:p>
            <a:r>
              <a:rPr lang="pt-BR" sz="1400" dirty="0">
                <a:solidFill>
                  <a:srgbClr val="000000"/>
                </a:solidFill>
                <a:latin typeface="Consolas" panose="020B0609020204030204" pitchFamily="49" charset="0"/>
              </a:rPr>
              <a:t>{</a:t>
            </a:r>
          </a:p>
          <a:p>
            <a:r>
              <a:rPr lang="pt-BR" sz="1400" dirty="0">
                <a:solidFill>
                  <a:srgbClr val="000000"/>
                </a:solidFill>
                <a:latin typeface="Consolas" panose="020B0609020204030204" pitchFamily="49" charset="0"/>
              </a:rPr>
              <a:t>        </a:t>
            </a:r>
            <a:r>
              <a:rPr lang="pt-BR" sz="1400" dirty="0" err="1">
                <a:solidFill>
                  <a:srgbClr val="0000FF"/>
                </a:solidFill>
                <a:latin typeface="Consolas" panose="020B0609020204030204" pitchFamily="49" charset="0"/>
              </a:rPr>
              <a:t>public</a:t>
            </a:r>
            <a:r>
              <a:rPr lang="pt-BR" sz="1400" dirty="0">
                <a:solidFill>
                  <a:srgbClr val="000000"/>
                </a:solidFill>
                <a:latin typeface="Consolas" panose="020B0609020204030204" pitchFamily="49" charset="0"/>
              </a:rPr>
              <a:t> </a:t>
            </a:r>
            <a:r>
              <a:rPr lang="pt-BR" sz="1400" dirty="0" err="1">
                <a:solidFill>
                  <a:srgbClr val="0000FF"/>
                </a:solidFill>
                <a:latin typeface="Consolas" panose="020B0609020204030204" pitchFamily="49" charset="0"/>
              </a:rPr>
              <a:t>override</a:t>
            </a:r>
            <a:r>
              <a:rPr lang="pt-BR" sz="1400" dirty="0">
                <a:solidFill>
                  <a:srgbClr val="000000"/>
                </a:solidFill>
                <a:latin typeface="Consolas" panose="020B0609020204030204" pitchFamily="49" charset="0"/>
              </a:rPr>
              <a:t> </a:t>
            </a:r>
            <a:r>
              <a:rPr lang="pt-BR" sz="1400" dirty="0" err="1">
                <a:solidFill>
                  <a:srgbClr val="0000FF"/>
                </a:solidFill>
                <a:latin typeface="Consolas" panose="020B0609020204030204" pitchFamily="49" charset="0"/>
              </a:rPr>
              <a:t>void</a:t>
            </a:r>
            <a:r>
              <a:rPr lang="pt-BR" sz="1400" dirty="0">
                <a:solidFill>
                  <a:srgbClr val="000000"/>
                </a:solidFill>
                <a:latin typeface="Consolas" panose="020B0609020204030204" pitchFamily="49" charset="0"/>
              </a:rPr>
              <a:t> Ordenar(</a:t>
            </a:r>
            <a:r>
              <a:rPr lang="pt-BR" sz="1400" dirty="0" err="1">
                <a:solidFill>
                  <a:srgbClr val="0000FF"/>
                </a:solidFill>
                <a:latin typeface="Consolas" panose="020B0609020204030204" pitchFamily="49" charset="0"/>
              </a:rPr>
              <a:t>object</a:t>
            </a:r>
            <a:r>
              <a:rPr lang="pt-BR" sz="1400" dirty="0">
                <a:solidFill>
                  <a:srgbClr val="000000"/>
                </a:solidFill>
                <a:latin typeface="Consolas" panose="020B0609020204030204" pitchFamily="49" charset="0"/>
              </a:rPr>
              <a:t>[] v)</a:t>
            </a:r>
          </a:p>
          <a:p>
            <a:r>
              <a:rPr lang="pt-BR" sz="1400" dirty="0">
                <a:solidFill>
                  <a:srgbClr val="000000"/>
                </a:solidFill>
                <a:latin typeface="Consolas" panose="020B0609020204030204" pitchFamily="49" charset="0"/>
              </a:rPr>
              <a:t>        { </a:t>
            </a:r>
            <a:r>
              <a:rPr lang="pt-BR" sz="1400" dirty="0">
                <a:solidFill>
                  <a:srgbClr val="008000"/>
                </a:solidFill>
                <a:latin typeface="Consolas" panose="020B0609020204030204" pitchFamily="49" charset="0"/>
              </a:rPr>
              <a:t>/*todo*/ </a:t>
            </a:r>
            <a:r>
              <a:rPr lang="pt-BR" sz="1400" dirty="0">
                <a:solidFill>
                  <a:srgbClr val="000000"/>
                </a:solidFill>
                <a:latin typeface="Consolas" panose="020B0609020204030204" pitchFamily="49" charset="0"/>
              </a:rPr>
              <a:t>}</a:t>
            </a:r>
          </a:p>
          <a:p>
            <a:endParaRPr lang="pt-BR" sz="1400" dirty="0">
              <a:solidFill>
                <a:srgbClr val="000000"/>
              </a:solidFill>
              <a:latin typeface="Consolas" panose="020B0609020204030204" pitchFamily="49" charset="0"/>
            </a:endParaRPr>
          </a:p>
          <a:p>
            <a:r>
              <a:rPr lang="pt-BR" sz="1400" dirty="0">
                <a:solidFill>
                  <a:srgbClr val="000000"/>
                </a:solidFill>
                <a:latin typeface="Consolas" panose="020B0609020204030204" pitchFamily="49" charset="0"/>
              </a:rPr>
              <a:t>        </a:t>
            </a:r>
            <a:r>
              <a:rPr lang="pt-BR" sz="1400" dirty="0" err="1">
                <a:solidFill>
                  <a:srgbClr val="0000FF"/>
                </a:solidFill>
                <a:latin typeface="Consolas" panose="020B0609020204030204" pitchFamily="49" charset="0"/>
              </a:rPr>
              <a:t>public</a:t>
            </a:r>
            <a:r>
              <a:rPr lang="pt-BR" sz="1400" dirty="0">
                <a:solidFill>
                  <a:srgbClr val="000000"/>
                </a:solidFill>
                <a:latin typeface="Consolas" panose="020B0609020204030204" pitchFamily="49" charset="0"/>
              </a:rPr>
              <a:t> </a:t>
            </a:r>
            <a:r>
              <a:rPr lang="pt-BR" sz="1400" dirty="0" err="1">
                <a:solidFill>
                  <a:srgbClr val="0000FF"/>
                </a:solidFill>
                <a:latin typeface="Consolas" panose="020B0609020204030204" pitchFamily="49" charset="0"/>
              </a:rPr>
              <a:t>object</a:t>
            </a:r>
            <a:r>
              <a:rPr lang="pt-BR" sz="1400" dirty="0">
                <a:solidFill>
                  <a:srgbClr val="000000"/>
                </a:solidFill>
                <a:latin typeface="Consolas" panose="020B0609020204030204" pitchFamily="49" charset="0"/>
              </a:rPr>
              <a:t>[] Dividir(</a:t>
            </a:r>
            <a:r>
              <a:rPr lang="pt-BR" sz="1400" dirty="0" err="1">
                <a:solidFill>
                  <a:srgbClr val="0000FF"/>
                </a:solidFill>
                <a:latin typeface="Consolas" panose="020B0609020204030204" pitchFamily="49" charset="0"/>
              </a:rPr>
              <a:t>object</a:t>
            </a:r>
            <a:r>
              <a:rPr lang="pt-BR" sz="1400" dirty="0">
                <a:solidFill>
                  <a:srgbClr val="000000"/>
                </a:solidFill>
                <a:latin typeface="Consolas" panose="020B0609020204030204" pitchFamily="49" charset="0"/>
              </a:rPr>
              <a:t>[] v, </a:t>
            </a:r>
            <a:r>
              <a:rPr lang="pt-BR" sz="1400" dirty="0" err="1">
                <a:solidFill>
                  <a:srgbClr val="0000FF"/>
                </a:solidFill>
                <a:latin typeface="Consolas" panose="020B0609020204030204" pitchFamily="49" charset="0"/>
              </a:rPr>
              <a:t>int</a:t>
            </a:r>
            <a:r>
              <a:rPr lang="pt-BR" sz="1400" dirty="0">
                <a:solidFill>
                  <a:srgbClr val="000000"/>
                </a:solidFill>
                <a:latin typeface="Consolas" panose="020B0609020204030204" pitchFamily="49" charset="0"/>
              </a:rPr>
              <a:t> inicio, </a:t>
            </a:r>
            <a:r>
              <a:rPr lang="pt-BR" sz="1400" dirty="0" err="1">
                <a:solidFill>
                  <a:srgbClr val="0000FF"/>
                </a:solidFill>
                <a:latin typeface="Consolas" panose="020B0609020204030204" pitchFamily="49" charset="0"/>
              </a:rPr>
              <a:t>int</a:t>
            </a:r>
            <a:r>
              <a:rPr lang="pt-BR" sz="1400" dirty="0">
                <a:solidFill>
                  <a:srgbClr val="000000"/>
                </a:solidFill>
                <a:latin typeface="Consolas" panose="020B0609020204030204" pitchFamily="49" charset="0"/>
              </a:rPr>
              <a:t> final)</a:t>
            </a:r>
          </a:p>
          <a:p>
            <a:r>
              <a:rPr lang="pt-BR" sz="1400" dirty="0">
                <a:solidFill>
                  <a:srgbClr val="000000"/>
                </a:solidFill>
                <a:latin typeface="Consolas" panose="020B0609020204030204" pitchFamily="49" charset="0"/>
              </a:rPr>
              <a:t>        {</a:t>
            </a:r>
          </a:p>
          <a:p>
            <a:r>
              <a:rPr lang="pt-BR" sz="1400" dirty="0">
                <a:solidFill>
                  <a:srgbClr val="000000"/>
                </a:solidFill>
                <a:latin typeface="Consolas" panose="020B0609020204030204" pitchFamily="49" charset="0"/>
              </a:rPr>
              <a:t>            </a:t>
            </a:r>
            <a:r>
              <a:rPr lang="pt-BR" sz="1400" dirty="0" err="1">
                <a:solidFill>
                  <a:srgbClr val="0000FF"/>
                </a:solidFill>
                <a:latin typeface="Consolas" panose="020B0609020204030204" pitchFamily="49" charset="0"/>
              </a:rPr>
              <a:t>return</a:t>
            </a:r>
            <a:r>
              <a:rPr lang="pt-BR" sz="1400" dirty="0">
                <a:solidFill>
                  <a:srgbClr val="000000"/>
                </a:solidFill>
                <a:latin typeface="Consolas" panose="020B0609020204030204" pitchFamily="49" charset="0"/>
              </a:rPr>
              <a:t> </a:t>
            </a:r>
            <a:r>
              <a:rPr lang="pt-BR" sz="1400" dirty="0" err="1">
                <a:solidFill>
                  <a:srgbClr val="0000FF"/>
                </a:solidFill>
                <a:latin typeface="Consolas" panose="020B0609020204030204" pitchFamily="49" charset="0"/>
              </a:rPr>
              <a:t>null</a:t>
            </a:r>
            <a:r>
              <a:rPr lang="pt-BR" sz="1400" dirty="0">
                <a:solidFill>
                  <a:srgbClr val="000000"/>
                </a:solidFill>
                <a:latin typeface="Consolas" panose="020B0609020204030204" pitchFamily="49" charset="0"/>
              </a:rPr>
              <a:t>; </a:t>
            </a:r>
            <a:r>
              <a:rPr lang="pt-BR" sz="1400" dirty="0">
                <a:solidFill>
                  <a:srgbClr val="008000"/>
                </a:solidFill>
                <a:latin typeface="Consolas" panose="020B0609020204030204" pitchFamily="49" charset="0"/>
              </a:rPr>
              <a:t>//todo</a:t>
            </a:r>
            <a:endParaRPr lang="pt-BR" sz="1400" dirty="0">
              <a:solidFill>
                <a:srgbClr val="000000"/>
              </a:solidFill>
              <a:latin typeface="Consolas" panose="020B0609020204030204" pitchFamily="49" charset="0"/>
            </a:endParaRPr>
          </a:p>
          <a:p>
            <a:r>
              <a:rPr lang="pt-BR" sz="1400" dirty="0">
                <a:solidFill>
                  <a:srgbClr val="000000"/>
                </a:solidFill>
                <a:latin typeface="Consolas" panose="020B0609020204030204" pitchFamily="49" charset="0"/>
              </a:rPr>
              <a:t>        }</a:t>
            </a:r>
          </a:p>
          <a:p>
            <a:r>
              <a:rPr lang="pt-BR" sz="1400" dirty="0">
                <a:solidFill>
                  <a:srgbClr val="000000"/>
                </a:solidFill>
                <a:latin typeface="Consolas" panose="020B0609020204030204" pitchFamily="49" charset="0"/>
              </a:rPr>
              <a:t>}</a:t>
            </a:r>
            <a:endParaRPr lang="pt-BR" sz="1400" dirty="0"/>
          </a:p>
        </p:txBody>
      </p:sp>
      <p:pic>
        <p:nvPicPr>
          <p:cNvPr id="5" name="Imagem 4"/>
          <p:cNvPicPr>
            <a:picLocks noChangeAspect="1"/>
          </p:cNvPicPr>
          <p:nvPr/>
        </p:nvPicPr>
        <p:blipFill>
          <a:blip r:embed="rId2"/>
          <a:stretch>
            <a:fillRect/>
          </a:stretch>
        </p:blipFill>
        <p:spPr>
          <a:xfrm>
            <a:off x="6248666" y="1887427"/>
            <a:ext cx="5286014" cy="2336229"/>
          </a:xfrm>
          <a:prstGeom prst="rect">
            <a:avLst/>
          </a:prstGeom>
        </p:spPr>
      </p:pic>
    </p:spTree>
    <p:extLst>
      <p:ext uri="{BB962C8B-B14F-4D97-AF65-F5344CB8AC3E}">
        <p14:creationId xmlns:p14="http://schemas.microsoft.com/office/powerpoint/2010/main" val="31363911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60FEADB-2A89-421C-9BDC-A01B298B5B48}"/>
              </a:ext>
            </a:extLst>
          </p:cNvPr>
          <p:cNvSpPr>
            <a:spLocks noGrp="1"/>
          </p:cNvSpPr>
          <p:nvPr>
            <p:ph type="title"/>
          </p:nvPr>
        </p:nvSpPr>
        <p:spPr/>
        <p:txBody>
          <a:bodyPr/>
          <a:lstStyle/>
          <a:p>
            <a:r>
              <a:rPr lang="pt-BR" dirty="0"/>
              <a:t>Exemplo</a:t>
            </a:r>
          </a:p>
        </p:txBody>
      </p:sp>
      <p:sp>
        <p:nvSpPr>
          <p:cNvPr id="3" name="Espaço Reservado para Conteúdo 2">
            <a:extLst>
              <a:ext uri="{FF2B5EF4-FFF2-40B4-BE49-F238E27FC236}">
                <a16:creationId xmlns:a16="http://schemas.microsoft.com/office/drawing/2014/main" id="{BD36AD41-9E4E-40FD-BB85-6B6F56CA1DCD}"/>
              </a:ext>
            </a:extLst>
          </p:cNvPr>
          <p:cNvSpPr>
            <a:spLocks noGrp="1"/>
          </p:cNvSpPr>
          <p:nvPr>
            <p:ph idx="1"/>
          </p:nvPr>
        </p:nvSpPr>
        <p:spPr/>
        <p:txBody>
          <a:bodyPr>
            <a:normAutofit/>
          </a:bodyPr>
          <a:lstStyle/>
          <a:p>
            <a:pPr algn="just"/>
            <a:r>
              <a:rPr lang="pt-BR" sz="2800" dirty="0"/>
              <a:t>O sistema de uma empresa de vendas </a:t>
            </a:r>
            <a:r>
              <a:rPr lang="pt-BR" sz="2800" i="1" dirty="0"/>
              <a:t>online</a:t>
            </a:r>
            <a:r>
              <a:rPr lang="pt-BR" sz="2800" dirty="0"/>
              <a:t> possui quatro tipos de usuários: Cliente, Atendente, Gerente e Administrador, todos possuindo nome de usuário e senha. O acesso ao sistema deve ser feito utilizando nome de usuário e senha, que deve ser confrontado com os valores armazenados no próprio sistema. No entanto, o login do administrador deve, ainda, verificar se nome de usuário termina com o caractere ‘X’: em caso positivo, o acesso é liberado, e em caso negativo, o acesso é negado. Modelar o sistema descrito anteriormente.</a:t>
            </a:r>
          </a:p>
        </p:txBody>
      </p:sp>
    </p:spTree>
    <p:extLst>
      <p:ext uri="{BB962C8B-B14F-4D97-AF65-F5344CB8AC3E}">
        <p14:creationId xmlns:p14="http://schemas.microsoft.com/office/powerpoint/2010/main" val="203778720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Métodos virtuais</a:t>
            </a:r>
          </a:p>
        </p:txBody>
      </p:sp>
      <p:sp>
        <p:nvSpPr>
          <p:cNvPr id="3" name="Espaço Reservado para Conteúdo 2"/>
          <p:cNvSpPr>
            <a:spLocks noGrp="1"/>
          </p:cNvSpPr>
          <p:nvPr>
            <p:ph idx="1"/>
          </p:nvPr>
        </p:nvSpPr>
        <p:spPr/>
        <p:txBody>
          <a:bodyPr>
            <a:normAutofit/>
          </a:bodyPr>
          <a:lstStyle/>
          <a:p>
            <a:r>
              <a:rPr lang="pt-BR" sz="3200" dirty="0"/>
              <a:t>São métodos que são implementados na classe base;</a:t>
            </a:r>
          </a:p>
          <a:p>
            <a:r>
              <a:rPr lang="pt-BR" sz="3200" dirty="0"/>
              <a:t>Permite que, caso seja necessário, a classe derivada realize sua própria implementação desse método.</a:t>
            </a:r>
          </a:p>
          <a:p>
            <a:r>
              <a:rPr lang="pt-BR" sz="3200" dirty="0"/>
              <a:t>Não é necessário realizar a implementação na classe derivada. Ela é feita apenas se for necessário (nesse caso, utilizar o modificador </a:t>
            </a:r>
            <a:r>
              <a:rPr lang="pt-BR" sz="3200" i="1" dirty="0" err="1"/>
              <a:t>override</a:t>
            </a:r>
            <a:r>
              <a:rPr lang="pt-BR" sz="3200" dirty="0"/>
              <a:t>).</a:t>
            </a:r>
          </a:p>
        </p:txBody>
      </p:sp>
    </p:spTree>
    <p:extLst>
      <p:ext uri="{BB962C8B-B14F-4D97-AF65-F5344CB8AC3E}">
        <p14:creationId xmlns:p14="http://schemas.microsoft.com/office/powerpoint/2010/main" val="338825181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Métodos virtuais</a:t>
            </a:r>
          </a:p>
        </p:txBody>
      </p:sp>
      <p:sp>
        <p:nvSpPr>
          <p:cNvPr id="4" name="Retângulo 3"/>
          <p:cNvSpPr/>
          <p:nvPr/>
        </p:nvSpPr>
        <p:spPr>
          <a:xfrm>
            <a:off x="1032625" y="2338709"/>
            <a:ext cx="6096000" cy="2308324"/>
          </a:xfrm>
          <a:prstGeom prst="rect">
            <a:avLst/>
          </a:prstGeom>
        </p:spPr>
        <p:txBody>
          <a:bodyPr>
            <a:spAutoFit/>
          </a:bodyPr>
          <a:lstStyle/>
          <a:p>
            <a:r>
              <a:rPr lang="pt-BR" sz="1200" dirty="0" err="1">
                <a:solidFill>
                  <a:srgbClr val="0000FF"/>
                </a:solidFill>
                <a:latin typeface="Consolas" panose="020B0609020204030204" pitchFamily="49" charset="0"/>
              </a:rPr>
              <a:t>public</a:t>
            </a:r>
            <a:r>
              <a:rPr lang="pt-BR" sz="1200" dirty="0">
                <a:solidFill>
                  <a:srgbClr val="000000"/>
                </a:solidFill>
                <a:latin typeface="Consolas" panose="020B0609020204030204" pitchFamily="49" charset="0"/>
              </a:rPr>
              <a:t> </a:t>
            </a:r>
            <a:r>
              <a:rPr lang="pt-BR" sz="1200" dirty="0" err="1">
                <a:solidFill>
                  <a:srgbClr val="0000FF"/>
                </a:solidFill>
                <a:latin typeface="Consolas" panose="020B0609020204030204" pitchFamily="49" charset="0"/>
              </a:rPr>
              <a:t>class</a:t>
            </a:r>
            <a:r>
              <a:rPr lang="pt-BR" sz="1200" dirty="0">
                <a:solidFill>
                  <a:srgbClr val="000000"/>
                </a:solidFill>
                <a:latin typeface="Consolas" panose="020B0609020204030204" pitchFamily="49" charset="0"/>
              </a:rPr>
              <a:t> </a:t>
            </a:r>
            <a:r>
              <a:rPr lang="pt-BR" sz="1200" dirty="0" err="1">
                <a:solidFill>
                  <a:srgbClr val="2B91AF"/>
                </a:solidFill>
                <a:latin typeface="Consolas" panose="020B0609020204030204" pitchFamily="49" charset="0"/>
              </a:rPr>
              <a:t>ClasseBase</a:t>
            </a:r>
            <a:endParaRPr lang="pt-BR" sz="1200" dirty="0">
              <a:solidFill>
                <a:srgbClr val="000000"/>
              </a:solidFill>
              <a:latin typeface="Consolas" panose="020B0609020204030204" pitchFamily="49" charset="0"/>
            </a:endParaRPr>
          </a:p>
          <a:p>
            <a:r>
              <a:rPr lang="pt-BR" sz="1200" dirty="0">
                <a:solidFill>
                  <a:srgbClr val="000000"/>
                </a:solidFill>
                <a:latin typeface="Consolas" panose="020B0609020204030204" pitchFamily="49" charset="0"/>
              </a:rPr>
              <a:t>{</a:t>
            </a:r>
          </a:p>
          <a:p>
            <a:r>
              <a:rPr lang="pt-BR" sz="1200" dirty="0">
                <a:solidFill>
                  <a:srgbClr val="000000"/>
                </a:solidFill>
                <a:latin typeface="Consolas" panose="020B0609020204030204" pitchFamily="49" charset="0"/>
              </a:rPr>
              <a:t>        </a:t>
            </a:r>
            <a:r>
              <a:rPr lang="pt-BR" sz="1200" dirty="0" err="1">
                <a:solidFill>
                  <a:srgbClr val="0000FF"/>
                </a:solidFill>
                <a:latin typeface="Consolas" panose="020B0609020204030204" pitchFamily="49" charset="0"/>
              </a:rPr>
              <a:t>public</a:t>
            </a:r>
            <a:r>
              <a:rPr lang="pt-BR" sz="1200" dirty="0">
                <a:solidFill>
                  <a:srgbClr val="000000"/>
                </a:solidFill>
                <a:latin typeface="Consolas" panose="020B0609020204030204" pitchFamily="49" charset="0"/>
              </a:rPr>
              <a:t> </a:t>
            </a:r>
            <a:r>
              <a:rPr lang="pt-BR" sz="1200" dirty="0">
                <a:solidFill>
                  <a:srgbClr val="0000FF"/>
                </a:solidFill>
                <a:latin typeface="Consolas" panose="020B0609020204030204" pitchFamily="49" charset="0"/>
              </a:rPr>
              <a:t>virtual</a:t>
            </a:r>
            <a:r>
              <a:rPr lang="pt-BR" sz="1200" dirty="0">
                <a:solidFill>
                  <a:srgbClr val="000000"/>
                </a:solidFill>
                <a:latin typeface="Consolas" panose="020B0609020204030204" pitchFamily="49" charset="0"/>
              </a:rPr>
              <a:t> </a:t>
            </a:r>
            <a:r>
              <a:rPr lang="pt-BR" sz="1200" dirty="0" err="1">
                <a:solidFill>
                  <a:srgbClr val="0000FF"/>
                </a:solidFill>
                <a:latin typeface="Consolas" panose="020B0609020204030204" pitchFamily="49" charset="0"/>
              </a:rPr>
              <a:t>void</a:t>
            </a:r>
            <a:r>
              <a:rPr lang="pt-BR" sz="1200" dirty="0">
                <a:solidFill>
                  <a:srgbClr val="000000"/>
                </a:solidFill>
                <a:latin typeface="Consolas" panose="020B0609020204030204" pitchFamily="49" charset="0"/>
              </a:rPr>
              <a:t> </a:t>
            </a:r>
            <a:r>
              <a:rPr lang="pt-BR" sz="1200" dirty="0" err="1">
                <a:solidFill>
                  <a:srgbClr val="000000"/>
                </a:solidFill>
                <a:latin typeface="Consolas" panose="020B0609020204030204" pitchFamily="49" charset="0"/>
              </a:rPr>
              <a:t>MetodoVirtual</a:t>
            </a:r>
            <a:r>
              <a:rPr lang="pt-BR" sz="1200" dirty="0">
                <a:solidFill>
                  <a:srgbClr val="000000"/>
                </a:solidFill>
                <a:latin typeface="Consolas" panose="020B0609020204030204" pitchFamily="49" charset="0"/>
              </a:rPr>
              <a:t>()</a:t>
            </a:r>
          </a:p>
          <a:p>
            <a:r>
              <a:rPr lang="pt-BR" sz="1200" dirty="0">
                <a:solidFill>
                  <a:srgbClr val="000000"/>
                </a:solidFill>
                <a:latin typeface="Consolas" panose="020B0609020204030204" pitchFamily="49" charset="0"/>
              </a:rPr>
              <a:t>        {</a:t>
            </a:r>
          </a:p>
          <a:p>
            <a:endParaRPr lang="pt-BR" sz="1200" dirty="0">
              <a:solidFill>
                <a:srgbClr val="000000"/>
              </a:solidFill>
              <a:latin typeface="Consolas" panose="020B0609020204030204" pitchFamily="49" charset="0"/>
            </a:endParaRPr>
          </a:p>
          <a:p>
            <a:r>
              <a:rPr lang="pt-BR" sz="1200" dirty="0">
                <a:solidFill>
                  <a:srgbClr val="000000"/>
                </a:solidFill>
                <a:latin typeface="Consolas" panose="020B0609020204030204" pitchFamily="49" charset="0"/>
              </a:rPr>
              <a:t>        }</a:t>
            </a:r>
          </a:p>
          <a:p>
            <a:r>
              <a:rPr lang="pt-BR" sz="1200" dirty="0">
                <a:solidFill>
                  <a:srgbClr val="000000"/>
                </a:solidFill>
                <a:latin typeface="Consolas" panose="020B0609020204030204" pitchFamily="49" charset="0"/>
              </a:rPr>
              <a:t>}</a:t>
            </a:r>
          </a:p>
          <a:p>
            <a:endParaRPr lang="pt-BR" sz="1200" dirty="0">
              <a:solidFill>
                <a:srgbClr val="000000"/>
              </a:solidFill>
              <a:latin typeface="Consolas" panose="020B0609020204030204" pitchFamily="49" charset="0"/>
            </a:endParaRPr>
          </a:p>
          <a:p>
            <a:r>
              <a:rPr lang="pt-BR" sz="1200" dirty="0" err="1">
                <a:solidFill>
                  <a:srgbClr val="0000FF"/>
                </a:solidFill>
                <a:latin typeface="Consolas" panose="020B0609020204030204" pitchFamily="49" charset="0"/>
              </a:rPr>
              <a:t>public</a:t>
            </a:r>
            <a:r>
              <a:rPr lang="pt-BR" sz="1200" dirty="0">
                <a:solidFill>
                  <a:srgbClr val="000000"/>
                </a:solidFill>
                <a:latin typeface="Consolas" panose="020B0609020204030204" pitchFamily="49" charset="0"/>
              </a:rPr>
              <a:t> </a:t>
            </a:r>
            <a:r>
              <a:rPr lang="pt-BR" sz="1200" dirty="0" err="1">
                <a:solidFill>
                  <a:srgbClr val="0000FF"/>
                </a:solidFill>
                <a:latin typeface="Consolas" panose="020B0609020204030204" pitchFamily="49" charset="0"/>
              </a:rPr>
              <a:t>class</a:t>
            </a:r>
            <a:r>
              <a:rPr lang="pt-BR" sz="1200" dirty="0">
                <a:solidFill>
                  <a:srgbClr val="000000"/>
                </a:solidFill>
                <a:latin typeface="Consolas" panose="020B0609020204030204" pitchFamily="49" charset="0"/>
              </a:rPr>
              <a:t> </a:t>
            </a:r>
            <a:r>
              <a:rPr lang="pt-BR" sz="1200" dirty="0" err="1">
                <a:solidFill>
                  <a:srgbClr val="2B91AF"/>
                </a:solidFill>
                <a:latin typeface="Consolas" panose="020B0609020204030204" pitchFamily="49" charset="0"/>
              </a:rPr>
              <a:t>ClasseDerivada</a:t>
            </a:r>
            <a:r>
              <a:rPr lang="pt-BR" sz="1200" dirty="0">
                <a:solidFill>
                  <a:srgbClr val="000000"/>
                </a:solidFill>
                <a:latin typeface="Consolas" panose="020B0609020204030204" pitchFamily="49" charset="0"/>
              </a:rPr>
              <a:t> : </a:t>
            </a:r>
            <a:r>
              <a:rPr lang="pt-BR" sz="1200" dirty="0" err="1">
                <a:solidFill>
                  <a:srgbClr val="2B91AF"/>
                </a:solidFill>
                <a:latin typeface="Consolas" panose="020B0609020204030204" pitchFamily="49" charset="0"/>
              </a:rPr>
              <a:t>ClasseBase</a:t>
            </a:r>
            <a:endParaRPr lang="pt-BR" sz="1200" dirty="0">
              <a:solidFill>
                <a:srgbClr val="000000"/>
              </a:solidFill>
              <a:latin typeface="Consolas" panose="020B0609020204030204" pitchFamily="49" charset="0"/>
            </a:endParaRPr>
          </a:p>
          <a:p>
            <a:r>
              <a:rPr lang="pt-BR" sz="1200" dirty="0">
                <a:solidFill>
                  <a:srgbClr val="000000"/>
                </a:solidFill>
                <a:latin typeface="Consolas" panose="020B0609020204030204" pitchFamily="49" charset="0"/>
              </a:rPr>
              <a:t>{</a:t>
            </a:r>
          </a:p>
          <a:p>
            <a:r>
              <a:rPr lang="pt-BR" sz="1200" dirty="0">
                <a:solidFill>
                  <a:srgbClr val="000000"/>
                </a:solidFill>
                <a:latin typeface="Consolas" panose="020B0609020204030204" pitchFamily="49" charset="0"/>
              </a:rPr>
              <a:t>        </a:t>
            </a:r>
          </a:p>
          <a:p>
            <a:r>
              <a:rPr lang="pt-BR" sz="1200" dirty="0">
                <a:solidFill>
                  <a:srgbClr val="000000"/>
                </a:solidFill>
                <a:latin typeface="Consolas" panose="020B0609020204030204" pitchFamily="49" charset="0"/>
              </a:rPr>
              <a:t>}</a:t>
            </a:r>
            <a:endParaRPr lang="pt-BR" sz="1200" dirty="0"/>
          </a:p>
        </p:txBody>
      </p:sp>
      <p:sp>
        <p:nvSpPr>
          <p:cNvPr id="5" name="Retângulo 4"/>
          <p:cNvSpPr/>
          <p:nvPr/>
        </p:nvSpPr>
        <p:spPr>
          <a:xfrm>
            <a:off x="5650345" y="2338709"/>
            <a:ext cx="6096000" cy="2862322"/>
          </a:xfrm>
          <a:prstGeom prst="rect">
            <a:avLst/>
          </a:prstGeom>
        </p:spPr>
        <p:txBody>
          <a:bodyPr>
            <a:spAutoFit/>
          </a:bodyPr>
          <a:lstStyle/>
          <a:p>
            <a:r>
              <a:rPr lang="pt-BR" sz="1200" dirty="0" err="1">
                <a:solidFill>
                  <a:srgbClr val="0000FF"/>
                </a:solidFill>
                <a:latin typeface="Consolas" panose="020B0609020204030204" pitchFamily="49" charset="0"/>
              </a:rPr>
              <a:t>public</a:t>
            </a:r>
            <a:r>
              <a:rPr lang="pt-BR" sz="1200" dirty="0">
                <a:solidFill>
                  <a:srgbClr val="000000"/>
                </a:solidFill>
                <a:latin typeface="Consolas" panose="020B0609020204030204" pitchFamily="49" charset="0"/>
              </a:rPr>
              <a:t> </a:t>
            </a:r>
            <a:r>
              <a:rPr lang="pt-BR" sz="1200" dirty="0" err="1">
                <a:solidFill>
                  <a:srgbClr val="0000FF"/>
                </a:solidFill>
                <a:latin typeface="Consolas" panose="020B0609020204030204" pitchFamily="49" charset="0"/>
              </a:rPr>
              <a:t>class</a:t>
            </a:r>
            <a:r>
              <a:rPr lang="pt-BR" sz="1200" dirty="0">
                <a:solidFill>
                  <a:srgbClr val="000000"/>
                </a:solidFill>
                <a:latin typeface="Consolas" panose="020B0609020204030204" pitchFamily="49" charset="0"/>
              </a:rPr>
              <a:t> </a:t>
            </a:r>
            <a:r>
              <a:rPr lang="pt-BR" sz="1200" dirty="0" err="1">
                <a:solidFill>
                  <a:srgbClr val="2B91AF"/>
                </a:solidFill>
                <a:latin typeface="Consolas" panose="020B0609020204030204" pitchFamily="49" charset="0"/>
              </a:rPr>
              <a:t>ClasseBase</a:t>
            </a:r>
            <a:endParaRPr lang="pt-BR" sz="1200" dirty="0">
              <a:solidFill>
                <a:srgbClr val="000000"/>
              </a:solidFill>
              <a:latin typeface="Consolas" panose="020B0609020204030204" pitchFamily="49" charset="0"/>
            </a:endParaRPr>
          </a:p>
          <a:p>
            <a:r>
              <a:rPr lang="pt-BR" sz="1200" dirty="0">
                <a:solidFill>
                  <a:srgbClr val="000000"/>
                </a:solidFill>
                <a:latin typeface="Consolas" panose="020B0609020204030204" pitchFamily="49" charset="0"/>
              </a:rPr>
              <a:t>{</a:t>
            </a:r>
          </a:p>
          <a:p>
            <a:r>
              <a:rPr lang="pt-BR" sz="1200" dirty="0">
                <a:solidFill>
                  <a:srgbClr val="000000"/>
                </a:solidFill>
                <a:latin typeface="Consolas" panose="020B0609020204030204" pitchFamily="49" charset="0"/>
              </a:rPr>
              <a:t>        </a:t>
            </a:r>
            <a:r>
              <a:rPr lang="pt-BR" sz="1200" dirty="0" err="1">
                <a:solidFill>
                  <a:srgbClr val="0000FF"/>
                </a:solidFill>
                <a:latin typeface="Consolas" panose="020B0609020204030204" pitchFamily="49" charset="0"/>
              </a:rPr>
              <a:t>public</a:t>
            </a:r>
            <a:r>
              <a:rPr lang="pt-BR" sz="1200" dirty="0">
                <a:solidFill>
                  <a:srgbClr val="000000"/>
                </a:solidFill>
                <a:latin typeface="Consolas" panose="020B0609020204030204" pitchFamily="49" charset="0"/>
              </a:rPr>
              <a:t> </a:t>
            </a:r>
            <a:r>
              <a:rPr lang="pt-BR" sz="1200" dirty="0">
                <a:solidFill>
                  <a:srgbClr val="0000FF"/>
                </a:solidFill>
                <a:latin typeface="Consolas" panose="020B0609020204030204" pitchFamily="49" charset="0"/>
              </a:rPr>
              <a:t>virtual</a:t>
            </a:r>
            <a:r>
              <a:rPr lang="pt-BR" sz="1200" dirty="0">
                <a:solidFill>
                  <a:srgbClr val="000000"/>
                </a:solidFill>
                <a:latin typeface="Consolas" panose="020B0609020204030204" pitchFamily="49" charset="0"/>
              </a:rPr>
              <a:t> </a:t>
            </a:r>
            <a:r>
              <a:rPr lang="pt-BR" sz="1200" dirty="0" err="1">
                <a:solidFill>
                  <a:srgbClr val="0000FF"/>
                </a:solidFill>
                <a:latin typeface="Consolas" panose="020B0609020204030204" pitchFamily="49" charset="0"/>
              </a:rPr>
              <a:t>void</a:t>
            </a:r>
            <a:r>
              <a:rPr lang="pt-BR" sz="1200" dirty="0">
                <a:solidFill>
                  <a:srgbClr val="000000"/>
                </a:solidFill>
                <a:latin typeface="Consolas" panose="020B0609020204030204" pitchFamily="49" charset="0"/>
              </a:rPr>
              <a:t> </a:t>
            </a:r>
            <a:r>
              <a:rPr lang="pt-BR" sz="1200" dirty="0" err="1">
                <a:solidFill>
                  <a:srgbClr val="000000"/>
                </a:solidFill>
                <a:latin typeface="Consolas" panose="020B0609020204030204" pitchFamily="49" charset="0"/>
              </a:rPr>
              <a:t>MetodoVirtual</a:t>
            </a:r>
            <a:r>
              <a:rPr lang="pt-BR" sz="1200" dirty="0">
                <a:solidFill>
                  <a:srgbClr val="000000"/>
                </a:solidFill>
                <a:latin typeface="Consolas" panose="020B0609020204030204" pitchFamily="49" charset="0"/>
              </a:rPr>
              <a:t>()</a:t>
            </a:r>
          </a:p>
          <a:p>
            <a:r>
              <a:rPr lang="pt-BR" sz="1200" dirty="0">
                <a:solidFill>
                  <a:srgbClr val="000000"/>
                </a:solidFill>
                <a:latin typeface="Consolas" panose="020B0609020204030204" pitchFamily="49" charset="0"/>
              </a:rPr>
              <a:t>        {</a:t>
            </a:r>
          </a:p>
          <a:p>
            <a:endParaRPr lang="pt-BR" sz="1200" dirty="0">
              <a:solidFill>
                <a:srgbClr val="000000"/>
              </a:solidFill>
              <a:latin typeface="Consolas" panose="020B0609020204030204" pitchFamily="49" charset="0"/>
            </a:endParaRPr>
          </a:p>
          <a:p>
            <a:r>
              <a:rPr lang="pt-BR" sz="1200" dirty="0">
                <a:solidFill>
                  <a:srgbClr val="000000"/>
                </a:solidFill>
                <a:latin typeface="Consolas" panose="020B0609020204030204" pitchFamily="49" charset="0"/>
              </a:rPr>
              <a:t>        }</a:t>
            </a:r>
          </a:p>
          <a:p>
            <a:r>
              <a:rPr lang="pt-BR" sz="1200" dirty="0">
                <a:solidFill>
                  <a:srgbClr val="000000"/>
                </a:solidFill>
                <a:latin typeface="Consolas" panose="020B0609020204030204" pitchFamily="49" charset="0"/>
              </a:rPr>
              <a:t>}</a:t>
            </a:r>
          </a:p>
          <a:p>
            <a:endParaRPr lang="pt-BR" sz="1200" dirty="0">
              <a:solidFill>
                <a:srgbClr val="000000"/>
              </a:solidFill>
              <a:latin typeface="Consolas" panose="020B0609020204030204" pitchFamily="49" charset="0"/>
            </a:endParaRPr>
          </a:p>
          <a:p>
            <a:r>
              <a:rPr lang="pt-BR" sz="1200" dirty="0" err="1">
                <a:solidFill>
                  <a:srgbClr val="0000FF"/>
                </a:solidFill>
                <a:latin typeface="Consolas" panose="020B0609020204030204" pitchFamily="49" charset="0"/>
              </a:rPr>
              <a:t>public</a:t>
            </a:r>
            <a:r>
              <a:rPr lang="pt-BR" sz="1200" dirty="0">
                <a:solidFill>
                  <a:srgbClr val="000000"/>
                </a:solidFill>
                <a:latin typeface="Consolas" panose="020B0609020204030204" pitchFamily="49" charset="0"/>
              </a:rPr>
              <a:t> </a:t>
            </a:r>
            <a:r>
              <a:rPr lang="pt-BR" sz="1200" dirty="0" err="1">
                <a:solidFill>
                  <a:srgbClr val="0000FF"/>
                </a:solidFill>
                <a:latin typeface="Consolas" panose="020B0609020204030204" pitchFamily="49" charset="0"/>
              </a:rPr>
              <a:t>class</a:t>
            </a:r>
            <a:r>
              <a:rPr lang="pt-BR" sz="1200" dirty="0">
                <a:solidFill>
                  <a:srgbClr val="000000"/>
                </a:solidFill>
                <a:latin typeface="Consolas" panose="020B0609020204030204" pitchFamily="49" charset="0"/>
              </a:rPr>
              <a:t> </a:t>
            </a:r>
            <a:r>
              <a:rPr lang="pt-BR" sz="1200" dirty="0" err="1">
                <a:solidFill>
                  <a:srgbClr val="2B91AF"/>
                </a:solidFill>
                <a:latin typeface="Consolas" panose="020B0609020204030204" pitchFamily="49" charset="0"/>
              </a:rPr>
              <a:t>ClasseDerivada</a:t>
            </a:r>
            <a:r>
              <a:rPr lang="pt-BR" sz="1200" dirty="0">
                <a:solidFill>
                  <a:srgbClr val="000000"/>
                </a:solidFill>
                <a:latin typeface="Consolas" panose="020B0609020204030204" pitchFamily="49" charset="0"/>
              </a:rPr>
              <a:t> : </a:t>
            </a:r>
            <a:r>
              <a:rPr lang="pt-BR" sz="1200" dirty="0" err="1">
                <a:solidFill>
                  <a:srgbClr val="2B91AF"/>
                </a:solidFill>
                <a:latin typeface="Consolas" panose="020B0609020204030204" pitchFamily="49" charset="0"/>
              </a:rPr>
              <a:t>ClasseBase</a:t>
            </a:r>
            <a:endParaRPr lang="pt-BR" sz="1200" dirty="0">
              <a:solidFill>
                <a:srgbClr val="000000"/>
              </a:solidFill>
              <a:latin typeface="Consolas" panose="020B0609020204030204" pitchFamily="49" charset="0"/>
            </a:endParaRPr>
          </a:p>
          <a:p>
            <a:r>
              <a:rPr lang="pt-BR" sz="1200" dirty="0">
                <a:solidFill>
                  <a:srgbClr val="000000"/>
                </a:solidFill>
                <a:latin typeface="Consolas" panose="020B0609020204030204" pitchFamily="49" charset="0"/>
              </a:rPr>
              <a:t>{</a:t>
            </a:r>
          </a:p>
          <a:p>
            <a:r>
              <a:rPr lang="pt-BR" sz="1200" dirty="0">
                <a:solidFill>
                  <a:srgbClr val="000000"/>
                </a:solidFill>
                <a:latin typeface="Consolas" panose="020B0609020204030204" pitchFamily="49" charset="0"/>
              </a:rPr>
              <a:t>        </a:t>
            </a:r>
            <a:r>
              <a:rPr lang="pt-BR" sz="1200" dirty="0" err="1">
                <a:solidFill>
                  <a:srgbClr val="0000FF"/>
                </a:solidFill>
                <a:latin typeface="Consolas" panose="020B0609020204030204" pitchFamily="49" charset="0"/>
              </a:rPr>
              <a:t>public</a:t>
            </a:r>
            <a:r>
              <a:rPr lang="pt-BR" sz="1200" dirty="0">
                <a:solidFill>
                  <a:srgbClr val="000000"/>
                </a:solidFill>
                <a:latin typeface="Consolas" panose="020B0609020204030204" pitchFamily="49" charset="0"/>
              </a:rPr>
              <a:t> </a:t>
            </a:r>
            <a:r>
              <a:rPr lang="pt-BR" sz="1200" dirty="0" err="1">
                <a:solidFill>
                  <a:srgbClr val="0000FF"/>
                </a:solidFill>
                <a:latin typeface="Consolas" panose="020B0609020204030204" pitchFamily="49" charset="0"/>
              </a:rPr>
              <a:t>override</a:t>
            </a:r>
            <a:r>
              <a:rPr lang="pt-BR" sz="1200" dirty="0">
                <a:solidFill>
                  <a:srgbClr val="000000"/>
                </a:solidFill>
                <a:latin typeface="Consolas" panose="020B0609020204030204" pitchFamily="49" charset="0"/>
              </a:rPr>
              <a:t> </a:t>
            </a:r>
            <a:r>
              <a:rPr lang="pt-BR" sz="1200" dirty="0" err="1">
                <a:solidFill>
                  <a:srgbClr val="0000FF"/>
                </a:solidFill>
                <a:latin typeface="Consolas" panose="020B0609020204030204" pitchFamily="49" charset="0"/>
              </a:rPr>
              <a:t>void</a:t>
            </a:r>
            <a:r>
              <a:rPr lang="pt-BR" sz="1200" dirty="0">
                <a:solidFill>
                  <a:srgbClr val="000000"/>
                </a:solidFill>
                <a:latin typeface="Consolas" panose="020B0609020204030204" pitchFamily="49" charset="0"/>
              </a:rPr>
              <a:t> </a:t>
            </a:r>
            <a:r>
              <a:rPr lang="pt-BR" sz="1200" dirty="0" err="1">
                <a:solidFill>
                  <a:srgbClr val="000000"/>
                </a:solidFill>
                <a:latin typeface="Consolas" panose="020B0609020204030204" pitchFamily="49" charset="0"/>
              </a:rPr>
              <a:t>MetodoVirtual</a:t>
            </a:r>
            <a:r>
              <a:rPr lang="pt-BR" sz="1200" dirty="0">
                <a:solidFill>
                  <a:srgbClr val="000000"/>
                </a:solidFill>
                <a:latin typeface="Consolas" panose="020B0609020204030204" pitchFamily="49" charset="0"/>
              </a:rPr>
              <a:t>()</a:t>
            </a:r>
          </a:p>
          <a:p>
            <a:r>
              <a:rPr lang="pt-BR" sz="1200" dirty="0">
                <a:solidFill>
                  <a:srgbClr val="000000"/>
                </a:solidFill>
                <a:latin typeface="Consolas" panose="020B0609020204030204" pitchFamily="49" charset="0"/>
              </a:rPr>
              <a:t>        {</a:t>
            </a:r>
          </a:p>
          <a:p>
            <a:endParaRPr lang="pt-BR" sz="1200" dirty="0">
              <a:solidFill>
                <a:srgbClr val="000000"/>
              </a:solidFill>
              <a:latin typeface="Consolas" panose="020B0609020204030204" pitchFamily="49" charset="0"/>
            </a:endParaRPr>
          </a:p>
          <a:p>
            <a:r>
              <a:rPr lang="pt-BR" sz="1200" dirty="0">
                <a:solidFill>
                  <a:srgbClr val="000000"/>
                </a:solidFill>
                <a:latin typeface="Consolas" panose="020B0609020204030204" pitchFamily="49" charset="0"/>
              </a:rPr>
              <a:t>        }</a:t>
            </a:r>
          </a:p>
          <a:p>
            <a:r>
              <a:rPr lang="pt-BR" sz="1200" dirty="0">
                <a:solidFill>
                  <a:srgbClr val="000000"/>
                </a:solidFill>
                <a:latin typeface="Consolas" panose="020B0609020204030204" pitchFamily="49" charset="0"/>
              </a:rPr>
              <a:t>}</a:t>
            </a:r>
            <a:endParaRPr lang="pt-BR" sz="1200" dirty="0"/>
          </a:p>
        </p:txBody>
      </p:sp>
      <p:sp>
        <p:nvSpPr>
          <p:cNvPr id="3" name="Retângulo 2"/>
          <p:cNvSpPr/>
          <p:nvPr/>
        </p:nvSpPr>
        <p:spPr>
          <a:xfrm>
            <a:off x="1097280" y="1810858"/>
            <a:ext cx="4345870" cy="400110"/>
          </a:xfrm>
          <a:prstGeom prst="rect">
            <a:avLst/>
          </a:prstGeom>
        </p:spPr>
        <p:txBody>
          <a:bodyPr wrap="none">
            <a:spAutoFit/>
          </a:bodyPr>
          <a:lstStyle/>
          <a:p>
            <a:r>
              <a:rPr lang="pt-BR" sz="2000" dirty="0"/>
              <a:t>Sem implementação na classe derivada:</a:t>
            </a:r>
          </a:p>
        </p:txBody>
      </p:sp>
      <p:sp>
        <p:nvSpPr>
          <p:cNvPr id="6" name="Retângulo 5"/>
          <p:cNvSpPr/>
          <p:nvPr/>
        </p:nvSpPr>
        <p:spPr>
          <a:xfrm>
            <a:off x="5715000" y="1810858"/>
            <a:ext cx="4369914" cy="400110"/>
          </a:xfrm>
          <a:prstGeom prst="rect">
            <a:avLst/>
          </a:prstGeom>
        </p:spPr>
        <p:txBody>
          <a:bodyPr wrap="none">
            <a:spAutoFit/>
          </a:bodyPr>
          <a:lstStyle/>
          <a:p>
            <a:r>
              <a:rPr lang="pt-BR" sz="2000" dirty="0"/>
              <a:t>Com implementação na classe derivada:</a:t>
            </a:r>
          </a:p>
        </p:txBody>
      </p:sp>
    </p:spTree>
    <p:extLst>
      <p:ext uri="{BB962C8B-B14F-4D97-AF65-F5344CB8AC3E}">
        <p14:creationId xmlns:p14="http://schemas.microsoft.com/office/powerpoint/2010/main" val="428056386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p:cNvSpPr/>
          <p:nvPr/>
        </p:nvSpPr>
        <p:spPr>
          <a:xfrm>
            <a:off x="-45265" y="52276"/>
            <a:ext cx="11769212" cy="6740307"/>
          </a:xfrm>
          <a:prstGeom prst="rect">
            <a:avLst/>
          </a:prstGeom>
        </p:spPr>
        <p:txBody>
          <a:bodyPr wrap="square">
            <a:spAutoFit/>
          </a:bodyPr>
          <a:lstStyle/>
          <a:p>
            <a:r>
              <a:rPr lang="pt-BR" sz="1200" dirty="0" err="1">
                <a:solidFill>
                  <a:srgbClr val="0000FF"/>
                </a:solidFill>
                <a:latin typeface="Consolas" panose="020B0609020204030204" pitchFamily="49" charset="0"/>
              </a:rPr>
              <a:t>using</a:t>
            </a:r>
            <a:r>
              <a:rPr lang="pt-BR" sz="1200" dirty="0">
                <a:solidFill>
                  <a:srgbClr val="000000"/>
                </a:solidFill>
                <a:latin typeface="Consolas" panose="020B0609020204030204" pitchFamily="49" charset="0"/>
              </a:rPr>
              <a:t> System;</a:t>
            </a:r>
          </a:p>
          <a:p>
            <a:r>
              <a:rPr lang="pt-BR" sz="1200" dirty="0" err="1">
                <a:solidFill>
                  <a:srgbClr val="0000FF"/>
                </a:solidFill>
                <a:latin typeface="Consolas" panose="020B0609020204030204" pitchFamily="49" charset="0"/>
              </a:rPr>
              <a:t>namespace</a:t>
            </a:r>
            <a:r>
              <a:rPr lang="pt-BR" sz="1200" dirty="0">
                <a:solidFill>
                  <a:srgbClr val="000000"/>
                </a:solidFill>
                <a:latin typeface="Consolas" panose="020B0609020204030204" pitchFamily="49" charset="0"/>
              </a:rPr>
              <a:t> ConsoleApp1</a:t>
            </a:r>
          </a:p>
          <a:p>
            <a:r>
              <a:rPr lang="pt-BR" sz="1200" dirty="0">
                <a:solidFill>
                  <a:srgbClr val="000000"/>
                </a:solidFill>
                <a:latin typeface="Consolas" panose="020B0609020204030204" pitchFamily="49" charset="0"/>
              </a:rPr>
              <a:t>{</a:t>
            </a:r>
          </a:p>
          <a:p>
            <a:r>
              <a:rPr lang="pt-BR" sz="1200" dirty="0">
                <a:solidFill>
                  <a:srgbClr val="000000"/>
                </a:solidFill>
                <a:latin typeface="Consolas" panose="020B0609020204030204" pitchFamily="49" charset="0"/>
              </a:rPr>
              <a:t>    </a:t>
            </a:r>
            <a:r>
              <a:rPr lang="pt-BR" sz="1200" dirty="0" err="1">
                <a:solidFill>
                  <a:srgbClr val="0000FF"/>
                </a:solidFill>
                <a:latin typeface="Consolas" panose="020B0609020204030204" pitchFamily="49" charset="0"/>
              </a:rPr>
              <a:t>class</a:t>
            </a:r>
            <a:r>
              <a:rPr lang="pt-BR" sz="1200" dirty="0">
                <a:solidFill>
                  <a:srgbClr val="000000"/>
                </a:solidFill>
                <a:latin typeface="Consolas" panose="020B0609020204030204" pitchFamily="49" charset="0"/>
              </a:rPr>
              <a:t> </a:t>
            </a:r>
            <a:r>
              <a:rPr lang="pt-BR" sz="1200" dirty="0" err="1">
                <a:solidFill>
                  <a:srgbClr val="2B91AF"/>
                </a:solidFill>
                <a:latin typeface="Consolas" panose="020B0609020204030204" pitchFamily="49" charset="0"/>
              </a:rPr>
              <a:t>Program</a:t>
            </a:r>
            <a:endParaRPr lang="pt-BR" sz="1200" dirty="0">
              <a:solidFill>
                <a:srgbClr val="000000"/>
              </a:solidFill>
              <a:latin typeface="Consolas" panose="020B0609020204030204" pitchFamily="49" charset="0"/>
            </a:endParaRPr>
          </a:p>
          <a:p>
            <a:r>
              <a:rPr lang="pt-BR" sz="1200" dirty="0">
                <a:solidFill>
                  <a:srgbClr val="000000"/>
                </a:solidFill>
                <a:latin typeface="Consolas" panose="020B0609020204030204" pitchFamily="49" charset="0"/>
              </a:rPr>
              <a:t>    {</a:t>
            </a:r>
          </a:p>
          <a:p>
            <a:r>
              <a:rPr lang="pt-BR" sz="1200" dirty="0">
                <a:solidFill>
                  <a:srgbClr val="000000"/>
                </a:solidFill>
                <a:latin typeface="Consolas" panose="020B0609020204030204" pitchFamily="49" charset="0"/>
              </a:rPr>
              <a:t>        </a:t>
            </a:r>
            <a:r>
              <a:rPr lang="pt-BR" sz="1200" dirty="0" err="1">
                <a:solidFill>
                  <a:srgbClr val="0000FF"/>
                </a:solidFill>
                <a:latin typeface="Consolas" panose="020B0609020204030204" pitchFamily="49" charset="0"/>
              </a:rPr>
              <a:t>static</a:t>
            </a:r>
            <a:r>
              <a:rPr lang="pt-BR" sz="1200" dirty="0">
                <a:solidFill>
                  <a:srgbClr val="000000"/>
                </a:solidFill>
                <a:latin typeface="Consolas" panose="020B0609020204030204" pitchFamily="49" charset="0"/>
              </a:rPr>
              <a:t> </a:t>
            </a:r>
            <a:r>
              <a:rPr lang="pt-BR" sz="1200" dirty="0" err="1">
                <a:solidFill>
                  <a:srgbClr val="0000FF"/>
                </a:solidFill>
                <a:latin typeface="Consolas" panose="020B0609020204030204" pitchFamily="49" charset="0"/>
              </a:rPr>
              <a:t>void</a:t>
            </a:r>
            <a:r>
              <a:rPr lang="pt-BR" sz="1200" dirty="0">
                <a:solidFill>
                  <a:srgbClr val="000000"/>
                </a:solidFill>
                <a:latin typeface="Consolas" panose="020B0609020204030204" pitchFamily="49" charset="0"/>
              </a:rPr>
              <a:t> </a:t>
            </a:r>
            <a:r>
              <a:rPr lang="pt-BR" sz="1200" dirty="0" err="1">
                <a:solidFill>
                  <a:srgbClr val="000000"/>
                </a:solidFill>
                <a:latin typeface="Consolas" panose="020B0609020204030204" pitchFamily="49" charset="0"/>
              </a:rPr>
              <a:t>Main</a:t>
            </a:r>
            <a:r>
              <a:rPr lang="pt-BR" sz="1200" dirty="0">
                <a:solidFill>
                  <a:srgbClr val="000000"/>
                </a:solidFill>
                <a:latin typeface="Consolas" panose="020B0609020204030204" pitchFamily="49" charset="0"/>
              </a:rPr>
              <a:t>(</a:t>
            </a:r>
            <a:r>
              <a:rPr lang="pt-BR" sz="1200" dirty="0" err="1">
                <a:solidFill>
                  <a:srgbClr val="0000FF"/>
                </a:solidFill>
                <a:latin typeface="Consolas" panose="020B0609020204030204" pitchFamily="49" charset="0"/>
              </a:rPr>
              <a:t>string</a:t>
            </a:r>
            <a:r>
              <a:rPr lang="pt-BR" sz="1200" dirty="0">
                <a:solidFill>
                  <a:srgbClr val="000000"/>
                </a:solidFill>
                <a:latin typeface="Consolas" panose="020B0609020204030204" pitchFamily="49" charset="0"/>
              </a:rPr>
              <a:t>[] </a:t>
            </a:r>
            <a:r>
              <a:rPr lang="pt-BR" sz="1200" dirty="0" err="1">
                <a:solidFill>
                  <a:srgbClr val="000000"/>
                </a:solidFill>
                <a:latin typeface="Consolas" panose="020B0609020204030204" pitchFamily="49" charset="0"/>
              </a:rPr>
              <a:t>args</a:t>
            </a:r>
            <a:r>
              <a:rPr lang="pt-BR" sz="1200" dirty="0">
                <a:solidFill>
                  <a:srgbClr val="000000"/>
                </a:solidFill>
                <a:latin typeface="Consolas" panose="020B0609020204030204" pitchFamily="49" charset="0"/>
              </a:rPr>
              <a:t>)</a:t>
            </a:r>
          </a:p>
          <a:p>
            <a:r>
              <a:rPr lang="pt-BR" sz="1200" dirty="0">
                <a:solidFill>
                  <a:srgbClr val="000000"/>
                </a:solidFill>
                <a:latin typeface="Consolas" panose="020B0609020204030204" pitchFamily="49" charset="0"/>
              </a:rPr>
              <a:t>        {</a:t>
            </a:r>
          </a:p>
          <a:p>
            <a:r>
              <a:rPr lang="pt-BR" sz="1200" dirty="0">
                <a:solidFill>
                  <a:srgbClr val="000000"/>
                </a:solidFill>
                <a:latin typeface="Consolas" panose="020B0609020204030204" pitchFamily="49" charset="0"/>
              </a:rPr>
              <a:t>            Cliente c = </a:t>
            </a:r>
            <a:r>
              <a:rPr lang="pt-BR" sz="1200" dirty="0">
                <a:solidFill>
                  <a:srgbClr val="0000FF"/>
                </a:solidFill>
                <a:latin typeface="Consolas" panose="020B0609020204030204" pitchFamily="49" charset="0"/>
              </a:rPr>
              <a:t>new</a:t>
            </a:r>
            <a:r>
              <a:rPr lang="pt-BR" sz="1200" dirty="0">
                <a:solidFill>
                  <a:srgbClr val="000000"/>
                </a:solidFill>
                <a:latin typeface="Consolas" panose="020B0609020204030204" pitchFamily="49" charset="0"/>
              </a:rPr>
              <a:t> Cliente();</a:t>
            </a:r>
          </a:p>
          <a:p>
            <a:r>
              <a:rPr lang="pt-BR" sz="1200" dirty="0">
                <a:solidFill>
                  <a:srgbClr val="000000"/>
                </a:solidFill>
                <a:latin typeface="Consolas" panose="020B0609020204030204" pitchFamily="49" charset="0"/>
              </a:rPr>
              <a:t>            </a:t>
            </a:r>
            <a:r>
              <a:rPr lang="pt-BR" sz="1200" dirty="0" err="1">
                <a:solidFill>
                  <a:srgbClr val="000000"/>
                </a:solidFill>
                <a:latin typeface="Consolas" panose="020B0609020204030204" pitchFamily="49" charset="0"/>
              </a:rPr>
              <a:t>c.Login</a:t>
            </a:r>
            <a:r>
              <a:rPr lang="pt-BR" sz="1200" dirty="0">
                <a:solidFill>
                  <a:srgbClr val="000000"/>
                </a:solidFill>
                <a:latin typeface="Consolas" panose="020B0609020204030204" pitchFamily="49" charset="0"/>
              </a:rPr>
              <a:t>();</a:t>
            </a:r>
          </a:p>
          <a:p>
            <a:r>
              <a:rPr lang="pt-BR" sz="1200" dirty="0">
                <a:solidFill>
                  <a:srgbClr val="000000"/>
                </a:solidFill>
                <a:latin typeface="Consolas" panose="020B0609020204030204" pitchFamily="49" charset="0"/>
              </a:rPr>
              <a:t>            </a:t>
            </a:r>
            <a:r>
              <a:rPr lang="pt-BR" sz="1200" dirty="0" err="1">
                <a:solidFill>
                  <a:srgbClr val="000000"/>
                </a:solidFill>
                <a:latin typeface="Consolas" panose="020B0609020204030204" pitchFamily="49" charset="0"/>
              </a:rPr>
              <a:t>Admin</a:t>
            </a:r>
            <a:r>
              <a:rPr lang="pt-BR" sz="1200" dirty="0">
                <a:solidFill>
                  <a:srgbClr val="000000"/>
                </a:solidFill>
                <a:latin typeface="Consolas" panose="020B0609020204030204" pitchFamily="49" charset="0"/>
              </a:rPr>
              <a:t> a = </a:t>
            </a:r>
            <a:r>
              <a:rPr lang="pt-BR" sz="1200" dirty="0">
                <a:solidFill>
                  <a:srgbClr val="0000FF"/>
                </a:solidFill>
                <a:latin typeface="Consolas" panose="020B0609020204030204" pitchFamily="49" charset="0"/>
              </a:rPr>
              <a:t>new</a:t>
            </a:r>
            <a:r>
              <a:rPr lang="pt-BR" sz="1200" dirty="0">
                <a:solidFill>
                  <a:srgbClr val="000000"/>
                </a:solidFill>
                <a:latin typeface="Consolas" panose="020B0609020204030204" pitchFamily="49" charset="0"/>
              </a:rPr>
              <a:t> </a:t>
            </a:r>
            <a:r>
              <a:rPr lang="pt-BR" sz="1200" dirty="0" err="1">
                <a:solidFill>
                  <a:srgbClr val="000000"/>
                </a:solidFill>
                <a:latin typeface="Consolas" panose="020B0609020204030204" pitchFamily="49" charset="0"/>
              </a:rPr>
              <a:t>Admin</a:t>
            </a:r>
            <a:r>
              <a:rPr lang="pt-BR" sz="1200" dirty="0">
                <a:solidFill>
                  <a:srgbClr val="000000"/>
                </a:solidFill>
                <a:latin typeface="Consolas" panose="020B0609020204030204" pitchFamily="49" charset="0"/>
              </a:rPr>
              <a:t>();</a:t>
            </a:r>
          </a:p>
          <a:p>
            <a:r>
              <a:rPr lang="pt-BR" sz="1200" dirty="0">
                <a:solidFill>
                  <a:srgbClr val="000000"/>
                </a:solidFill>
                <a:latin typeface="Consolas" panose="020B0609020204030204" pitchFamily="49" charset="0"/>
              </a:rPr>
              <a:t>            </a:t>
            </a:r>
            <a:r>
              <a:rPr lang="pt-BR" sz="1200" dirty="0" err="1">
                <a:solidFill>
                  <a:srgbClr val="000000"/>
                </a:solidFill>
                <a:latin typeface="Consolas" panose="020B0609020204030204" pitchFamily="49" charset="0"/>
              </a:rPr>
              <a:t>a.Login</a:t>
            </a:r>
            <a:r>
              <a:rPr lang="pt-BR" sz="1200" dirty="0">
                <a:solidFill>
                  <a:srgbClr val="000000"/>
                </a:solidFill>
                <a:latin typeface="Consolas" panose="020B0609020204030204" pitchFamily="49" charset="0"/>
              </a:rPr>
              <a:t>();</a:t>
            </a:r>
          </a:p>
          <a:p>
            <a:r>
              <a:rPr lang="pt-BR" sz="1200" dirty="0">
                <a:solidFill>
                  <a:srgbClr val="000000"/>
                </a:solidFill>
                <a:latin typeface="Consolas" panose="020B0609020204030204" pitchFamily="49" charset="0"/>
              </a:rPr>
              <a:t>            </a:t>
            </a:r>
            <a:r>
              <a:rPr lang="pt-BR" sz="1200" dirty="0">
                <a:solidFill>
                  <a:srgbClr val="0000FF"/>
                </a:solidFill>
                <a:latin typeface="Consolas" panose="020B0609020204030204" pitchFamily="49" charset="0"/>
              </a:rPr>
              <a:t>new</a:t>
            </a:r>
            <a:r>
              <a:rPr lang="pt-BR" sz="1200" dirty="0">
                <a:solidFill>
                  <a:srgbClr val="000000"/>
                </a:solidFill>
                <a:latin typeface="Consolas" panose="020B0609020204030204" pitchFamily="49" charset="0"/>
              </a:rPr>
              <a:t> Gerente().</a:t>
            </a:r>
            <a:r>
              <a:rPr lang="pt-BR" sz="1200" dirty="0" err="1">
                <a:solidFill>
                  <a:srgbClr val="000000"/>
                </a:solidFill>
                <a:latin typeface="Consolas" panose="020B0609020204030204" pitchFamily="49" charset="0"/>
              </a:rPr>
              <a:t>Login</a:t>
            </a:r>
            <a:r>
              <a:rPr lang="pt-BR" sz="1200" dirty="0">
                <a:solidFill>
                  <a:srgbClr val="000000"/>
                </a:solidFill>
                <a:latin typeface="Consolas" panose="020B0609020204030204" pitchFamily="49" charset="0"/>
              </a:rPr>
              <a:t>();</a:t>
            </a:r>
          </a:p>
          <a:p>
            <a:r>
              <a:rPr lang="pt-BR" sz="1200" dirty="0">
                <a:solidFill>
                  <a:srgbClr val="000000"/>
                </a:solidFill>
                <a:latin typeface="Consolas" panose="020B0609020204030204" pitchFamily="49" charset="0"/>
              </a:rPr>
              <a:t>            Atendente </a:t>
            </a:r>
            <a:r>
              <a:rPr lang="pt-BR" sz="1200" dirty="0" err="1">
                <a:solidFill>
                  <a:srgbClr val="000000"/>
                </a:solidFill>
                <a:latin typeface="Consolas" panose="020B0609020204030204" pitchFamily="49" charset="0"/>
              </a:rPr>
              <a:t>at</a:t>
            </a:r>
            <a:r>
              <a:rPr lang="pt-BR" sz="1200" dirty="0">
                <a:solidFill>
                  <a:srgbClr val="000000"/>
                </a:solidFill>
                <a:latin typeface="Consolas" panose="020B0609020204030204" pitchFamily="49" charset="0"/>
              </a:rPr>
              <a:t> = </a:t>
            </a:r>
            <a:r>
              <a:rPr lang="pt-BR" sz="1200" dirty="0">
                <a:solidFill>
                  <a:srgbClr val="0000FF"/>
                </a:solidFill>
                <a:latin typeface="Consolas" panose="020B0609020204030204" pitchFamily="49" charset="0"/>
              </a:rPr>
              <a:t>new</a:t>
            </a:r>
            <a:r>
              <a:rPr lang="pt-BR" sz="1200" dirty="0">
                <a:solidFill>
                  <a:srgbClr val="000000"/>
                </a:solidFill>
                <a:latin typeface="Consolas" panose="020B0609020204030204" pitchFamily="49" charset="0"/>
              </a:rPr>
              <a:t> Atendente();</a:t>
            </a:r>
          </a:p>
          <a:p>
            <a:r>
              <a:rPr lang="pt-BR" sz="1200" dirty="0">
                <a:solidFill>
                  <a:srgbClr val="000000"/>
                </a:solidFill>
                <a:latin typeface="Consolas" panose="020B0609020204030204" pitchFamily="49" charset="0"/>
              </a:rPr>
              <a:t>            </a:t>
            </a:r>
            <a:r>
              <a:rPr lang="pt-BR" sz="1200" dirty="0" err="1">
                <a:solidFill>
                  <a:srgbClr val="000000"/>
                </a:solidFill>
                <a:latin typeface="Consolas" panose="020B0609020204030204" pitchFamily="49" charset="0"/>
              </a:rPr>
              <a:t>at.Login</a:t>
            </a:r>
            <a:r>
              <a:rPr lang="pt-BR" sz="1200" dirty="0">
                <a:solidFill>
                  <a:srgbClr val="000000"/>
                </a:solidFill>
                <a:latin typeface="Consolas" panose="020B0609020204030204" pitchFamily="49" charset="0"/>
              </a:rPr>
              <a:t>();</a:t>
            </a:r>
          </a:p>
          <a:p>
            <a:r>
              <a:rPr lang="pt-BR" sz="1200" dirty="0">
                <a:solidFill>
                  <a:srgbClr val="000000"/>
                </a:solidFill>
                <a:latin typeface="Consolas" panose="020B0609020204030204" pitchFamily="49" charset="0"/>
              </a:rPr>
              <a:t>        }</a:t>
            </a:r>
          </a:p>
          <a:p>
            <a:r>
              <a:rPr lang="pt-BR" sz="1200" dirty="0">
                <a:solidFill>
                  <a:srgbClr val="000000"/>
                </a:solidFill>
                <a:latin typeface="Consolas" panose="020B0609020204030204" pitchFamily="49" charset="0"/>
              </a:rPr>
              <a:t>    }</a:t>
            </a:r>
          </a:p>
          <a:p>
            <a:r>
              <a:rPr lang="pt-BR" sz="1200" dirty="0">
                <a:solidFill>
                  <a:srgbClr val="000000"/>
                </a:solidFill>
                <a:latin typeface="Consolas" panose="020B0609020204030204" pitchFamily="49" charset="0"/>
              </a:rPr>
              <a:t>    </a:t>
            </a:r>
            <a:r>
              <a:rPr lang="pt-BR" sz="1200" dirty="0" err="1">
                <a:solidFill>
                  <a:srgbClr val="0000FF"/>
                </a:solidFill>
                <a:latin typeface="Consolas" panose="020B0609020204030204" pitchFamily="49" charset="0"/>
              </a:rPr>
              <a:t>public</a:t>
            </a:r>
            <a:r>
              <a:rPr lang="pt-BR" sz="1200" dirty="0">
                <a:solidFill>
                  <a:srgbClr val="000000"/>
                </a:solidFill>
                <a:latin typeface="Consolas" panose="020B0609020204030204" pitchFamily="49" charset="0"/>
              </a:rPr>
              <a:t> </a:t>
            </a:r>
            <a:r>
              <a:rPr lang="pt-BR" sz="1200" dirty="0">
                <a:solidFill>
                  <a:srgbClr val="0000FF"/>
                </a:solidFill>
                <a:latin typeface="Consolas" panose="020B0609020204030204" pitchFamily="49" charset="0"/>
              </a:rPr>
              <a:t>abstract</a:t>
            </a:r>
            <a:r>
              <a:rPr lang="pt-BR" sz="1200" dirty="0">
                <a:solidFill>
                  <a:srgbClr val="000000"/>
                </a:solidFill>
                <a:latin typeface="Consolas" panose="020B0609020204030204" pitchFamily="49" charset="0"/>
              </a:rPr>
              <a:t> </a:t>
            </a:r>
            <a:r>
              <a:rPr lang="pt-BR" sz="1200" dirty="0" err="1">
                <a:solidFill>
                  <a:srgbClr val="0000FF"/>
                </a:solidFill>
                <a:latin typeface="Consolas" panose="020B0609020204030204" pitchFamily="49" charset="0"/>
              </a:rPr>
              <a:t>class</a:t>
            </a:r>
            <a:r>
              <a:rPr lang="pt-BR" sz="1200" dirty="0">
                <a:solidFill>
                  <a:srgbClr val="000000"/>
                </a:solidFill>
                <a:latin typeface="Consolas" panose="020B0609020204030204" pitchFamily="49" charset="0"/>
              </a:rPr>
              <a:t> </a:t>
            </a:r>
            <a:r>
              <a:rPr lang="pt-BR" sz="1200" dirty="0" err="1">
                <a:solidFill>
                  <a:srgbClr val="2B91AF"/>
                </a:solidFill>
                <a:latin typeface="Consolas" panose="020B0609020204030204" pitchFamily="49" charset="0"/>
              </a:rPr>
              <a:t>Usuario</a:t>
            </a:r>
            <a:endParaRPr lang="pt-BR" sz="1200" dirty="0">
              <a:solidFill>
                <a:srgbClr val="000000"/>
              </a:solidFill>
              <a:latin typeface="Consolas" panose="020B0609020204030204" pitchFamily="49" charset="0"/>
            </a:endParaRPr>
          </a:p>
          <a:p>
            <a:r>
              <a:rPr lang="pt-BR" sz="1200" dirty="0">
                <a:solidFill>
                  <a:srgbClr val="000000"/>
                </a:solidFill>
                <a:latin typeface="Consolas" panose="020B0609020204030204" pitchFamily="49" charset="0"/>
              </a:rPr>
              <a:t>    {</a:t>
            </a:r>
          </a:p>
          <a:p>
            <a:r>
              <a:rPr lang="pt-BR" sz="1200" dirty="0">
                <a:solidFill>
                  <a:srgbClr val="000000"/>
                </a:solidFill>
                <a:latin typeface="Consolas" panose="020B0609020204030204" pitchFamily="49" charset="0"/>
              </a:rPr>
              <a:t>        </a:t>
            </a:r>
            <a:r>
              <a:rPr lang="pt-BR" sz="1200" dirty="0" err="1">
                <a:solidFill>
                  <a:srgbClr val="0000FF"/>
                </a:solidFill>
                <a:latin typeface="Consolas" panose="020B0609020204030204" pitchFamily="49" charset="0"/>
              </a:rPr>
              <a:t>public</a:t>
            </a:r>
            <a:r>
              <a:rPr lang="pt-BR" sz="1200" dirty="0">
                <a:solidFill>
                  <a:srgbClr val="000000"/>
                </a:solidFill>
                <a:latin typeface="Consolas" panose="020B0609020204030204" pitchFamily="49" charset="0"/>
              </a:rPr>
              <a:t> </a:t>
            </a:r>
            <a:r>
              <a:rPr lang="pt-BR" sz="1200" dirty="0" err="1">
                <a:solidFill>
                  <a:srgbClr val="0000FF"/>
                </a:solidFill>
                <a:latin typeface="Consolas" panose="020B0609020204030204" pitchFamily="49" charset="0"/>
              </a:rPr>
              <a:t>string</a:t>
            </a:r>
            <a:r>
              <a:rPr lang="pt-BR" sz="1200" dirty="0">
                <a:solidFill>
                  <a:srgbClr val="000000"/>
                </a:solidFill>
                <a:latin typeface="Consolas" panose="020B0609020204030204" pitchFamily="49" charset="0"/>
              </a:rPr>
              <a:t> Nome;</a:t>
            </a:r>
          </a:p>
          <a:p>
            <a:r>
              <a:rPr lang="pt-BR" sz="1200" dirty="0">
                <a:solidFill>
                  <a:srgbClr val="000000"/>
                </a:solidFill>
                <a:latin typeface="Consolas" panose="020B0609020204030204" pitchFamily="49" charset="0"/>
              </a:rPr>
              <a:t>        </a:t>
            </a:r>
            <a:r>
              <a:rPr lang="pt-BR" sz="1200" dirty="0" err="1">
                <a:solidFill>
                  <a:srgbClr val="0000FF"/>
                </a:solidFill>
                <a:latin typeface="Consolas" panose="020B0609020204030204" pitchFamily="49" charset="0"/>
              </a:rPr>
              <a:t>public</a:t>
            </a:r>
            <a:r>
              <a:rPr lang="pt-BR" sz="1200" dirty="0">
                <a:solidFill>
                  <a:srgbClr val="000000"/>
                </a:solidFill>
                <a:latin typeface="Consolas" panose="020B0609020204030204" pitchFamily="49" charset="0"/>
              </a:rPr>
              <a:t> </a:t>
            </a:r>
            <a:r>
              <a:rPr lang="pt-BR" sz="1200" dirty="0" err="1">
                <a:solidFill>
                  <a:srgbClr val="0000FF"/>
                </a:solidFill>
                <a:latin typeface="Consolas" panose="020B0609020204030204" pitchFamily="49" charset="0"/>
              </a:rPr>
              <a:t>string</a:t>
            </a:r>
            <a:r>
              <a:rPr lang="pt-BR" sz="1200" dirty="0">
                <a:solidFill>
                  <a:srgbClr val="000000"/>
                </a:solidFill>
                <a:latin typeface="Consolas" panose="020B0609020204030204" pitchFamily="49" charset="0"/>
              </a:rPr>
              <a:t> Senha;</a:t>
            </a:r>
          </a:p>
          <a:p>
            <a:r>
              <a:rPr lang="pt-BR" sz="1200" dirty="0">
                <a:solidFill>
                  <a:srgbClr val="000000"/>
                </a:solidFill>
                <a:latin typeface="Consolas" panose="020B0609020204030204" pitchFamily="49" charset="0"/>
              </a:rPr>
              <a:t>        </a:t>
            </a:r>
            <a:r>
              <a:rPr lang="pt-BR" sz="1200" dirty="0" err="1">
                <a:solidFill>
                  <a:srgbClr val="0000FF"/>
                </a:solidFill>
                <a:latin typeface="Consolas" panose="020B0609020204030204" pitchFamily="49" charset="0"/>
              </a:rPr>
              <a:t>public</a:t>
            </a:r>
            <a:r>
              <a:rPr lang="pt-BR" sz="1200" dirty="0">
                <a:solidFill>
                  <a:srgbClr val="000000"/>
                </a:solidFill>
                <a:latin typeface="Consolas" panose="020B0609020204030204" pitchFamily="49" charset="0"/>
              </a:rPr>
              <a:t> </a:t>
            </a:r>
            <a:r>
              <a:rPr lang="pt-BR" sz="1200" dirty="0">
                <a:solidFill>
                  <a:srgbClr val="0000FF"/>
                </a:solidFill>
                <a:latin typeface="Consolas" panose="020B0609020204030204" pitchFamily="49" charset="0"/>
              </a:rPr>
              <a:t>virtual</a:t>
            </a:r>
            <a:r>
              <a:rPr lang="pt-BR" sz="1200" dirty="0">
                <a:solidFill>
                  <a:srgbClr val="000000"/>
                </a:solidFill>
                <a:latin typeface="Consolas" panose="020B0609020204030204" pitchFamily="49" charset="0"/>
              </a:rPr>
              <a:t> </a:t>
            </a:r>
            <a:r>
              <a:rPr lang="pt-BR" sz="1200" dirty="0" err="1">
                <a:solidFill>
                  <a:srgbClr val="0000FF"/>
                </a:solidFill>
                <a:latin typeface="Consolas" panose="020B0609020204030204" pitchFamily="49" charset="0"/>
              </a:rPr>
              <a:t>void</a:t>
            </a:r>
            <a:r>
              <a:rPr lang="pt-BR" sz="1200" dirty="0">
                <a:solidFill>
                  <a:srgbClr val="000000"/>
                </a:solidFill>
                <a:latin typeface="Consolas" panose="020B0609020204030204" pitchFamily="49" charset="0"/>
              </a:rPr>
              <a:t> </a:t>
            </a:r>
            <a:r>
              <a:rPr lang="pt-BR" sz="1200" dirty="0" err="1">
                <a:solidFill>
                  <a:srgbClr val="000000"/>
                </a:solidFill>
                <a:latin typeface="Consolas" panose="020B0609020204030204" pitchFamily="49" charset="0"/>
              </a:rPr>
              <a:t>Login</a:t>
            </a:r>
            <a:r>
              <a:rPr lang="pt-BR" sz="1200" dirty="0">
                <a:solidFill>
                  <a:srgbClr val="000000"/>
                </a:solidFill>
                <a:latin typeface="Consolas" panose="020B0609020204030204" pitchFamily="49" charset="0"/>
              </a:rPr>
              <a:t>()</a:t>
            </a:r>
          </a:p>
          <a:p>
            <a:r>
              <a:rPr lang="pt-BR" sz="1200" dirty="0">
                <a:solidFill>
                  <a:srgbClr val="000000"/>
                </a:solidFill>
                <a:latin typeface="Consolas" panose="020B0609020204030204" pitchFamily="49" charset="0"/>
              </a:rPr>
              <a:t>        {</a:t>
            </a:r>
          </a:p>
          <a:p>
            <a:r>
              <a:rPr lang="pt-BR" sz="1200" dirty="0">
                <a:solidFill>
                  <a:srgbClr val="000000"/>
                </a:solidFill>
                <a:latin typeface="Consolas" panose="020B0609020204030204" pitchFamily="49" charset="0"/>
              </a:rPr>
              <a:t>            </a:t>
            </a:r>
            <a:r>
              <a:rPr lang="pt-BR" sz="1200" dirty="0" err="1">
                <a:solidFill>
                  <a:srgbClr val="000000"/>
                </a:solidFill>
                <a:latin typeface="Consolas" panose="020B0609020204030204" pitchFamily="49" charset="0"/>
              </a:rPr>
              <a:t>Console.WriteLine</a:t>
            </a:r>
            <a:r>
              <a:rPr lang="pt-BR" sz="1200" dirty="0">
                <a:solidFill>
                  <a:srgbClr val="000000"/>
                </a:solidFill>
                <a:latin typeface="Consolas" panose="020B0609020204030204" pitchFamily="49" charset="0"/>
              </a:rPr>
              <a:t>(</a:t>
            </a:r>
            <a:r>
              <a:rPr lang="pt-BR" sz="1200" dirty="0">
                <a:solidFill>
                  <a:srgbClr val="A31515"/>
                </a:solidFill>
                <a:latin typeface="Consolas" panose="020B0609020204030204" pitchFamily="49" charset="0"/>
              </a:rPr>
              <a:t>"Eu sou um </a:t>
            </a:r>
            <a:r>
              <a:rPr lang="pt-BR" sz="1200" dirty="0" err="1">
                <a:solidFill>
                  <a:srgbClr val="A31515"/>
                </a:solidFill>
                <a:latin typeface="Consolas" panose="020B0609020204030204" pitchFamily="49" charset="0"/>
              </a:rPr>
              <a:t>usuario</a:t>
            </a:r>
            <a:r>
              <a:rPr lang="pt-BR" sz="1200" dirty="0">
                <a:solidFill>
                  <a:srgbClr val="A31515"/>
                </a:solidFill>
                <a:latin typeface="Consolas" panose="020B0609020204030204" pitchFamily="49" charset="0"/>
              </a:rPr>
              <a:t>"</a:t>
            </a:r>
            <a:r>
              <a:rPr lang="pt-BR" sz="1200" dirty="0">
                <a:solidFill>
                  <a:srgbClr val="000000"/>
                </a:solidFill>
                <a:latin typeface="Consolas" panose="020B0609020204030204" pitchFamily="49" charset="0"/>
              </a:rPr>
              <a:t>);</a:t>
            </a:r>
          </a:p>
          <a:p>
            <a:r>
              <a:rPr lang="pt-BR" sz="1200" dirty="0">
                <a:solidFill>
                  <a:srgbClr val="000000"/>
                </a:solidFill>
                <a:latin typeface="Consolas" panose="020B0609020204030204" pitchFamily="49" charset="0"/>
              </a:rPr>
              <a:t>        }</a:t>
            </a:r>
          </a:p>
          <a:p>
            <a:r>
              <a:rPr lang="pt-BR" sz="1200" dirty="0">
                <a:solidFill>
                  <a:srgbClr val="000000"/>
                </a:solidFill>
                <a:latin typeface="Consolas" panose="020B0609020204030204" pitchFamily="49" charset="0"/>
              </a:rPr>
              <a:t>    }</a:t>
            </a:r>
          </a:p>
          <a:p>
            <a:r>
              <a:rPr lang="pt-BR" sz="1200" dirty="0">
                <a:solidFill>
                  <a:srgbClr val="000000"/>
                </a:solidFill>
                <a:latin typeface="Consolas" panose="020B0609020204030204" pitchFamily="49" charset="0"/>
              </a:rPr>
              <a:t>    </a:t>
            </a:r>
            <a:r>
              <a:rPr lang="pt-BR" sz="1200" dirty="0" err="1">
                <a:solidFill>
                  <a:srgbClr val="0000FF"/>
                </a:solidFill>
                <a:latin typeface="Consolas" panose="020B0609020204030204" pitchFamily="49" charset="0"/>
              </a:rPr>
              <a:t>public</a:t>
            </a:r>
            <a:r>
              <a:rPr lang="pt-BR" sz="1200" dirty="0">
                <a:solidFill>
                  <a:srgbClr val="000000"/>
                </a:solidFill>
                <a:latin typeface="Consolas" panose="020B0609020204030204" pitchFamily="49" charset="0"/>
              </a:rPr>
              <a:t> </a:t>
            </a:r>
            <a:r>
              <a:rPr lang="pt-BR" sz="1200" dirty="0" err="1">
                <a:solidFill>
                  <a:srgbClr val="0000FF"/>
                </a:solidFill>
                <a:latin typeface="Consolas" panose="020B0609020204030204" pitchFamily="49" charset="0"/>
              </a:rPr>
              <a:t>class</a:t>
            </a:r>
            <a:r>
              <a:rPr lang="pt-BR" sz="1200" dirty="0">
                <a:solidFill>
                  <a:srgbClr val="000000"/>
                </a:solidFill>
                <a:latin typeface="Consolas" panose="020B0609020204030204" pitchFamily="49" charset="0"/>
              </a:rPr>
              <a:t> </a:t>
            </a:r>
            <a:r>
              <a:rPr lang="pt-BR" sz="1200" dirty="0">
                <a:solidFill>
                  <a:srgbClr val="2B91AF"/>
                </a:solidFill>
                <a:latin typeface="Consolas" panose="020B0609020204030204" pitchFamily="49" charset="0"/>
              </a:rPr>
              <a:t>Cliente</a:t>
            </a:r>
            <a:r>
              <a:rPr lang="pt-BR" sz="1200" dirty="0">
                <a:solidFill>
                  <a:srgbClr val="000000"/>
                </a:solidFill>
                <a:latin typeface="Consolas" panose="020B0609020204030204" pitchFamily="49" charset="0"/>
              </a:rPr>
              <a:t> : </a:t>
            </a:r>
            <a:r>
              <a:rPr lang="pt-BR" sz="1200" dirty="0" err="1">
                <a:solidFill>
                  <a:srgbClr val="000000"/>
                </a:solidFill>
                <a:latin typeface="Consolas" panose="020B0609020204030204" pitchFamily="49" charset="0"/>
              </a:rPr>
              <a:t>Usuario</a:t>
            </a:r>
            <a:r>
              <a:rPr lang="pt-BR" sz="1200" dirty="0">
                <a:solidFill>
                  <a:srgbClr val="000000"/>
                </a:solidFill>
                <a:latin typeface="Consolas" panose="020B0609020204030204" pitchFamily="49" charset="0"/>
              </a:rPr>
              <a:t> { }</a:t>
            </a:r>
          </a:p>
          <a:p>
            <a:r>
              <a:rPr lang="pt-BR" sz="1200" dirty="0">
                <a:solidFill>
                  <a:srgbClr val="000000"/>
                </a:solidFill>
                <a:latin typeface="Consolas" panose="020B0609020204030204" pitchFamily="49" charset="0"/>
              </a:rPr>
              <a:t>    </a:t>
            </a:r>
            <a:r>
              <a:rPr lang="pt-BR" sz="1200" dirty="0" err="1">
                <a:solidFill>
                  <a:srgbClr val="0000FF"/>
                </a:solidFill>
                <a:latin typeface="Consolas" panose="020B0609020204030204" pitchFamily="49" charset="0"/>
              </a:rPr>
              <a:t>public</a:t>
            </a:r>
            <a:r>
              <a:rPr lang="pt-BR" sz="1200" dirty="0">
                <a:solidFill>
                  <a:srgbClr val="000000"/>
                </a:solidFill>
                <a:latin typeface="Consolas" panose="020B0609020204030204" pitchFamily="49" charset="0"/>
              </a:rPr>
              <a:t> </a:t>
            </a:r>
            <a:r>
              <a:rPr lang="pt-BR" sz="1200" dirty="0" err="1">
                <a:solidFill>
                  <a:srgbClr val="0000FF"/>
                </a:solidFill>
                <a:latin typeface="Consolas" panose="020B0609020204030204" pitchFamily="49" charset="0"/>
              </a:rPr>
              <a:t>class</a:t>
            </a:r>
            <a:r>
              <a:rPr lang="pt-BR" sz="1200" dirty="0">
                <a:solidFill>
                  <a:srgbClr val="000000"/>
                </a:solidFill>
                <a:latin typeface="Consolas" panose="020B0609020204030204" pitchFamily="49" charset="0"/>
              </a:rPr>
              <a:t> </a:t>
            </a:r>
            <a:r>
              <a:rPr lang="pt-BR" sz="1200" dirty="0">
                <a:solidFill>
                  <a:srgbClr val="2B91AF"/>
                </a:solidFill>
                <a:latin typeface="Consolas" panose="020B0609020204030204" pitchFamily="49" charset="0"/>
              </a:rPr>
              <a:t>Atendente</a:t>
            </a:r>
            <a:r>
              <a:rPr lang="pt-BR" sz="1200" dirty="0">
                <a:solidFill>
                  <a:srgbClr val="000000"/>
                </a:solidFill>
                <a:latin typeface="Consolas" panose="020B0609020204030204" pitchFamily="49" charset="0"/>
              </a:rPr>
              <a:t> : </a:t>
            </a:r>
            <a:r>
              <a:rPr lang="pt-BR" sz="1200" dirty="0" err="1">
                <a:solidFill>
                  <a:srgbClr val="000000"/>
                </a:solidFill>
                <a:latin typeface="Consolas" panose="020B0609020204030204" pitchFamily="49" charset="0"/>
              </a:rPr>
              <a:t>Usuario</a:t>
            </a:r>
            <a:r>
              <a:rPr lang="pt-BR" sz="1200" dirty="0">
                <a:solidFill>
                  <a:srgbClr val="000000"/>
                </a:solidFill>
                <a:latin typeface="Consolas" panose="020B0609020204030204" pitchFamily="49" charset="0"/>
              </a:rPr>
              <a:t> { }</a:t>
            </a:r>
          </a:p>
          <a:p>
            <a:r>
              <a:rPr lang="pt-BR" sz="1200" dirty="0">
                <a:solidFill>
                  <a:srgbClr val="000000"/>
                </a:solidFill>
                <a:latin typeface="Consolas" panose="020B0609020204030204" pitchFamily="49" charset="0"/>
              </a:rPr>
              <a:t>    </a:t>
            </a:r>
            <a:r>
              <a:rPr lang="pt-BR" sz="1200" dirty="0" err="1">
                <a:solidFill>
                  <a:srgbClr val="0000FF"/>
                </a:solidFill>
                <a:latin typeface="Consolas" panose="020B0609020204030204" pitchFamily="49" charset="0"/>
              </a:rPr>
              <a:t>public</a:t>
            </a:r>
            <a:r>
              <a:rPr lang="pt-BR" sz="1200" dirty="0">
                <a:solidFill>
                  <a:srgbClr val="000000"/>
                </a:solidFill>
                <a:latin typeface="Consolas" panose="020B0609020204030204" pitchFamily="49" charset="0"/>
              </a:rPr>
              <a:t> </a:t>
            </a:r>
            <a:r>
              <a:rPr lang="pt-BR" sz="1200" dirty="0" err="1">
                <a:solidFill>
                  <a:srgbClr val="0000FF"/>
                </a:solidFill>
                <a:latin typeface="Consolas" panose="020B0609020204030204" pitchFamily="49" charset="0"/>
              </a:rPr>
              <a:t>class</a:t>
            </a:r>
            <a:r>
              <a:rPr lang="pt-BR" sz="1200" dirty="0">
                <a:solidFill>
                  <a:srgbClr val="000000"/>
                </a:solidFill>
                <a:latin typeface="Consolas" panose="020B0609020204030204" pitchFamily="49" charset="0"/>
              </a:rPr>
              <a:t> </a:t>
            </a:r>
            <a:r>
              <a:rPr lang="pt-BR" sz="1200" dirty="0">
                <a:solidFill>
                  <a:srgbClr val="2B91AF"/>
                </a:solidFill>
                <a:latin typeface="Consolas" panose="020B0609020204030204" pitchFamily="49" charset="0"/>
              </a:rPr>
              <a:t>Gerente</a:t>
            </a:r>
            <a:r>
              <a:rPr lang="pt-BR" sz="1200" dirty="0">
                <a:solidFill>
                  <a:srgbClr val="000000"/>
                </a:solidFill>
                <a:latin typeface="Consolas" panose="020B0609020204030204" pitchFamily="49" charset="0"/>
              </a:rPr>
              <a:t> : </a:t>
            </a:r>
            <a:r>
              <a:rPr lang="pt-BR" sz="1200" dirty="0" err="1">
                <a:solidFill>
                  <a:srgbClr val="000000"/>
                </a:solidFill>
                <a:latin typeface="Consolas" panose="020B0609020204030204" pitchFamily="49" charset="0"/>
              </a:rPr>
              <a:t>Usuario</a:t>
            </a:r>
            <a:r>
              <a:rPr lang="pt-BR" sz="1200" dirty="0">
                <a:solidFill>
                  <a:srgbClr val="000000"/>
                </a:solidFill>
                <a:latin typeface="Consolas" panose="020B0609020204030204" pitchFamily="49" charset="0"/>
              </a:rPr>
              <a:t> { }</a:t>
            </a:r>
          </a:p>
          <a:p>
            <a:r>
              <a:rPr lang="pt-BR" sz="1200" dirty="0">
                <a:solidFill>
                  <a:srgbClr val="000000"/>
                </a:solidFill>
                <a:latin typeface="Consolas" panose="020B0609020204030204" pitchFamily="49" charset="0"/>
              </a:rPr>
              <a:t>    </a:t>
            </a:r>
            <a:r>
              <a:rPr lang="pt-BR" sz="1200" dirty="0" err="1">
                <a:solidFill>
                  <a:srgbClr val="0000FF"/>
                </a:solidFill>
                <a:latin typeface="Consolas" panose="020B0609020204030204" pitchFamily="49" charset="0"/>
              </a:rPr>
              <a:t>public</a:t>
            </a:r>
            <a:r>
              <a:rPr lang="pt-BR" sz="1200" dirty="0">
                <a:solidFill>
                  <a:srgbClr val="000000"/>
                </a:solidFill>
                <a:latin typeface="Consolas" panose="020B0609020204030204" pitchFamily="49" charset="0"/>
              </a:rPr>
              <a:t> </a:t>
            </a:r>
            <a:r>
              <a:rPr lang="pt-BR" sz="1200" dirty="0" err="1">
                <a:solidFill>
                  <a:srgbClr val="0000FF"/>
                </a:solidFill>
                <a:latin typeface="Consolas" panose="020B0609020204030204" pitchFamily="49" charset="0"/>
              </a:rPr>
              <a:t>class</a:t>
            </a:r>
            <a:r>
              <a:rPr lang="pt-BR" sz="1200" dirty="0">
                <a:solidFill>
                  <a:srgbClr val="000000"/>
                </a:solidFill>
                <a:latin typeface="Consolas" panose="020B0609020204030204" pitchFamily="49" charset="0"/>
              </a:rPr>
              <a:t> </a:t>
            </a:r>
            <a:r>
              <a:rPr lang="pt-BR" sz="1200" dirty="0" err="1">
                <a:solidFill>
                  <a:srgbClr val="2B91AF"/>
                </a:solidFill>
                <a:latin typeface="Consolas" panose="020B0609020204030204" pitchFamily="49" charset="0"/>
              </a:rPr>
              <a:t>Admin</a:t>
            </a:r>
            <a:r>
              <a:rPr lang="pt-BR" sz="1200" dirty="0">
                <a:solidFill>
                  <a:srgbClr val="000000"/>
                </a:solidFill>
                <a:latin typeface="Consolas" panose="020B0609020204030204" pitchFamily="49" charset="0"/>
              </a:rPr>
              <a:t> : </a:t>
            </a:r>
            <a:r>
              <a:rPr lang="pt-BR" sz="1200" dirty="0" err="1">
                <a:solidFill>
                  <a:srgbClr val="000000"/>
                </a:solidFill>
                <a:latin typeface="Consolas" panose="020B0609020204030204" pitchFamily="49" charset="0"/>
              </a:rPr>
              <a:t>Usuario</a:t>
            </a:r>
            <a:endParaRPr lang="pt-BR" sz="1200" dirty="0">
              <a:solidFill>
                <a:srgbClr val="000000"/>
              </a:solidFill>
              <a:latin typeface="Consolas" panose="020B0609020204030204" pitchFamily="49" charset="0"/>
            </a:endParaRPr>
          </a:p>
          <a:p>
            <a:r>
              <a:rPr lang="pt-BR" sz="1200" dirty="0">
                <a:solidFill>
                  <a:srgbClr val="000000"/>
                </a:solidFill>
                <a:latin typeface="Consolas" panose="020B0609020204030204" pitchFamily="49" charset="0"/>
              </a:rPr>
              <a:t>    {</a:t>
            </a:r>
          </a:p>
          <a:p>
            <a:r>
              <a:rPr lang="pt-BR" sz="1200" dirty="0">
                <a:solidFill>
                  <a:srgbClr val="000000"/>
                </a:solidFill>
                <a:latin typeface="Consolas" panose="020B0609020204030204" pitchFamily="49" charset="0"/>
              </a:rPr>
              <a:t>        </a:t>
            </a:r>
            <a:r>
              <a:rPr lang="pt-BR" sz="1200" dirty="0" err="1">
                <a:solidFill>
                  <a:srgbClr val="0000FF"/>
                </a:solidFill>
                <a:latin typeface="Consolas" panose="020B0609020204030204" pitchFamily="49" charset="0"/>
              </a:rPr>
              <a:t>public</a:t>
            </a:r>
            <a:r>
              <a:rPr lang="pt-BR" sz="1200" dirty="0">
                <a:solidFill>
                  <a:srgbClr val="000000"/>
                </a:solidFill>
                <a:latin typeface="Consolas" panose="020B0609020204030204" pitchFamily="49" charset="0"/>
              </a:rPr>
              <a:t> </a:t>
            </a:r>
            <a:r>
              <a:rPr lang="pt-BR" sz="1200" dirty="0" err="1">
                <a:solidFill>
                  <a:srgbClr val="0000FF"/>
                </a:solidFill>
                <a:latin typeface="Consolas" panose="020B0609020204030204" pitchFamily="49" charset="0"/>
              </a:rPr>
              <a:t>override</a:t>
            </a:r>
            <a:r>
              <a:rPr lang="pt-BR" sz="1200" dirty="0">
                <a:solidFill>
                  <a:srgbClr val="000000"/>
                </a:solidFill>
                <a:latin typeface="Consolas" panose="020B0609020204030204" pitchFamily="49" charset="0"/>
              </a:rPr>
              <a:t> </a:t>
            </a:r>
            <a:r>
              <a:rPr lang="pt-BR" sz="1200" dirty="0" err="1">
                <a:solidFill>
                  <a:srgbClr val="0000FF"/>
                </a:solidFill>
                <a:latin typeface="Consolas" panose="020B0609020204030204" pitchFamily="49" charset="0"/>
              </a:rPr>
              <a:t>void</a:t>
            </a:r>
            <a:r>
              <a:rPr lang="pt-BR" sz="1200" dirty="0">
                <a:solidFill>
                  <a:srgbClr val="000000"/>
                </a:solidFill>
                <a:latin typeface="Consolas" panose="020B0609020204030204" pitchFamily="49" charset="0"/>
              </a:rPr>
              <a:t> </a:t>
            </a:r>
            <a:r>
              <a:rPr lang="pt-BR" sz="1200" dirty="0" err="1">
                <a:solidFill>
                  <a:srgbClr val="000000"/>
                </a:solidFill>
                <a:latin typeface="Consolas" panose="020B0609020204030204" pitchFamily="49" charset="0"/>
              </a:rPr>
              <a:t>Login</a:t>
            </a:r>
            <a:r>
              <a:rPr lang="pt-BR" sz="1200" dirty="0">
                <a:solidFill>
                  <a:srgbClr val="000000"/>
                </a:solidFill>
                <a:latin typeface="Consolas" panose="020B0609020204030204" pitchFamily="49" charset="0"/>
              </a:rPr>
              <a:t>()</a:t>
            </a:r>
          </a:p>
          <a:p>
            <a:r>
              <a:rPr lang="pt-BR" sz="1200" dirty="0">
                <a:solidFill>
                  <a:srgbClr val="000000"/>
                </a:solidFill>
                <a:latin typeface="Consolas" panose="020B0609020204030204" pitchFamily="49" charset="0"/>
              </a:rPr>
              <a:t>        {</a:t>
            </a:r>
          </a:p>
          <a:p>
            <a:r>
              <a:rPr lang="pt-BR" sz="1200" dirty="0">
                <a:solidFill>
                  <a:srgbClr val="000000"/>
                </a:solidFill>
                <a:latin typeface="Consolas" panose="020B0609020204030204" pitchFamily="49" charset="0"/>
              </a:rPr>
              <a:t>            </a:t>
            </a:r>
            <a:r>
              <a:rPr lang="pt-BR" sz="1200" dirty="0" err="1">
                <a:solidFill>
                  <a:srgbClr val="000000"/>
                </a:solidFill>
                <a:latin typeface="Consolas" panose="020B0609020204030204" pitchFamily="49" charset="0"/>
              </a:rPr>
              <a:t>Console.WriteLine</a:t>
            </a:r>
            <a:r>
              <a:rPr lang="pt-BR" sz="1200" dirty="0">
                <a:solidFill>
                  <a:srgbClr val="000000"/>
                </a:solidFill>
                <a:latin typeface="Consolas" panose="020B0609020204030204" pitchFamily="49" charset="0"/>
              </a:rPr>
              <a:t>(</a:t>
            </a:r>
            <a:r>
              <a:rPr lang="pt-BR" sz="1200" dirty="0">
                <a:solidFill>
                  <a:srgbClr val="A31515"/>
                </a:solidFill>
                <a:latin typeface="Consolas" panose="020B0609020204030204" pitchFamily="49" charset="0"/>
              </a:rPr>
              <a:t>"Eu sou o </a:t>
            </a:r>
            <a:r>
              <a:rPr lang="pt-BR" sz="1200" dirty="0" err="1">
                <a:solidFill>
                  <a:srgbClr val="A31515"/>
                </a:solidFill>
                <a:latin typeface="Consolas" panose="020B0609020204030204" pitchFamily="49" charset="0"/>
              </a:rPr>
              <a:t>admin</a:t>
            </a:r>
            <a:r>
              <a:rPr lang="pt-BR" sz="1200" dirty="0">
                <a:solidFill>
                  <a:srgbClr val="A31515"/>
                </a:solidFill>
                <a:latin typeface="Consolas" panose="020B0609020204030204" pitchFamily="49" charset="0"/>
              </a:rPr>
              <a:t>"</a:t>
            </a:r>
            <a:r>
              <a:rPr lang="pt-BR" sz="1200" dirty="0">
                <a:solidFill>
                  <a:srgbClr val="000000"/>
                </a:solidFill>
                <a:latin typeface="Consolas" panose="020B0609020204030204" pitchFamily="49" charset="0"/>
              </a:rPr>
              <a:t>);</a:t>
            </a:r>
          </a:p>
          <a:p>
            <a:r>
              <a:rPr lang="pt-BR" sz="1200" dirty="0">
                <a:solidFill>
                  <a:srgbClr val="000000"/>
                </a:solidFill>
                <a:latin typeface="Consolas" panose="020B0609020204030204" pitchFamily="49" charset="0"/>
              </a:rPr>
              <a:t>        }</a:t>
            </a:r>
          </a:p>
          <a:p>
            <a:r>
              <a:rPr lang="pt-BR" sz="1200" dirty="0">
                <a:solidFill>
                  <a:srgbClr val="000000"/>
                </a:solidFill>
                <a:latin typeface="Consolas" panose="020B0609020204030204" pitchFamily="49" charset="0"/>
              </a:rPr>
              <a:t>    }</a:t>
            </a:r>
          </a:p>
          <a:p>
            <a:r>
              <a:rPr lang="pt-BR" sz="1200" dirty="0">
                <a:solidFill>
                  <a:srgbClr val="000000"/>
                </a:solidFill>
                <a:latin typeface="Consolas" panose="020B0609020204030204" pitchFamily="49" charset="0"/>
              </a:rPr>
              <a:t>}</a:t>
            </a:r>
          </a:p>
        </p:txBody>
      </p:sp>
    </p:spTree>
    <p:extLst>
      <p:ext uri="{BB962C8B-B14F-4D97-AF65-F5344CB8AC3E}">
        <p14:creationId xmlns:p14="http://schemas.microsoft.com/office/powerpoint/2010/main" val="410985504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B7EE1E1-9747-4F9F-AA26-C1AB16617234}"/>
              </a:ext>
            </a:extLst>
          </p:cNvPr>
          <p:cNvSpPr>
            <a:spLocks noGrp="1"/>
          </p:cNvSpPr>
          <p:nvPr>
            <p:ph type="title"/>
          </p:nvPr>
        </p:nvSpPr>
        <p:spPr/>
        <p:txBody>
          <a:bodyPr/>
          <a:lstStyle/>
          <a:p>
            <a:r>
              <a:rPr lang="pt-BR" dirty="0"/>
              <a:t>Exercício</a:t>
            </a:r>
          </a:p>
        </p:txBody>
      </p:sp>
      <p:sp>
        <p:nvSpPr>
          <p:cNvPr id="3" name="Espaço Reservado para Conteúdo 2">
            <a:extLst>
              <a:ext uri="{FF2B5EF4-FFF2-40B4-BE49-F238E27FC236}">
                <a16:creationId xmlns:a16="http://schemas.microsoft.com/office/drawing/2014/main" id="{A785A516-1B1A-4B3D-8E26-73CFFB801A61}"/>
              </a:ext>
            </a:extLst>
          </p:cNvPr>
          <p:cNvSpPr>
            <a:spLocks noGrp="1"/>
          </p:cNvSpPr>
          <p:nvPr>
            <p:ph idx="1"/>
          </p:nvPr>
        </p:nvSpPr>
        <p:spPr/>
        <p:txBody>
          <a:bodyPr>
            <a:normAutofit/>
          </a:bodyPr>
          <a:lstStyle/>
          <a:p>
            <a:pPr algn="just"/>
            <a:r>
              <a:rPr lang="pt-BR" sz="2800" b="0" i="0" dirty="0">
                <a:solidFill>
                  <a:srgbClr val="001A1E"/>
                </a:solidFill>
                <a:effectLst/>
              </a:rPr>
              <a:t>Criar as classes, em C#, para um sistema que armazena informações de diferentes automóveis, como placa, modelo, ano de fabricação, ano de modelo e valor atual. Em relação ao combustível utilizado, um automóvel pode utilizar exclusivamente gasolina, exclusivamente etanol, ou ambos. Carros que utilizam exclusivamente etanol possuem, no estado de SP, alíquota do IPVA em 3% do seu valor, enquanto para os demais, o valor da alíquota é de 4%. Criar um método para calcular o IPVA devido de cada automóvel. Criar classes diferentes para os automóveis de acordo com o tipo de combustível que utilizam.</a:t>
            </a:r>
            <a:endParaRPr lang="pt-BR" sz="2800" dirty="0"/>
          </a:p>
        </p:txBody>
      </p:sp>
    </p:spTree>
    <p:extLst>
      <p:ext uri="{BB962C8B-B14F-4D97-AF65-F5344CB8AC3E}">
        <p14:creationId xmlns:p14="http://schemas.microsoft.com/office/powerpoint/2010/main" val="1274242150"/>
      </p:ext>
    </p:extLst>
  </p:cSld>
  <p:clrMapOvr>
    <a:masterClrMapping/>
  </p:clrMapOvr>
</p:sld>
</file>

<file path=ppt/theme/theme1.xml><?xml version="1.0" encoding="utf-8"?>
<a:theme xmlns:a="http://schemas.openxmlformats.org/drawingml/2006/main" name="Retrospectiva">
  <a:themeElements>
    <a:clrScheme name="Retrospectiva">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6B9F25"/>
      </a:hlink>
      <a:folHlink>
        <a:srgbClr val="B26B02"/>
      </a:folHlink>
    </a:clrScheme>
    <a:fontScheme name="Retrospectiva">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iva">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D26EA377-59BD-4C9C-9D94-EE8416EE4C79}"/>
    </a:ext>
  </a:extLst>
</a:theme>
</file>

<file path=docProps/app.xml><?xml version="1.0" encoding="utf-8"?>
<Properties xmlns="http://schemas.openxmlformats.org/officeDocument/2006/extended-properties" xmlns:vt="http://schemas.openxmlformats.org/officeDocument/2006/docPropsVTypes">
  <Template/>
  <TotalTime>1409</TotalTime>
  <Words>2482</Words>
  <Application>Microsoft Office PowerPoint</Application>
  <PresentationFormat>Widescreen</PresentationFormat>
  <Paragraphs>366</Paragraphs>
  <Slides>42</Slides>
  <Notes>0</Notes>
  <HiddenSlides>0</HiddenSlides>
  <MMClips>0</MMClips>
  <ScaleCrop>false</ScaleCrop>
  <HeadingPairs>
    <vt:vector size="6" baseType="variant">
      <vt:variant>
        <vt:lpstr>Fontes usadas</vt:lpstr>
      </vt:variant>
      <vt:variant>
        <vt:i4>5</vt:i4>
      </vt:variant>
      <vt:variant>
        <vt:lpstr>Tema</vt:lpstr>
      </vt:variant>
      <vt:variant>
        <vt:i4>1</vt:i4>
      </vt:variant>
      <vt:variant>
        <vt:lpstr>Títulos de slides</vt:lpstr>
      </vt:variant>
      <vt:variant>
        <vt:i4>42</vt:i4>
      </vt:variant>
    </vt:vector>
  </HeadingPairs>
  <TitlesOfParts>
    <vt:vector size="48" baseType="lpstr">
      <vt:lpstr>Calibri</vt:lpstr>
      <vt:lpstr>Calibri Light</vt:lpstr>
      <vt:lpstr>Cambria Math</vt:lpstr>
      <vt:lpstr>Consolas</vt:lpstr>
      <vt:lpstr>Wingdings</vt:lpstr>
      <vt:lpstr>Retrospectiva</vt:lpstr>
      <vt:lpstr>Linguagem de Programação 2</vt:lpstr>
      <vt:lpstr>Atributos e métodos estáticos</vt:lpstr>
      <vt:lpstr>Atributos e métodos estáticos</vt:lpstr>
      <vt:lpstr>Atributos e métodos estáticos</vt:lpstr>
      <vt:lpstr>Atributos e métodos estáticos</vt:lpstr>
      <vt:lpstr>Atributos e métodos estáticos</vt:lpstr>
      <vt:lpstr>Classes estáticas</vt:lpstr>
      <vt:lpstr>Herança</vt:lpstr>
      <vt:lpstr>Herança</vt:lpstr>
      <vt:lpstr>Exemplo</vt:lpstr>
      <vt:lpstr>Exemplo (modelagem 1)</vt:lpstr>
      <vt:lpstr>Exemplo (modelagem 1)</vt:lpstr>
      <vt:lpstr>Exemplo (modelagem 2)</vt:lpstr>
      <vt:lpstr>Exemplo (modelagem 2)</vt:lpstr>
      <vt:lpstr>Encapsulamento</vt:lpstr>
      <vt:lpstr>Modificador de acesso</vt:lpstr>
      <vt:lpstr>Classes “Sealed”</vt:lpstr>
      <vt:lpstr>Exemplo</vt:lpstr>
      <vt:lpstr>Classes abstratas</vt:lpstr>
      <vt:lpstr>Classes abstratas</vt:lpstr>
      <vt:lpstr>Exercício</vt:lpstr>
      <vt:lpstr>Solução inicial (modelagem simples)</vt:lpstr>
      <vt:lpstr>Solução 2 (herança)</vt:lpstr>
      <vt:lpstr>Métodos abstratos</vt:lpstr>
      <vt:lpstr>Métodos abstratos</vt:lpstr>
      <vt:lpstr>Solução Correta</vt:lpstr>
      <vt:lpstr>Exemplo</vt:lpstr>
      <vt:lpstr>Solução</vt:lpstr>
      <vt:lpstr>Exemplo</vt:lpstr>
      <vt:lpstr>Solução inicial</vt:lpstr>
      <vt:lpstr>Interfaces</vt:lpstr>
      <vt:lpstr>Interfaces</vt:lpstr>
      <vt:lpstr>Exemplo</vt:lpstr>
      <vt:lpstr>Exemplo</vt:lpstr>
      <vt:lpstr>Exemplo</vt:lpstr>
      <vt:lpstr>Solução correta</vt:lpstr>
      <vt:lpstr>Apresentação do PowerPoint</vt:lpstr>
      <vt:lpstr>Exemplo</vt:lpstr>
      <vt:lpstr>Métodos virtuais</vt:lpstr>
      <vt:lpstr>Métodos virtuais</vt:lpstr>
      <vt:lpstr>Apresentação do PowerPoint</vt:lpstr>
      <vt:lpstr>Exercício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Linguagem de Programação II</dc:title>
  <dc:creator>Windows User</dc:creator>
  <cp:lastModifiedBy>Tiago Docusse</cp:lastModifiedBy>
  <cp:revision>136</cp:revision>
  <dcterms:created xsi:type="dcterms:W3CDTF">2014-08-05T13:32:52Z</dcterms:created>
  <dcterms:modified xsi:type="dcterms:W3CDTF">2026-02-28T09:44:57Z</dcterms:modified>
</cp:coreProperties>
</file>