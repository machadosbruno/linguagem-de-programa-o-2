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  <p:sldMasterId id="2147483852" r:id="rId2"/>
  </p:sldMasterIdLst>
  <p:notesMasterIdLst>
    <p:notesMasterId r:id="rId41"/>
  </p:notesMasterIdLst>
  <p:sldIdLst>
    <p:sldId id="326" r:id="rId3"/>
    <p:sldId id="294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27" r:id="rId12"/>
    <p:sldId id="330" r:id="rId13"/>
    <p:sldId id="331" r:id="rId14"/>
    <p:sldId id="333" r:id="rId15"/>
    <p:sldId id="334" r:id="rId16"/>
    <p:sldId id="335" r:id="rId17"/>
    <p:sldId id="336" r:id="rId18"/>
    <p:sldId id="337" r:id="rId19"/>
    <p:sldId id="306" r:id="rId20"/>
    <p:sldId id="338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8" r:id="rId39"/>
    <p:sldId id="329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00000"/>
    <a:srgbClr val="006000"/>
    <a:srgbClr val="F8F8F8"/>
    <a:srgbClr val="007000"/>
    <a:srgbClr val="006600"/>
    <a:srgbClr val="006C00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Estilo Médio 3 - 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B1B01-5CCD-4768-AB5B-5546B2879E97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0E879A-A105-4CE8-9918-236137BA33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51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0E879A-A105-4CE8-9918-236137BA330D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530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2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0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42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3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5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3181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89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31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1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024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612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61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89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716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329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21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785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482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084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4833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66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60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23C442-C616-4505-B16A-331FB15D015A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AC8DE4D-3148-4659-A29B-43587D10C453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52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66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Conceitos Iniciais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solidFill>
                  <a:srgbClr val="003300"/>
                </a:solidFill>
              </a:rPr>
              <a:t>Paradigmas de Programação</a:t>
            </a:r>
          </a:p>
          <a:p>
            <a:pPr lvl="1"/>
            <a:r>
              <a:rPr lang="pt-BR" sz="3200" dirty="0">
                <a:solidFill>
                  <a:srgbClr val="003300"/>
                </a:solidFill>
              </a:rPr>
              <a:t>Imperativo;</a:t>
            </a:r>
          </a:p>
          <a:p>
            <a:pPr lvl="1"/>
            <a:r>
              <a:rPr lang="pt-BR" sz="3200" dirty="0">
                <a:solidFill>
                  <a:srgbClr val="003300"/>
                </a:solidFill>
              </a:rPr>
              <a:t>Estruturado;</a:t>
            </a:r>
          </a:p>
          <a:p>
            <a:pPr lvl="1"/>
            <a:r>
              <a:rPr lang="pt-BR" sz="3200" b="1" dirty="0">
                <a:solidFill>
                  <a:srgbClr val="003300"/>
                </a:solidFill>
              </a:rPr>
              <a:t>Orientado a Objetos;</a:t>
            </a:r>
          </a:p>
          <a:p>
            <a:pPr lvl="1"/>
            <a:r>
              <a:rPr lang="pt-BR" sz="3200" dirty="0">
                <a:solidFill>
                  <a:srgbClr val="003300"/>
                </a:solidFill>
              </a:rPr>
              <a:t>Funcional;</a:t>
            </a:r>
          </a:p>
          <a:p>
            <a:pPr lvl="1"/>
            <a:r>
              <a:rPr lang="pt-BR" sz="3200" dirty="0">
                <a:solidFill>
                  <a:srgbClr val="003300"/>
                </a:solidFill>
              </a:rPr>
              <a:t>Lógico.</a:t>
            </a:r>
          </a:p>
          <a:p>
            <a:endParaRPr lang="pt-BR" sz="2800" dirty="0">
              <a:solidFill>
                <a:schemeClr val="tx1"/>
              </a:solidFill>
            </a:endParaRPr>
          </a:p>
          <a:p>
            <a:endParaRPr lang="pt-BR" sz="3200" dirty="0"/>
          </a:p>
          <a:p>
            <a:pPr lvl="1"/>
            <a:endParaRPr lang="pt-BR" sz="32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48755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Conceitos Iniciais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Orientação a objetos</a:t>
            </a:r>
          </a:p>
          <a:p>
            <a:pPr lvl="1"/>
            <a:r>
              <a:rPr lang="pt-BR" sz="2400" dirty="0">
                <a:solidFill>
                  <a:srgbClr val="003300"/>
                </a:solidFill>
              </a:rPr>
              <a:t>Modelar o sistema em partes que interagem entre si através de troca de mensagens;</a:t>
            </a:r>
          </a:p>
          <a:p>
            <a:pPr lvl="1"/>
            <a:r>
              <a:rPr lang="pt-BR" sz="2400" dirty="0">
                <a:solidFill>
                  <a:srgbClr val="003300"/>
                </a:solidFill>
              </a:rPr>
              <a:t>As partes do sistema possuem características e ações próprias;</a:t>
            </a:r>
          </a:p>
          <a:p>
            <a:pPr lvl="1"/>
            <a:r>
              <a:rPr lang="pt-BR" sz="2400" dirty="0">
                <a:solidFill>
                  <a:srgbClr val="003300"/>
                </a:solidFill>
              </a:rPr>
              <a:t>Tentativa de realizar uma modelagem mais próxima à representação dos dados no mundo real.</a:t>
            </a:r>
          </a:p>
          <a:p>
            <a:pPr lvl="1"/>
            <a:endParaRPr lang="pt-BR" sz="2400" dirty="0">
              <a:solidFill>
                <a:srgbClr val="003300"/>
              </a:solidFill>
            </a:endParaRPr>
          </a:p>
          <a:p>
            <a:r>
              <a:rPr lang="pt-BR" sz="2600" dirty="0">
                <a:solidFill>
                  <a:srgbClr val="003300"/>
                </a:solidFill>
              </a:rPr>
              <a:t>Desenvolvimento orientado a objetos:</a:t>
            </a:r>
          </a:p>
          <a:p>
            <a:pPr lvl="1"/>
            <a:r>
              <a:rPr lang="pt-BR" sz="2400" dirty="0">
                <a:solidFill>
                  <a:srgbClr val="003300"/>
                </a:solidFill>
              </a:rPr>
              <a:t>Análise e modelagem orientada a objetos;</a:t>
            </a:r>
          </a:p>
          <a:p>
            <a:pPr lvl="1"/>
            <a:r>
              <a:rPr lang="pt-BR" sz="2400" dirty="0">
                <a:solidFill>
                  <a:srgbClr val="003300"/>
                </a:solidFill>
              </a:rPr>
              <a:t>Programação orientada a objetos.</a:t>
            </a:r>
          </a:p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9929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solidFill>
                  <a:srgbClr val="003300"/>
                </a:solidFill>
              </a:rPr>
              <a:t>Linguagem de Programação C# (C Sharp)</a:t>
            </a:r>
          </a:p>
          <a:p>
            <a:endParaRPr lang="pt-BR" sz="3600" dirty="0">
              <a:solidFill>
                <a:srgbClr val="003300"/>
              </a:solidFill>
            </a:endParaRP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Linguagem orientada a objetos;</a:t>
            </a: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Possui características de linguagens funcionais, lógicas e estruturadas;</a:t>
            </a: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Extensão: .</a:t>
            </a:r>
            <a:r>
              <a:rPr lang="pt-BR" sz="2800" dirty="0" err="1">
                <a:solidFill>
                  <a:srgbClr val="003300"/>
                </a:solidFill>
              </a:rPr>
              <a:t>cs</a:t>
            </a:r>
            <a:endParaRPr lang="pt-BR" sz="2800" dirty="0">
              <a:solidFill>
                <a:srgbClr val="003300"/>
              </a:solidFill>
            </a:endParaRP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Utilização de </a:t>
            </a:r>
            <a:r>
              <a:rPr lang="pt-BR" sz="2800" i="1" dirty="0">
                <a:solidFill>
                  <a:srgbClr val="003300"/>
                </a:solidFill>
              </a:rPr>
              <a:t>framework </a:t>
            </a:r>
            <a:r>
              <a:rPr lang="pt-BR" sz="2800" dirty="0">
                <a:solidFill>
                  <a:srgbClr val="003300"/>
                </a:solidFill>
              </a:rPr>
              <a:t>para execução de código.</a:t>
            </a:r>
          </a:p>
          <a:p>
            <a:endParaRPr lang="pt-BR" sz="2800" dirty="0">
              <a:solidFill>
                <a:schemeClr val="tx1"/>
              </a:solidFill>
            </a:endParaRPr>
          </a:p>
          <a:p>
            <a:endParaRPr lang="pt-BR" sz="3200" dirty="0"/>
          </a:p>
          <a:p>
            <a:pPr lvl="1"/>
            <a:endParaRPr lang="pt-BR" sz="32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32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5BB7F4A-F9D2-4EF5-9B9E-ABFB52F18EA0}"/>
              </a:ext>
            </a:extLst>
          </p:cNvPr>
          <p:cNvSpPr/>
          <p:nvPr/>
        </p:nvSpPr>
        <p:spPr>
          <a:xfrm>
            <a:off x="1464501" y="2351901"/>
            <a:ext cx="6363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https://docs.microsoft.com/pt-br/dotnet/csharp/</a:t>
            </a:r>
          </a:p>
        </p:txBody>
      </p:sp>
    </p:spTree>
    <p:extLst>
      <p:ext uri="{BB962C8B-B14F-4D97-AF65-F5344CB8AC3E}">
        <p14:creationId xmlns:p14="http://schemas.microsoft.com/office/powerpoint/2010/main" val="42882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solidFill>
                  <a:srgbClr val="003300"/>
                </a:solidFill>
              </a:rPr>
              <a:t>.NET Framework</a:t>
            </a:r>
          </a:p>
          <a:p>
            <a:endParaRPr lang="pt-BR" sz="3200" dirty="0">
              <a:solidFill>
                <a:srgbClr val="003300"/>
              </a:solidFill>
            </a:endParaRPr>
          </a:p>
          <a:p>
            <a:r>
              <a:rPr lang="pt-BR" sz="2800" i="1" dirty="0">
                <a:solidFill>
                  <a:srgbClr val="003300"/>
                </a:solidFill>
              </a:rPr>
              <a:t>Framework </a:t>
            </a:r>
            <a:r>
              <a:rPr lang="pt-BR" sz="2800" dirty="0">
                <a:solidFill>
                  <a:srgbClr val="003300"/>
                </a:solidFill>
              </a:rPr>
              <a:t>para desenvolvimento de aplicativos;</a:t>
            </a:r>
          </a:p>
          <a:p>
            <a:r>
              <a:rPr lang="pt-BR" sz="2800" dirty="0">
                <a:solidFill>
                  <a:srgbClr val="003300"/>
                </a:solidFill>
              </a:rPr>
              <a:t>Possibilidade de desenvolvimento integrado</a:t>
            </a:r>
          </a:p>
          <a:p>
            <a:pPr lvl="1"/>
            <a:r>
              <a:rPr lang="pt-BR" sz="2400" i="1" dirty="0">
                <a:solidFill>
                  <a:srgbClr val="003300"/>
                </a:solidFill>
              </a:rPr>
              <a:t>Web</a:t>
            </a:r>
            <a:r>
              <a:rPr lang="pt-BR" sz="2400" dirty="0">
                <a:solidFill>
                  <a:srgbClr val="003300"/>
                </a:solidFill>
              </a:rPr>
              <a:t>, </a:t>
            </a:r>
            <a:r>
              <a:rPr lang="pt-BR" sz="2400" i="1" dirty="0">
                <a:solidFill>
                  <a:srgbClr val="003300"/>
                </a:solidFill>
              </a:rPr>
              <a:t>mobile</a:t>
            </a:r>
            <a:r>
              <a:rPr lang="pt-BR" sz="2400" dirty="0">
                <a:solidFill>
                  <a:srgbClr val="003300"/>
                </a:solidFill>
              </a:rPr>
              <a:t>, </a:t>
            </a:r>
            <a:r>
              <a:rPr lang="pt-BR" sz="2400" i="1" dirty="0">
                <a:solidFill>
                  <a:srgbClr val="003300"/>
                </a:solidFill>
              </a:rPr>
              <a:t>desktop</a:t>
            </a:r>
            <a:r>
              <a:rPr lang="pt-BR" sz="2400" dirty="0">
                <a:solidFill>
                  <a:srgbClr val="003300"/>
                </a:solidFill>
              </a:rPr>
              <a:t>, etc.</a:t>
            </a:r>
          </a:p>
          <a:p>
            <a:r>
              <a:rPr lang="pt-BR" sz="2800" dirty="0">
                <a:solidFill>
                  <a:srgbClr val="003300"/>
                </a:solidFill>
              </a:rPr>
              <a:t>Multiplataforma;</a:t>
            </a:r>
          </a:p>
          <a:p>
            <a:r>
              <a:rPr lang="pt-BR" sz="2800" dirty="0">
                <a:solidFill>
                  <a:srgbClr val="003300"/>
                </a:solidFill>
              </a:rPr>
              <a:t>Várias linguagens de programação (C#, F# e Visual Basic)</a:t>
            </a:r>
          </a:p>
          <a:p>
            <a:endParaRPr lang="pt-BR" sz="2800" dirty="0">
              <a:solidFill>
                <a:srgbClr val="003300"/>
              </a:solidFill>
            </a:endParaRPr>
          </a:p>
          <a:p>
            <a:endParaRPr lang="pt-BR" sz="2400" dirty="0">
              <a:solidFill>
                <a:schemeClr val="tx1"/>
              </a:solidFill>
            </a:endParaRPr>
          </a:p>
          <a:p>
            <a:endParaRPr lang="pt-BR" sz="2800" dirty="0"/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8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F5E660A-B1D3-45C2-A7D4-C87CC7D234CA}"/>
              </a:ext>
            </a:extLst>
          </p:cNvPr>
          <p:cNvSpPr/>
          <p:nvPr/>
        </p:nvSpPr>
        <p:spPr>
          <a:xfrm>
            <a:off x="1563458" y="2262201"/>
            <a:ext cx="32619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/>
              <a:t>https://dotnet.microsoft.com</a:t>
            </a:r>
          </a:p>
        </p:txBody>
      </p:sp>
    </p:spTree>
    <p:extLst>
      <p:ext uri="{BB962C8B-B14F-4D97-AF65-F5344CB8AC3E}">
        <p14:creationId xmlns:p14="http://schemas.microsoft.com/office/powerpoint/2010/main" val="4118132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solidFill>
                  <a:srgbClr val="003300"/>
                </a:solidFill>
              </a:rPr>
              <a:t>Vantagens</a:t>
            </a: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Reutilização de código;</a:t>
            </a: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Gerenciamento de código.</a:t>
            </a:r>
          </a:p>
          <a:p>
            <a:r>
              <a:rPr lang="pt-BR" sz="3200" dirty="0">
                <a:solidFill>
                  <a:srgbClr val="003300"/>
                </a:solidFill>
              </a:rPr>
              <a:t>Desvantagens</a:t>
            </a:r>
          </a:p>
          <a:p>
            <a:pPr lvl="1"/>
            <a:r>
              <a:rPr lang="pt-BR" sz="2800" i="1" dirty="0">
                <a:solidFill>
                  <a:srgbClr val="003300"/>
                </a:solidFill>
              </a:rPr>
              <a:t>Overhead</a:t>
            </a:r>
            <a:r>
              <a:rPr lang="pt-BR" sz="2800" dirty="0">
                <a:solidFill>
                  <a:srgbClr val="003300"/>
                </a:solidFill>
              </a:rPr>
              <a:t> computacional;</a:t>
            </a: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Windows?</a:t>
            </a:r>
          </a:p>
          <a:p>
            <a:endParaRPr lang="pt-BR" sz="2400" dirty="0">
              <a:solidFill>
                <a:schemeClr val="tx1"/>
              </a:solidFill>
            </a:endParaRPr>
          </a:p>
          <a:p>
            <a:endParaRPr lang="pt-BR" sz="2800" dirty="0"/>
          </a:p>
          <a:p>
            <a:pPr lvl="1"/>
            <a:endParaRPr lang="pt-BR" sz="28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62259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Versão Atual</a:t>
            </a:r>
          </a:p>
          <a:p>
            <a:pPr lvl="1"/>
            <a:r>
              <a:rPr lang="pt-BR" sz="2200" dirty="0">
                <a:solidFill>
                  <a:srgbClr val="003300"/>
                </a:solidFill>
              </a:rPr>
              <a:t>.NET 10</a:t>
            </a:r>
          </a:p>
          <a:p>
            <a:r>
              <a:rPr lang="pt-BR" sz="2400" dirty="0">
                <a:solidFill>
                  <a:srgbClr val="003300"/>
                </a:solidFill>
              </a:rPr>
              <a:t>.NET Framework</a:t>
            </a:r>
          </a:p>
          <a:p>
            <a:pPr lvl="1"/>
            <a:r>
              <a:rPr lang="pt-BR" sz="2200" dirty="0">
                <a:solidFill>
                  <a:srgbClr val="003300"/>
                </a:solidFill>
              </a:rPr>
              <a:t>Documentação aberta</a:t>
            </a:r>
          </a:p>
          <a:p>
            <a:pPr lvl="1"/>
            <a:r>
              <a:rPr lang="pt-BR" sz="2200" dirty="0">
                <a:solidFill>
                  <a:srgbClr val="003300"/>
                </a:solidFill>
              </a:rPr>
              <a:t>Implementação oficial apenas para Windows</a:t>
            </a:r>
          </a:p>
          <a:p>
            <a:r>
              <a:rPr lang="pt-BR" sz="2400" dirty="0">
                <a:solidFill>
                  <a:srgbClr val="003300"/>
                </a:solidFill>
              </a:rPr>
              <a:t>.NET Core</a:t>
            </a:r>
          </a:p>
          <a:p>
            <a:pPr lvl="1"/>
            <a:r>
              <a:rPr lang="pt-BR" sz="2200" dirty="0">
                <a:solidFill>
                  <a:srgbClr val="003300"/>
                </a:solidFill>
              </a:rPr>
              <a:t>Código livre e aberto</a:t>
            </a:r>
          </a:p>
          <a:p>
            <a:pPr lvl="1"/>
            <a:r>
              <a:rPr lang="pt-BR" sz="2200" dirty="0">
                <a:solidFill>
                  <a:srgbClr val="003300"/>
                </a:solidFill>
              </a:rPr>
              <a:t>Implementação para Windows, Linux e Mac</a:t>
            </a:r>
          </a:p>
          <a:p>
            <a:r>
              <a:rPr lang="pt-BR" sz="2400" dirty="0" err="1">
                <a:solidFill>
                  <a:srgbClr val="003300"/>
                </a:solidFill>
              </a:rPr>
              <a:t>Mono.Framework</a:t>
            </a:r>
            <a:endParaRPr lang="pt-BR" sz="2400" dirty="0">
              <a:solidFill>
                <a:srgbClr val="003300"/>
              </a:solidFill>
            </a:endParaRPr>
          </a:p>
          <a:p>
            <a:pPr lvl="1"/>
            <a:r>
              <a:rPr lang="pt-BR" sz="2200" dirty="0">
                <a:solidFill>
                  <a:srgbClr val="003300"/>
                </a:solidFill>
              </a:rPr>
              <a:t>Windows, Linux, Mac, Android, etc.</a:t>
            </a:r>
          </a:p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24399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Estrutura do .NET Framework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05684"/>
          </a:xfrm>
        </p:spPr>
        <p:txBody>
          <a:bodyPr>
            <a:normAutofit fontScale="92500" lnSpcReduction="10000"/>
          </a:bodyPr>
          <a:lstStyle/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endParaRPr lang="pt-BR" sz="2600" dirty="0"/>
          </a:p>
          <a:p>
            <a:endParaRPr lang="pt-BR" sz="2600" dirty="0"/>
          </a:p>
          <a:p>
            <a:endParaRPr lang="pt-BR" sz="2600" dirty="0"/>
          </a:p>
          <a:p>
            <a:endParaRPr lang="pt-BR" sz="2600" dirty="0"/>
          </a:p>
          <a:p>
            <a:endParaRPr lang="pt-BR" sz="1700" dirty="0"/>
          </a:p>
          <a:p>
            <a:r>
              <a:rPr lang="pt-BR" sz="1700" dirty="0"/>
              <a:t>CIL: Linguagem intermediária;</a:t>
            </a:r>
          </a:p>
          <a:p>
            <a:r>
              <a:rPr lang="pt-BR" sz="1700" dirty="0"/>
              <a:t>CLR: Gerenciamento de memória, execução de </a:t>
            </a:r>
            <a:r>
              <a:rPr lang="pt-BR" sz="1700" i="1" dirty="0"/>
              <a:t>threads, </a:t>
            </a:r>
            <a:r>
              <a:rPr lang="pt-BR" sz="1700" dirty="0"/>
              <a:t>verificação de código e segurança, etc.</a:t>
            </a:r>
          </a:p>
          <a:p>
            <a:r>
              <a:rPr lang="pt-BR" sz="1700" i="1" dirty="0" err="1"/>
              <a:t>Class</a:t>
            </a:r>
            <a:r>
              <a:rPr lang="pt-BR" sz="1700" i="1" dirty="0"/>
              <a:t> Library</a:t>
            </a:r>
            <a:r>
              <a:rPr lang="pt-BR" sz="1700" dirty="0"/>
              <a:t>: Conjunto de bibliotecas.</a:t>
            </a:r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8D71DB-39FB-40C9-9570-1A6542723C0E}"/>
              </a:ext>
            </a:extLst>
          </p:cNvPr>
          <p:cNvSpPr/>
          <p:nvPr/>
        </p:nvSpPr>
        <p:spPr>
          <a:xfrm>
            <a:off x="2783840" y="4506232"/>
            <a:ext cx="57336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Adaptado de https://dotnet.microsoft.com/images/dotnet-framework-architecture.png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9D95E0F-553A-4D04-8624-B52E25F1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7" y="1989667"/>
            <a:ext cx="6469326" cy="249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9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solidFill>
                  <a:srgbClr val="003300"/>
                </a:solidFill>
              </a:rPr>
              <a:t>Linguagem de Programação C# (C Sharp)</a:t>
            </a:r>
          </a:p>
          <a:p>
            <a:endParaRPr lang="pt-BR" sz="3600" dirty="0">
              <a:solidFill>
                <a:srgbClr val="003300"/>
              </a:solidFill>
            </a:endParaRP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Linguagem orientada a objetos;</a:t>
            </a: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Possui características de linguagens funcionais, lógicas e estruturadas;</a:t>
            </a: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Extensão: .</a:t>
            </a:r>
            <a:r>
              <a:rPr lang="pt-BR" sz="2800" dirty="0" err="1">
                <a:solidFill>
                  <a:srgbClr val="003300"/>
                </a:solidFill>
              </a:rPr>
              <a:t>cs</a:t>
            </a:r>
            <a:endParaRPr lang="pt-BR" sz="2800" dirty="0">
              <a:solidFill>
                <a:srgbClr val="003300"/>
              </a:solidFill>
            </a:endParaRPr>
          </a:p>
          <a:p>
            <a:pPr lvl="1"/>
            <a:r>
              <a:rPr lang="pt-BR" sz="2800" dirty="0">
                <a:solidFill>
                  <a:srgbClr val="003300"/>
                </a:solidFill>
              </a:rPr>
              <a:t>Utilização de </a:t>
            </a:r>
            <a:r>
              <a:rPr lang="pt-BR" sz="2800" i="1" dirty="0">
                <a:solidFill>
                  <a:srgbClr val="003300"/>
                </a:solidFill>
              </a:rPr>
              <a:t>framework </a:t>
            </a:r>
            <a:r>
              <a:rPr lang="pt-BR" sz="2800" dirty="0">
                <a:solidFill>
                  <a:srgbClr val="003300"/>
                </a:solidFill>
              </a:rPr>
              <a:t>para execução de código;</a:t>
            </a:r>
          </a:p>
          <a:p>
            <a:pPr lvl="1"/>
            <a:endParaRPr lang="pt-BR" sz="2800" dirty="0">
              <a:solidFill>
                <a:srgbClr val="003300"/>
              </a:solidFill>
            </a:endParaRPr>
          </a:p>
          <a:p>
            <a:endParaRPr lang="pt-BR" sz="2800" dirty="0">
              <a:solidFill>
                <a:schemeClr val="tx1"/>
              </a:solidFill>
            </a:endParaRPr>
          </a:p>
          <a:p>
            <a:endParaRPr lang="pt-BR" sz="3200" dirty="0"/>
          </a:p>
          <a:p>
            <a:pPr lvl="1"/>
            <a:endParaRPr lang="pt-BR" sz="32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32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5BB7F4A-F9D2-4EF5-9B9E-ABFB52F18EA0}"/>
              </a:ext>
            </a:extLst>
          </p:cNvPr>
          <p:cNvSpPr/>
          <p:nvPr/>
        </p:nvSpPr>
        <p:spPr>
          <a:xfrm>
            <a:off x="1464501" y="2351901"/>
            <a:ext cx="6363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https://docs.microsoft.com/pt-br/dotnet/csharp/</a:t>
            </a:r>
          </a:p>
        </p:txBody>
      </p:sp>
    </p:spTree>
    <p:extLst>
      <p:ext uri="{BB962C8B-B14F-4D97-AF65-F5344CB8AC3E}">
        <p14:creationId xmlns:p14="http://schemas.microsoft.com/office/powerpoint/2010/main" val="156907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E37D5B-3379-41D3-9AC4-FD39C0CF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 de desenvolvimento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529543-0D8B-4589-A29F-1B0746E91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Microsoft Visual Studio</a:t>
            </a:r>
          </a:p>
          <a:p>
            <a:pPr lvl="1"/>
            <a:r>
              <a:rPr lang="pt-BR" sz="3200" dirty="0"/>
              <a:t>https://visualstudio.microsoft.com/pt-br/</a:t>
            </a:r>
          </a:p>
          <a:p>
            <a:endParaRPr lang="pt-BR" sz="3200" dirty="0"/>
          </a:p>
          <a:p>
            <a:r>
              <a:rPr lang="pt-BR" sz="3200" dirty="0"/>
              <a:t>Visual Studio 2026 Community</a:t>
            </a:r>
          </a:p>
          <a:p>
            <a:r>
              <a:rPr lang="pt-BR" sz="3200" dirty="0"/>
              <a:t>Visual Studio </a:t>
            </a:r>
            <a:r>
              <a:rPr lang="pt-BR" sz="3200" dirty="0" err="1"/>
              <a:t>Code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41646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41C65-CAFF-4BF6-BAAB-86951D51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projeto – Visual Studio Community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5476B7-0B87-AFC8-044D-82604D4F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80" y="1778498"/>
            <a:ext cx="7200000" cy="479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95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41C65-CAFF-4BF6-BAAB-86951D51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projeto – Visual Studio Community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7C21B1-0EC7-94E3-89F2-E1C601AB4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778498"/>
            <a:ext cx="7200000" cy="479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0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41C65-CAFF-4BF6-BAAB-86951D51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projeto – Visual Studio Community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517A80-3BCB-4E6D-31B9-96085DF4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778498"/>
            <a:ext cx="7200000" cy="479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57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41C65-CAFF-4BF6-BAAB-86951D51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projeto – Visual Studio Community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FFFC1D-6017-4323-EA17-FFCC64192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778498"/>
            <a:ext cx="7200000" cy="479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81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41C65-CAFF-4BF6-BAAB-86951D51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projeto – Visual Studio </a:t>
            </a:r>
            <a:r>
              <a:rPr lang="pt-BR" dirty="0" err="1"/>
              <a:t>Code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F410F0F-9F5D-4C3C-B244-04A082782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51" y="1737360"/>
            <a:ext cx="6852330" cy="459875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A70FFB8-B7F1-4215-BA9D-E1B55DF8A1DA}"/>
              </a:ext>
            </a:extLst>
          </p:cNvPr>
          <p:cNvSpPr txBox="1"/>
          <p:nvPr/>
        </p:nvSpPr>
        <p:spPr>
          <a:xfrm>
            <a:off x="9534617" y="2938509"/>
            <a:ext cx="15785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Escolher pasta</a:t>
            </a:r>
          </a:p>
          <a:p>
            <a:r>
              <a:rPr lang="pt-BR" dirty="0"/>
              <a:t>onde o projeto</a:t>
            </a:r>
          </a:p>
          <a:p>
            <a:r>
              <a:rPr lang="pt-BR" dirty="0"/>
              <a:t>será criado</a:t>
            </a:r>
          </a:p>
        </p:txBody>
      </p:sp>
    </p:spTree>
    <p:extLst>
      <p:ext uri="{BB962C8B-B14F-4D97-AF65-F5344CB8AC3E}">
        <p14:creationId xmlns:p14="http://schemas.microsoft.com/office/powerpoint/2010/main" val="3619880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41C65-CAFF-4BF6-BAAB-86951D51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projeto – Visual Studio </a:t>
            </a:r>
            <a:r>
              <a:rPr lang="pt-BR" dirty="0" err="1"/>
              <a:t>Code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D780AE-75FD-4350-893D-9D1E7B5BF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39" y="1671497"/>
            <a:ext cx="7466336" cy="504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94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41C65-CAFF-4BF6-BAAB-86951D519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Novo projeto – Visual Studio </a:t>
            </a:r>
            <a:r>
              <a:rPr lang="pt-BR" dirty="0" err="1"/>
              <a:t>Code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40E80C-44D0-4169-9093-17E679F72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 err="1"/>
              <a:t>dotnet</a:t>
            </a:r>
            <a:r>
              <a:rPr lang="pt-BR" sz="2800" dirty="0"/>
              <a:t> new console -o </a:t>
            </a:r>
            <a:r>
              <a:rPr lang="pt-BR" sz="2800" dirty="0" err="1"/>
              <a:t>NomeDoProjeto</a:t>
            </a:r>
            <a:r>
              <a:rPr lang="pt-BR" sz="2800" dirty="0"/>
              <a:t> -f net8.0</a:t>
            </a:r>
          </a:p>
          <a:p>
            <a:pPr lvl="1"/>
            <a:r>
              <a:rPr lang="pt-BR" sz="2400" dirty="0"/>
              <a:t>Cria um novo projeto do tipo console com o nome especificado</a:t>
            </a:r>
          </a:p>
          <a:p>
            <a:r>
              <a:rPr lang="pt-BR" sz="2600" dirty="0" err="1"/>
              <a:t>code</a:t>
            </a:r>
            <a:r>
              <a:rPr lang="pt-BR" sz="2600" dirty="0"/>
              <a:t> –r </a:t>
            </a:r>
            <a:r>
              <a:rPr lang="pt-BR" sz="2600" dirty="0" err="1"/>
              <a:t>NomeDoProjeto</a:t>
            </a:r>
            <a:endParaRPr lang="pt-BR" sz="2600" dirty="0"/>
          </a:p>
          <a:p>
            <a:pPr lvl="1"/>
            <a:r>
              <a:rPr lang="pt-BR" sz="2600" dirty="0"/>
              <a:t>Abre o aplicativo com o projeto informado</a:t>
            </a:r>
          </a:p>
          <a:p>
            <a:r>
              <a:rPr lang="pt-BR" sz="2800" dirty="0" err="1"/>
              <a:t>dotnet</a:t>
            </a:r>
            <a:r>
              <a:rPr lang="pt-BR" sz="2800" dirty="0"/>
              <a:t> build</a:t>
            </a:r>
          </a:p>
          <a:p>
            <a:pPr lvl="1"/>
            <a:r>
              <a:rPr lang="pt-BR" sz="2600" dirty="0"/>
              <a:t>Compila o projeto atualmente aberto</a:t>
            </a:r>
          </a:p>
          <a:p>
            <a:r>
              <a:rPr lang="pt-BR" sz="2800" dirty="0" err="1"/>
              <a:t>dotnet</a:t>
            </a:r>
            <a:r>
              <a:rPr lang="pt-BR" sz="2800" dirty="0"/>
              <a:t> </a:t>
            </a:r>
            <a:r>
              <a:rPr lang="pt-BR" sz="2800" dirty="0" err="1"/>
              <a:t>run</a:t>
            </a:r>
            <a:endParaRPr lang="pt-BR" sz="2800" dirty="0"/>
          </a:p>
          <a:p>
            <a:pPr lvl="1"/>
            <a:r>
              <a:rPr lang="pt-BR" sz="2600" dirty="0"/>
              <a:t>Executa o projeto atualmente aberto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99535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Exemplo de código-fonte:</a:t>
            </a:r>
            <a:endParaRPr lang="pt-BR" sz="2200" dirty="0">
              <a:solidFill>
                <a:srgbClr val="003300"/>
              </a:solidFill>
            </a:endParaRPr>
          </a:p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679BA6-D270-4CB5-8E4B-BFE12D513238}"/>
              </a:ext>
            </a:extLst>
          </p:cNvPr>
          <p:cNvSpPr/>
          <p:nvPr/>
        </p:nvSpPr>
        <p:spPr>
          <a:xfrm>
            <a:off x="1261872" y="25590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System;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MeuPrimeiroPrograma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2B91AF"/>
                </a:solidFill>
                <a:latin typeface="Consolas" panose="020B0609020204030204" pitchFamily="49" charset="0"/>
              </a:rPr>
              <a:t>Programa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"Olá mundo!"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9539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Comentários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Podem ser feito com: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3300"/>
                </a:solidFill>
              </a:rPr>
              <a:t>// (comentário de linha);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3300"/>
                </a:solidFill>
              </a:rPr>
              <a:t>/* */ (comentário de bloco);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>
                <a:solidFill>
                  <a:srgbClr val="003300"/>
                </a:solidFill>
              </a:rPr>
              <a:t>/// (comentário para documentação).</a:t>
            </a:r>
          </a:p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45453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Tipo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i="1" dirty="0" err="1">
                <a:solidFill>
                  <a:srgbClr val="003300"/>
                </a:solidFill>
              </a:rPr>
              <a:t>Value</a:t>
            </a:r>
            <a:r>
              <a:rPr lang="pt-BR" sz="2800" i="1" dirty="0">
                <a:solidFill>
                  <a:srgbClr val="003300"/>
                </a:solidFill>
              </a:rPr>
              <a:t> </a:t>
            </a:r>
            <a:r>
              <a:rPr lang="pt-BR" sz="2800" i="1" dirty="0" err="1">
                <a:solidFill>
                  <a:srgbClr val="003300"/>
                </a:solidFill>
              </a:rPr>
              <a:t>types</a:t>
            </a:r>
            <a:endParaRPr lang="pt-BR" sz="2800" i="1" dirty="0">
              <a:solidFill>
                <a:srgbClr val="003300"/>
              </a:solidFill>
            </a:endParaRPr>
          </a:p>
          <a:p>
            <a:pPr lvl="1"/>
            <a:r>
              <a:rPr lang="pt-BR" sz="2000" dirty="0">
                <a:solidFill>
                  <a:srgbClr val="003300"/>
                </a:solidFill>
              </a:rPr>
              <a:t>Armazenam diretamente o conteúdo dos dados;</a:t>
            </a:r>
          </a:p>
          <a:p>
            <a:r>
              <a:rPr lang="pt-BR" sz="2800" i="1" dirty="0" err="1">
                <a:solidFill>
                  <a:srgbClr val="003300"/>
                </a:solidFill>
              </a:rPr>
              <a:t>Reference</a:t>
            </a:r>
            <a:r>
              <a:rPr lang="pt-BR" sz="2800" i="1" dirty="0">
                <a:solidFill>
                  <a:srgbClr val="003300"/>
                </a:solidFill>
              </a:rPr>
              <a:t> </a:t>
            </a:r>
            <a:r>
              <a:rPr lang="pt-BR" sz="2800" i="1" dirty="0" err="1">
                <a:solidFill>
                  <a:srgbClr val="003300"/>
                </a:solidFill>
              </a:rPr>
              <a:t>types</a:t>
            </a:r>
            <a:endParaRPr lang="pt-BR" sz="2800" i="1" dirty="0">
              <a:solidFill>
                <a:srgbClr val="003300"/>
              </a:solidFill>
            </a:endParaRPr>
          </a:p>
          <a:p>
            <a:pPr lvl="1"/>
            <a:r>
              <a:rPr lang="pt-BR" sz="2000" dirty="0">
                <a:solidFill>
                  <a:srgbClr val="003300"/>
                </a:solidFill>
              </a:rPr>
              <a:t>Armazenam referências para os dados.</a:t>
            </a:r>
          </a:p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E1903BE-D959-4A14-B19F-9E811BAB4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722434"/>
              </p:ext>
            </p:extLst>
          </p:nvPr>
        </p:nvGraphicFramePr>
        <p:xfrm>
          <a:off x="237066" y="3946271"/>
          <a:ext cx="5384802" cy="2062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55238">
                  <a:extLst>
                    <a:ext uri="{9D8B030D-6E8A-4147-A177-3AD203B41FA5}">
                      <a16:colId xmlns:a16="http://schemas.microsoft.com/office/drawing/2014/main" val="21055957"/>
                    </a:ext>
                  </a:extLst>
                </a:gridCol>
                <a:gridCol w="4129564">
                  <a:extLst>
                    <a:ext uri="{9D8B030D-6E8A-4147-A177-3AD203B41FA5}">
                      <a16:colId xmlns:a16="http://schemas.microsoft.com/office/drawing/2014/main" val="61789604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Value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b="0" i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9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Simple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/>
                        <a:t>int</a:t>
                      </a:r>
                      <a:r>
                        <a:rPr lang="pt-BR" sz="1600" dirty="0"/>
                        <a:t>, char, </a:t>
                      </a:r>
                      <a:r>
                        <a:rPr lang="pt-BR" sz="1600" dirty="0" err="1"/>
                        <a:t>float</a:t>
                      </a:r>
                      <a:r>
                        <a:rPr lang="pt-BR" sz="1600" dirty="0"/>
                        <a:t>, </a:t>
                      </a:r>
                      <a:r>
                        <a:rPr lang="pt-BR" sz="1600" dirty="0" err="1"/>
                        <a:t>bool</a:t>
                      </a:r>
                      <a:r>
                        <a:rPr lang="pt-BR" sz="1600" dirty="0"/>
                        <a:t>, ...</a:t>
                      </a:r>
                      <a:endParaRPr lang="pt-BR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Enum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Enumerações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9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Struct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Tipos estruturados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72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Nullable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Extensão dos demais </a:t>
                      </a:r>
                      <a:r>
                        <a:rPr lang="pt-BR" sz="1600" i="1" dirty="0" err="1"/>
                        <a:t>value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r>
                        <a:rPr lang="pt-BR" sz="1600" dirty="0"/>
                        <a:t> que permitem valores nulos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202838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D656EB7-7DE0-4664-A72E-A1A2C6F5D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952464"/>
              </p:ext>
            </p:extLst>
          </p:nvPr>
        </p:nvGraphicFramePr>
        <p:xfrm>
          <a:off x="5818602" y="3946271"/>
          <a:ext cx="5384802" cy="2270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55238">
                  <a:extLst>
                    <a:ext uri="{9D8B030D-6E8A-4147-A177-3AD203B41FA5}">
                      <a16:colId xmlns:a16="http://schemas.microsoft.com/office/drawing/2014/main" val="21055957"/>
                    </a:ext>
                  </a:extLst>
                </a:gridCol>
                <a:gridCol w="4129564">
                  <a:extLst>
                    <a:ext uri="{9D8B030D-6E8A-4147-A177-3AD203B41FA5}">
                      <a16:colId xmlns:a16="http://schemas.microsoft.com/office/drawing/2014/main" val="61789604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Reference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b="0" i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95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Class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object</a:t>
                      </a:r>
                      <a:r>
                        <a:rPr lang="pt-BR" sz="1600" i="1" dirty="0"/>
                        <a:t>, </a:t>
                      </a:r>
                      <a:r>
                        <a:rPr lang="pt-BR" sz="1600" i="1" dirty="0" err="1"/>
                        <a:t>strings</a:t>
                      </a:r>
                      <a:r>
                        <a:rPr lang="pt-BR" sz="1600" dirty="0"/>
                        <a:t>, classes definidas pelo usuário</a:t>
                      </a:r>
                      <a:endParaRPr lang="pt-BR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/>
                        <a:t>Interface </a:t>
                      </a:r>
                      <a:r>
                        <a:rPr lang="pt-BR" sz="1600" i="1" dirty="0" err="1"/>
                        <a:t>types</a:t>
                      </a:r>
                      <a:endParaRPr lang="pt-BR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9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Array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Vetores e matrizes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472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Delegate</a:t>
                      </a:r>
                      <a:r>
                        <a:rPr lang="pt-BR" sz="1600" i="1" dirty="0"/>
                        <a:t> </a:t>
                      </a:r>
                      <a:r>
                        <a:rPr lang="pt-BR" sz="1600" i="1" dirty="0" err="1"/>
                        <a:t>types</a:t>
                      </a:r>
                      <a:endParaRPr lang="pt-BR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i="1" dirty="0" err="1"/>
                        <a:t>Delegate</a:t>
                      </a:r>
                      <a:endParaRPr lang="pt-BR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20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352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Tipo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000" dirty="0">
              <a:solidFill>
                <a:srgbClr val="003300"/>
              </a:solidFill>
            </a:endParaRPr>
          </a:p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6568C1D-A64F-4F43-BDB7-13731FF2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44304"/>
              </p:ext>
            </p:extLst>
          </p:nvPr>
        </p:nvGraphicFramePr>
        <p:xfrm>
          <a:off x="114516" y="1691322"/>
          <a:ext cx="10890072" cy="51589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2987557">
                  <a:extLst>
                    <a:ext uri="{9D8B030D-6E8A-4147-A177-3AD203B41FA5}">
                      <a16:colId xmlns:a16="http://schemas.microsoft.com/office/drawing/2014/main" val="1331426720"/>
                    </a:ext>
                  </a:extLst>
                </a:gridCol>
                <a:gridCol w="885540">
                  <a:extLst>
                    <a:ext uri="{9D8B030D-6E8A-4147-A177-3AD203B41FA5}">
                      <a16:colId xmlns:a16="http://schemas.microsoft.com/office/drawing/2014/main" val="3210242869"/>
                    </a:ext>
                  </a:extLst>
                </a:gridCol>
                <a:gridCol w="798831">
                  <a:extLst>
                    <a:ext uri="{9D8B030D-6E8A-4147-A177-3AD203B41FA5}">
                      <a16:colId xmlns:a16="http://schemas.microsoft.com/office/drawing/2014/main" val="3426075846"/>
                    </a:ext>
                  </a:extLst>
                </a:gridCol>
                <a:gridCol w="6218144">
                  <a:extLst>
                    <a:ext uri="{9D8B030D-6E8A-4147-A177-3AD203B41FA5}">
                      <a16:colId xmlns:a16="http://schemas.microsoft.com/office/drawing/2014/main" val="3063485310"/>
                    </a:ext>
                  </a:extLst>
                </a:gridCol>
              </a:tblGrid>
              <a:tr h="34393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Categoria</a:t>
                      </a:r>
                      <a:endParaRPr lang="pt-BR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</a:rPr>
                        <a:t>Bits</a:t>
                      </a:r>
                      <a:endParaRPr lang="pt-BR" sz="1800" b="1" i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Tipo</a:t>
                      </a:r>
                      <a:endParaRPr lang="pt-BR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Intervalo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Precisão</a:t>
                      </a:r>
                      <a:endParaRPr lang="pt-BR" sz="18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75592"/>
                  </a:ext>
                </a:extLst>
              </a:tr>
              <a:tr h="343932">
                <a:tc rowSpan="4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 err="1">
                          <a:effectLst/>
                          <a:latin typeface="+mj-lt"/>
                        </a:rPr>
                        <a:t>Inteiro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 com </a:t>
                      </a:r>
                      <a:r>
                        <a:rPr lang="en-US" sz="1800" dirty="0" err="1">
                          <a:effectLst/>
                          <a:latin typeface="+mj-lt"/>
                        </a:rPr>
                        <a:t>sinal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 err="1">
                          <a:effectLst/>
                        </a:rPr>
                        <a:t>sbyte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–128...127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4265017"/>
                  </a:ext>
                </a:extLst>
              </a:tr>
              <a:tr h="3439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16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>
                          <a:effectLst/>
                        </a:rPr>
                        <a:t>short</a:t>
                      </a:r>
                      <a:endParaRPr lang="pt-BR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</a:rPr>
                        <a:t>–32,768...32,767</a:t>
                      </a:r>
                      <a:endParaRPr lang="pt-BR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461053"/>
                  </a:ext>
                </a:extLst>
              </a:tr>
              <a:tr h="3439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32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int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–2,147,483,648...2,147,483,647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964861"/>
                  </a:ext>
                </a:extLst>
              </a:tr>
              <a:tr h="3439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64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long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–9,223,372,036,854,775,808...9,223,372,036,854,775,807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082603"/>
                  </a:ext>
                </a:extLst>
              </a:tr>
              <a:tr h="343932">
                <a:tc rowSpan="4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 err="1">
                          <a:effectLst/>
                          <a:latin typeface="+mj-lt"/>
                        </a:rPr>
                        <a:t>Inteiro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+mj-lt"/>
                        </a:rPr>
                        <a:t>sem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+mj-lt"/>
                        </a:rPr>
                        <a:t>sinal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8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byte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0...255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662141"/>
                  </a:ext>
                </a:extLst>
              </a:tr>
              <a:tr h="3439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16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 err="1">
                          <a:effectLst/>
                          <a:latin typeface="+mj-lt"/>
                        </a:rPr>
                        <a:t>ushort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0...65,535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054286"/>
                  </a:ext>
                </a:extLst>
              </a:tr>
              <a:tr h="3439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32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uint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0...4,294,967,295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920597"/>
                  </a:ext>
                </a:extLst>
              </a:tr>
              <a:tr h="3439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64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ulong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0...18,446,744,073,709,551,615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540894"/>
                  </a:ext>
                </a:extLst>
              </a:tr>
              <a:tr h="343932">
                <a:tc rowSpan="2"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Ponto </a:t>
                      </a:r>
                      <a:r>
                        <a:rPr lang="en-US" sz="1800" dirty="0" err="1">
                          <a:effectLst/>
                          <a:latin typeface="+mj-lt"/>
                        </a:rPr>
                        <a:t>Flutuante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32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 dirty="0">
                          <a:effectLst/>
                          <a:latin typeface="+mj-lt"/>
                        </a:rPr>
                        <a:t>float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1.5 × 10</a:t>
                      </a:r>
                      <a:r>
                        <a:rPr lang="en-US" sz="1800" baseline="30000" dirty="0">
                          <a:effectLst/>
                          <a:latin typeface="+mj-lt"/>
                        </a:rPr>
                        <a:t>−45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 to 3.4 × 10</a:t>
                      </a:r>
                      <a:r>
                        <a:rPr lang="en-US" sz="1800" baseline="30000" dirty="0">
                          <a:effectLst/>
                          <a:latin typeface="+mj-lt"/>
                        </a:rPr>
                        <a:t>38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, 7-digitos de </a:t>
                      </a:r>
                      <a:r>
                        <a:rPr lang="en-US" sz="1800" dirty="0" err="1">
                          <a:effectLst/>
                          <a:latin typeface="+mj-lt"/>
                        </a:rPr>
                        <a:t>precisão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103478"/>
                  </a:ext>
                </a:extLst>
              </a:tr>
              <a:tr h="3439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64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double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5.0 × 10</a:t>
                      </a:r>
                      <a:r>
                        <a:rPr lang="en-US" sz="1800" baseline="30000" dirty="0">
                          <a:effectLst/>
                          <a:latin typeface="+mj-lt"/>
                        </a:rPr>
                        <a:t>−324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 to 1.7 × 10</a:t>
                      </a:r>
                      <a:r>
                        <a:rPr lang="en-US" sz="1800" baseline="30000" dirty="0">
                          <a:effectLst/>
                          <a:latin typeface="+mj-lt"/>
                        </a:rPr>
                        <a:t>308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, 15-digitos de </a:t>
                      </a:r>
                      <a:r>
                        <a:rPr lang="en-US" sz="1800" dirty="0" err="1">
                          <a:effectLst/>
                          <a:latin typeface="+mj-lt"/>
                        </a:rPr>
                        <a:t>precisão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779174"/>
                  </a:ext>
                </a:extLst>
              </a:tr>
              <a:tr h="3439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Decimal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>
                          <a:effectLst/>
                          <a:latin typeface="+mj-lt"/>
                        </a:rPr>
                        <a:t>128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400">
                          <a:effectLst/>
                          <a:latin typeface="+mj-lt"/>
                        </a:rPr>
                        <a:t>decimal</a:t>
                      </a:r>
                      <a:endParaRPr lang="pt-BR" sz="18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</a:rPr>
                        <a:t>1.0 × 10</a:t>
                      </a:r>
                      <a:r>
                        <a:rPr lang="en-US" sz="1800" baseline="30000" dirty="0">
                          <a:effectLst/>
                          <a:latin typeface="+mj-lt"/>
                        </a:rPr>
                        <a:t>−28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 to 7.9 × 10</a:t>
                      </a:r>
                      <a:r>
                        <a:rPr lang="en-US" sz="1800" baseline="30000" dirty="0">
                          <a:effectLst/>
                          <a:latin typeface="+mj-lt"/>
                        </a:rPr>
                        <a:t>28</a:t>
                      </a:r>
                      <a:r>
                        <a:rPr lang="en-US" sz="1800" dirty="0">
                          <a:effectLst/>
                          <a:latin typeface="+mj-lt"/>
                        </a:rPr>
                        <a:t>, 28-digitos de </a:t>
                      </a:r>
                      <a:r>
                        <a:rPr lang="en-US" sz="1800" dirty="0" err="1">
                          <a:effectLst/>
                          <a:latin typeface="+mj-lt"/>
                        </a:rPr>
                        <a:t>precisão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212949"/>
                  </a:ext>
                </a:extLst>
              </a:tr>
              <a:tr h="3439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Lógico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bool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false...</a:t>
                      </a:r>
                      <a:r>
                        <a:rPr lang="pt-BR" sz="18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true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80541"/>
                  </a:ext>
                </a:extLst>
              </a:tr>
              <a:tr h="3439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Cadeia de caracteres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string</a:t>
                      </a:r>
                      <a:endParaRPr lang="pt-BR" sz="18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“</a:t>
                      </a:r>
                      <a:r>
                        <a:rPr lang="pt-BR" sz="18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abcd</a:t>
                      </a: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...”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324409"/>
                  </a:ext>
                </a:extLst>
              </a:tr>
              <a:tr h="343932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Caractere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8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‘a’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76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138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Operadores básicos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000" dirty="0">
              <a:solidFill>
                <a:srgbClr val="003300"/>
              </a:solidFill>
            </a:endParaRPr>
          </a:p>
          <a:p>
            <a:endParaRPr lang="pt-BR" sz="22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6568C1D-A64F-4F43-BDB7-13731FF2A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008050"/>
              </p:ext>
            </p:extLst>
          </p:nvPr>
        </p:nvGraphicFramePr>
        <p:xfrm>
          <a:off x="556206" y="1714711"/>
          <a:ext cx="10006691" cy="48768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126173">
                  <a:extLst>
                    <a:ext uri="{9D8B030D-6E8A-4147-A177-3AD203B41FA5}">
                      <a16:colId xmlns:a16="http://schemas.microsoft.com/office/drawing/2014/main" val="1331426720"/>
                    </a:ext>
                  </a:extLst>
                </a:gridCol>
                <a:gridCol w="4569460">
                  <a:extLst>
                    <a:ext uri="{9D8B030D-6E8A-4147-A177-3AD203B41FA5}">
                      <a16:colId xmlns:a16="http://schemas.microsoft.com/office/drawing/2014/main" val="3063485310"/>
                    </a:ext>
                  </a:extLst>
                </a:gridCol>
                <a:gridCol w="4311058">
                  <a:extLst>
                    <a:ext uri="{9D8B030D-6E8A-4147-A177-3AD203B41FA5}">
                      <a16:colId xmlns:a16="http://schemas.microsoft.com/office/drawing/2014/main" val="3015893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Operador</a:t>
                      </a:r>
                      <a:endParaRPr lang="pt-BR" sz="16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Descrição</a:t>
                      </a:r>
                      <a:endParaRPr lang="pt-BR" sz="1600" b="1" dirty="0">
                        <a:solidFill>
                          <a:schemeClr val="bg1"/>
                        </a:solidFill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Exemplo</a:t>
                      </a:r>
                    </a:p>
                  </a:txBody>
                  <a:tcPr marL="68580" marR="68580" marT="0" marB="0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175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++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Pré</a:t>
                      </a: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-incremento e pós-incremento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x++ ou ++x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80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--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Pré</a:t>
                      </a: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-decremento e pós-decremento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x-- ou --x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324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+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Identidade ou soma ou concatenação de </a:t>
                      </a:r>
                      <a:r>
                        <a:rPr lang="pt-BR" sz="1600" i="1" dirty="0" err="1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string</a:t>
                      </a:r>
                      <a:endParaRPr lang="pt-BR" sz="1600" i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+x ou a +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2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Negação ou subtração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-x ou a –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6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!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Negação lógica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!x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*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Multiplicação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*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340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Divisão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/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15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%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Resto de divisão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%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35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&lt;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Menor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&lt;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315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&gt;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Maior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&gt;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&lt;=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Menor ou igual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&lt;=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976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&gt;=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Maior ou igual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&gt;=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629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==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Igualdade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==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06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!=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Diferente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!= b 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529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=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Atribuição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= 2;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349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AND lógico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&amp;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422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|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OR lógico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|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58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&amp;&amp;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AND condicional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&amp;&amp;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20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||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OR condicional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pt-BR" sz="1600" dirty="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a || b</a:t>
                      </a:r>
                    </a:p>
                  </a:txBody>
                  <a:tcPr marL="68580" marR="6858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18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0441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Variáveis e Constantes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Diferentes formas:</a:t>
            </a:r>
          </a:p>
          <a:p>
            <a:pPr lvl="1"/>
            <a:r>
              <a:rPr lang="pt-BR" sz="2000" dirty="0">
                <a:solidFill>
                  <a:srgbClr val="003300"/>
                </a:solidFill>
              </a:rPr>
              <a:t>&lt;tipo&gt; &lt;variável&gt;;</a:t>
            </a:r>
          </a:p>
          <a:p>
            <a:pPr lvl="1"/>
            <a:r>
              <a:rPr lang="pt-BR" sz="2000" dirty="0">
                <a:solidFill>
                  <a:srgbClr val="003300"/>
                </a:solidFill>
              </a:rPr>
              <a:t>&lt;tipo&gt; &lt;v1&gt;, &lt;v2&gt;, &lt;</a:t>
            </a:r>
            <a:r>
              <a:rPr lang="pt-BR" sz="2000" dirty="0" err="1">
                <a:solidFill>
                  <a:srgbClr val="003300"/>
                </a:solidFill>
              </a:rPr>
              <a:t>vn</a:t>
            </a:r>
            <a:r>
              <a:rPr lang="pt-BR" sz="2000" dirty="0">
                <a:solidFill>
                  <a:srgbClr val="003300"/>
                </a:solidFill>
              </a:rPr>
              <a:t>&gt;;</a:t>
            </a:r>
          </a:p>
          <a:p>
            <a:pPr lvl="1"/>
            <a:r>
              <a:rPr lang="pt-BR" sz="2000" dirty="0">
                <a:solidFill>
                  <a:srgbClr val="003300"/>
                </a:solidFill>
              </a:rPr>
              <a:t>&lt;tipo&gt; &lt;variável&gt; = &lt;valor&gt;;</a:t>
            </a:r>
          </a:p>
          <a:p>
            <a:pPr lvl="1"/>
            <a:r>
              <a:rPr lang="pt-BR" sz="2000" dirty="0">
                <a:solidFill>
                  <a:srgbClr val="003300"/>
                </a:solidFill>
              </a:rPr>
              <a:t>&lt;tipo&gt; &lt;variável&gt; = new &lt;tipo&gt;();</a:t>
            </a:r>
          </a:p>
          <a:p>
            <a:pPr lvl="1"/>
            <a:endParaRPr lang="pt-BR" sz="2000" dirty="0">
              <a:solidFill>
                <a:srgbClr val="003300"/>
              </a:solidFill>
            </a:endParaRPr>
          </a:p>
          <a:p>
            <a:r>
              <a:rPr lang="pt-BR" sz="2800" dirty="0">
                <a:solidFill>
                  <a:srgbClr val="003300"/>
                </a:solidFill>
              </a:rPr>
              <a:t>Constante</a:t>
            </a:r>
            <a:endParaRPr lang="pt-BR" sz="2200" dirty="0">
              <a:solidFill>
                <a:srgbClr val="003300"/>
              </a:solidFill>
            </a:endParaRPr>
          </a:p>
          <a:p>
            <a:pPr lvl="1"/>
            <a:r>
              <a:rPr lang="pt-BR" sz="2000" dirty="0" err="1">
                <a:solidFill>
                  <a:schemeClr val="tx1"/>
                </a:solidFill>
              </a:rPr>
              <a:t>const</a:t>
            </a:r>
            <a:r>
              <a:rPr lang="pt-BR" sz="2000" dirty="0">
                <a:solidFill>
                  <a:schemeClr val="tx1"/>
                </a:solidFill>
              </a:rPr>
              <a:t> &lt;tipo&gt; &lt;nome&gt; = &lt;valor&gt;;</a:t>
            </a: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06734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Variáveis e Constantes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Exemplos</a:t>
            </a:r>
            <a:endParaRPr lang="pt-BR" sz="20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5BDAE86-8EC3-4C6D-AC3F-93F6B68302D6}"/>
              </a:ext>
            </a:extLst>
          </p:cNvPr>
          <p:cNvSpPr/>
          <p:nvPr/>
        </p:nvSpPr>
        <p:spPr>
          <a:xfrm>
            <a:off x="1456605" y="253187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 = 1;</a:t>
            </a:r>
          </a:p>
          <a:p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x = 1.2, y = 2.4;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letra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'd'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 = 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"IFSP"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correto =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erro =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dirty="0"/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pi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3.141592;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5833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Variáveis e Constantes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Por padrão, todos os números ponto flutuantes são do tipo </a:t>
            </a:r>
            <a:r>
              <a:rPr lang="pt-BR" sz="2800" dirty="0" err="1">
                <a:solidFill>
                  <a:srgbClr val="003300"/>
                </a:solidFill>
              </a:rPr>
              <a:t>double</a:t>
            </a:r>
            <a:r>
              <a:rPr lang="pt-BR" sz="2800" dirty="0">
                <a:solidFill>
                  <a:srgbClr val="003300"/>
                </a:solidFill>
              </a:rPr>
              <a:t>. Por isso, para declarar valores do tipo </a:t>
            </a:r>
            <a:r>
              <a:rPr lang="pt-BR" sz="2800" dirty="0" err="1">
                <a:solidFill>
                  <a:srgbClr val="003300"/>
                </a:solidFill>
              </a:rPr>
              <a:t>float</a:t>
            </a:r>
            <a:r>
              <a:rPr lang="pt-BR" sz="2800" dirty="0">
                <a:solidFill>
                  <a:srgbClr val="003300"/>
                </a:solidFill>
              </a:rPr>
              <a:t> e decimal, deve-se utilizar os sufixos ‘f’ e ‘m’, respectivamente:</a:t>
            </a:r>
            <a:endParaRPr lang="pt-BR" sz="20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A61C74A-1C26-4337-97E2-6446BE947531}"/>
              </a:ext>
            </a:extLst>
          </p:cNvPr>
          <p:cNvSpPr/>
          <p:nvPr/>
        </p:nvSpPr>
        <p:spPr>
          <a:xfrm>
            <a:off x="2334768" y="376320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taxa = 1.33f;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decimal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juros = 0.25m;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7337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Variáveis e Constantes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Para converter valores (</a:t>
            </a:r>
            <a:r>
              <a:rPr lang="pt-BR" sz="2800" i="1" dirty="0" err="1">
                <a:solidFill>
                  <a:srgbClr val="003300"/>
                </a:solidFill>
              </a:rPr>
              <a:t>value</a:t>
            </a:r>
            <a:r>
              <a:rPr lang="pt-BR" sz="2800" i="1" dirty="0">
                <a:solidFill>
                  <a:srgbClr val="003300"/>
                </a:solidFill>
              </a:rPr>
              <a:t> </a:t>
            </a:r>
            <a:r>
              <a:rPr lang="pt-BR" sz="2800" i="1" dirty="0" err="1">
                <a:solidFill>
                  <a:srgbClr val="003300"/>
                </a:solidFill>
              </a:rPr>
              <a:t>type</a:t>
            </a:r>
            <a:r>
              <a:rPr lang="pt-BR" sz="2800" dirty="0">
                <a:solidFill>
                  <a:srgbClr val="003300"/>
                </a:solidFill>
              </a:rPr>
              <a:t>), há duas opções:</a:t>
            </a:r>
          </a:p>
          <a:p>
            <a:pPr lvl="1"/>
            <a:r>
              <a:rPr lang="pt-BR" sz="1800" i="1" dirty="0">
                <a:solidFill>
                  <a:srgbClr val="003300"/>
                </a:solidFill>
              </a:rPr>
              <a:t>Casting</a:t>
            </a:r>
            <a:r>
              <a:rPr lang="pt-BR" sz="1800" dirty="0">
                <a:solidFill>
                  <a:srgbClr val="003300"/>
                </a:solidFill>
              </a:rPr>
              <a:t> (</a:t>
            </a:r>
            <a:r>
              <a:rPr lang="pt-BR" sz="1800" i="1" dirty="0" err="1">
                <a:solidFill>
                  <a:srgbClr val="003300"/>
                </a:solidFill>
              </a:rPr>
              <a:t>Boxing</a:t>
            </a:r>
            <a:r>
              <a:rPr lang="pt-BR" sz="1800" dirty="0">
                <a:solidFill>
                  <a:srgbClr val="003300"/>
                </a:solidFill>
              </a:rPr>
              <a:t> e </a:t>
            </a:r>
            <a:r>
              <a:rPr lang="pt-BR" sz="1800" i="1" dirty="0">
                <a:solidFill>
                  <a:srgbClr val="003300"/>
                </a:solidFill>
              </a:rPr>
              <a:t>Unboxing</a:t>
            </a:r>
            <a:r>
              <a:rPr lang="pt-BR" sz="1800" dirty="0">
                <a:solidFill>
                  <a:srgbClr val="003300"/>
                </a:solidFill>
              </a:rPr>
              <a:t>)</a:t>
            </a:r>
          </a:p>
          <a:p>
            <a:pPr marL="548640" lvl="2" indent="0">
              <a:buNone/>
            </a:pPr>
            <a:r>
              <a:rPr lang="pt-BR" sz="1600" dirty="0">
                <a:solidFill>
                  <a:srgbClr val="003300"/>
                </a:solidFill>
              </a:rPr>
              <a:t>(&lt;</a:t>
            </a:r>
            <a:r>
              <a:rPr lang="pt-BR" sz="1600" dirty="0" err="1">
                <a:solidFill>
                  <a:srgbClr val="003300"/>
                </a:solidFill>
              </a:rPr>
              <a:t>novo_tipo</a:t>
            </a:r>
            <a:r>
              <a:rPr lang="pt-BR" sz="1600" dirty="0">
                <a:solidFill>
                  <a:srgbClr val="003300"/>
                </a:solidFill>
              </a:rPr>
              <a:t>&gt;)&lt;variável&gt;</a:t>
            </a:r>
          </a:p>
          <a:p>
            <a:pPr marL="548640" lvl="2" indent="0">
              <a:buNone/>
            </a:pPr>
            <a:endParaRPr lang="pt-BR" sz="1600" dirty="0">
              <a:solidFill>
                <a:srgbClr val="003300"/>
              </a:solidFill>
            </a:endParaRPr>
          </a:p>
          <a:p>
            <a:pPr marL="548640" lvl="2" indent="0">
              <a:buNone/>
            </a:pPr>
            <a:endParaRPr lang="pt-BR" sz="1600" dirty="0">
              <a:solidFill>
                <a:srgbClr val="003300"/>
              </a:solidFill>
            </a:endParaRPr>
          </a:p>
          <a:p>
            <a:pPr marL="548640" lvl="2" indent="0">
              <a:buNone/>
            </a:pPr>
            <a:endParaRPr lang="pt-BR" sz="1600" dirty="0">
              <a:solidFill>
                <a:srgbClr val="003300"/>
              </a:solidFill>
            </a:endParaRPr>
          </a:p>
          <a:p>
            <a:pPr lvl="1"/>
            <a:r>
              <a:rPr lang="pt-BR" sz="1800" dirty="0">
                <a:solidFill>
                  <a:srgbClr val="003300"/>
                </a:solidFill>
              </a:rPr>
              <a:t>Uso da classe </a:t>
            </a:r>
            <a:r>
              <a:rPr lang="pt-BR" sz="1800" dirty="0" err="1">
                <a:solidFill>
                  <a:srgbClr val="003300"/>
                </a:solidFill>
              </a:rPr>
              <a:t>Convert</a:t>
            </a:r>
            <a:r>
              <a:rPr lang="pt-BR" sz="1800" dirty="0">
                <a:solidFill>
                  <a:srgbClr val="003300"/>
                </a:solidFill>
              </a:rPr>
              <a:t>;</a:t>
            </a:r>
          </a:p>
          <a:p>
            <a:r>
              <a:rPr lang="pt-BR" sz="2800" dirty="0">
                <a:solidFill>
                  <a:srgbClr val="003300"/>
                </a:solidFill>
              </a:rPr>
              <a:t>Ao utilizar </a:t>
            </a:r>
            <a:r>
              <a:rPr lang="pt-BR" sz="2800" dirty="0" err="1">
                <a:solidFill>
                  <a:srgbClr val="003300"/>
                </a:solidFill>
              </a:rPr>
              <a:t>strings</a:t>
            </a:r>
            <a:r>
              <a:rPr lang="pt-BR" sz="2800" dirty="0">
                <a:solidFill>
                  <a:srgbClr val="003300"/>
                </a:solidFill>
              </a:rPr>
              <a:t>:</a:t>
            </a:r>
          </a:p>
          <a:p>
            <a:pPr lvl="1"/>
            <a:r>
              <a:rPr lang="pt-BR" sz="1800" dirty="0">
                <a:solidFill>
                  <a:srgbClr val="003300"/>
                </a:solidFill>
              </a:rPr>
              <a:t>&lt;tipo&gt;.Parse(</a:t>
            </a:r>
            <a:r>
              <a:rPr lang="pt-BR" sz="1800" dirty="0" err="1">
                <a:solidFill>
                  <a:srgbClr val="003300"/>
                </a:solidFill>
              </a:rPr>
              <a:t>string</a:t>
            </a:r>
            <a:r>
              <a:rPr lang="pt-BR" sz="1800" dirty="0">
                <a:solidFill>
                  <a:srgbClr val="003300"/>
                </a:solidFill>
              </a:rPr>
              <a:t>); </a:t>
            </a:r>
          </a:p>
          <a:p>
            <a:pPr lvl="2"/>
            <a:r>
              <a:rPr lang="pt-BR" sz="1600" dirty="0">
                <a:solidFill>
                  <a:srgbClr val="003300"/>
                </a:solidFill>
              </a:rPr>
              <a:t>Transforma a </a:t>
            </a:r>
            <a:r>
              <a:rPr lang="pt-BR" sz="1600" dirty="0" err="1">
                <a:solidFill>
                  <a:srgbClr val="003300"/>
                </a:solidFill>
              </a:rPr>
              <a:t>string</a:t>
            </a:r>
            <a:r>
              <a:rPr lang="pt-BR" sz="1600" dirty="0">
                <a:solidFill>
                  <a:srgbClr val="003300"/>
                </a:solidFill>
              </a:rPr>
              <a:t> informada no tipo utilizado;</a:t>
            </a:r>
          </a:p>
          <a:p>
            <a:pPr lvl="1"/>
            <a:r>
              <a:rPr lang="pt-BR" sz="1800" dirty="0">
                <a:solidFill>
                  <a:srgbClr val="003300"/>
                </a:solidFill>
              </a:rPr>
              <a:t>&lt;variável&gt;.</a:t>
            </a:r>
            <a:r>
              <a:rPr lang="pt-BR" sz="1800" dirty="0" err="1">
                <a:solidFill>
                  <a:srgbClr val="003300"/>
                </a:solidFill>
              </a:rPr>
              <a:t>ToString</a:t>
            </a:r>
            <a:r>
              <a:rPr lang="pt-BR" sz="1800" dirty="0">
                <a:solidFill>
                  <a:srgbClr val="003300"/>
                </a:solidFill>
              </a:rPr>
              <a:t>();</a:t>
            </a:r>
          </a:p>
          <a:p>
            <a:pPr lvl="2"/>
            <a:r>
              <a:rPr lang="pt-BR" sz="1600" dirty="0">
                <a:solidFill>
                  <a:srgbClr val="003300"/>
                </a:solidFill>
              </a:rPr>
              <a:t>Transforma o valor da variável informada em </a:t>
            </a:r>
            <a:r>
              <a:rPr lang="pt-BR" sz="1600" dirty="0" err="1">
                <a:solidFill>
                  <a:srgbClr val="003300"/>
                </a:solidFill>
              </a:rPr>
              <a:t>string</a:t>
            </a:r>
            <a:r>
              <a:rPr lang="pt-BR" sz="1600" dirty="0">
                <a:solidFill>
                  <a:srgbClr val="003300"/>
                </a:solidFill>
              </a:rPr>
              <a:t>.</a:t>
            </a:r>
            <a:endParaRPr lang="pt-BR" sz="16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F49E6F-9993-46DD-B74F-E1AF6CA9E7AB}"/>
              </a:ext>
            </a:extLst>
          </p:cNvPr>
          <p:cNvSpPr/>
          <p:nvPr/>
        </p:nvSpPr>
        <p:spPr>
          <a:xfrm>
            <a:off x="2692399" y="3048132"/>
            <a:ext cx="74337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valorDouble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1.2;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valorFloat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valorDouble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7333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Entrada e Saída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 err="1">
                <a:solidFill>
                  <a:srgbClr val="003300"/>
                </a:solidFill>
              </a:rPr>
              <a:t>Console.Write</a:t>
            </a:r>
            <a:r>
              <a:rPr lang="pt-BR" sz="2800" dirty="0">
                <a:solidFill>
                  <a:srgbClr val="003300"/>
                </a:solidFill>
              </a:rPr>
              <a:t>()</a:t>
            </a:r>
          </a:p>
          <a:p>
            <a:pPr lvl="1"/>
            <a:r>
              <a:rPr lang="pt-BR" sz="2000" dirty="0">
                <a:solidFill>
                  <a:srgbClr val="003300"/>
                </a:solidFill>
              </a:rPr>
              <a:t>Imprime o argumento informado no console;</a:t>
            </a:r>
          </a:p>
          <a:p>
            <a:r>
              <a:rPr lang="pt-BR" sz="2800" dirty="0" err="1">
                <a:solidFill>
                  <a:srgbClr val="003300"/>
                </a:solidFill>
              </a:rPr>
              <a:t>Console.WriteLine</a:t>
            </a:r>
            <a:r>
              <a:rPr lang="pt-BR" sz="2800" dirty="0">
                <a:solidFill>
                  <a:srgbClr val="003300"/>
                </a:solidFill>
              </a:rPr>
              <a:t>()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Imprime o argumento informado no console, seguido de uma quebra de linha;</a:t>
            </a:r>
          </a:p>
          <a:p>
            <a:r>
              <a:rPr lang="pt-BR" sz="2800" dirty="0" err="1"/>
              <a:t>Console.ReadLine</a:t>
            </a:r>
            <a:r>
              <a:rPr lang="pt-BR" sz="2800" dirty="0"/>
              <a:t>()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Realiza a leitura de uma </a:t>
            </a:r>
            <a:r>
              <a:rPr lang="pt-BR" sz="2000" i="1" dirty="0" err="1">
                <a:solidFill>
                  <a:schemeClr val="tx1"/>
                </a:solidFill>
              </a:rPr>
              <a:t>string</a:t>
            </a:r>
            <a:r>
              <a:rPr lang="pt-BR" sz="2000" dirty="0">
                <a:solidFill>
                  <a:schemeClr val="tx1"/>
                </a:solidFill>
              </a:rPr>
              <a:t> do teclado;</a:t>
            </a:r>
          </a:p>
          <a:p>
            <a:pPr lvl="1"/>
            <a:endParaRPr lang="pt-BR" sz="20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22102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Entrada e Saída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Exemplo 1</a:t>
            </a:r>
          </a:p>
          <a:p>
            <a:endParaRPr lang="pt-BR" sz="2800" dirty="0">
              <a:solidFill>
                <a:srgbClr val="003300"/>
              </a:solidFill>
            </a:endParaRPr>
          </a:p>
          <a:p>
            <a:endParaRPr lang="pt-BR" sz="2800" dirty="0">
              <a:solidFill>
                <a:srgbClr val="003300"/>
              </a:solidFill>
            </a:endParaRPr>
          </a:p>
          <a:p>
            <a:r>
              <a:rPr lang="pt-BR" sz="2800" dirty="0">
                <a:solidFill>
                  <a:srgbClr val="003300"/>
                </a:solidFill>
              </a:rPr>
              <a:t>Exemplo 2</a:t>
            </a:r>
            <a:endParaRPr lang="pt-BR" sz="20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3E1F27D-0BDC-41F9-B9ED-8B5EBF7C8E79}"/>
              </a:ext>
            </a:extLst>
          </p:cNvPr>
          <p:cNvSpPr/>
          <p:nvPr/>
        </p:nvSpPr>
        <p:spPr>
          <a:xfrm>
            <a:off x="2511552" y="250567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 = 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"Nome =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nome);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D611D6E-920B-491E-8933-B849C593624D}"/>
              </a:ext>
            </a:extLst>
          </p:cNvPr>
          <p:cNvSpPr/>
          <p:nvPr/>
        </p:nvSpPr>
        <p:spPr>
          <a:xfrm>
            <a:off x="2511552" y="4283868"/>
            <a:ext cx="822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nome = 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"Digite seu sobrenome: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sobrenome = 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it-IT" dirty="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.WriteLine(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"Nome: {0} {1}"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nome, sobrenome);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299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Entrada e Saída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3300"/>
                </a:solidFill>
              </a:rPr>
              <a:t>Exemplo 3</a:t>
            </a:r>
          </a:p>
          <a:p>
            <a:endParaRPr lang="pt-BR" sz="2800" dirty="0">
              <a:solidFill>
                <a:srgbClr val="003300"/>
              </a:solidFill>
            </a:endParaRPr>
          </a:p>
          <a:p>
            <a:endParaRPr lang="pt-BR" sz="2800" dirty="0">
              <a:solidFill>
                <a:srgbClr val="003300"/>
              </a:solidFill>
            </a:endParaRPr>
          </a:p>
          <a:p>
            <a:r>
              <a:rPr lang="pt-BR" sz="2800" dirty="0">
                <a:solidFill>
                  <a:srgbClr val="003300"/>
                </a:solidFill>
              </a:rPr>
              <a:t>Exemplo 4</a:t>
            </a:r>
            <a:endParaRPr lang="pt-BR" sz="2000" dirty="0">
              <a:solidFill>
                <a:schemeClr val="tx1"/>
              </a:solidFill>
            </a:endParaRPr>
          </a:p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6516B9-34AA-4893-AC92-1A650F69A029}"/>
              </a:ext>
            </a:extLst>
          </p:cNvPr>
          <p:cNvSpPr/>
          <p:nvPr/>
        </p:nvSpPr>
        <p:spPr>
          <a:xfrm>
            <a:off x="2511552" y="243633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"X =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"X = {0}"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x);</a:t>
            </a:r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DCA46D-BF6D-46B8-8D4F-986E3B89B4D0}"/>
              </a:ext>
            </a:extLst>
          </p:cNvPr>
          <p:cNvSpPr/>
          <p:nvPr/>
        </p:nvSpPr>
        <p:spPr>
          <a:xfrm>
            <a:off x="2511552" y="4338304"/>
            <a:ext cx="74252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"a =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it-IT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 a = </a:t>
            </a:r>
            <a:r>
              <a:rPr lang="it-IT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.Parse(</a:t>
            </a:r>
            <a:r>
              <a:rPr lang="it-IT" dirty="0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.ReadLine());</a:t>
            </a:r>
          </a:p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"b = 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b = 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.Parse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.ReadLine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"{0} + {1} = {2}"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a, b, a + b);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274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Estruturas de Tomada de Decisão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8D4891A-8A59-4676-A406-6CD10586E062}"/>
              </a:ext>
            </a:extLst>
          </p:cNvPr>
          <p:cNvSpPr/>
          <p:nvPr/>
        </p:nvSpPr>
        <p:spPr>
          <a:xfrm>
            <a:off x="727391" y="2123692"/>
            <a:ext cx="4572000" cy="3258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if</a:t>
            </a:r>
            <a:r>
              <a:rPr lang="pt-BR" dirty="0">
                <a:latin typeface="Consolas"/>
                <a:ea typeface="Calibri"/>
                <a:cs typeface="Times New Roman"/>
              </a:rPr>
              <a:t>(&lt;condição&gt;)</a:t>
            </a:r>
            <a:endParaRPr lang="pt-BR" sz="2400" dirty="0">
              <a:ea typeface="Calibri"/>
              <a:cs typeface="Times New Roman"/>
            </a:endParaRPr>
          </a:p>
          <a:p>
            <a:pPr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&lt;comando1&gt;;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 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if</a:t>
            </a:r>
            <a:r>
              <a:rPr lang="pt-BR" dirty="0">
                <a:latin typeface="Consolas"/>
                <a:ea typeface="Calibri"/>
                <a:cs typeface="Times New Roman"/>
              </a:rPr>
              <a:t>(&lt;condição&gt;)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{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   &lt;comando1&gt;;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   &lt;comando2&gt;;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   ...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   &lt;</a:t>
            </a:r>
            <a:r>
              <a:rPr lang="pt-BR" dirty="0" err="1">
                <a:latin typeface="Consolas"/>
                <a:ea typeface="Calibri"/>
                <a:cs typeface="Times New Roman"/>
              </a:rPr>
              <a:t>comandoN</a:t>
            </a:r>
            <a:r>
              <a:rPr lang="pt-BR" dirty="0">
                <a:latin typeface="Consolas"/>
                <a:ea typeface="Calibri"/>
                <a:cs typeface="Times New Roman"/>
              </a:rPr>
              <a:t>&gt;;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}</a:t>
            </a:r>
            <a:endParaRPr lang="pt-BR" sz="2400" dirty="0">
              <a:ea typeface="Calibri"/>
              <a:cs typeface="Times New Roman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F1FA13F-5924-4EB6-A231-23000984CD61}"/>
              </a:ext>
            </a:extLst>
          </p:cNvPr>
          <p:cNvSpPr/>
          <p:nvPr/>
        </p:nvSpPr>
        <p:spPr>
          <a:xfrm>
            <a:off x="4172468" y="2124130"/>
            <a:ext cx="4572000" cy="26407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if</a:t>
            </a:r>
            <a:r>
              <a:rPr lang="pt-BR" dirty="0">
                <a:latin typeface="Consolas"/>
                <a:ea typeface="Calibri"/>
                <a:cs typeface="Times New Roman"/>
              </a:rPr>
              <a:t>(&lt;condição&gt;)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{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 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}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else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{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 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}</a:t>
            </a:r>
            <a:endParaRPr lang="pt-BR" sz="2400" dirty="0">
              <a:ea typeface="Calibri"/>
              <a:cs typeface="Times New Roman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97D6386-5EFC-48EE-9D27-3B7C0D1D35BB}"/>
              </a:ext>
            </a:extLst>
          </p:cNvPr>
          <p:cNvSpPr/>
          <p:nvPr/>
        </p:nvSpPr>
        <p:spPr>
          <a:xfrm>
            <a:off x="6631404" y="2123692"/>
            <a:ext cx="4572000" cy="39149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switch</a:t>
            </a:r>
            <a:r>
              <a:rPr lang="pt-BR" dirty="0">
                <a:latin typeface="Consolas"/>
                <a:ea typeface="Calibri"/>
                <a:cs typeface="Times New Roman"/>
              </a:rPr>
              <a:t> (&lt;variável&gt;)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{</a:t>
            </a:r>
            <a:endParaRPr lang="pt-BR" sz="2400" dirty="0">
              <a:ea typeface="Calibri"/>
              <a:cs typeface="Times New Roman"/>
            </a:endParaRPr>
          </a:p>
          <a:p>
            <a:pPr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case</a:t>
            </a:r>
            <a:r>
              <a:rPr lang="pt-BR" dirty="0">
                <a:latin typeface="Consolas"/>
                <a:ea typeface="Calibri"/>
                <a:cs typeface="Times New Roman"/>
              </a:rPr>
              <a:t> &lt;valor1&gt;:</a:t>
            </a:r>
            <a:endParaRPr lang="pt-BR" sz="2400" dirty="0">
              <a:ea typeface="Calibri"/>
              <a:cs typeface="Times New Roman"/>
            </a:endParaRPr>
          </a:p>
          <a:p>
            <a:pPr marL="449580"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&lt;ação1&gt;;</a:t>
            </a:r>
            <a:endParaRPr lang="pt-BR" sz="2400" dirty="0">
              <a:ea typeface="Calibri"/>
              <a:cs typeface="Times New Roman"/>
            </a:endParaRPr>
          </a:p>
          <a:p>
            <a:pPr marL="449580"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break</a:t>
            </a:r>
            <a:r>
              <a:rPr lang="pt-BR" dirty="0">
                <a:latin typeface="Consolas"/>
                <a:ea typeface="Calibri"/>
                <a:cs typeface="Times New Roman"/>
              </a:rPr>
              <a:t>;</a:t>
            </a:r>
            <a:endParaRPr lang="pt-BR" sz="2400" dirty="0">
              <a:ea typeface="Calibri"/>
              <a:cs typeface="Times New Roman"/>
            </a:endParaRPr>
          </a:p>
          <a:p>
            <a:pPr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case</a:t>
            </a:r>
            <a:r>
              <a:rPr lang="pt-BR" dirty="0">
                <a:latin typeface="Consolas"/>
                <a:ea typeface="Calibri"/>
                <a:cs typeface="Times New Roman"/>
              </a:rPr>
              <a:t> &lt;valor2&gt;:</a:t>
            </a:r>
            <a:endParaRPr lang="pt-BR" sz="2400" dirty="0">
              <a:ea typeface="Calibri"/>
              <a:cs typeface="Times New Roman"/>
            </a:endParaRPr>
          </a:p>
          <a:p>
            <a:pPr marL="449580"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&lt;ação2&gt;;    </a:t>
            </a:r>
            <a:endParaRPr lang="pt-BR" sz="2400" dirty="0">
              <a:ea typeface="Calibri"/>
              <a:cs typeface="Times New Roman"/>
            </a:endParaRPr>
          </a:p>
          <a:p>
            <a:pPr marL="449580"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break</a:t>
            </a:r>
            <a:r>
              <a:rPr lang="pt-BR" dirty="0">
                <a:latin typeface="Consolas"/>
                <a:ea typeface="Calibri"/>
                <a:cs typeface="Times New Roman"/>
              </a:rPr>
              <a:t>;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   </a:t>
            </a:r>
            <a:r>
              <a:rPr lang="pt-BR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default</a:t>
            </a:r>
            <a:r>
              <a:rPr lang="pt-BR" dirty="0">
                <a:latin typeface="Consolas"/>
                <a:ea typeface="Calibri"/>
                <a:cs typeface="Times New Roman"/>
              </a:rPr>
              <a:t>: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       	&lt;ação&gt;;</a:t>
            </a:r>
            <a:endParaRPr lang="pt-BR" sz="2400" dirty="0">
              <a:ea typeface="Calibri"/>
              <a:cs typeface="Times New Roman"/>
            </a:endParaRPr>
          </a:p>
          <a:p>
            <a:pPr marL="449580" indent="449580"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break</a:t>
            </a:r>
            <a:r>
              <a:rPr lang="pt-BR" dirty="0">
                <a:latin typeface="Consolas"/>
                <a:ea typeface="Calibri"/>
                <a:cs typeface="Times New Roman"/>
              </a:rPr>
              <a:t>;</a:t>
            </a:r>
            <a:endParaRPr lang="pt-BR" sz="24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pt-BR" dirty="0">
                <a:latin typeface="Consolas"/>
                <a:ea typeface="Calibri"/>
                <a:cs typeface="Times New Roman"/>
              </a:rPr>
              <a:t>}</a:t>
            </a:r>
            <a:endParaRPr lang="pt-BR" sz="24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10105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Estruturas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DE62DB7-C2E8-4FCB-8278-D70366866C51}"/>
              </a:ext>
            </a:extLst>
          </p:cNvPr>
          <p:cNvSpPr/>
          <p:nvPr/>
        </p:nvSpPr>
        <p:spPr>
          <a:xfrm>
            <a:off x="2048165" y="2082274"/>
            <a:ext cx="29895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/>
              </a:rPr>
              <a:t>while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(&lt;</a:t>
            </a:r>
            <a:r>
              <a:rPr lang="pt-BR" dirty="0" err="1">
                <a:solidFill>
                  <a:prstClr val="black"/>
                </a:solidFill>
                <a:latin typeface="Consolas"/>
              </a:rPr>
              <a:t>condicao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&gt;)</a:t>
            </a:r>
          </a:p>
          <a:p>
            <a:pPr lvl="1"/>
            <a:r>
              <a:rPr lang="pt-BR" dirty="0">
                <a:solidFill>
                  <a:prstClr val="black"/>
                </a:solidFill>
                <a:latin typeface="Consolas"/>
              </a:rPr>
              <a:t>&lt;instrucao1&gt;;</a:t>
            </a:r>
          </a:p>
          <a:p>
            <a:endParaRPr lang="pt-BR" dirty="0">
              <a:solidFill>
                <a:prstClr val="black"/>
              </a:solidFill>
              <a:latin typeface="Consolas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/>
              </a:rPr>
              <a:t>while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(&lt;</a:t>
            </a:r>
            <a:r>
              <a:rPr lang="pt-BR" dirty="0" err="1">
                <a:solidFill>
                  <a:prstClr val="black"/>
                </a:solidFill>
                <a:latin typeface="Consolas"/>
              </a:rPr>
              <a:t>condicao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&gt;)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&lt;instrucao1&gt;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&lt;instrucao2&gt;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    ...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</a:t>
            </a:r>
            <a:r>
              <a:rPr lang="pt-BR" dirty="0" err="1">
                <a:solidFill>
                  <a:prstClr val="black"/>
                </a:solidFill>
                <a:latin typeface="Consolas"/>
              </a:rPr>
              <a:t>instrucaoN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&gt;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}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F9AFC4-5CED-42E8-9225-32D634BE89E8}"/>
              </a:ext>
            </a:extLst>
          </p:cNvPr>
          <p:cNvSpPr/>
          <p:nvPr/>
        </p:nvSpPr>
        <p:spPr>
          <a:xfrm>
            <a:off x="5742443" y="235831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/>
              </a:rPr>
              <a:t>do</a:t>
            </a:r>
            <a:endParaRPr lang="pt-BR" dirty="0">
              <a:solidFill>
                <a:prstClr val="black"/>
              </a:solidFill>
              <a:latin typeface="Consolas"/>
            </a:endParaRP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&lt;instrucao1&gt;;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&lt;instrucao2&gt;;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    ...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</a:t>
            </a:r>
            <a:r>
              <a:rPr lang="pt-BR" dirty="0" err="1">
                <a:solidFill>
                  <a:prstClr val="black"/>
                </a:solidFill>
                <a:latin typeface="Consolas"/>
              </a:rPr>
              <a:t>instrucaoN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}</a:t>
            </a:r>
            <a:r>
              <a:rPr lang="pt-BR" dirty="0" err="1">
                <a:solidFill>
                  <a:srgbClr val="0000FF"/>
                </a:solidFill>
                <a:latin typeface="Consolas"/>
              </a:rPr>
              <a:t>while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(&lt;</a:t>
            </a:r>
            <a:r>
              <a:rPr lang="pt-BR" dirty="0" err="1">
                <a:solidFill>
                  <a:prstClr val="black"/>
                </a:solidFill>
                <a:latin typeface="Consolas"/>
              </a:rPr>
              <a:t>condicao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&gt;);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5494BA-9E0D-4A24-99C7-897090803F14}"/>
              </a:ext>
            </a:extLst>
          </p:cNvPr>
          <p:cNvSpPr/>
          <p:nvPr/>
        </p:nvSpPr>
        <p:spPr>
          <a:xfrm>
            <a:off x="2607735" y="5394285"/>
            <a:ext cx="61024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nn-NO" dirty="0">
                <a:solidFill>
                  <a:prstClr val="black"/>
                </a:solidFill>
                <a:latin typeface="Consolas"/>
              </a:rPr>
              <a:t> (&lt;inicialização&gt;; &lt;condição&gt;; &lt;incremento&gt;)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&lt;instrução1&gt;;</a:t>
            </a:r>
          </a:p>
          <a:p>
            <a:endParaRPr lang="pt-BR" dirty="0">
              <a:solidFill>
                <a:prstClr val="black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55655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Estruturas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600" dirty="0"/>
          </a:p>
          <a:p>
            <a:pPr lvl="1"/>
            <a:endParaRPr lang="pt-BR" sz="24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844A603-5F39-4470-AB53-E926AB0A855E}"/>
              </a:ext>
            </a:extLst>
          </p:cNvPr>
          <p:cNvSpPr/>
          <p:nvPr/>
        </p:nvSpPr>
        <p:spPr>
          <a:xfrm>
            <a:off x="1261872" y="2127901"/>
            <a:ext cx="61024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/>
              </a:rPr>
              <a:t>for</a:t>
            </a:r>
            <a:r>
              <a:rPr lang="nn-NO" dirty="0">
                <a:solidFill>
                  <a:prstClr val="black"/>
                </a:solidFill>
                <a:latin typeface="Consolas"/>
              </a:rPr>
              <a:t> (&lt;inicialização&gt;; &lt;condição&gt;; &lt;incremento&gt;)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&lt;instrução1&gt;;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&lt;instrução2&gt;;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    ...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	&lt;</a:t>
            </a:r>
            <a:r>
              <a:rPr lang="pt-BR" dirty="0" err="1">
                <a:solidFill>
                  <a:prstClr val="black"/>
                </a:solidFill>
                <a:latin typeface="Consolas"/>
              </a:rPr>
              <a:t>instruçãoN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}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4CDD4BF-05E3-432B-B823-40900DE76EA9}"/>
              </a:ext>
            </a:extLst>
          </p:cNvPr>
          <p:cNvSpPr/>
          <p:nvPr/>
        </p:nvSpPr>
        <p:spPr>
          <a:xfrm>
            <a:off x="1261872" y="4447913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(&lt;tipo&gt; &lt;variável&gt; </a:t>
            </a:r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&lt;coleção&gt;)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&lt;instrução1&gt;;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    &lt;instrução2&gt;;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    ...</a:t>
            </a:r>
          </a:p>
          <a:p>
            <a:r>
              <a:rPr lang="pt-BR" dirty="0">
                <a:solidFill>
                  <a:prstClr val="black"/>
                </a:solidFill>
                <a:latin typeface="Consolas"/>
              </a:rPr>
              <a:t>    &lt;</a:t>
            </a:r>
            <a:r>
              <a:rPr lang="pt-BR" dirty="0" err="1">
                <a:solidFill>
                  <a:prstClr val="black"/>
                </a:solidFill>
                <a:latin typeface="Consolas"/>
              </a:rPr>
              <a:t>instruçãoN</a:t>
            </a:r>
            <a:r>
              <a:rPr lang="pt-BR" dirty="0">
                <a:solidFill>
                  <a:prstClr val="black"/>
                </a:solidFill>
                <a:latin typeface="Consolas"/>
              </a:rPr>
              <a:t>&gt;;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3874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Estruturas de Repetição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break</a:t>
            </a:r>
            <a:endParaRPr lang="pt-BR" sz="2600" dirty="0"/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Interrompe a execução do laço e força a saída da estrutura de repetição;</a:t>
            </a:r>
          </a:p>
          <a:p>
            <a:r>
              <a:rPr lang="pt-BR" sz="2600" dirty="0"/>
              <a:t>continue</a:t>
            </a:r>
          </a:p>
          <a:p>
            <a:pPr lvl="1"/>
            <a:r>
              <a:rPr lang="pt-BR" sz="2400" dirty="0">
                <a:solidFill>
                  <a:schemeClr val="tx1"/>
                </a:solidFill>
              </a:rPr>
              <a:t>Força a próxima iteração do laço.</a:t>
            </a:r>
          </a:p>
          <a:p>
            <a:pPr marL="274320" lvl="1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640020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i="1" dirty="0" err="1"/>
              <a:t>Arrays</a:t>
            </a:r>
            <a:r>
              <a:rPr lang="pt-BR" sz="4800" dirty="0"/>
              <a:t> (vetores e matrizes)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Índice sempre inicia no 0 (zero);</a:t>
            </a:r>
          </a:p>
          <a:p>
            <a:r>
              <a:rPr lang="pt-BR" sz="2800" dirty="0">
                <a:solidFill>
                  <a:schemeClr val="tx1"/>
                </a:solidFill>
              </a:rPr>
              <a:t>Declaração (1 dimensão):</a:t>
            </a:r>
          </a:p>
          <a:p>
            <a:pPr lvl="1"/>
            <a:r>
              <a:rPr lang="pt-BR" sz="2200" dirty="0">
                <a:solidFill>
                  <a:schemeClr val="tx1"/>
                </a:solidFill>
              </a:rPr>
              <a:t>&lt;tipo&gt;[] &lt;nome&gt; = new &lt;tipo&gt;[&lt;quantidade&gt;];</a:t>
            </a:r>
          </a:p>
          <a:p>
            <a:r>
              <a:rPr lang="pt-BR" sz="2800" dirty="0">
                <a:solidFill>
                  <a:srgbClr val="003300"/>
                </a:solidFill>
              </a:rPr>
              <a:t>Declaração (2 dimensões):</a:t>
            </a:r>
          </a:p>
          <a:p>
            <a:pPr lvl="1"/>
            <a:r>
              <a:rPr lang="pt-BR" sz="2400" dirty="0">
                <a:solidFill>
                  <a:srgbClr val="003300"/>
                </a:solidFill>
              </a:rPr>
              <a:t>&lt;tipo&gt;[,] &lt;nome&gt; = new &lt;tipo&gt;[&lt;total_dimensão_1&gt;, &lt;total_dimensão_2&gt;];</a:t>
            </a:r>
          </a:p>
          <a:p>
            <a:r>
              <a:rPr lang="pt-BR" sz="2800" dirty="0">
                <a:solidFill>
                  <a:srgbClr val="003300"/>
                </a:solidFill>
              </a:rPr>
              <a:t>Declaração (3 dimensões):</a:t>
            </a:r>
          </a:p>
          <a:p>
            <a:pPr lvl="1"/>
            <a:r>
              <a:rPr lang="pt-BR" sz="2400" dirty="0">
                <a:solidFill>
                  <a:srgbClr val="003300"/>
                </a:solidFill>
              </a:rPr>
              <a:t>&lt;tipo&gt;[,,] &lt;nome&gt; = new &lt;tipo&gt;[&lt;total_dim_1&gt;, &lt;total_dim_2&gt;, &lt;total_dim_3&gt;];</a:t>
            </a:r>
          </a:p>
          <a:p>
            <a:pPr lvl="1"/>
            <a:endParaRPr lang="pt-BR" sz="22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049606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i="1" dirty="0" err="1"/>
              <a:t>Arrays</a:t>
            </a:r>
            <a:r>
              <a:rPr lang="pt-BR" sz="4800" dirty="0"/>
              <a:t> (vetores e matrizes)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Acesso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&lt;nome&gt;[&lt;posição&gt;]</a:t>
            </a:r>
          </a:p>
          <a:p>
            <a:r>
              <a:rPr lang="pt-BR" sz="2800" dirty="0"/>
              <a:t>Inicialização em linha</a:t>
            </a:r>
          </a:p>
          <a:p>
            <a:pPr lvl="1"/>
            <a:r>
              <a:rPr lang="pt-BR" sz="2000" dirty="0">
                <a:solidFill>
                  <a:schemeClr val="tx1"/>
                </a:solidFill>
              </a:rPr>
              <a:t>&lt;tipo&gt;[] &lt;nome&gt; = {&lt;v1&gt;, &lt;v2&gt;, ..., &lt;</a:t>
            </a:r>
            <a:r>
              <a:rPr lang="pt-BR" sz="2000" dirty="0" err="1">
                <a:solidFill>
                  <a:schemeClr val="tx1"/>
                </a:solidFill>
              </a:rPr>
              <a:t>vN</a:t>
            </a:r>
            <a:r>
              <a:rPr lang="pt-BR" sz="2000" dirty="0">
                <a:solidFill>
                  <a:schemeClr val="tx1"/>
                </a:solidFill>
              </a:rPr>
              <a:t>&gt;};</a:t>
            </a: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7FE79E5-6A04-4349-8EF1-BC5BE5BE8D0A}"/>
              </a:ext>
            </a:extLst>
          </p:cNvPr>
          <p:cNvSpPr/>
          <p:nvPr/>
        </p:nvSpPr>
        <p:spPr>
          <a:xfrm>
            <a:off x="2427901" y="434677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numeros1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[5];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numeros1.Length; i++)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numeros1[i] = i;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[] numeros2 = { 1, 2, 3, 4, 5 };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8764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i="1" dirty="0" err="1"/>
              <a:t>Arrays</a:t>
            </a:r>
            <a:r>
              <a:rPr lang="pt-BR" sz="4800" dirty="0"/>
              <a:t> (vetores e matrizes)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Exemplo 1</a:t>
            </a:r>
          </a:p>
          <a:p>
            <a:endParaRPr lang="pt-BR" sz="2800" dirty="0">
              <a:solidFill>
                <a:schemeClr val="tx1"/>
              </a:solidFill>
            </a:endParaRPr>
          </a:p>
          <a:p>
            <a:endParaRPr lang="pt-BR" sz="2800" dirty="0"/>
          </a:p>
          <a:p>
            <a:r>
              <a:rPr lang="pt-BR" sz="2800" dirty="0"/>
              <a:t>Exemplo 2</a:t>
            </a:r>
            <a:endParaRPr lang="pt-BR" sz="20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pt-BR" sz="24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69E8BF-A1FF-41EC-8F27-1E6DF4C831A9}"/>
              </a:ext>
            </a:extLst>
          </p:cNvPr>
          <p:cNvSpPr/>
          <p:nvPr/>
        </p:nvSpPr>
        <p:spPr>
          <a:xfrm>
            <a:off x="2895600" y="250406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{ 1, 2, 3, 4, 5 };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numeros.Length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 i++)</a:t>
            </a:r>
          </a:p>
          <a:p>
            <a:r>
              <a:rPr lang="pt-BR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[i]);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CB2E26A-1CA1-4E29-A225-F35720B965A0}"/>
              </a:ext>
            </a:extLst>
          </p:cNvPr>
          <p:cNvSpPr/>
          <p:nvPr/>
        </p:nvSpPr>
        <p:spPr>
          <a:xfrm>
            <a:off x="2895600" y="458071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{ 1, 2, 3, 4, 5 };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numeros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2B91AF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2B91AF"/>
                </a:solidFill>
                <a:latin typeface="Consolas" panose="020B0609020204030204" pitchFamily="49" charset="0"/>
              </a:rPr>
              <a:t>Console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.WriteLine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(n);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0038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6BF2E-26B3-44FF-A567-992B4CB4F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6E384C2-7EB3-4BA3-A734-B7EB95E4A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pt-BR" sz="2800" dirty="0"/>
                  <a:t>Escreva um programa que leia o seu nome e a sua idade, e exiba esses valores na tela;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sz="2800" dirty="0"/>
                  <a:t>Escreva um programa que leia o seu nome, seu peso e a sua altura, e exiba o valor do seu IMC, definido como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𝐼𝑀𝐶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𝑃𝑒𝑠𝑜</m:t>
                        </m:r>
                      </m:num>
                      <m:den>
                        <m:sSup>
                          <m:sSup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𝐴𝑙𝑡𝑢𝑟𝑎</m:t>
                            </m:r>
                          </m:e>
                          <m:sup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pt-BR" sz="2800" dirty="0"/>
                  <a:t>;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sz="2800" dirty="0"/>
                  <a:t>Escreva um programa que leia o seu nome e as notas de 4 avaliações realizadas, A1, A2, A3 e A4, e exiba o valor da média obtida, sendo a média definida como: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𝑑𝑖𝑎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+3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+4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6E384C2-7EB3-4BA3-A734-B7EB95E4A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182" t="-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8701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35340-AFB7-4FB3-85AF-228EF902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191BBF-6B50-423A-BD9F-1BDD2A591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pt-BR" sz="2800" dirty="0"/>
              <a:t>Escreva um programa que leia três números inteiros e exiba o maior valor entre eles;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pt-BR" sz="2800" dirty="0"/>
              <a:t>Escreva um programa que leia números inteiros positivos, terminando a leitura quando o número 0 (zero) for digitado. Ao término da entrada de dados, exibir o maior e o menor número lido;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pt-BR" sz="2800" dirty="0"/>
              <a:t>Escreva um programa que leia 1000 (mil) números inteiros e exiba todos os números que forem menores que a média deles;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pt-BR" sz="2800" dirty="0"/>
              <a:t>Escreva um programa que leia 1000 (mil) números entre 0 e 100 e, após a leitura de todos, exiba a quantidade de vezes que cada número foi digitado. Validar os números informados.</a:t>
            </a:r>
          </a:p>
          <a:p>
            <a:pPr marL="457200" indent="-457200">
              <a:buFont typeface="+mj-lt"/>
              <a:buAutoNum type="arabicPeriod" startAt="4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280340809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iva">
  <a:themeElements>
    <a:clrScheme name="Retrospec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1309</TotalTime>
  <Words>2026</Words>
  <Application>Microsoft Office PowerPoint</Application>
  <PresentationFormat>Widescreen</PresentationFormat>
  <Paragraphs>480</Paragraphs>
  <Slides>38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38</vt:i4>
      </vt:variant>
    </vt:vector>
  </HeadingPairs>
  <TitlesOfParts>
    <vt:vector size="47" baseType="lpstr">
      <vt:lpstr>Calibri</vt:lpstr>
      <vt:lpstr>Calibri Light</vt:lpstr>
      <vt:lpstr>Cambria Math</vt:lpstr>
      <vt:lpstr>Consolas</vt:lpstr>
      <vt:lpstr>Times New Roman</vt:lpstr>
      <vt:lpstr>Wingdings</vt:lpstr>
      <vt:lpstr>Wingdings 2</vt:lpstr>
      <vt:lpstr>HDOfficeLightV0</vt:lpstr>
      <vt:lpstr>Retrospectiva</vt:lpstr>
      <vt:lpstr>Linguagem de Programação 2</vt:lpstr>
      <vt:lpstr>Conceitos Iniciais</vt:lpstr>
      <vt:lpstr>Conceitos Iniciais</vt:lpstr>
      <vt:lpstr>Introdução</vt:lpstr>
      <vt:lpstr>Introdução</vt:lpstr>
      <vt:lpstr>Introdução</vt:lpstr>
      <vt:lpstr>Introdução</vt:lpstr>
      <vt:lpstr>Estrutura do .NET Framework</vt:lpstr>
      <vt:lpstr>Introdução</vt:lpstr>
      <vt:lpstr>Ferramenta de desenvolvimento</vt:lpstr>
      <vt:lpstr>Novo projeto – Visual Studio Community</vt:lpstr>
      <vt:lpstr>Novo projeto – Visual Studio Community</vt:lpstr>
      <vt:lpstr>Novo projeto – Visual Studio Community</vt:lpstr>
      <vt:lpstr>Novo projeto – Visual Studio Community</vt:lpstr>
      <vt:lpstr>Novo projeto – Visual Studio Code</vt:lpstr>
      <vt:lpstr>Novo projeto – Visual Studio Code</vt:lpstr>
      <vt:lpstr>Novo projeto – Visual Studio Code</vt:lpstr>
      <vt:lpstr>Introdução</vt:lpstr>
      <vt:lpstr>Comentários</vt:lpstr>
      <vt:lpstr>Tipo de Dados</vt:lpstr>
      <vt:lpstr>Tipo de Dados</vt:lpstr>
      <vt:lpstr>Operadores básicos</vt:lpstr>
      <vt:lpstr>Variáveis e Constantes</vt:lpstr>
      <vt:lpstr>Variáveis e Constantes</vt:lpstr>
      <vt:lpstr>Variáveis e Constantes</vt:lpstr>
      <vt:lpstr>Variáveis e Constantes</vt:lpstr>
      <vt:lpstr>Entrada e Saída de Dados</vt:lpstr>
      <vt:lpstr>Entrada e Saída de Dados</vt:lpstr>
      <vt:lpstr>Entrada e Saída de Dados</vt:lpstr>
      <vt:lpstr>Estruturas de Tomada de Decisão</vt:lpstr>
      <vt:lpstr>Estruturas de Repetição</vt:lpstr>
      <vt:lpstr>Estruturas de Repetição</vt:lpstr>
      <vt:lpstr>Estruturas de Repetição</vt:lpstr>
      <vt:lpstr>Arrays (vetores e matrizes)</vt:lpstr>
      <vt:lpstr>Arrays (vetores e matrizes)</vt:lpstr>
      <vt:lpstr>Arrays (vetores e matrizes)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creator>aluno</dc:creator>
  <cp:lastModifiedBy>Tiago Docusse</cp:lastModifiedBy>
  <cp:revision>169</cp:revision>
  <dcterms:created xsi:type="dcterms:W3CDTF">2017-07-05T21:06:24Z</dcterms:created>
  <dcterms:modified xsi:type="dcterms:W3CDTF">2026-02-10T01:54:05Z</dcterms:modified>
</cp:coreProperties>
</file>