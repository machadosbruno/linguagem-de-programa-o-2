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5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362" r:id="rId16"/>
    <p:sldId id="363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347" r:id="rId41"/>
    <p:sldId id="356" r:id="rId42"/>
    <p:sldId id="357" r:id="rId43"/>
    <p:sldId id="358" r:id="rId44"/>
    <p:sldId id="359" r:id="rId45"/>
    <p:sldId id="360" r:id="rId46"/>
    <p:sldId id="348" r:id="rId47"/>
    <p:sldId id="354" r:id="rId48"/>
    <p:sldId id="350" r:id="rId49"/>
    <p:sldId id="355" r:id="rId50"/>
    <p:sldId id="352" r:id="rId51"/>
    <p:sldId id="351" r:id="rId52"/>
    <p:sldId id="353" r:id="rId53"/>
    <p:sldId id="349" r:id="rId54"/>
    <p:sldId id="361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Calibri"/>
              </a:rPr>
              <a:t>Clique para mover o slide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DB32B1D7-C45B-4811-ADBA-89F1E9DF6D29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BD6943-C13A-4312-8862-3137E2A5415B}" type="slidenum">
              <a:rPr lang="pt-BR" sz="1200" b="0" strike="noStrike" spc="-1">
                <a:latin typeface="Times New Roman"/>
              </a:rPr>
              <a:t>29</a:t>
            </a:fld>
            <a:endParaRPr lang="pt-BR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447D307-4557-4C88-97FA-D9979D4573D1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BFE2FC1-7CBC-489A-A2A5-A1D3E5D3B596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25BF40A-7656-4526-AFEF-4FD6D688EB5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4636E22-C1E6-4322-913F-22934CECFFB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30B9C1-7268-47D7-885A-DF7FCDCEA607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DAE6F55-A058-4726-A671-4421D235079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68ED62-73FD-4B87-92DE-7F75B1255F21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3FB160-CFDF-4B0B-89C1-37D95A82291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06B099B-89E3-4F58-810D-23BD4785FA71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74BF7C4-D9E3-4CD7-815C-50364B2B8F31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5C01436-DCFA-49AC-92C9-858162630105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607D206-D1F0-46FB-9364-3EB9EB7E00FF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CFF17B1-4EE7-47A4-B2F5-D0997A46D84B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F94327B-E307-4FD7-BABB-E306EC1B0C3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5D1E53E-E93E-4CF1-BDF6-93807C2259C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9CC7354-82AF-4BD0-8CE2-8A94122B0CD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DF74C01-5B59-4F0F-964E-AABB56D8786A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0D3593B-48BA-48EA-9395-06348369AA1A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A9648C8-4949-40A2-B20E-0976D23EAA6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2CD8FF2-FFB1-47FD-A8C8-F2766AA6D270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B3156AA-DB45-49D3-8BDB-9891EEC95D8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A7A1925-6D32-4B69-9336-812B3B0E372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CD916FC-6D4A-4478-87EE-8655CE5C556C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FC5AB4F-AFCA-4EBD-841D-076AE280A8B1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65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Rectangle 8" hidden="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Straight Connector 9"/>
          <p:cNvSpPr/>
          <p:nvPr/>
        </p:nvSpPr>
        <p:spPr>
          <a:xfrm>
            <a:off x="1193400" y="1737720"/>
            <a:ext cx="996696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8000" b="0" strike="noStrike" spc="-52">
                <a:solidFill>
                  <a:srgbClr val="262626"/>
                </a:solidFill>
                <a:latin typeface="Calibri Light"/>
              </a:rPr>
              <a:t>Clique para editar o título mestre</a:t>
            </a:r>
            <a:endParaRPr lang="pt-BR" sz="8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00" b="0" strike="noStrike" spc="-1">
                <a:solidFill>
                  <a:srgbClr val="FFFFFF"/>
                </a:solidFill>
                <a:latin typeface="Calibri"/>
              </a:rPr>
              <a:t>&lt;data/hora&gt;</a:t>
            </a:r>
            <a:endParaRPr lang="pt-BR" sz="900" b="0" strike="noStrike" spc="-1"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pt-BR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8FB66C-F964-4F9C-BA5B-441E57B631D4}" type="slidenum">
              <a:rPr lang="pt-BR" sz="1050" b="0" strike="noStrike" spc="-1">
                <a:solidFill>
                  <a:srgbClr val="FFFFFF"/>
                </a:solidFill>
                <a:latin typeface="Calibri"/>
              </a:rPr>
              <a:t>‹nº›</a:t>
            </a:fld>
            <a:endParaRPr lang="pt-BR" sz="1050" b="0" strike="noStrike" spc="-1">
              <a:latin typeface="Times New Roman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1207440" y="4343400"/>
            <a:ext cx="987552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404040"/>
                </a:solid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404040"/>
                </a:solidFill>
                <a:latin typeface="Calibri"/>
              </a:rPr>
              <a:t>2.º nível da estrutura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404040"/>
                </a:solidFill>
                <a:latin typeface="Calibri"/>
              </a:rPr>
              <a:t>3.º nível da estrutura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404040"/>
                </a:solidFill>
                <a:latin typeface="Calibri"/>
              </a:rPr>
              <a:t>4.º nível da estrutura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404040"/>
                </a:solidFill>
                <a:latin typeface="Calibri"/>
              </a:rPr>
              <a:t>5.º nível da estrutura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404040"/>
                </a:solidFill>
                <a:latin typeface="Calibri"/>
              </a:rPr>
              <a:t>6.º nível da estrutura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40404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Rectangle 8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Straight Connector 9"/>
          <p:cNvSpPr/>
          <p:nvPr/>
        </p:nvSpPr>
        <p:spPr>
          <a:xfrm>
            <a:off x="1193400" y="1737720"/>
            <a:ext cx="996696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Clique para editar o título mestre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000" b="0" strike="noStrike" spc="-1">
                <a:solidFill>
                  <a:srgbClr val="404040"/>
                </a:solidFill>
                <a:latin typeface="Calibri"/>
              </a:rPr>
              <a:t>Clique para editar o texto mestre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1800" b="0" strike="noStrike" spc="-1">
                <a:solidFill>
                  <a:srgbClr val="404040"/>
                </a:solidFill>
                <a:latin typeface="Calibri"/>
              </a:rPr>
              <a:t>Segundo nível</a:t>
            </a: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1400" b="0" strike="noStrike" spc="-1">
                <a:solidFill>
                  <a:srgbClr val="404040"/>
                </a:solidFill>
                <a:latin typeface="Calibri"/>
              </a:rPr>
              <a:t>Terceiro nível</a:t>
            </a:r>
          </a:p>
          <a:p>
            <a:pPr marL="749880" lvl="3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1400" b="0" strike="noStrike" spc="-1">
                <a:solidFill>
                  <a:srgbClr val="404040"/>
                </a:solidFill>
                <a:latin typeface="Calibri"/>
              </a:rPr>
              <a:t>Quarto nível</a:t>
            </a:r>
          </a:p>
          <a:p>
            <a:pPr marL="932760" lvl="4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1400" b="0" strike="noStrike" spc="-1">
                <a:solidFill>
                  <a:srgbClr val="404040"/>
                </a:solidFill>
                <a:latin typeface="Calibri"/>
              </a:rPr>
              <a:t>Quinto nível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00" b="0" strike="noStrike" spc="-1">
                <a:solidFill>
                  <a:srgbClr val="FFFFFF"/>
                </a:solidFill>
                <a:latin typeface="Calibri"/>
              </a:rPr>
              <a:t>&lt;data/hora&gt;</a:t>
            </a:r>
            <a:endParaRPr lang="pt-BR" sz="900" b="0" strike="noStrike" spc="-1"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pt-BR" sz="105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B794C3-7879-47E9-A039-5863E70D574E}" type="slidenum">
              <a:rPr lang="pt-BR" sz="1050" b="0" strike="noStrike" spc="-1">
                <a:solidFill>
                  <a:srgbClr val="FFFFFF"/>
                </a:solidFill>
                <a:latin typeface="Calibri"/>
              </a:rPr>
              <a:t>‹nº›</a:t>
            </a:fld>
            <a:endParaRPr lang="pt-BR" sz="105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097280" y="884520"/>
            <a:ext cx="10058040" cy="3440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pt-BR" sz="6600" b="0" strike="noStrike" spc="-52" dirty="0">
                <a:solidFill>
                  <a:srgbClr val="262626"/>
                </a:solidFill>
                <a:latin typeface="Calibri Light"/>
              </a:rPr>
              <a:t>Linguagem de Programação 2</a:t>
            </a:r>
            <a:endParaRPr lang="pt-BR" sz="6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000" lnSpcReduction="10000"/>
          </a:bodyPr>
          <a:lstStyle/>
          <a:p>
            <a:pPr algn="ctr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pt-BR" sz="2400" b="0" strike="noStrike" cap="all" spc="199">
                <a:solidFill>
                  <a:srgbClr val="455F51"/>
                </a:solidFill>
                <a:latin typeface="Calibri Light"/>
              </a:rPr>
              <a:t>Tecnologia em Análise e Desenvolvimento de Sistemas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pt-BR" sz="1800" b="0" strike="noStrike" spc="199">
                <a:solidFill>
                  <a:srgbClr val="455F51"/>
                </a:solidFill>
                <a:latin typeface="Calibri Light"/>
              </a:rPr>
              <a:t>Tiago Alexandre Dócusse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Exemplo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3200" b="0" strike="noStrike" spc="-1">
                <a:solidFill>
                  <a:srgbClr val="404040"/>
                </a:solidFill>
                <a:latin typeface="Calibri"/>
              </a:rPr>
              <a:t>Criar um programa que receba o nome, a altura (m) e o peso (kg) de uma pessoa, e retorne seu IMC bem como a classificação de seu IMC, definida como: 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3200" b="0" strike="noStrike" spc="-1">
              <a:solidFill>
                <a:srgbClr val="404040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CaixaDeTexto 3"/>
              <p:cNvSpPr txBox="1"/>
              <p:nvPr/>
            </p:nvSpPr>
            <p:spPr>
              <a:xfrm>
                <a:off x="8300520" y="2932560"/>
                <a:ext cx="2171160" cy="69120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𝐼𝑀𝐶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𝑃𝑒𝑠𝑜</m:t>
                          </m:r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𝐴𝑙𝑡𝑢𝑟𝑎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:p15="http://schemas.microsoft.com/office/powerpoint/2012/main" xmlns:p14="http://schemas.microsoft.com/office/powerpoint/2010/main" xmlns=""/>
      </mc:AlternateContent>
      <p:graphicFrame>
        <p:nvGraphicFramePr>
          <p:cNvPr id="102" name="Tabela 5"/>
          <p:cNvGraphicFramePr/>
          <p:nvPr/>
        </p:nvGraphicFramePr>
        <p:xfrm>
          <a:off x="3488040" y="3429000"/>
          <a:ext cx="4279680" cy="2595600"/>
        </p:xfrm>
        <a:graphic>
          <a:graphicData uri="http://schemas.openxmlformats.org/drawingml/2006/table">
            <a:tbl>
              <a:tblPr/>
              <a:tblGrid>
                <a:gridCol w="112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IMC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Classificação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[0, 18,5)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Magreza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[18,5, 25)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Normal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[25, 30)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Sobrepeso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[30, 35)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Obesidade grau I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[35, 40)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Obesidade grau II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[40, ...)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Obesidade grau III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Padrão MVC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96000" lnSpcReduction="10000"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O padrão Model-View-Controller (MVC) prevê a utilização de três camadas para um sistema: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Model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</a:rPr>
              <a:t>Camada que abstrai a representação dos dados do sistema;</a:t>
            </a: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View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</a:rPr>
              <a:t>Camada que contém a interface com o usuário do sistema;</a:t>
            </a: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Controller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</a:rPr>
              <a:t>Camada que contém a implementação das regras de negócio do sistema, juntamente com a validação dos dados e sua utilização.</a:t>
            </a: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Padrão MVC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261800" y="1828800"/>
            <a:ext cx="66286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Cada interface com o usuário é uma View;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Na View faz-se implementação apenas de código relativo à interface com o usuário;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Na camada controller é feita a implementação das regras de negócio do sistema;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Na model representa-se os dados da aplicação.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</p:txBody>
      </p:sp>
      <p:grpSp>
        <p:nvGrpSpPr>
          <p:cNvPr id="107" name="Agrupar 5"/>
          <p:cNvGrpSpPr/>
          <p:nvPr/>
        </p:nvGrpSpPr>
        <p:grpSpPr>
          <a:xfrm>
            <a:off x="8465040" y="2729520"/>
            <a:ext cx="2066040" cy="2152800"/>
            <a:chOff x="8465040" y="2729520"/>
            <a:chExt cx="2066040" cy="2152800"/>
          </a:xfrm>
        </p:grpSpPr>
        <p:sp>
          <p:nvSpPr>
            <p:cNvPr id="108" name="Retângulo 6"/>
            <p:cNvSpPr/>
            <p:nvPr/>
          </p:nvSpPr>
          <p:spPr>
            <a:xfrm>
              <a:off x="8465040" y="2729520"/>
              <a:ext cx="1717560" cy="36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pt-BR" sz="1800" b="0" strike="noStrike" spc="-1">
                  <a:solidFill>
                    <a:srgbClr val="FFFFFF"/>
                  </a:solidFill>
                  <a:latin typeface="Calibri"/>
                </a:rPr>
                <a:t>View</a:t>
              </a:r>
              <a:endParaRPr lang="pt-BR" sz="1800" b="0" strike="noStrike" spc="-1">
                <a:latin typeface="Arial"/>
              </a:endParaRPr>
            </a:p>
          </p:txBody>
        </p:sp>
        <p:sp>
          <p:nvSpPr>
            <p:cNvPr id="109" name="Retângulo 7"/>
            <p:cNvSpPr/>
            <p:nvPr/>
          </p:nvSpPr>
          <p:spPr>
            <a:xfrm>
              <a:off x="9533880" y="3625920"/>
              <a:ext cx="997200" cy="3600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pt-BR" sz="1800" b="0" strike="noStrike" spc="-1">
                  <a:solidFill>
                    <a:srgbClr val="FFFFFF"/>
                  </a:solidFill>
                  <a:latin typeface="Calibri"/>
                </a:rPr>
                <a:t>Model</a:t>
              </a:r>
              <a:endParaRPr lang="pt-BR" sz="1800" b="0" strike="noStrike" spc="-1">
                <a:latin typeface="Arial"/>
              </a:endParaRPr>
            </a:p>
          </p:txBody>
        </p:sp>
        <p:sp>
          <p:nvSpPr>
            <p:cNvPr id="110" name="Retângulo 8"/>
            <p:cNvSpPr/>
            <p:nvPr/>
          </p:nvSpPr>
          <p:spPr>
            <a:xfrm>
              <a:off x="8465040" y="4522320"/>
              <a:ext cx="1717560" cy="3600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pt-BR" sz="1800" b="0" strike="noStrike" spc="-1">
                  <a:solidFill>
                    <a:srgbClr val="FFFFFF"/>
                  </a:solidFill>
                  <a:latin typeface="Calibri"/>
                </a:rPr>
                <a:t>Controller</a:t>
              </a:r>
              <a:endParaRPr lang="pt-BR" sz="1800" b="0" strike="noStrike" spc="-1">
                <a:latin typeface="Arial"/>
              </a:endParaRPr>
            </a:p>
          </p:txBody>
        </p:sp>
        <p:sp>
          <p:nvSpPr>
            <p:cNvPr id="111" name="Conector de Seta Reta 9"/>
            <p:cNvSpPr/>
            <p:nvPr/>
          </p:nvSpPr>
          <p:spPr>
            <a:xfrm flipH="1">
              <a:off x="9323280" y="3089520"/>
              <a:ext cx="360" cy="14324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Projeto em Camadas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98000"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Utilizaremos uma variação do padrão MVC para realizar a conexão com o banco de dados;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Cada empresa trabalha com a quantidade de camadas desejada de acordo com a aplicação desenvolvida;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De forma geral, uma camada só pode acessar dados da camada imediatamente inferior a ela;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Podem ser desenvolvidas camadas verticais, acessíveis por todas as camadas horizontais.</a:t>
            </a:r>
            <a:br/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Projeto em Camadas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632040" y="1828800"/>
            <a:ext cx="622476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Utilizando 1 camada;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View: realiza todas as operações do sistema: regras de interface, regras de negócio, validações do sistema, conexão com o banco de dados, etc.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6" name="Retângulo 9"/>
          <p:cNvSpPr/>
          <p:nvPr/>
        </p:nvSpPr>
        <p:spPr>
          <a:xfrm>
            <a:off x="1343880" y="2521440"/>
            <a:ext cx="1717560" cy="360000"/>
          </a:xfrm>
          <a:prstGeom prst="rect">
            <a:avLst/>
          </a:prstGeom>
          <a:solidFill>
            <a:srgbClr val="C000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</a:rPr>
              <a:t>View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17" name="Conector de Seta Reta 10"/>
          <p:cNvSpPr/>
          <p:nvPr/>
        </p:nvSpPr>
        <p:spPr>
          <a:xfrm flipH="1">
            <a:off x="2202120" y="2881800"/>
            <a:ext cx="360" cy="216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Cilindro 11"/>
          <p:cNvSpPr/>
          <p:nvPr/>
        </p:nvSpPr>
        <p:spPr>
          <a:xfrm>
            <a:off x="1821960" y="5049360"/>
            <a:ext cx="761760" cy="927720"/>
          </a:xfrm>
          <a:prstGeom prst="can">
            <a:avLst>
              <a:gd name="adj" fmla="val 25000"/>
            </a:avLst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libri"/>
              </a:rPr>
              <a:t>SGBD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Projeto em Camadas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3835440" y="1828800"/>
            <a:ext cx="602136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Utilizando 3 camadas: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404040"/>
                </a:solidFill>
                <a:latin typeface="Calibri"/>
              </a:rPr>
              <a:t> </a:t>
            </a:r>
            <a:r>
              <a:rPr lang="pt-BR" sz="2600" b="0" strike="noStrike" spc="-1">
                <a:solidFill>
                  <a:srgbClr val="000000"/>
                </a:solidFill>
                <a:latin typeface="Calibri"/>
              </a:rPr>
              <a:t>View: realiza as operações da interface do sistema;</a:t>
            </a: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</a:rPr>
              <a:t> Controller: realiza as operações de regras de negócio, validações do sistema, conexão com o banco de dados, etc;</a:t>
            </a: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</a:rPr>
              <a:t> Model: utilizada como comunicação entre as camadas.</a:t>
            </a: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21" name="Retângulo 5"/>
          <p:cNvSpPr/>
          <p:nvPr/>
        </p:nvSpPr>
        <p:spPr>
          <a:xfrm>
            <a:off x="1343880" y="2521440"/>
            <a:ext cx="1717560" cy="360000"/>
          </a:xfrm>
          <a:prstGeom prst="rect">
            <a:avLst/>
          </a:prstGeom>
          <a:solidFill>
            <a:srgbClr val="C000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</a:rPr>
              <a:t>View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22" name="Cilindro 6"/>
          <p:cNvSpPr/>
          <p:nvPr/>
        </p:nvSpPr>
        <p:spPr>
          <a:xfrm>
            <a:off x="1821960" y="5049360"/>
            <a:ext cx="761760" cy="927720"/>
          </a:xfrm>
          <a:prstGeom prst="can">
            <a:avLst>
              <a:gd name="adj" fmla="val 25000"/>
            </a:avLst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libri"/>
              </a:rPr>
              <a:t>SGBD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23" name="Retângulo 7"/>
          <p:cNvSpPr/>
          <p:nvPr/>
        </p:nvSpPr>
        <p:spPr>
          <a:xfrm>
            <a:off x="1343880" y="3575520"/>
            <a:ext cx="1717560" cy="360000"/>
          </a:xfrm>
          <a:prstGeom prst="rect">
            <a:avLst/>
          </a:prstGeom>
          <a:solidFill>
            <a:srgbClr val="0070C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</a:rPr>
              <a:t>Controller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24" name="Conector de Seta Reta 8"/>
          <p:cNvSpPr/>
          <p:nvPr/>
        </p:nvSpPr>
        <p:spPr>
          <a:xfrm flipH="1">
            <a:off x="2202120" y="2881800"/>
            <a:ext cx="360" cy="693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Conector de Seta Reta 9"/>
          <p:cNvSpPr/>
          <p:nvPr/>
        </p:nvSpPr>
        <p:spPr>
          <a:xfrm>
            <a:off x="2202840" y="3935520"/>
            <a:ext cx="360" cy="1113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" name="Retângulo 10"/>
          <p:cNvSpPr/>
          <p:nvPr/>
        </p:nvSpPr>
        <p:spPr>
          <a:xfrm>
            <a:off x="2382840" y="3048480"/>
            <a:ext cx="997200" cy="360000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</a:rPr>
              <a:t>Model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Conexão com SGBD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Possibilidades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</a:rPr>
              <a:t>Direto da interface da aplicação</a:t>
            </a: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Propriedades do Visual Studio;</a:t>
            </a: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</a:rPr>
              <a:t>Utilização de padrões de projeto</a:t>
            </a: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400" b="0" i="1" strike="noStrike" spc="-1">
                <a:solidFill>
                  <a:srgbClr val="000000"/>
                </a:solidFill>
                <a:latin typeface="Calibri"/>
              </a:rPr>
              <a:t>Framework</a:t>
            </a: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 existente;</a:t>
            </a: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400" b="0" i="1" strike="noStrike" spc="-1">
                <a:solidFill>
                  <a:srgbClr val="000000"/>
                </a:solidFill>
                <a:latin typeface="Calibri"/>
              </a:rPr>
              <a:t>Framework </a:t>
            </a: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próprio.</a:t>
            </a: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Projeto em Camadas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759120" y="1828800"/>
            <a:ext cx="60976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12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400" b="0" strike="noStrike" spc="-1" dirty="0">
                <a:solidFill>
                  <a:srgbClr val="404040"/>
                </a:solidFill>
                <a:latin typeface="Calibri"/>
              </a:rPr>
              <a:t>Utilizando 4 camadas;</a:t>
            </a:r>
          </a:p>
          <a:p>
            <a:pPr marL="384120" lvl="1" indent="-182880">
              <a:lnSpc>
                <a:spcPct val="12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2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BR" sz="2200" b="0" strike="noStrike" spc="-1" dirty="0" err="1">
                <a:solidFill>
                  <a:srgbClr val="000000"/>
                </a:solidFill>
                <a:latin typeface="Calibri"/>
              </a:rPr>
              <a:t>View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</a:rPr>
              <a:t>: realiza as operações da interface do sistema;</a:t>
            </a:r>
            <a:endParaRPr lang="pt-BR" sz="2200" b="0" strike="noStrike" spc="-1" dirty="0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12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2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BR" sz="2200" b="0" strike="noStrike" spc="-1" dirty="0" err="1">
                <a:solidFill>
                  <a:srgbClr val="000000"/>
                </a:solidFill>
                <a:latin typeface="Calibri"/>
              </a:rPr>
              <a:t>Controller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</a:rPr>
              <a:t>: realiza as operações de regras de negócio e validações do sistema;</a:t>
            </a:r>
            <a:endParaRPr lang="pt-BR" sz="2200" b="0" strike="noStrike" spc="-1" dirty="0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12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200" b="0" strike="noStrike" spc="-1" dirty="0">
                <a:solidFill>
                  <a:srgbClr val="000000"/>
                </a:solidFill>
                <a:latin typeface="Calibri"/>
              </a:rPr>
              <a:t> DAL: realiza as operações com o banco de dados;</a:t>
            </a:r>
            <a:endParaRPr lang="pt-BR" sz="2200" b="0" strike="noStrike" spc="-1" dirty="0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12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200" b="0" strike="noStrike" spc="-1" dirty="0">
                <a:solidFill>
                  <a:srgbClr val="000000"/>
                </a:solidFill>
                <a:latin typeface="Calibri"/>
              </a:rPr>
              <a:t> Model: utilizada como comunicação entre as camadas.</a:t>
            </a:r>
            <a:endParaRPr lang="pt-BR" sz="22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200" b="0" strike="noStrike" spc="-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31" name="Retângulo 5"/>
          <p:cNvSpPr/>
          <p:nvPr/>
        </p:nvSpPr>
        <p:spPr>
          <a:xfrm>
            <a:off x="1343880" y="2521440"/>
            <a:ext cx="1717560" cy="360000"/>
          </a:xfrm>
          <a:prstGeom prst="rect">
            <a:avLst/>
          </a:prstGeom>
          <a:solidFill>
            <a:srgbClr val="C000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</a:rPr>
              <a:t>View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32" name="Cilindro 6"/>
          <p:cNvSpPr/>
          <p:nvPr/>
        </p:nvSpPr>
        <p:spPr>
          <a:xfrm>
            <a:off x="1821960" y="5049360"/>
            <a:ext cx="761760" cy="927720"/>
          </a:xfrm>
          <a:prstGeom prst="can">
            <a:avLst>
              <a:gd name="adj" fmla="val 25000"/>
            </a:avLst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libri"/>
              </a:rPr>
              <a:t>SGBD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33" name="Retângulo 7"/>
          <p:cNvSpPr/>
          <p:nvPr/>
        </p:nvSpPr>
        <p:spPr>
          <a:xfrm>
            <a:off x="1343880" y="3575520"/>
            <a:ext cx="1717560" cy="360000"/>
          </a:xfrm>
          <a:prstGeom prst="rect">
            <a:avLst/>
          </a:prstGeom>
          <a:solidFill>
            <a:srgbClr val="0070C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</a:rPr>
              <a:t>Controller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34" name="Conector de Seta Reta 8"/>
          <p:cNvSpPr/>
          <p:nvPr/>
        </p:nvSpPr>
        <p:spPr>
          <a:xfrm flipH="1">
            <a:off x="2202120" y="2881800"/>
            <a:ext cx="360" cy="693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Conector de Seta Reta 9"/>
          <p:cNvSpPr/>
          <p:nvPr/>
        </p:nvSpPr>
        <p:spPr>
          <a:xfrm>
            <a:off x="2202840" y="4797000"/>
            <a:ext cx="360" cy="25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" name="Retângulo 10"/>
          <p:cNvSpPr/>
          <p:nvPr/>
        </p:nvSpPr>
        <p:spPr>
          <a:xfrm>
            <a:off x="2382840" y="3048480"/>
            <a:ext cx="997200" cy="360000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</a:rPr>
              <a:t>Model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37" name="Retângulo 11"/>
          <p:cNvSpPr/>
          <p:nvPr/>
        </p:nvSpPr>
        <p:spPr>
          <a:xfrm>
            <a:off x="1343880" y="4509000"/>
            <a:ext cx="1717560" cy="36000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libri"/>
              </a:rPr>
              <a:t>DAL</a:t>
            </a:r>
            <a:endParaRPr lang="pt-BR" sz="1800" b="0" strike="noStrike" spc="-1" dirty="0">
              <a:latin typeface="Arial"/>
            </a:endParaRPr>
          </a:p>
        </p:txBody>
      </p:sp>
      <p:sp>
        <p:nvSpPr>
          <p:cNvPr id="138" name="Conector de Seta Reta 12"/>
          <p:cNvSpPr/>
          <p:nvPr/>
        </p:nvSpPr>
        <p:spPr>
          <a:xfrm flipH="1">
            <a:off x="2202120" y="3935520"/>
            <a:ext cx="360" cy="572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Retângulo 13"/>
          <p:cNvSpPr/>
          <p:nvPr/>
        </p:nvSpPr>
        <p:spPr>
          <a:xfrm>
            <a:off x="2382840" y="4043520"/>
            <a:ext cx="997200" cy="360000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</a:rPr>
              <a:t>Model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Chamada para o SGBD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Retângulo 3"/>
          <p:cNvSpPr/>
          <p:nvPr/>
        </p:nvSpPr>
        <p:spPr>
          <a:xfrm>
            <a:off x="1261800" y="2040480"/>
            <a:ext cx="1260720" cy="414360"/>
          </a:xfrm>
          <a:prstGeom prst="rect">
            <a:avLst/>
          </a:prstGeom>
          <a:solidFill>
            <a:schemeClr val="bg1"/>
          </a:solidFill>
          <a:ln>
            <a:solidFill>
              <a:srgbClr val="71962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libri"/>
              </a:rPr>
              <a:t>View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42" name="Conector reto 12"/>
          <p:cNvSpPr/>
          <p:nvPr/>
        </p:nvSpPr>
        <p:spPr>
          <a:xfrm>
            <a:off x="1892160" y="2455200"/>
            <a:ext cx="360" cy="3252600"/>
          </a:xfrm>
          <a:prstGeom prst="line">
            <a:avLst/>
          </a:prstGeom>
          <a:ln w="9525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Retângulo 13"/>
          <p:cNvSpPr/>
          <p:nvPr/>
        </p:nvSpPr>
        <p:spPr>
          <a:xfrm>
            <a:off x="4313880" y="2040480"/>
            <a:ext cx="1260720" cy="414360"/>
          </a:xfrm>
          <a:prstGeom prst="rect">
            <a:avLst/>
          </a:prstGeom>
          <a:solidFill>
            <a:schemeClr val="bg1"/>
          </a:solidFill>
          <a:ln>
            <a:solidFill>
              <a:srgbClr val="71962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libri"/>
              </a:rPr>
              <a:t>Controller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44" name="Conector reto 14"/>
          <p:cNvSpPr/>
          <p:nvPr/>
        </p:nvSpPr>
        <p:spPr>
          <a:xfrm flipH="1">
            <a:off x="4924080" y="2455200"/>
            <a:ext cx="20160" cy="3326760"/>
          </a:xfrm>
          <a:prstGeom prst="line">
            <a:avLst/>
          </a:prstGeom>
          <a:ln w="9525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Retângulo 15"/>
          <p:cNvSpPr/>
          <p:nvPr/>
        </p:nvSpPr>
        <p:spPr>
          <a:xfrm>
            <a:off x="7395480" y="2040480"/>
            <a:ext cx="1260720" cy="414360"/>
          </a:xfrm>
          <a:prstGeom prst="rect">
            <a:avLst/>
          </a:prstGeom>
          <a:solidFill>
            <a:schemeClr val="bg1"/>
          </a:solidFill>
          <a:ln>
            <a:solidFill>
              <a:srgbClr val="71962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libri"/>
              </a:rPr>
              <a:t>DAL</a:t>
            </a:r>
            <a:endParaRPr lang="pt-BR" sz="1800" b="0" strike="noStrike" spc="-1" dirty="0">
              <a:latin typeface="Arial"/>
            </a:endParaRPr>
          </a:p>
        </p:txBody>
      </p:sp>
      <p:sp>
        <p:nvSpPr>
          <p:cNvPr id="146" name="Conector reto 16"/>
          <p:cNvSpPr/>
          <p:nvPr/>
        </p:nvSpPr>
        <p:spPr>
          <a:xfrm>
            <a:off x="8025840" y="2455200"/>
            <a:ext cx="8640" cy="3326760"/>
          </a:xfrm>
          <a:prstGeom prst="line">
            <a:avLst/>
          </a:prstGeom>
          <a:ln w="9525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Conector de Seta Reta 18"/>
          <p:cNvSpPr/>
          <p:nvPr/>
        </p:nvSpPr>
        <p:spPr>
          <a:xfrm>
            <a:off x="1892520" y="3005640"/>
            <a:ext cx="30517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99CB38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" name="Conector de Seta Reta 21"/>
          <p:cNvSpPr/>
          <p:nvPr/>
        </p:nvSpPr>
        <p:spPr>
          <a:xfrm>
            <a:off x="4952880" y="3640680"/>
            <a:ext cx="30812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99CB38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9" name="Conector de Seta Reta 23"/>
          <p:cNvSpPr/>
          <p:nvPr/>
        </p:nvSpPr>
        <p:spPr>
          <a:xfrm flipH="1">
            <a:off x="4952880" y="4654440"/>
            <a:ext cx="30726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0" name="Conector de Seta Reta 25"/>
          <p:cNvSpPr/>
          <p:nvPr/>
        </p:nvSpPr>
        <p:spPr>
          <a:xfrm flipH="1">
            <a:off x="1921320" y="5338440"/>
            <a:ext cx="30308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99CB38"/>
            </a:solidFill>
            <a:prstDash val="dash"/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1" name="CaixaDeTexto 26"/>
          <p:cNvSpPr/>
          <p:nvPr/>
        </p:nvSpPr>
        <p:spPr>
          <a:xfrm>
            <a:off x="1933920" y="2719440"/>
            <a:ext cx="168984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rgbClr val="000000"/>
                </a:solidFill>
                <a:latin typeface="Consolas"/>
              </a:rPr>
              <a:t>Inserir(m : model)</a:t>
            </a:r>
            <a:endParaRPr lang="pt-BR" sz="1200" b="0" strike="noStrike" spc="-1">
              <a:latin typeface="Arial"/>
            </a:endParaRPr>
          </a:p>
        </p:txBody>
      </p:sp>
      <p:sp>
        <p:nvSpPr>
          <p:cNvPr id="152" name="CaixaDeTexto 30"/>
          <p:cNvSpPr/>
          <p:nvPr/>
        </p:nvSpPr>
        <p:spPr>
          <a:xfrm>
            <a:off x="4964760" y="3349440"/>
            <a:ext cx="168984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rgbClr val="000000"/>
                </a:solidFill>
                <a:latin typeface="Consolas"/>
              </a:rPr>
              <a:t>Inserir(m : model)</a:t>
            </a:r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Definições sobre o SGBD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Banco de dados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404040"/>
                </a:solidFill>
                <a:latin typeface="Calibri"/>
              </a:rPr>
              <a:t>SQL Server Express;</a:t>
            </a: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600" b="0" strike="noStrike" spc="-1">
              <a:solidFill>
                <a:srgbClr val="404040"/>
              </a:solidFill>
              <a:latin typeface="Calibri"/>
            </a:endParaRP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Localização do banco de dados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404040"/>
                </a:solidFill>
                <a:latin typeface="Calibri"/>
              </a:rPr>
              <a:t>Instalação nativa (local ou rede);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404040"/>
                </a:solidFill>
                <a:latin typeface="Calibri"/>
              </a:rPr>
              <a:t>Máquina virtual (local ou rede);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404040"/>
                </a:solidFill>
                <a:latin typeface="Calibri"/>
              </a:rPr>
              <a:t>Container (local ou rede).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 dirty="0">
                <a:solidFill>
                  <a:srgbClr val="404040"/>
                </a:solidFill>
                <a:latin typeface="Calibri Light"/>
              </a:rPr>
              <a:t>Iniciando o SGBD (Local)</a:t>
            </a:r>
            <a:endParaRPr lang="pt-BR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 Light"/>
              <a:buAutoNum type="arabicPeriod"/>
            </a:pP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Abrir o aplicativo de serviços (</a:t>
            </a:r>
            <a:r>
              <a:rPr lang="pt-BR" sz="2800" b="0" strike="noStrike" spc="-1" dirty="0" err="1">
                <a:solidFill>
                  <a:srgbClr val="404040"/>
                </a:solidFill>
                <a:latin typeface="Calibri"/>
              </a:rPr>
              <a:t>services.msc</a:t>
            </a: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) e subir o serviço do SQL Server;</a:t>
            </a: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 Light"/>
              <a:buAutoNum type="arabicPeriod"/>
            </a:pPr>
            <a:r>
              <a:rPr lang="pt-BR" spc="-1" dirty="0">
                <a:solidFill>
                  <a:srgbClr val="404040"/>
                </a:solidFill>
                <a:latin typeface="Calibri"/>
              </a:rPr>
              <a:t>Opcionalmente, subir o serviço pelo aplicativo do SQL Server.</a:t>
            </a:r>
            <a:endParaRPr lang="pt-BR" sz="28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Verificar conexão com SGBD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000" b="0" strike="noStrike" spc="-1">
                <a:solidFill>
                  <a:srgbClr val="404040"/>
                </a:solidFill>
                <a:latin typeface="Calibri"/>
              </a:rPr>
              <a:t>localhost,1401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511D6F1-7D5E-A845-E7A1-3E4E5A69D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970" y="2356823"/>
            <a:ext cx="4544059" cy="30007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Iniciando o SGBD (Docker)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 Light"/>
              <a:buAutoNum type="arabicPeriod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Instalar o Docker (Windows ou Linux);</a:t>
            </a: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 Light"/>
              <a:buAutoNum type="arabicPeriod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docker pull mcr.microsoft.com/mssql/server</a:t>
            </a:r>
          </a:p>
          <a:p>
            <a:pPr marL="45720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 Light"/>
              <a:buAutoNum type="arabicPeriod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docker run -e "ACCEPT_EULA=Y" -e "MSSQL_SA_PASSWORD=Senh@123" -e "MSSQL_PID=Express" --name Biblioteca -p 1401:1433 -v volume:/var/opt/mssql -d mcr.microsoft.com/mssql/server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907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Verificar conexão com SGBD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000" b="0" strike="noStrike" spc="-1">
                <a:solidFill>
                  <a:srgbClr val="404040"/>
                </a:solidFill>
                <a:latin typeface="Calibri"/>
              </a:rPr>
              <a:t>localhost,1401</a:t>
            </a:r>
          </a:p>
        </p:txBody>
      </p:sp>
      <p:pic>
        <p:nvPicPr>
          <p:cNvPr id="159" name="Imagem 3"/>
          <p:cNvPicPr/>
          <p:nvPr/>
        </p:nvPicPr>
        <p:blipFill>
          <a:blip r:embed="rId2"/>
          <a:stretch/>
        </p:blipFill>
        <p:spPr>
          <a:xfrm>
            <a:off x="4119840" y="2575440"/>
            <a:ext cx="3952080" cy="262908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827368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Entity Framework Core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EFC é uma versão gratuita e de código aberto do Entity Framework  para ser utilizada com o .NET Core;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Utilizado como um ORM (Mapeador objeto-relacional) para modelar as tabelas de um banco de dados relacional para as classes de um projeto orientado a objetos;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Permite um desenvolvimento de código rápido sem a necessidade de digitar várias linhas de código.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Criar projeto no Visual Studio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655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 Aplicativo do </a:t>
            </a:r>
            <a:r>
              <a:rPr lang="pt-BR" sz="2800" b="0" strike="noStrike" spc="-1" dirty="0" err="1">
                <a:solidFill>
                  <a:srgbClr val="404040"/>
                </a:solidFill>
                <a:latin typeface="Calibri"/>
              </a:rPr>
              <a:t>WindowsForm</a:t>
            </a: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 (.NET 8.0)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 Apagar Form1;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 Criar pastas “Model”, “</a:t>
            </a:r>
            <a:r>
              <a:rPr lang="pt-BR" sz="2800" b="0" strike="noStrike" spc="-1" dirty="0" err="1">
                <a:solidFill>
                  <a:srgbClr val="404040"/>
                </a:solidFill>
                <a:latin typeface="Calibri"/>
              </a:rPr>
              <a:t>View</a:t>
            </a: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”, “Data” e “</a:t>
            </a:r>
            <a:r>
              <a:rPr lang="pt-BR" sz="2800" b="0" strike="noStrike" spc="-1" dirty="0" err="1">
                <a:solidFill>
                  <a:srgbClr val="404040"/>
                </a:solidFill>
                <a:latin typeface="Calibri"/>
              </a:rPr>
              <a:t>Controller</a:t>
            </a: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”;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 Criar o formulário inicial dentro de </a:t>
            </a:r>
            <a:r>
              <a:rPr lang="pt-BR" sz="2800" b="0" strike="noStrike" spc="-1" dirty="0" err="1">
                <a:solidFill>
                  <a:srgbClr val="404040"/>
                </a:solidFill>
                <a:latin typeface="Calibri"/>
              </a:rPr>
              <a:t>View</a:t>
            </a: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 e atualizar sua referência em </a:t>
            </a:r>
            <a:r>
              <a:rPr lang="pt-BR" sz="2800" b="0" strike="noStrike" spc="-1" dirty="0" err="1">
                <a:solidFill>
                  <a:srgbClr val="404040"/>
                </a:solidFill>
                <a:latin typeface="Calibri"/>
              </a:rPr>
              <a:t>program.cs</a:t>
            </a:r>
            <a:endParaRPr lang="pt-BR" sz="2800" b="0" strike="noStrike" spc="-1" dirty="0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164" name="Imagem 5"/>
          <p:cNvPicPr/>
          <p:nvPr/>
        </p:nvPicPr>
        <p:blipFill>
          <a:blip r:embed="rId2"/>
          <a:stretch/>
        </p:blipFill>
        <p:spPr>
          <a:xfrm>
            <a:off x="7651080" y="1938960"/>
            <a:ext cx="3752640" cy="4038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Preparando o projeto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Gerenciar pacotes NuGet do projeto e instalar os pacotes: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400" b="0" strike="noStrike" spc="-1">
                <a:solidFill>
                  <a:srgbClr val="404040"/>
                </a:solidFill>
                <a:latin typeface="Calibri"/>
              </a:rPr>
              <a:t>Microsoft.EntityFrameworkCore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400" b="0" strike="noStrike" spc="-1">
                <a:solidFill>
                  <a:srgbClr val="404040"/>
                </a:solidFill>
                <a:latin typeface="Calibri"/>
              </a:rPr>
              <a:t>Microsoft.EntityFrameworkCore.SqlServer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400" b="0" strike="noStrike" spc="-1">
                <a:solidFill>
                  <a:srgbClr val="404040"/>
                </a:solidFill>
                <a:latin typeface="Calibri"/>
              </a:rPr>
              <a:t>Microsoft.EntityFrameworkCore.Tools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404040"/>
                </a:solidFill>
                <a:latin typeface="Calibri"/>
              </a:rPr>
              <a:t> </a:t>
            </a: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Atente-se à versão instalada ou atualize todos os demais pacotes para a mesma versão.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Criando classes iniciais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Dentro da pasta Data, criar a classe DataContext de acordo com o código a seguir: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Usar uma </a:t>
            </a:r>
            <a:r>
              <a:rPr lang="pt-BR" sz="2800" b="0" i="1" strike="noStrike" spc="-1">
                <a:solidFill>
                  <a:srgbClr val="404040"/>
                </a:solidFill>
                <a:latin typeface="Calibri"/>
              </a:rPr>
              <a:t>string </a:t>
            </a: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de conexão baseada em: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69" name="CaixaDeTexto 4"/>
          <p:cNvSpPr/>
          <p:nvPr/>
        </p:nvSpPr>
        <p:spPr>
          <a:xfrm>
            <a:off x="1169640" y="2687040"/>
            <a:ext cx="10770480" cy="179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600" b="0" strike="noStrike" spc="-1">
                <a:solidFill>
                  <a:srgbClr val="0000FF"/>
                </a:solidFill>
                <a:latin typeface="Consolas"/>
              </a:rPr>
              <a:t>public</a:t>
            </a:r>
            <a:r>
              <a:rPr lang="pt-BR" sz="1600" b="0" strike="noStrike" spc="-1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600" b="0" strike="noStrike" spc="-1">
                <a:solidFill>
                  <a:srgbClr val="0000FF"/>
                </a:solidFill>
                <a:latin typeface="Consolas"/>
              </a:rPr>
              <a:t>class</a:t>
            </a:r>
            <a:r>
              <a:rPr lang="pt-BR" sz="1600" b="0" strike="noStrike" spc="-1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600" b="0" strike="noStrike" spc="-1">
                <a:solidFill>
                  <a:srgbClr val="2B91AF"/>
                </a:solidFill>
                <a:latin typeface="Consolas"/>
              </a:rPr>
              <a:t>DataContext</a:t>
            </a:r>
            <a:r>
              <a:rPr lang="pt-BR" sz="1600" b="0" strike="noStrike" spc="-1">
                <a:solidFill>
                  <a:srgbClr val="000000"/>
                </a:solidFill>
                <a:latin typeface="Consolas"/>
              </a:rPr>
              <a:t> : DbContext</a:t>
            </a:r>
            <a:endParaRPr lang="pt-BR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600" b="0" strike="noStrike" spc="-1">
                <a:solidFill>
                  <a:srgbClr val="000000"/>
                </a:solidFill>
                <a:latin typeface="Consolas"/>
              </a:rPr>
              <a:t>{</a:t>
            </a:r>
            <a:endParaRPr lang="pt-BR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FF"/>
                </a:solidFill>
                <a:latin typeface="Consolas"/>
              </a:rPr>
              <a:t>	protected</a:t>
            </a:r>
            <a:r>
              <a:rPr lang="en-US" sz="1600" b="0" strike="noStrike" spc="-1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b="0" strike="noStrike" spc="-1">
                <a:solidFill>
                  <a:srgbClr val="0000FF"/>
                </a:solidFill>
                <a:latin typeface="Consolas"/>
              </a:rPr>
              <a:t>override</a:t>
            </a:r>
            <a:r>
              <a:rPr lang="en-US" sz="1600" b="0" strike="noStrike" spc="-1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b="0" strike="noStrike" spc="-1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600" b="0" strike="noStrike" spc="-1">
                <a:solidFill>
                  <a:srgbClr val="000000"/>
                </a:solidFill>
                <a:latin typeface="Consolas"/>
              </a:rPr>
              <a:t> OnConfiguring(DbContextOptionsBuilder optionsBuilder)</a:t>
            </a:r>
            <a:endParaRPr lang="pt-BR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600" b="0" strike="noStrike" spc="-1">
                <a:solidFill>
                  <a:srgbClr val="000000"/>
                </a:solidFill>
                <a:latin typeface="Consolas"/>
              </a:rPr>
              <a:t>	{</a:t>
            </a:r>
            <a:endParaRPr lang="pt-BR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600" b="0" strike="noStrike" spc="-1">
                <a:solidFill>
                  <a:srgbClr val="000000"/>
                </a:solidFill>
                <a:latin typeface="Consolas"/>
              </a:rPr>
              <a:t>		optionsBuilder.UseSqlServer(</a:t>
            </a:r>
            <a:r>
              <a:rPr lang="pt-BR" sz="1600" b="0" strike="noStrike" spc="-1">
                <a:solidFill>
                  <a:srgbClr val="A31515"/>
                </a:solidFill>
                <a:latin typeface="Consolas"/>
              </a:rPr>
              <a:t>""</a:t>
            </a:r>
            <a:r>
              <a:rPr lang="pt-BR" sz="1600" b="0" strike="noStrike" spc="-1">
                <a:solidFill>
                  <a:srgbClr val="000000"/>
                </a:solidFill>
                <a:latin typeface="Consolas"/>
              </a:rPr>
              <a:t>);</a:t>
            </a:r>
            <a:endParaRPr lang="pt-BR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600" b="0" strike="noStrike" spc="-1">
                <a:solidFill>
                  <a:srgbClr val="000000"/>
                </a:solidFill>
                <a:latin typeface="Consolas"/>
              </a:rPr>
              <a:t>	}</a:t>
            </a:r>
            <a:endParaRPr lang="pt-BR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600" b="0" strike="noStrike" spc="-1">
                <a:solidFill>
                  <a:srgbClr val="000000"/>
                </a:solidFill>
                <a:latin typeface="Consolas"/>
              </a:rPr>
              <a:t>}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170" name="CaixaDeTexto 6"/>
          <p:cNvSpPr/>
          <p:nvPr/>
        </p:nvSpPr>
        <p:spPr>
          <a:xfrm>
            <a:off x="387720" y="5005800"/>
            <a:ext cx="11416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A31515"/>
                </a:solidFill>
                <a:latin typeface="Consolas"/>
              </a:rPr>
              <a:t>Data Source=localhost\\SQLEXPRESS; Initial Catalog=DBBiblioteca; Integrated Security=SSPI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71" name="CaixaDeTexto 7"/>
          <p:cNvSpPr/>
          <p:nvPr/>
        </p:nvSpPr>
        <p:spPr>
          <a:xfrm>
            <a:off x="2643840" y="5530680"/>
            <a:ext cx="690336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600" b="0" strike="noStrike" spc="-1">
                <a:solidFill>
                  <a:srgbClr val="000000"/>
                </a:solidFill>
                <a:latin typeface="Calibri"/>
              </a:rPr>
              <a:t>Senha e porta de conexão devem ser iguais às da configuração do banco de dados</a:t>
            </a:r>
            <a:endParaRPr lang="pt-BR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Exemplo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404040"/>
                </a:solidFill>
                <a:latin typeface="Calibri"/>
              </a:rPr>
              <a:t> </a:t>
            </a: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Criar um sistema para catalogar livros, dos quais se armazena o título e a data de publicação.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Criação das Models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Cada Model deve representar uma entidade do sistema. Para isso, criaremos uma classe para cada uma dentro da pasta Models.</a:t>
            </a:r>
          </a:p>
        </p:txBody>
      </p:sp>
      <p:sp>
        <p:nvSpPr>
          <p:cNvPr id="176" name="CaixaDeTexto 4"/>
          <p:cNvSpPr/>
          <p:nvPr/>
        </p:nvSpPr>
        <p:spPr>
          <a:xfrm>
            <a:off x="1097280" y="3086640"/>
            <a:ext cx="7566840" cy="173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class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2B91AF"/>
                </a:solidFill>
                <a:latin typeface="Cascadia Mono"/>
              </a:rPr>
              <a:t>Livro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{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      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int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ID {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get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set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}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      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string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Titulo {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get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set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}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      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DateTime DataPublicacao {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get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set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}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}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Criação das Models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 Podemos utilizar alguns atributos para cada propriedade da classe, de forma a indicar determinadas características de cada uma delas.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000" b="0" strike="noStrike" spc="-1" dirty="0" err="1">
                <a:solidFill>
                  <a:srgbClr val="404040"/>
                </a:solidFill>
                <a:latin typeface="Calibri"/>
              </a:rPr>
              <a:t>Required</a:t>
            </a:r>
            <a:endParaRPr lang="pt-BR" sz="2000" b="0" strike="noStrike" spc="-1" dirty="0">
              <a:solidFill>
                <a:srgbClr val="404040"/>
              </a:solidFill>
              <a:latin typeface="Calibri"/>
            </a:endParaRP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404040"/>
                </a:solidFill>
                <a:latin typeface="Calibri"/>
              </a:rPr>
              <a:t>Indica que a propriedade é de preenchimento obrigatório. Também utilizada com propriedades não-anuláveis.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000" b="0" strike="noStrike" spc="-1" dirty="0" err="1">
                <a:solidFill>
                  <a:srgbClr val="404040"/>
                </a:solidFill>
                <a:latin typeface="Calibri"/>
              </a:rPr>
              <a:t>NotMapped</a:t>
            </a:r>
            <a:endParaRPr lang="pt-BR" sz="2000" b="0" strike="noStrike" spc="-1" dirty="0">
              <a:solidFill>
                <a:srgbClr val="404040"/>
              </a:solidFill>
              <a:latin typeface="Calibri"/>
            </a:endParaRP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404040"/>
                </a:solidFill>
                <a:latin typeface="Calibri"/>
              </a:rPr>
              <a:t>Propriedade não será mapeada a um atributo no banco de dados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000" b="0" strike="noStrike" spc="-1" dirty="0" err="1">
                <a:solidFill>
                  <a:srgbClr val="404040"/>
                </a:solidFill>
                <a:latin typeface="Calibri"/>
              </a:rPr>
              <a:t>Column</a:t>
            </a:r>
            <a:r>
              <a:rPr lang="pt-BR" sz="2000" b="0" strike="noStrike" spc="-1" dirty="0">
                <a:solidFill>
                  <a:srgbClr val="404040"/>
                </a:solidFill>
                <a:latin typeface="Calibri"/>
              </a:rPr>
              <a:t>(“</a:t>
            </a:r>
            <a:r>
              <a:rPr lang="pt-BR" sz="2000" b="0" strike="noStrike" spc="-1" dirty="0" err="1">
                <a:solidFill>
                  <a:srgbClr val="404040"/>
                </a:solidFill>
                <a:latin typeface="Calibri"/>
              </a:rPr>
              <a:t>nomeColuna</a:t>
            </a:r>
            <a:r>
              <a:rPr lang="pt-BR" sz="2000" b="0" strike="noStrike" spc="-1" dirty="0">
                <a:solidFill>
                  <a:srgbClr val="404040"/>
                </a:solidFill>
                <a:latin typeface="Calibri"/>
              </a:rPr>
              <a:t>”)</a:t>
            </a: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404040"/>
                </a:solidFill>
                <a:latin typeface="Calibri"/>
              </a:rPr>
              <a:t>Caso queira deixar o nome da propriedade na classe diferente do nome da coluna na tabela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000" b="0" strike="noStrike" spc="-1" dirty="0" err="1">
                <a:solidFill>
                  <a:srgbClr val="404040"/>
                </a:solidFill>
                <a:latin typeface="Calibri"/>
              </a:rPr>
              <a:t>MaxLength</a:t>
            </a:r>
            <a:r>
              <a:rPr lang="pt-BR" sz="2000" b="0" strike="noStrike" spc="-1" dirty="0">
                <a:solidFill>
                  <a:srgbClr val="404040"/>
                </a:solidFill>
                <a:latin typeface="Calibri"/>
              </a:rPr>
              <a:t>(tamanho)</a:t>
            </a: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404040"/>
                </a:solidFill>
                <a:latin typeface="Calibri"/>
              </a:rPr>
              <a:t>Tamanho máximo do campo (</a:t>
            </a:r>
            <a:r>
              <a:rPr lang="pt-BR" sz="1600" b="0" strike="noStrike" spc="-1" dirty="0" err="1">
                <a:solidFill>
                  <a:srgbClr val="404040"/>
                </a:solidFill>
                <a:latin typeface="Calibri"/>
              </a:rPr>
              <a:t>string</a:t>
            </a:r>
            <a:r>
              <a:rPr lang="pt-BR" sz="1600" b="0" strike="noStrike" spc="-1" dirty="0">
                <a:solidFill>
                  <a:srgbClr val="404040"/>
                </a:solidFill>
                <a:latin typeface="Calibri"/>
              </a:rPr>
              <a:t>)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2000" b="0" strike="noStrike" spc="-1" dirty="0" err="1">
                <a:solidFill>
                  <a:srgbClr val="404040"/>
                </a:solidFill>
                <a:latin typeface="Calibri"/>
              </a:rPr>
              <a:t>DataType</a:t>
            </a:r>
            <a:r>
              <a:rPr lang="pt-BR" sz="2000" b="0" strike="noStrike" spc="-1" dirty="0">
                <a:solidFill>
                  <a:srgbClr val="404040"/>
                </a:solidFill>
                <a:latin typeface="Calibri"/>
              </a:rPr>
              <a:t>(</a:t>
            </a:r>
            <a:r>
              <a:rPr lang="pt-BR" sz="2000" b="0" strike="noStrike" spc="-1" dirty="0" err="1">
                <a:solidFill>
                  <a:srgbClr val="404040"/>
                </a:solidFill>
                <a:latin typeface="Calibri"/>
              </a:rPr>
              <a:t>DataType</a:t>
            </a:r>
            <a:r>
              <a:rPr lang="pt-BR" sz="2000" b="0" strike="noStrike" spc="-1" dirty="0">
                <a:solidFill>
                  <a:srgbClr val="404040"/>
                </a:solidFill>
                <a:latin typeface="Calibri"/>
              </a:rPr>
              <a:t>.?)</a:t>
            </a: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404040"/>
                </a:solidFill>
                <a:latin typeface="Calibri"/>
              </a:rPr>
              <a:t>Tipo personalizado de dado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1600" b="0" strike="noStrike" spc="-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79" name="CaixaDeTexto 4"/>
          <p:cNvSpPr/>
          <p:nvPr/>
        </p:nvSpPr>
        <p:spPr>
          <a:xfrm>
            <a:off x="339480" y="178200"/>
            <a:ext cx="6094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using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System.ComponentModel.DataAnnotations;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Criação das Models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CaixaDeTexto 5"/>
          <p:cNvSpPr/>
          <p:nvPr/>
        </p:nvSpPr>
        <p:spPr>
          <a:xfrm>
            <a:off x="2558880" y="2312640"/>
            <a:ext cx="7951680" cy="310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class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2B91AF"/>
                </a:solidFill>
                <a:latin typeface="Cascadia Mono"/>
              </a:rPr>
              <a:t>Livro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{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      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int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ID {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get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set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}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    [Required]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      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string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Titulo {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get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set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}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    [Required]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    [DataType(DataType.Date)]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      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 DateTime DataPublicacao {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get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</a:t>
            </a:r>
            <a:r>
              <a:rPr lang="en-US" sz="1800" b="0" strike="noStrike" spc="-1">
                <a:solidFill>
                  <a:srgbClr val="0000FF"/>
                </a:solidFill>
                <a:latin typeface="Cascadia Mono"/>
              </a:rPr>
              <a:t>set</a:t>
            </a:r>
            <a:r>
              <a:rPr lang="en-US" sz="1800" b="0" strike="noStrike" spc="-1">
                <a:solidFill>
                  <a:srgbClr val="000000"/>
                </a:solidFill>
                <a:latin typeface="Cascadia Mono"/>
              </a:rPr>
              <a:t>; }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}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Informar as tabelas utilizadas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Em DataContext, adicionar um DBSet para cada tabela a ser utilizada. O nome utilizado aqui deve ser o mesmo nome da tabela.</a:t>
            </a:r>
          </a:p>
        </p:txBody>
      </p:sp>
      <p:sp>
        <p:nvSpPr>
          <p:cNvPr id="184" name="CaixaDeTexto 4"/>
          <p:cNvSpPr/>
          <p:nvPr/>
        </p:nvSpPr>
        <p:spPr>
          <a:xfrm>
            <a:off x="2940840" y="2699640"/>
            <a:ext cx="609408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DbSet&lt;Livro&gt; Livros {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get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;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set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; }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Criar (e atualizar) tabelas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Para criar um arquivo com as atualizações a serem realizadas no banco de dados, utilizar o seguinte comando no Package Manager Console: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Para efetivamente executar as alterações no banco de dados, utilizar o seguinte comando: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87" name="CaixaDeTexto 3"/>
          <p:cNvSpPr/>
          <p:nvPr/>
        </p:nvSpPr>
        <p:spPr>
          <a:xfrm>
            <a:off x="4018320" y="3059640"/>
            <a:ext cx="3430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onsolas"/>
              </a:rPr>
              <a:t>Add-Migration NomeMigracao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88" name="CaixaDeTexto 4"/>
          <p:cNvSpPr/>
          <p:nvPr/>
        </p:nvSpPr>
        <p:spPr>
          <a:xfrm>
            <a:off x="4705560" y="4898880"/>
            <a:ext cx="2055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onsolas"/>
              </a:rPr>
              <a:t>Update-Database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Criando classes iniciais (Controller)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Criar uma classe na pasta Controller chamada DefaultController, com o código a seguir: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91" name="CaixaDeTexto 4"/>
          <p:cNvSpPr/>
          <p:nvPr/>
        </p:nvSpPr>
        <p:spPr>
          <a:xfrm>
            <a:off x="1375920" y="3092040"/>
            <a:ext cx="9365760" cy="11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class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2B91AF"/>
                </a:solidFill>
                <a:latin typeface="Cascadia Mono"/>
              </a:rPr>
              <a:t>DefaultController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    {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       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static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DataContext Context =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new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DataContext();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    }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Criação das Controllers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Criar uma classe controller para cada model, dentro da pasta controllers. Dentro das controllers que serão feitas as chamadas para o banco de dados. Todas as controllers devem herdar de DefaultController.</a:t>
            </a:r>
          </a:p>
        </p:txBody>
      </p:sp>
      <p:sp>
        <p:nvSpPr>
          <p:cNvPr id="194" name="CaixaDeTexto 4"/>
          <p:cNvSpPr/>
          <p:nvPr/>
        </p:nvSpPr>
        <p:spPr>
          <a:xfrm>
            <a:off x="2456640" y="3857400"/>
            <a:ext cx="7339320" cy="11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class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2B91AF"/>
                </a:solidFill>
                <a:latin typeface="Cascadia Mono"/>
              </a:rPr>
              <a:t>LivroController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: DefaultController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    {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       }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Criação das Views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Criar dentro da pasta Views as views desejadas. Por exemplo, a seguir exibe-se a view de inserção de livro.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800" b="0" strike="noStrike" spc="-1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197" name="Imagem 5"/>
          <p:cNvPicPr/>
          <p:nvPr/>
        </p:nvPicPr>
        <p:blipFill>
          <a:blip r:embed="rId2"/>
          <a:stretch/>
        </p:blipFill>
        <p:spPr>
          <a:xfrm>
            <a:off x="4672080" y="2914200"/>
            <a:ext cx="2847600" cy="1561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Criação das Views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Toda a programação de interface deve ser feita dentro do código da view.</a:t>
            </a:r>
          </a:p>
        </p:txBody>
      </p:sp>
      <p:sp>
        <p:nvSpPr>
          <p:cNvPr id="200" name="CaixaDeTexto 5"/>
          <p:cNvSpPr/>
          <p:nvPr/>
        </p:nvSpPr>
        <p:spPr>
          <a:xfrm>
            <a:off x="2384640" y="2363400"/>
            <a:ext cx="10443240" cy="393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FF"/>
                </a:solidFill>
                <a:latin typeface="Cascadia Mono"/>
              </a:rPr>
              <a:t>private</a:t>
            </a:r>
            <a:r>
              <a:rPr lang="en-US" sz="1800" b="0" strike="noStrike" spc="-1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latin typeface="Cascadia Mono"/>
              </a:rPr>
              <a:t>void</a:t>
            </a:r>
            <a:r>
              <a:rPr lang="en-US" sz="1800" b="0" strike="noStrike" spc="-1" dirty="0">
                <a:solidFill>
                  <a:srgbClr val="000000"/>
                </a:solidFill>
                <a:latin typeface="Cascadia Mono"/>
              </a:rPr>
              <a:t> button1_Click(</a:t>
            </a:r>
            <a:r>
              <a:rPr lang="en-US" sz="1800" b="0" strike="noStrike" spc="-1" dirty="0">
                <a:solidFill>
                  <a:srgbClr val="0000FF"/>
                </a:solidFill>
                <a:latin typeface="Cascadia Mono"/>
              </a:rPr>
              <a:t>object</a:t>
            </a:r>
            <a:r>
              <a:rPr lang="en-US" sz="1800" b="0" strike="noStrike" spc="-1" dirty="0">
                <a:solidFill>
                  <a:srgbClr val="000000"/>
                </a:solidFill>
                <a:latin typeface="Cascadia Mono"/>
              </a:rPr>
              <a:t> sender,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scadia Mono"/>
              </a:rPr>
              <a:t>EventArgs</a:t>
            </a:r>
            <a:r>
              <a:rPr lang="en-US" sz="1800" b="0" strike="noStrike" spc="-1" dirty="0">
                <a:solidFill>
                  <a:srgbClr val="000000"/>
                </a:solidFill>
                <a:latin typeface="Cascadia Mono"/>
              </a:rPr>
              <a:t> e)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{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	errorProvider1.Clear();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FF"/>
                </a:solidFill>
                <a:latin typeface="Cascadia Mono"/>
              </a:rPr>
              <a:t>	</a:t>
            </a:r>
            <a:r>
              <a:rPr lang="pt-BR" sz="1800" b="0" strike="noStrike" spc="-1" dirty="0" err="1">
                <a:solidFill>
                  <a:srgbClr val="0000FF"/>
                </a:solidFill>
                <a:latin typeface="Cascadia Mono"/>
              </a:rPr>
              <a:t>if</a:t>
            </a: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 (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Cascadia Mono"/>
              </a:rPr>
              <a:t>txtTitulo.Text.Trim</a:t>
            </a: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() == </a:t>
            </a:r>
            <a:r>
              <a:rPr lang="pt-BR" sz="1800" b="0" strike="noStrike" spc="-1" dirty="0">
                <a:solidFill>
                  <a:srgbClr val="A31515"/>
                </a:solidFill>
                <a:latin typeface="Cascadia Mono"/>
              </a:rPr>
              <a:t>""</a:t>
            </a: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)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		errorProvider1.SetError(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Cascadia Mono"/>
              </a:rPr>
              <a:t>txtTitulo</a:t>
            </a: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, </a:t>
            </a:r>
            <a:r>
              <a:rPr lang="pt-BR" sz="1800" b="0" strike="noStrike" spc="-1" dirty="0">
                <a:solidFill>
                  <a:srgbClr val="A31515"/>
                </a:solidFill>
                <a:latin typeface="Cascadia Mono"/>
              </a:rPr>
              <a:t>"Campo obrigatório"</a:t>
            </a: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);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FF"/>
                </a:solidFill>
                <a:latin typeface="Cascadia Mono"/>
              </a:rPr>
              <a:t>	if</a:t>
            </a:r>
            <a:r>
              <a:rPr lang="en-US" sz="1800" b="0" strike="noStrike" spc="-1" dirty="0">
                <a:solidFill>
                  <a:srgbClr val="000000"/>
                </a:solidFill>
                <a:latin typeface="Cascadia Mono"/>
              </a:rPr>
              <a:t>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scadia Mono"/>
              </a:rPr>
              <a:t>txtData.Value</a:t>
            </a:r>
            <a:r>
              <a:rPr lang="en-US" sz="1800" b="0" strike="noStrike" spc="-1" dirty="0">
                <a:solidFill>
                  <a:srgbClr val="000000"/>
                </a:solidFill>
                <a:latin typeface="Cascadia Mono"/>
              </a:rPr>
              <a:t> &gt;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scadia Mono"/>
              </a:rPr>
              <a:t>DateTime.Today</a:t>
            </a:r>
            <a:r>
              <a:rPr lang="en-US" sz="1800" b="0" strike="noStrike" spc="-1" dirty="0">
                <a:solidFill>
                  <a:srgbClr val="000000"/>
                </a:solidFill>
                <a:latin typeface="Cascadia Mono"/>
              </a:rPr>
              <a:t>)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		errorProvider1.SetError(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Cascadia Mono"/>
              </a:rPr>
              <a:t>txtData</a:t>
            </a: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, </a:t>
            </a:r>
            <a:r>
              <a:rPr lang="pt-BR" sz="1800" b="0" strike="noStrike" spc="-1" dirty="0">
                <a:solidFill>
                  <a:srgbClr val="A31515"/>
                </a:solidFill>
                <a:latin typeface="Cascadia Mono"/>
              </a:rPr>
              <a:t>"Data inválida!"</a:t>
            </a: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);</a:t>
            </a:r>
            <a:endParaRPr lang="pt-BR" sz="180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FF"/>
                </a:solidFill>
                <a:latin typeface="Cascadia Mono"/>
              </a:rPr>
              <a:t>	</a:t>
            </a:r>
            <a:r>
              <a:rPr lang="pt-BR" sz="1800" b="0" strike="noStrike" spc="-1" dirty="0" err="1">
                <a:solidFill>
                  <a:srgbClr val="0000FF"/>
                </a:solidFill>
                <a:latin typeface="Cascadia Mono"/>
              </a:rPr>
              <a:t>else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       {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8000"/>
                </a:solidFill>
                <a:latin typeface="Cascadia Mono"/>
              </a:rPr>
              <a:t>		/* todo: Salvar no banco */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              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Cascadia Mono"/>
              </a:rPr>
              <a:t>MessageBox.Show</a:t>
            </a: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(</a:t>
            </a:r>
            <a:r>
              <a:rPr lang="pt-BR" sz="1800" b="0" strike="noStrike" spc="-1" dirty="0">
                <a:solidFill>
                  <a:srgbClr val="A31515"/>
                </a:solidFill>
                <a:latin typeface="Cascadia Mono"/>
              </a:rPr>
              <a:t>"Dados salvos com sucesso!"</a:t>
            </a: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);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              Close();</a:t>
            </a:r>
            <a:endParaRPr lang="pt-BR" sz="180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	}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 dirty="0">
                <a:solidFill>
                  <a:srgbClr val="000000"/>
                </a:solidFill>
                <a:latin typeface="Cascadia Mono"/>
              </a:rPr>
              <a:t>}</a:t>
            </a:r>
            <a:endParaRPr lang="pt-BR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Comunicação entre View e Controller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Preencher uma model com os dados desejados e escolher o método da controller desejado:</a:t>
            </a:r>
          </a:p>
        </p:txBody>
      </p:sp>
      <p:sp>
        <p:nvSpPr>
          <p:cNvPr id="203" name="CaixaDeTexto 4"/>
          <p:cNvSpPr/>
          <p:nvPr/>
        </p:nvSpPr>
        <p:spPr>
          <a:xfrm>
            <a:off x="3322440" y="2967480"/>
            <a:ext cx="6094080" cy="11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Livro item =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new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Livro();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item.Titulo = txtTitulo.Text.Trim();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item.DataPublicacao = txtData.Value;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LivroController.Salvar(item);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Programação da controller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 Dentro da controller, criaremos métodos diversos, especialmente os métodos CRUD. Para salvar no banco de dados, utilizamos o seguinte método:</a:t>
            </a:r>
          </a:p>
        </p:txBody>
      </p:sp>
      <p:sp>
        <p:nvSpPr>
          <p:cNvPr id="206" name="CaixaDeTexto 4"/>
          <p:cNvSpPr/>
          <p:nvPr/>
        </p:nvSpPr>
        <p:spPr>
          <a:xfrm>
            <a:off x="3349080" y="3198600"/>
            <a:ext cx="6094080" cy="146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public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static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void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Salvar(Livro item)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{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	Context.Add(item);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	Context.SaveChanges();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}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Listagem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3200" b="0" strike="noStrike" spc="-1">
                <a:solidFill>
                  <a:srgbClr val="404040"/>
                </a:solidFill>
                <a:latin typeface="Calibri"/>
              </a:rPr>
              <a:t>Criaremos uma tela para exibir todos os livros em um datagrid.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Criar view com a interface desejada;</a:t>
            </a: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Chamar o método correspondente na Controller para retornar todos os livros;</a:t>
            </a: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Utilizar o comando ToList() do DBSet.</a:t>
            </a: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pt-BR" sz="24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Pesquisa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Criar o campo de título para pesquisar por título;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Passar a model com o título desejado para a controller;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Realizar a pesquisa com as seguintes opções:</a:t>
            </a: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600" b="0" strike="noStrike" spc="-1">
                <a:solidFill>
                  <a:srgbClr val="404040"/>
                </a:solidFill>
                <a:latin typeface="Calibri"/>
              </a:rPr>
              <a:t>Utilizar lambda expression;</a:t>
            </a:r>
          </a:p>
          <a:p>
            <a:pPr marL="567000" lvl="2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200" b="0" strike="noStrike" spc="-1">
                <a:solidFill>
                  <a:srgbClr val="404040"/>
                </a:solidFill>
                <a:latin typeface="Calibri"/>
              </a:rPr>
              <a:t>.where(x =&gt; &lt;condição&gt;).ToList();</a:t>
            </a: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pt-BR" sz="2200" b="0" strike="noStrike" spc="-1">
              <a:solidFill>
                <a:srgbClr val="404040"/>
              </a:solidFill>
              <a:latin typeface="Calibri"/>
            </a:endParaRPr>
          </a:p>
          <a:p>
            <a:pPr marL="384120" lvl="1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9CB38"/>
              </a:buClr>
              <a:buFont typeface="Calibri"/>
              <a:buChar char="◦"/>
            </a:pPr>
            <a:r>
              <a:rPr lang="pt-BR" sz="2600" b="0" strike="noStrike" spc="-1">
                <a:solidFill>
                  <a:srgbClr val="404040"/>
                </a:solidFill>
                <a:latin typeface="Calibri"/>
              </a:rPr>
              <a:t>Utilizar LINQ.</a:t>
            </a:r>
          </a:p>
        </p:txBody>
      </p:sp>
      <p:sp>
        <p:nvSpPr>
          <p:cNvPr id="211" name="CaixaDeTexto 4"/>
          <p:cNvSpPr/>
          <p:nvPr/>
        </p:nvSpPr>
        <p:spPr>
          <a:xfrm>
            <a:off x="3526560" y="5153400"/>
            <a:ext cx="609408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from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Livro l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in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dc.TBLivro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where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l.Titulo == item.Titulo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select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l;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Pesquisa com mais de um campo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Criar o campo de data para pesquisar por data de publicação;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Atualizar a model passada como argumento para a controller;</a:t>
            </a:r>
          </a:p>
        </p:txBody>
      </p:sp>
      <p:sp>
        <p:nvSpPr>
          <p:cNvPr id="214" name="CaixaDeTexto 4"/>
          <p:cNvSpPr/>
          <p:nvPr/>
        </p:nvSpPr>
        <p:spPr>
          <a:xfrm>
            <a:off x="1036440" y="3429000"/>
            <a:ext cx="10233360" cy="146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if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(item.DataPublicacao == </a:t>
            </a: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null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)</a:t>
            </a:r>
            <a:endParaRPr lang="pt-BR" sz="18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return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dc.TBLivro.Where(x =&gt; x.Titulo.Contains(item.Titulo)).ToList();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else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strike="noStrike" spc="-1">
                <a:solidFill>
                  <a:srgbClr val="0000FF"/>
                </a:solidFill>
                <a:latin typeface="Cascadia Mono"/>
              </a:rPr>
              <a:t>	return</a:t>
            </a:r>
            <a:r>
              <a:rPr lang="pt-BR" sz="1800" b="0" strike="noStrike" spc="-1">
                <a:solidFill>
                  <a:srgbClr val="000000"/>
                </a:solidFill>
                <a:latin typeface="Cascadia Mono"/>
              </a:rPr>
              <a:t> dc.TBLivro.Where(x =&gt; x.Titulo.Contains(item.Titulo) &amp;&amp; x.DataPublicacao.Value.Date == item.DataPublicacao.Value.Date).ToList();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Pesquisa com mais de um campo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Criar o campo de data para pesquisar por data de publicação;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Atualizar a model passada como argumento para a controller;</a:t>
            </a:r>
          </a:p>
        </p:txBody>
      </p:sp>
      <p:sp>
        <p:nvSpPr>
          <p:cNvPr id="217" name="CaixaDeTexto 5"/>
          <p:cNvSpPr/>
          <p:nvPr/>
        </p:nvSpPr>
        <p:spPr>
          <a:xfrm>
            <a:off x="1097280" y="2909160"/>
            <a:ext cx="11229840" cy="371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if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(item.DataPublicacao == </a:t>
            </a: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null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)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{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	var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x =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		from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Livro l </a:t>
            </a: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in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dc.TBLivro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		where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l.Titulo.Contains(item.Titulo)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		select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l;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		return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x.ToList();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}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else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{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	var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x =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		from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Livro l </a:t>
            </a: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in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dc.TBLivro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		where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l.Titulo.Contains(item.Titulo) &amp;&amp; l.DataPublicacao.Value.Date == item.DataPublicacao.Value.Date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		select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l;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             </a:t>
            </a:r>
            <a:r>
              <a:rPr lang="pt-BR" sz="1400" b="0" strike="noStrike" spc="-1">
                <a:solidFill>
                  <a:srgbClr val="0000FF"/>
                </a:solidFill>
                <a:latin typeface="Cascadia Mono"/>
              </a:rPr>
              <a:t>return</a:t>
            </a: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 x.ToList();</a:t>
            </a:r>
            <a:endParaRPr lang="pt-BR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Cascadia Mono"/>
              </a:rPr>
              <a:t>}</a:t>
            </a:r>
            <a:endParaRPr lang="pt-BR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Remoção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Escolher o elemento no datagrid que deseja remover;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Confirmar com o usuário a remoção;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Chamar o método da Controller referente à remoção;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Utilizar o comando Delete;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Atualizar o datagrid.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>
                <a:solidFill>
                  <a:srgbClr val="404040"/>
                </a:solidFill>
                <a:latin typeface="Calibri Light"/>
              </a:rPr>
              <a:t>Atualização</a:t>
            </a:r>
            <a:endParaRPr lang="pt-BR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Escolher o elemento no datagrid que deseja atualizar;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Abrir formulário para editar os dados (escolher forma de passagem);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Chamar o método da Controller referente à atualização;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Utilizar o comando Update e SaveChanges;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Voltar para o formulário de pesquisa e atualizar o datagrid;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>
                <a:solidFill>
                  <a:srgbClr val="404040"/>
                </a:solidFill>
                <a:latin typeface="Calibri"/>
              </a:rPr>
              <a:t>Se precisar obter apenas o objeto, utilizar o método FirstOrDefault.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4800" b="0" strike="noStrike" spc="-52" dirty="0">
                <a:solidFill>
                  <a:srgbClr val="404040"/>
                </a:solidFill>
                <a:latin typeface="Calibri Light"/>
              </a:rPr>
              <a:t>Próximo passo</a:t>
            </a:r>
            <a:endParaRPr lang="pt-BR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lstStyle/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Utilizando o mesmo sistema e padrão MVC, criar as classes/telas/etc. referentes à uma Editora, da qual são conhecidos:</a:t>
            </a: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alibri"/>
              <a:buChar char=" "/>
            </a:pPr>
            <a:endParaRPr lang="pt-BR" sz="28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</a:pPr>
            <a:r>
              <a:rPr lang="pt-BR" spc="-1" dirty="0">
                <a:solidFill>
                  <a:srgbClr val="404040"/>
                </a:solidFill>
                <a:latin typeface="Calibri"/>
              </a:rPr>
              <a:t>Nome (máximo 50 caracteres);</a:t>
            </a:r>
          </a:p>
          <a:p>
            <a:pPr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</a:pP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CNPJ (padrão XX. XXX. XXX/XXXX-XX);</a:t>
            </a:r>
          </a:p>
          <a:p>
            <a:pPr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</a:pPr>
            <a:r>
              <a:rPr lang="pt-BR" spc="-1" dirty="0">
                <a:solidFill>
                  <a:srgbClr val="404040"/>
                </a:solidFill>
                <a:latin typeface="Calibri"/>
              </a:rPr>
              <a:t>Cidade da sede;</a:t>
            </a:r>
          </a:p>
          <a:p>
            <a:pPr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</a:pPr>
            <a:r>
              <a:rPr lang="pt-BR" sz="2800" b="0" strike="noStrike" spc="-1" dirty="0">
                <a:solidFill>
                  <a:srgbClr val="404040"/>
                </a:solidFill>
                <a:latin typeface="Calibri"/>
              </a:rPr>
              <a:t>Ano de fundação.</a:t>
            </a:r>
          </a:p>
        </p:txBody>
      </p:sp>
    </p:spTree>
    <p:extLst>
      <p:ext uri="{BB962C8B-B14F-4D97-AF65-F5344CB8AC3E}">
        <p14:creationId xmlns:p14="http://schemas.microsoft.com/office/powerpoint/2010/main" val="3211243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1:N (1 para muitos)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No nosso sistema exemplo (Biblioteca), adicionar a funcionalidade de cadastro de editoras, que podem ter vários livros associados a cada uma delas, mas cada livro deve ser publicado por </a:t>
            </a:r>
            <a:r>
              <a:rPr lang="pt-BR" sz="2800" dirty="0">
                <a:solidFill>
                  <a:schemeClr val="accent2"/>
                </a:solidFill>
              </a:rPr>
              <a:t>apenas uma editora</a:t>
            </a:r>
            <a:r>
              <a:rPr lang="pt-BR" sz="2800" dirty="0"/>
              <a:t>.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31103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1:N (1 para muitos)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400" dirty="0"/>
              <a:t>Criar a </a:t>
            </a:r>
            <a:r>
              <a:rPr lang="pt-BR" sz="2400" i="1" dirty="0"/>
              <a:t>model</a:t>
            </a:r>
            <a:r>
              <a:rPr lang="pt-BR" sz="2400" dirty="0"/>
              <a:t> Editora com seus campos;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 dirty="0"/>
              <a:t>Atualizar a </a:t>
            </a:r>
            <a:r>
              <a:rPr lang="pt-BR" sz="2400" i="1" dirty="0"/>
              <a:t>model</a:t>
            </a:r>
            <a:r>
              <a:rPr lang="pt-BR" sz="2400" dirty="0"/>
              <a:t> Livro para possuir uma propriedade do tipo Editora;</a:t>
            </a:r>
          </a:p>
          <a:p>
            <a:pPr marL="806958" lvl="1" indent="-514350">
              <a:buFont typeface="+mj-lt"/>
              <a:buAutoNum type="arabicPeriod"/>
            </a:pPr>
            <a:r>
              <a:rPr lang="pt-BR" sz="2200" dirty="0"/>
              <a:t>É aconselhável também criar uma propriedade para armazenar apenas a chave primária da Editora;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 dirty="0"/>
              <a:t>Atualizar a base de dados;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 dirty="0"/>
              <a:t>Criar as </a:t>
            </a:r>
            <a:r>
              <a:rPr lang="pt-BR" sz="2400" i="1" dirty="0" err="1"/>
              <a:t>views</a:t>
            </a:r>
            <a:r>
              <a:rPr lang="pt-BR" sz="2400" dirty="0"/>
              <a:t> de inserção/pesquisa/remoção/atualização de editora;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 dirty="0"/>
              <a:t>Atualizar as </a:t>
            </a:r>
            <a:r>
              <a:rPr lang="pt-BR" sz="2400" i="1" dirty="0" err="1"/>
              <a:t>views</a:t>
            </a:r>
            <a:r>
              <a:rPr lang="pt-BR" sz="2400" dirty="0"/>
              <a:t> de inserção/pesquisa/remoção/atualização de livro.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285388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1:N (1 para muitos)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0597086-1135-4294-BF8E-A778C1BEAAAF}"/>
              </a:ext>
            </a:extLst>
          </p:cNvPr>
          <p:cNvSpPr txBox="1"/>
          <p:nvPr/>
        </p:nvSpPr>
        <p:spPr>
          <a:xfrm>
            <a:off x="88777" y="2351661"/>
            <a:ext cx="56284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dirty="0">
                <a:solidFill>
                  <a:srgbClr val="2B91AF"/>
                </a:solidFill>
                <a:latin typeface="Cascadia Mono" panose="020B0609020000020004" pitchFamily="49" charset="0"/>
              </a:rPr>
              <a:t>Editora</a:t>
            </a:r>
            <a:endParaRPr lang="pt-B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MaxLength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(50)]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Nome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 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CNPJ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Cidade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AnoFundacao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7C0685-A8B9-4E8F-9169-619F6D9D5133}"/>
              </a:ext>
            </a:extLst>
          </p:cNvPr>
          <p:cNvSpPr txBox="1"/>
          <p:nvPr/>
        </p:nvSpPr>
        <p:spPr>
          <a:xfrm>
            <a:off x="5415379" y="2074663"/>
            <a:ext cx="67766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dirty="0">
                <a:solidFill>
                  <a:srgbClr val="2B91AF"/>
                </a:solidFill>
                <a:latin typeface="Cascadia Mono" panose="020B0609020000020004" pitchFamily="49" charset="0"/>
              </a:rPr>
              <a:t>Livro</a:t>
            </a:r>
            <a:endParaRPr lang="pt-B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? Id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Required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MaxLength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(80)]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Titulo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Required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DataType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DataType.Date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DateTime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DataPublicacao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EditoraId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Editora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Editora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7655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1:N (1 para muitos)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90097E2-286B-FA26-34A5-4BD6CB7F1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3" y="2625012"/>
            <a:ext cx="11077140" cy="268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24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1:N (1 para muitos)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Após cadastrar um livro com uma editora associada, ao tentar obter o livro, o objeto de editora não será preenchido:</a:t>
            </a:r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Se for desejado que o objeto referente à editora seja preenchido, é necessário informar que este objeto deve ser incluído na pesquisa: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92151B-E942-449A-8692-5A0F832D1A01}"/>
              </a:ext>
            </a:extLst>
          </p:cNvPr>
          <p:cNvSpPr txBox="1"/>
          <p:nvPr/>
        </p:nvSpPr>
        <p:spPr>
          <a:xfrm>
            <a:off x="2727663" y="2850601"/>
            <a:ext cx="75171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dataContext.TBLivro.FirstOrDefault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(x =&gt; x.ID == item.ID);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10B260B-C51F-44F3-A4E2-A0BD3850B536}"/>
              </a:ext>
            </a:extLst>
          </p:cNvPr>
          <p:cNvSpPr txBox="1"/>
          <p:nvPr/>
        </p:nvSpPr>
        <p:spPr>
          <a:xfrm>
            <a:off x="1658275" y="5034508"/>
            <a:ext cx="88754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dataContext.TBLivro.Include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(p =&gt;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p.Editora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FirstOrDefault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(x =&gt; x.ID == item.ID);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566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1:N (1 para muitos)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Para salvar:</a:t>
            </a:r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Para exibir no grid, usar um campo não mapeado:</a:t>
            </a:r>
          </a:p>
          <a:p>
            <a:endParaRPr lang="pt-BR" sz="2800" dirty="0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1BF1C5-2973-4383-B99B-B4213EAC0E1D}"/>
              </a:ext>
            </a:extLst>
          </p:cNvPr>
          <p:cNvSpPr txBox="1"/>
          <p:nvPr/>
        </p:nvSpPr>
        <p:spPr>
          <a:xfrm>
            <a:off x="1267139" y="2451107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item.EditoraId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item.Editora.Id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item.Editora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440C7F-47FB-48D5-A229-6C1F0AAF70F3}"/>
              </a:ext>
            </a:extLst>
          </p:cNvPr>
          <p:cNvSpPr txBox="1"/>
          <p:nvPr/>
        </p:nvSpPr>
        <p:spPr>
          <a:xfrm>
            <a:off x="1097280" y="3962550"/>
            <a:ext cx="60945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NotMapped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NomeEditora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Editora.Nome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4163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52569" cy="1450757"/>
          </a:xfrm>
        </p:spPr>
        <p:txBody>
          <a:bodyPr/>
          <a:lstStyle/>
          <a:p>
            <a:r>
              <a:rPr lang="pt-BR" dirty="0"/>
              <a:t>Relacionamento M:N (muitos para muitos)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Seguir os mesmos passos do relacionamento 1:N;</a:t>
            </a:r>
          </a:p>
          <a:p>
            <a:r>
              <a:rPr lang="pt-BR" sz="2800" dirty="0"/>
              <a:t>Exemplo: Aluno e Disciplina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413FA0-5C90-4CDD-8A93-22AEAE996380}"/>
              </a:ext>
            </a:extLst>
          </p:cNvPr>
          <p:cNvSpPr txBox="1"/>
          <p:nvPr/>
        </p:nvSpPr>
        <p:spPr>
          <a:xfrm>
            <a:off x="1097279" y="2994396"/>
            <a:ext cx="6094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Aluno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Nome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C0B287-31D3-407E-BD4F-29FF4DB81F7C}"/>
              </a:ext>
            </a:extLst>
          </p:cNvPr>
          <p:cNvSpPr txBox="1"/>
          <p:nvPr/>
        </p:nvSpPr>
        <p:spPr>
          <a:xfrm>
            <a:off x="1097279" y="4545655"/>
            <a:ext cx="6094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Disciplina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Nome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740055-7839-4DF4-9BA5-7A9DDA3BC412}"/>
              </a:ext>
            </a:extLst>
          </p:cNvPr>
          <p:cNvSpPr txBox="1"/>
          <p:nvPr/>
        </p:nvSpPr>
        <p:spPr>
          <a:xfrm>
            <a:off x="6126480" y="2994396"/>
            <a:ext cx="589388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AlunoDisciplina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Aluno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Aluno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AlunoId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it-IT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Disciplina Disciplina { </a:t>
            </a:r>
            <a:r>
              <a:rPr lang="it-IT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it-IT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DisciplinaId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15172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 primária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Por padrão, cria-se a chave primária para o campo de nome Id ou que tenha “Id” no final do seu nome;</a:t>
            </a:r>
          </a:p>
          <a:p>
            <a:endParaRPr lang="pt-BR" sz="2800" dirty="0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46A21FD-3DA1-4053-AE3A-856FE3784527}"/>
              </a:ext>
            </a:extLst>
          </p:cNvPr>
          <p:cNvSpPr txBox="1"/>
          <p:nvPr/>
        </p:nvSpPr>
        <p:spPr>
          <a:xfrm>
            <a:off x="1182949" y="2786563"/>
            <a:ext cx="5652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Paciente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? ID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Nome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1BF0CC2-FC8C-4E8F-96B2-7149B8C8EBAA}"/>
              </a:ext>
            </a:extLst>
          </p:cNvPr>
          <p:cNvSpPr txBox="1"/>
          <p:nvPr/>
        </p:nvSpPr>
        <p:spPr>
          <a:xfrm>
            <a:off x="1182949" y="4672019"/>
            <a:ext cx="5652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Paciente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?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PacienteID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Nome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546280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 primária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Para definir outro campo como chave primária, usar o atributo Key. 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DE0E251-AAB3-4348-A450-60926B67B7F0}"/>
              </a:ext>
            </a:extLst>
          </p:cNvPr>
          <p:cNvSpPr txBox="1"/>
          <p:nvPr/>
        </p:nvSpPr>
        <p:spPr>
          <a:xfrm>
            <a:off x="1097280" y="2616200"/>
            <a:ext cx="6094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2B91AF"/>
                </a:solidFill>
                <a:latin typeface="Consolas" panose="020B0609020204030204" pitchFamily="49" charset="0"/>
              </a:rPr>
              <a:t>Carro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[Key]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RENAVAM {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802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 primária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Caso queira definir uma chave composta como chave primária, sobrescrever o método </a:t>
            </a:r>
            <a:r>
              <a:rPr lang="pt-BR" sz="2800" dirty="0" err="1"/>
              <a:t>OnModelCreating</a:t>
            </a:r>
            <a:r>
              <a:rPr lang="pt-BR" sz="2800" dirty="0"/>
              <a:t> da classe </a:t>
            </a:r>
            <a:r>
              <a:rPr lang="pt-BR" sz="2800" dirty="0" err="1"/>
              <a:t>DataContext</a:t>
            </a:r>
            <a:r>
              <a:rPr lang="pt-BR" sz="2800" dirty="0"/>
              <a:t>: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B1BAFA-9C15-414F-BD4A-7041DF5A90D1}"/>
              </a:ext>
            </a:extLst>
          </p:cNvPr>
          <p:cNvSpPr txBox="1"/>
          <p:nvPr/>
        </p:nvSpPr>
        <p:spPr>
          <a:xfrm>
            <a:off x="1036320" y="2975995"/>
            <a:ext cx="55019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Celular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CodigoArea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Nome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FC87992-3406-4F5E-9DEC-B2BEF1837E90}"/>
              </a:ext>
            </a:extLst>
          </p:cNvPr>
          <p:cNvSpPr txBox="1"/>
          <p:nvPr/>
        </p:nvSpPr>
        <p:spPr>
          <a:xfrm>
            <a:off x="1036320" y="4762935"/>
            <a:ext cx="94968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OnModelCreating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modelBuilder.Entity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&lt;Celular&gt;()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	.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HasKey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(c =&gt;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c.CodigoArea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c.Numero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});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774654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com valor único (</a:t>
            </a:r>
            <a:r>
              <a:rPr lang="pt-BR" dirty="0" err="1"/>
              <a:t>unique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Para definir um campo como </a:t>
            </a:r>
            <a:r>
              <a:rPr lang="pt-BR" sz="2800" dirty="0" err="1"/>
              <a:t>unique</a:t>
            </a:r>
            <a:r>
              <a:rPr lang="pt-BR" sz="2800" dirty="0"/>
              <a:t>, utilizar o atributo Index antes da classe, informando qual o campo deve ser tratado como único.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6850F7B-9BFB-419A-8C84-5E3C10D1AF89}"/>
              </a:ext>
            </a:extLst>
          </p:cNvPr>
          <p:cNvSpPr txBox="1"/>
          <p:nvPr/>
        </p:nvSpPr>
        <p:spPr>
          <a:xfrm>
            <a:off x="1174071" y="3168368"/>
            <a:ext cx="60945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[Index(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Patrimonio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IsUnique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)] [Index(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IsUnique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Equipamento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Patrimonio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72104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identidade (</a:t>
            </a:r>
            <a:r>
              <a:rPr lang="pt-BR" dirty="0" err="1"/>
              <a:t>auto-incrementável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Padrão para a chave primária (ID);</a:t>
            </a:r>
          </a:p>
          <a:p>
            <a:r>
              <a:rPr lang="pt-BR" sz="2800" dirty="0"/>
              <a:t>Para outros campos, utilizar o atributo </a:t>
            </a:r>
            <a:r>
              <a:rPr lang="pt-BR" sz="2800" dirty="0" err="1"/>
              <a:t>DatabaseGenerated</a:t>
            </a:r>
            <a:r>
              <a:rPr lang="pt-BR" sz="2800" dirty="0"/>
              <a:t> antes do campo: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D00BB3A-D954-4B2C-82AE-83AB54B4B58F}"/>
              </a:ext>
            </a:extLst>
          </p:cNvPr>
          <p:cNvSpPr txBox="1"/>
          <p:nvPr/>
        </p:nvSpPr>
        <p:spPr>
          <a:xfrm>
            <a:off x="1097280" y="3562528"/>
            <a:ext cx="7747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Pessoa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Nome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DatabaseGenerated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DatabaseGeneratedOption.Identity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OrdemInsercao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5403557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Remover Campo identidade de 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Se não quiser que o ID seja um campo identidade, utilizar o atributo </a:t>
            </a:r>
            <a:r>
              <a:rPr lang="pt-BR" sz="2800" dirty="0" err="1"/>
              <a:t>DatabaseGenerated</a:t>
            </a:r>
            <a:r>
              <a:rPr lang="pt-BR" sz="2800" dirty="0"/>
              <a:t> antes do campo: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1E3461-2A92-43D8-ABDE-1137120ED073}"/>
              </a:ext>
            </a:extLst>
          </p:cNvPr>
          <p:cNvSpPr txBox="1"/>
          <p:nvPr/>
        </p:nvSpPr>
        <p:spPr>
          <a:xfrm>
            <a:off x="1097280" y="2978393"/>
            <a:ext cx="60945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Livro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DatabaseGenerated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DatabaseGeneratedOption.None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Titulo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1173101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Consultas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Para realizar consultas informando o código SQL: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Porém, esse método é suscetível a erros de SQL </a:t>
            </a:r>
            <a:r>
              <a:rPr lang="pt-BR" sz="2800" dirty="0" err="1"/>
              <a:t>injection</a:t>
            </a:r>
            <a:r>
              <a:rPr lang="pt-BR" sz="2800" dirty="0"/>
              <a:t>.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49755A6-EDC7-45D5-ADA3-3FDE24D683D6}"/>
              </a:ext>
            </a:extLst>
          </p:cNvPr>
          <p:cNvSpPr txBox="1"/>
          <p:nvPr/>
        </p:nvSpPr>
        <p:spPr>
          <a:xfrm>
            <a:off x="1174812" y="2436321"/>
            <a:ext cx="104283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DataContext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DataContext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&lt;Dependente&gt;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dc.TBDependente.FromSqlRaw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"SELECT * FROM 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TBDependente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WHERE ID &lt;&gt; {0} ORDER BY ID"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3).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ToList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53356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CD746-F7C4-4C33-BC2F-D5B26AB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Consultas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DA6DD-8705-4C63-88E8-847B95DC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800" dirty="0"/>
          </a:p>
          <a:p>
            <a:endParaRPr lang="pt-BR" sz="2800" dirty="0"/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5F03113-570F-45F4-84DF-C4FE9C27E330}"/>
              </a:ext>
            </a:extLst>
          </p:cNvPr>
          <p:cNvSpPr txBox="1"/>
          <p:nvPr/>
        </p:nvSpPr>
        <p:spPr>
          <a:xfrm>
            <a:off x="1097280" y="1845734"/>
            <a:ext cx="1017736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consulta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"SELECT * FROM 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TBDependente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 where 1 = 1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parametros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d.nome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consulta +=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 AND nome = @nome"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parametros.Add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SqlParameter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"nome"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d.nome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d.Owner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consulta +=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 AND 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OwnerID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= @ownerid"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parametros.Add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SqlParameter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ownerid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d.Owner.ID));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&lt;Dependente&gt;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dc.TBDependente.FromSqlRaw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(consulta,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parametros.ToArray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()).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ToList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0708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1628</TotalTime>
  <Words>3228</Words>
  <Application>Microsoft Office PowerPoint</Application>
  <PresentationFormat>Widescreen</PresentationFormat>
  <Paragraphs>459</Paragraphs>
  <Slides>53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53</vt:i4>
      </vt:variant>
    </vt:vector>
  </HeadingPairs>
  <TitlesOfParts>
    <vt:vector size="64" baseType="lpstr">
      <vt:lpstr>Arial</vt:lpstr>
      <vt:lpstr>Calibri</vt:lpstr>
      <vt:lpstr>Calibri Light</vt:lpstr>
      <vt:lpstr>Cambria Math</vt:lpstr>
      <vt:lpstr>Cascadia Mono</vt:lpstr>
      <vt:lpstr>Consolas</vt:lpstr>
      <vt:lpstr>Symbol</vt:lpstr>
      <vt:lpstr>Times New Roman</vt:lpstr>
      <vt:lpstr>Wingdings</vt:lpstr>
      <vt:lpstr>Office Theme</vt:lpstr>
      <vt:lpstr>Office Theme</vt:lpstr>
      <vt:lpstr>Linguagem de Programação 2</vt:lpstr>
      <vt:lpstr>Exemplo</vt:lpstr>
      <vt:lpstr>Padrão MVC</vt:lpstr>
      <vt:lpstr>Padrão MVC</vt:lpstr>
      <vt:lpstr>Projeto em Camadas</vt:lpstr>
      <vt:lpstr>Projeto em Camadas</vt:lpstr>
      <vt:lpstr>Projeto em Camadas</vt:lpstr>
      <vt:lpstr>Conexão com SGBD</vt:lpstr>
      <vt:lpstr>Projeto em Camadas</vt:lpstr>
      <vt:lpstr>Chamada para o SGBD</vt:lpstr>
      <vt:lpstr>Definições sobre o SGBD</vt:lpstr>
      <vt:lpstr>Iniciando o SGBD (Local)</vt:lpstr>
      <vt:lpstr>Verificar conexão com SGBD</vt:lpstr>
      <vt:lpstr>Iniciando o SGBD (Docker)</vt:lpstr>
      <vt:lpstr>Verificar conexão com SGBD</vt:lpstr>
      <vt:lpstr>Entity Framework Core</vt:lpstr>
      <vt:lpstr>Criar projeto no Visual Studio</vt:lpstr>
      <vt:lpstr>Preparando o projeto</vt:lpstr>
      <vt:lpstr>Criando classes iniciais</vt:lpstr>
      <vt:lpstr>Exemplo</vt:lpstr>
      <vt:lpstr>Criação das Models</vt:lpstr>
      <vt:lpstr>Criação das Models</vt:lpstr>
      <vt:lpstr>Criação das Models</vt:lpstr>
      <vt:lpstr>Informar as tabelas utilizadas</vt:lpstr>
      <vt:lpstr>Criar (e atualizar) tabelas</vt:lpstr>
      <vt:lpstr>Criando classes iniciais (Controller)</vt:lpstr>
      <vt:lpstr>Criação das Controllers</vt:lpstr>
      <vt:lpstr>Criação das Views</vt:lpstr>
      <vt:lpstr>Criação das Views</vt:lpstr>
      <vt:lpstr>Comunicação entre View e Controller</vt:lpstr>
      <vt:lpstr>Programação da controller</vt:lpstr>
      <vt:lpstr>Listagem</vt:lpstr>
      <vt:lpstr>Pesquisa</vt:lpstr>
      <vt:lpstr>Pesquisa com mais de um campo</vt:lpstr>
      <vt:lpstr>Pesquisa com mais de um campo</vt:lpstr>
      <vt:lpstr>Remoção</vt:lpstr>
      <vt:lpstr>Atualização</vt:lpstr>
      <vt:lpstr>Próximo passo</vt:lpstr>
      <vt:lpstr>Relacionamentos 1:N (1 para muitos)</vt:lpstr>
      <vt:lpstr>Relacionamentos 1:N (1 para muitos)</vt:lpstr>
      <vt:lpstr>Relacionamentos 1:N (1 para muitos)</vt:lpstr>
      <vt:lpstr>Relacionamentos 1:N (1 para muitos)</vt:lpstr>
      <vt:lpstr>Relacionamentos 1:N (1 para muitos)</vt:lpstr>
      <vt:lpstr>Relacionamentos 1:N (1 para muitos)</vt:lpstr>
      <vt:lpstr>Relacionamento M:N (muitos para muitos)</vt:lpstr>
      <vt:lpstr>Chave primária</vt:lpstr>
      <vt:lpstr>Chave primária</vt:lpstr>
      <vt:lpstr>Chave primária</vt:lpstr>
      <vt:lpstr>Campo com valor único (unique)</vt:lpstr>
      <vt:lpstr>Campo identidade (auto-incrementável)</vt:lpstr>
      <vt:lpstr>Remover Campo identidade de ID</vt:lpstr>
      <vt:lpstr>Consultas SQL</vt:lpstr>
      <vt:lpstr>Consultas 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II</dc:title>
  <dc:subject/>
  <dc:creator>Windows User</dc:creator>
  <dc:description/>
  <cp:lastModifiedBy>Tiago Docusse</cp:lastModifiedBy>
  <cp:revision>195</cp:revision>
  <dcterms:created xsi:type="dcterms:W3CDTF">2014-08-05T13:32:52Z</dcterms:created>
  <dcterms:modified xsi:type="dcterms:W3CDTF">2026-05-12T10:19:56Z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35</vt:i4>
  </property>
</Properties>
</file>