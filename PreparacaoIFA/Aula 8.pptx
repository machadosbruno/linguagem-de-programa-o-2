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  <p:sldMasterId id="2147483852" r:id="rId2"/>
  </p:sldMasterIdLst>
  <p:sldIdLst>
    <p:sldId id="346" r:id="rId3"/>
    <p:sldId id="320" r:id="rId4"/>
    <p:sldId id="307" r:id="rId5"/>
    <p:sldId id="321" r:id="rId6"/>
    <p:sldId id="322" r:id="rId7"/>
    <p:sldId id="323" r:id="rId8"/>
    <p:sldId id="324" r:id="rId9"/>
    <p:sldId id="325" r:id="rId10"/>
    <p:sldId id="326" r:id="rId11"/>
    <p:sldId id="328" r:id="rId12"/>
    <p:sldId id="327" r:id="rId13"/>
    <p:sldId id="329" r:id="rId14"/>
    <p:sldId id="330" r:id="rId15"/>
    <p:sldId id="331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EFF9FF"/>
    <a:srgbClr val="CCFFFF"/>
    <a:srgbClr val="003300"/>
    <a:srgbClr val="000000"/>
    <a:srgbClr val="006000"/>
    <a:srgbClr val="F8F8F8"/>
    <a:srgbClr val="007000"/>
    <a:srgbClr val="006600"/>
    <a:srgbClr val="00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505E3EF-67EA-436B-97B2-0124C06EBD24}" styleName="Estilo Médio 4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205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202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42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6636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351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59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3181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0893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31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0153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8024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680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1209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6864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84895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10655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90312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5356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66583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17428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8191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693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460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F23C442-C616-4505-B16A-331FB15D0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887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884420"/>
            <a:ext cx="10058400" cy="3440692"/>
          </a:xfrm>
        </p:spPr>
        <p:txBody>
          <a:bodyPr>
            <a:normAutofit/>
          </a:bodyPr>
          <a:lstStyle/>
          <a:p>
            <a:pPr algn="ctr"/>
            <a:r>
              <a:rPr lang="pt-BR" sz="6600" dirty="0"/>
              <a:t>Linguagem de Programação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pt-BR" dirty="0"/>
              <a:t>Tecnologia em Análise e Desenvolvimento de Sistemas</a:t>
            </a:r>
          </a:p>
          <a:p>
            <a:endParaRPr lang="pt-BR" sz="1800" cap="none" dirty="0"/>
          </a:p>
          <a:p>
            <a:pPr algn="ctr"/>
            <a:r>
              <a:rPr lang="pt-BR" sz="1800" cap="none" dirty="0"/>
              <a:t>Tiago Alexandre </a:t>
            </a:r>
            <a:r>
              <a:rPr lang="pt-BR" sz="1800" cap="none" dirty="0" err="1"/>
              <a:t>Dócusse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1905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DateTimePicker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Controle utilizado para escolher uma data/horário;</a:t>
            </a:r>
          </a:p>
          <a:p>
            <a:r>
              <a:rPr lang="pt-BR" sz="3200" dirty="0"/>
              <a:t>Principais propriedades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Value</a:t>
            </a:r>
            <a:r>
              <a:rPr lang="pt-BR" sz="2800" dirty="0">
                <a:solidFill>
                  <a:schemeClr val="tx1"/>
                </a:solidFill>
              </a:rPr>
              <a:t>: valor de data/horário armazenado (</a:t>
            </a:r>
            <a:r>
              <a:rPr lang="pt-BR" sz="2800" dirty="0" err="1">
                <a:solidFill>
                  <a:schemeClr val="tx1"/>
                </a:solidFill>
              </a:rPr>
              <a:t>DateTime</a:t>
            </a:r>
            <a:r>
              <a:rPr lang="pt-BR" sz="2800" dirty="0">
                <a:solidFill>
                  <a:schemeClr val="tx1"/>
                </a:solidFill>
              </a:rPr>
              <a:t>);</a:t>
            </a:r>
          </a:p>
          <a:p>
            <a:pPr lvl="1"/>
            <a:r>
              <a:rPr lang="pt-BR" sz="2800" dirty="0">
                <a:solidFill>
                  <a:schemeClr val="tx1"/>
                </a:solidFill>
              </a:rPr>
              <a:t>Format: formato de data a ser exibido (</a:t>
            </a:r>
            <a:r>
              <a:rPr lang="pt-BR" sz="2800" dirty="0" err="1">
                <a:solidFill>
                  <a:schemeClr val="tx1"/>
                </a:solidFill>
              </a:rPr>
              <a:t>DateTimePickerFormat</a:t>
            </a:r>
            <a:r>
              <a:rPr lang="pt-BR" sz="2800" dirty="0">
                <a:solidFill>
                  <a:schemeClr val="tx1"/>
                </a:solidFill>
              </a:rPr>
              <a:t>);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CustomFormat</a:t>
            </a:r>
            <a:r>
              <a:rPr lang="pt-BR" sz="2800" dirty="0">
                <a:solidFill>
                  <a:schemeClr val="tx1"/>
                </a:solidFill>
              </a:rPr>
              <a:t>: formato personalizado a ser utilizado caso a propriedade Format possua o valor “</a:t>
            </a:r>
            <a:r>
              <a:rPr lang="pt-BR" sz="2800" dirty="0" err="1">
                <a:solidFill>
                  <a:schemeClr val="tx1"/>
                </a:solidFill>
              </a:rPr>
              <a:t>Custom</a:t>
            </a:r>
            <a:r>
              <a:rPr lang="pt-BR" sz="2800" dirty="0">
                <a:solidFill>
                  <a:schemeClr val="tx1"/>
                </a:solidFill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1909674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dirty="0"/>
              <a:t>Desenvolver um programa utilizado para “cadastrar” usuários em um sistema. Devem ser informados o login, senha e o tipo de usuário (Administrador, Usuário ou Visitante). Além disso, informar a foto de perfil do usuário. </a:t>
            </a:r>
          </a:p>
          <a:p>
            <a:pPr marL="342900" indent="-342900">
              <a:buFont typeface="+mj-lt"/>
              <a:buAutoNum type="arabicParenR"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273158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PictureBox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Controle utilizado para exibir uma foto;</a:t>
            </a:r>
          </a:p>
          <a:p>
            <a:r>
              <a:rPr lang="pt-BR" sz="3200" dirty="0"/>
              <a:t>Principais propriedades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Image</a:t>
            </a:r>
            <a:r>
              <a:rPr lang="pt-BR" sz="2800" dirty="0">
                <a:solidFill>
                  <a:schemeClr val="tx1"/>
                </a:solidFill>
              </a:rPr>
              <a:t>: imagem a ser exibida (</a:t>
            </a:r>
            <a:r>
              <a:rPr lang="pt-BR" sz="2800" dirty="0" err="1">
                <a:solidFill>
                  <a:schemeClr val="tx1"/>
                </a:solidFill>
              </a:rPr>
              <a:t>Image</a:t>
            </a:r>
            <a:r>
              <a:rPr lang="pt-BR" sz="2800" dirty="0">
                <a:solidFill>
                  <a:schemeClr val="tx1"/>
                </a:solidFill>
              </a:rPr>
              <a:t>);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SizeMode</a:t>
            </a:r>
            <a:r>
              <a:rPr lang="pt-BR" sz="2800" dirty="0">
                <a:solidFill>
                  <a:schemeClr val="tx1"/>
                </a:solidFill>
              </a:rPr>
              <a:t>: formato de exibição da imagem (</a:t>
            </a:r>
            <a:r>
              <a:rPr lang="pt-BR" sz="2800" dirty="0" err="1">
                <a:solidFill>
                  <a:schemeClr val="tx1"/>
                </a:solidFill>
              </a:rPr>
              <a:t>PictureBoxSizeMode</a:t>
            </a:r>
            <a:r>
              <a:rPr lang="pt-BR" sz="2800" dirty="0">
                <a:solidFill>
                  <a:schemeClr val="tx1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317896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OpenFileDialog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3200" dirty="0"/>
              <a:t>Controle utilizado para escolha de arquivo(s) existente(s);</a:t>
            </a:r>
          </a:p>
          <a:p>
            <a:r>
              <a:rPr lang="pt-BR" sz="3200" dirty="0"/>
              <a:t>Principais propriedades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Filter</a:t>
            </a:r>
            <a:r>
              <a:rPr lang="pt-BR" sz="2800" dirty="0">
                <a:solidFill>
                  <a:schemeClr val="tx1"/>
                </a:solidFill>
              </a:rPr>
              <a:t>: filtro de extensões a ser utilizado(</a:t>
            </a:r>
            <a:r>
              <a:rPr lang="pt-BR" sz="2800" dirty="0" err="1">
                <a:solidFill>
                  <a:schemeClr val="tx1"/>
                </a:solidFill>
              </a:rPr>
              <a:t>string</a:t>
            </a:r>
            <a:r>
              <a:rPr lang="pt-BR" sz="2800" dirty="0">
                <a:solidFill>
                  <a:schemeClr val="tx1"/>
                </a:solidFill>
              </a:rPr>
              <a:t>);</a:t>
            </a:r>
          </a:p>
          <a:p>
            <a:pPr lvl="2"/>
            <a:r>
              <a:rPr lang="pt-BR" sz="2800" dirty="0">
                <a:solidFill>
                  <a:schemeClr val="tx1"/>
                </a:solidFill>
              </a:rPr>
              <a:t>Exemplo: </a:t>
            </a:r>
            <a:r>
              <a:rPr lang="pt-BR" sz="2400" dirty="0">
                <a:solidFill>
                  <a:srgbClr val="A31515"/>
                </a:solidFill>
                <a:latin typeface="Consolas" panose="020B0609020204030204" pitchFamily="49" charset="0"/>
              </a:rPr>
              <a:t>"Imagem BMP|*.</a:t>
            </a:r>
            <a:r>
              <a:rPr lang="pt-BR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bmp|Imagem</a:t>
            </a:r>
            <a:r>
              <a:rPr lang="pt-BR" sz="2400" dirty="0">
                <a:solidFill>
                  <a:srgbClr val="A31515"/>
                </a:solidFill>
                <a:latin typeface="Consolas" panose="020B0609020204030204" pitchFamily="49" charset="0"/>
              </a:rPr>
              <a:t> PNG|*.png"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pt-BR" sz="2800" dirty="0">
              <a:solidFill>
                <a:schemeClr val="tx1"/>
              </a:solidFill>
            </a:endParaRP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FileName</a:t>
            </a:r>
            <a:r>
              <a:rPr lang="pt-BR" sz="2800" dirty="0">
                <a:solidFill>
                  <a:schemeClr val="tx1"/>
                </a:solidFill>
              </a:rPr>
              <a:t>: endereço do arquivo selecionado (</a:t>
            </a:r>
            <a:r>
              <a:rPr lang="pt-BR" sz="2800" dirty="0" err="1">
                <a:solidFill>
                  <a:schemeClr val="tx1"/>
                </a:solidFill>
              </a:rPr>
              <a:t>string</a:t>
            </a:r>
            <a:r>
              <a:rPr lang="pt-BR" sz="2800" dirty="0">
                <a:solidFill>
                  <a:schemeClr val="tx1"/>
                </a:solidFill>
              </a:rPr>
              <a:t>).</a:t>
            </a:r>
          </a:p>
          <a:p>
            <a:endParaRPr lang="pt-BR" sz="3200" dirty="0"/>
          </a:p>
          <a:p>
            <a:r>
              <a:rPr lang="pt-BR" sz="3200" dirty="0">
                <a:solidFill>
                  <a:schemeClr val="tx1"/>
                </a:solidFill>
              </a:rPr>
              <a:t>Esse controle não precisa ser arrastado para o formulário;</a:t>
            </a:r>
          </a:p>
          <a:p>
            <a:r>
              <a:rPr lang="pt-BR" sz="3200" dirty="0"/>
              <a:t>Seu retorno é uma enumeração de </a:t>
            </a:r>
            <a:r>
              <a:rPr lang="pt-BR" sz="3200" dirty="0" err="1"/>
              <a:t>DialogResult</a:t>
            </a:r>
            <a:r>
              <a:rPr lang="pt-BR" sz="3200" dirty="0"/>
              <a:t>.</a:t>
            </a:r>
            <a:endParaRPr lang="pt-BR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866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SaveFileDialog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549775" cy="4416521"/>
          </a:xfrm>
        </p:spPr>
        <p:txBody>
          <a:bodyPr>
            <a:normAutofit/>
          </a:bodyPr>
          <a:lstStyle/>
          <a:p>
            <a:r>
              <a:rPr lang="pt-BR" sz="3200" dirty="0"/>
              <a:t>Controle utilizado para escolha de arquivo(s) novos ou existente(s);</a:t>
            </a:r>
          </a:p>
          <a:p>
            <a:r>
              <a:rPr lang="pt-BR" sz="3200" dirty="0"/>
              <a:t>Principais propriedades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Filter</a:t>
            </a:r>
            <a:r>
              <a:rPr lang="pt-BR" sz="2800" dirty="0">
                <a:solidFill>
                  <a:schemeClr val="tx1"/>
                </a:solidFill>
              </a:rPr>
              <a:t>: filtro de extensões a ser utilizado(</a:t>
            </a:r>
            <a:r>
              <a:rPr lang="pt-BR" sz="2800" dirty="0" err="1">
                <a:solidFill>
                  <a:schemeClr val="tx1"/>
                </a:solidFill>
              </a:rPr>
              <a:t>string</a:t>
            </a:r>
            <a:r>
              <a:rPr lang="pt-BR" sz="2800" dirty="0">
                <a:solidFill>
                  <a:schemeClr val="tx1"/>
                </a:solidFill>
              </a:rPr>
              <a:t>);</a:t>
            </a:r>
          </a:p>
          <a:p>
            <a:pPr lvl="2"/>
            <a:r>
              <a:rPr lang="pt-BR" sz="2800" dirty="0">
                <a:solidFill>
                  <a:schemeClr val="tx1"/>
                </a:solidFill>
              </a:rPr>
              <a:t>Exemplo: </a:t>
            </a:r>
            <a:r>
              <a:rPr lang="pt-BR" sz="2400" dirty="0">
                <a:solidFill>
                  <a:srgbClr val="A31515"/>
                </a:solidFill>
                <a:latin typeface="Consolas" panose="020B0609020204030204" pitchFamily="49" charset="0"/>
              </a:rPr>
              <a:t>"Imagem BMP|*.</a:t>
            </a:r>
            <a:r>
              <a:rPr lang="pt-BR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bmp|Imagem</a:t>
            </a:r>
            <a:r>
              <a:rPr lang="pt-BR" sz="2400" dirty="0">
                <a:solidFill>
                  <a:srgbClr val="A31515"/>
                </a:solidFill>
                <a:latin typeface="Consolas" panose="020B0609020204030204" pitchFamily="49" charset="0"/>
              </a:rPr>
              <a:t> PNG|*.png"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pt-BR" sz="2800" dirty="0">
              <a:solidFill>
                <a:schemeClr val="tx1"/>
              </a:solidFill>
            </a:endParaRP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FileName</a:t>
            </a:r>
            <a:r>
              <a:rPr lang="pt-BR" sz="2800" dirty="0">
                <a:solidFill>
                  <a:schemeClr val="tx1"/>
                </a:solidFill>
              </a:rPr>
              <a:t>: endereço do arquivo selecionado (</a:t>
            </a:r>
            <a:r>
              <a:rPr lang="pt-BR" sz="2800" dirty="0" err="1">
                <a:solidFill>
                  <a:schemeClr val="tx1"/>
                </a:solidFill>
              </a:rPr>
              <a:t>string</a:t>
            </a:r>
            <a:r>
              <a:rPr lang="pt-BR" sz="2800" dirty="0">
                <a:solidFill>
                  <a:schemeClr val="tx1"/>
                </a:solidFill>
              </a:rPr>
              <a:t>).</a:t>
            </a:r>
            <a:endParaRPr lang="pt-BR" sz="3200" dirty="0"/>
          </a:p>
          <a:p>
            <a:r>
              <a:rPr lang="pt-BR" sz="3200" dirty="0">
                <a:solidFill>
                  <a:schemeClr val="tx1"/>
                </a:solidFill>
              </a:rPr>
              <a:t>Esse controle não precisa ser arrastado para o formulário;</a:t>
            </a:r>
          </a:p>
          <a:p>
            <a:r>
              <a:rPr lang="pt-BR" sz="3200" dirty="0"/>
              <a:t>Seu retorno é uma enumeração de </a:t>
            </a:r>
            <a:r>
              <a:rPr lang="pt-BR" sz="3200" dirty="0" err="1"/>
              <a:t>DialogResult</a:t>
            </a:r>
            <a:r>
              <a:rPr lang="pt-BR" sz="3200" dirty="0"/>
              <a:t>.</a:t>
            </a:r>
            <a:endParaRPr lang="pt-BR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847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ContextMenuStrip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Utilizado para criar um menu de contexto;</a:t>
            </a:r>
          </a:p>
          <a:p>
            <a:r>
              <a:rPr lang="pt-BR" sz="3200" dirty="0">
                <a:solidFill>
                  <a:schemeClr val="tx1"/>
                </a:solidFill>
              </a:rPr>
              <a:t>Use o editor visual para criar;</a:t>
            </a:r>
          </a:p>
          <a:p>
            <a:r>
              <a:rPr lang="pt-BR" sz="3200" dirty="0"/>
              <a:t>Altere a propriedade </a:t>
            </a:r>
            <a:r>
              <a:rPr lang="pt-BR" sz="3200" dirty="0" err="1"/>
              <a:t>ContextMenuStrip</a:t>
            </a:r>
            <a:r>
              <a:rPr lang="pt-BR" sz="3200" dirty="0"/>
              <a:t> do controle que deseja utilizar o </a:t>
            </a:r>
            <a:r>
              <a:rPr lang="pt-BR" sz="3200" dirty="0" err="1"/>
              <a:t>ContextMenuStrip</a:t>
            </a:r>
            <a:r>
              <a:rPr lang="pt-BR" sz="3200" dirty="0"/>
              <a:t> criado.</a:t>
            </a:r>
            <a:endParaRPr lang="pt-BR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060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MenuStrip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Utilizado para criar um menu;</a:t>
            </a:r>
          </a:p>
          <a:p>
            <a:r>
              <a:rPr lang="pt-BR" sz="3200" dirty="0">
                <a:solidFill>
                  <a:schemeClr val="tx1"/>
                </a:solidFill>
              </a:rPr>
              <a:t>Use o editor visual para criar.</a:t>
            </a:r>
          </a:p>
        </p:txBody>
      </p:sp>
    </p:spTree>
    <p:extLst>
      <p:ext uri="{BB962C8B-B14F-4D97-AF65-F5344CB8AC3E}">
        <p14:creationId xmlns:p14="http://schemas.microsoft.com/office/powerpoint/2010/main" val="1476962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Troca de Formulários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Para realizar a troca de formulários, crie um novo objeto do formulário desejado e utilize os métodos:</a:t>
            </a:r>
          </a:p>
          <a:p>
            <a:pPr lvl="1"/>
            <a:r>
              <a:rPr lang="pt-BR" sz="2800" dirty="0">
                <a:solidFill>
                  <a:schemeClr val="tx1"/>
                </a:solidFill>
              </a:rPr>
              <a:t>Show() para exibir o formulário sem bloquear o formulário anterior;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ShowDialog</a:t>
            </a:r>
            <a:r>
              <a:rPr lang="pt-BR" sz="2800" dirty="0">
                <a:solidFill>
                  <a:schemeClr val="tx1"/>
                </a:solidFill>
              </a:rPr>
              <a:t>() para bloquear o formulário anterior.</a:t>
            </a:r>
          </a:p>
        </p:txBody>
      </p:sp>
    </p:spTree>
    <p:extLst>
      <p:ext uri="{BB962C8B-B14F-4D97-AF65-F5344CB8AC3E}">
        <p14:creationId xmlns:p14="http://schemas.microsoft.com/office/powerpoint/2010/main" val="184569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Confirmação de fechamento de formulário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Para confirmar se um formulário deve ser fechado, adicionar uma questão (normalmente usando a classe </a:t>
            </a:r>
            <a:r>
              <a:rPr lang="pt-BR" sz="3200" dirty="0" err="1"/>
              <a:t>MessageBox</a:t>
            </a:r>
            <a:r>
              <a:rPr lang="pt-BR" sz="3200" dirty="0"/>
              <a:t>) no evento </a:t>
            </a:r>
            <a:r>
              <a:rPr lang="pt-BR" sz="3200" dirty="0" err="1"/>
              <a:t>FormClosing</a:t>
            </a:r>
            <a:r>
              <a:rPr lang="pt-BR" sz="3200" dirty="0"/>
              <a:t> do formulário;</a:t>
            </a:r>
          </a:p>
          <a:p>
            <a:r>
              <a:rPr lang="pt-BR" sz="3200" dirty="0">
                <a:solidFill>
                  <a:schemeClr val="tx1"/>
                </a:solidFill>
              </a:rPr>
              <a:t>O retorno do </a:t>
            </a:r>
            <a:r>
              <a:rPr lang="pt-BR" sz="3200" dirty="0" err="1">
                <a:solidFill>
                  <a:schemeClr val="tx1"/>
                </a:solidFill>
              </a:rPr>
              <a:t>MessageBox</a:t>
            </a:r>
            <a:r>
              <a:rPr lang="pt-BR" sz="3200" dirty="0">
                <a:solidFill>
                  <a:schemeClr val="tx1"/>
                </a:solidFill>
              </a:rPr>
              <a:t> também é uma enumeração de </a:t>
            </a:r>
            <a:r>
              <a:rPr lang="pt-BR" sz="3200" dirty="0" err="1">
                <a:solidFill>
                  <a:schemeClr val="tx1"/>
                </a:solidFill>
              </a:rPr>
              <a:t>DialogResult</a:t>
            </a:r>
            <a:r>
              <a:rPr lang="pt-BR" sz="3200" dirty="0">
                <a:solidFill>
                  <a:schemeClr val="tx1"/>
                </a:solidFill>
              </a:rPr>
              <a:t>;</a:t>
            </a:r>
          </a:p>
          <a:p>
            <a:r>
              <a:rPr lang="pt-BR" sz="3200" dirty="0"/>
              <a:t>Caso o usuário não queria fechar o formulário, alterar a propriedade </a:t>
            </a:r>
            <a:r>
              <a:rPr lang="pt-BR" sz="3200" dirty="0" err="1"/>
              <a:t>Cancel</a:t>
            </a:r>
            <a:r>
              <a:rPr lang="pt-BR" sz="3200" dirty="0"/>
              <a:t> do argumento </a:t>
            </a:r>
            <a:r>
              <a:rPr lang="pt-BR" sz="3200" i="1" dirty="0"/>
              <a:t>e </a:t>
            </a:r>
            <a:r>
              <a:rPr lang="pt-BR" sz="3200" dirty="0"/>
              <a:t>para </a:t>
            </a:r>
            <a:r>
              <a:rPr lang="pt-BR" sz="3200" i="1" dirty="0" err="1"/>
              <a:t>true</a:t>
            </a:r>
            <a:r>
              <a:rPr lang="pt-BR" sz="3200" dirty="0"/>
              <a:t>.</a:t>
            </a:r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225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Validação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Verifica se os campos foram preenchidos antes de executar determinada ação;</a:t>
            </a:r>
          </a:p>
          <a:p>
            <a:r>
              <a:rPr lang="pt-BR" sz="3200" dirty="0"/>
              <a:t>Possibilidade de utilização do controle </a:t>
            </a:r>
            <a:r>
              <a:rPr lang="pt-BR" sz="3200" dirty="0" err="1"/>
              <a:t>ErrorProvider</a:t>
            </a:r>
            <a:r>
              <a:rPr lang="pt-BR" sz="3200" dirty="0"/>
              <a:t>: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Clear</a:t>
            </a:r>
            <a:r>
              <a:rPr lang="pt-BR" sz="2800" dirty="0">
                <a:solidFill>
                  <a:schemeClr val="tx1"/>
                </a:solidFill>
              </a:rPr>
              <a:t>: remove todas as definições de erros;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SetError</a:t>
            </a:r>
            <a:r>
              <a:rPr lang="pt-BR" sz="2800" dirty="0">
                <a:solidFill>
                  <a:schemeClr val="tx1"/>
                </a:solidFill>
              </a:rPr>
              <a:t>: exibe um ícone de erro ao lado do controle informado;</a:t>
            </a:r>
          </a:p>
        </p:txBody>
      </p:sp>
    </p:spTree>
    <p:extLst>
      <p:ext uri="{BB962C8B-B14F-4D97-AF65-F5344CB8AC3E}">
        <p14:creationId xmlns:p14="http://schemas.microsoft.com/office/powerpoint/2010/main" val="2052148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Parâmetros entre formulários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 passagem de parâmetros pode ser feita através do construtor, de um método público ou de uma propriedade pública;</a:t>
            </a:r>
          </a:p>
          <a:p>
            <a:r>
              <a:rPr lang="pt-BR" sz="3200" dirty="0">
                <a:solidFill>
                  <a:schemeClr val="tx1"/>
                </a:solidFill>
              </a:rPr>
              <a:t>A leitura de parâmetros de um formulário para outro pode ser feita através de um método </a:t>
            </a:r>
            <a:r>
              <a:rPr lang="pt-BR" sz="3200" dirty="0"/>
              <a:t>público ou uma propriedade pública.</a:t>
            </a:r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258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DataGridView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Controle utilizado para exibir um grid com dados armazenados em uma coleção;</a:t>
            </a:r>
          </a:p>
          <a:p>
            <a:r>
              <a:rPr lang="pt-BR" sz="3200" dirty="0"/>
              <a:t>Principal propriedade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DataSource</a:t>
            </a:r>
            <a:r>
              <a:rPr lang="pt-BR" sz="2800" dirty="0">
                <a:solidFill>
                  <a:schemeClr val="tx1"/>
                </a:solidFill>
              </a:rPr>
              <a:t>: coleção com os dados a serem exibidos.</a:t>
            </a:r>
            <a:endParaRPr lang="pt-BR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059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16C4F1D-3A07-4B33-BC4F-517C9F69F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Um programa de cadastro de usuários deve ser feito possuindo 3 formulários: o principal, de onde se acessa os outros dois formulários, um formulário de cadastro e um formulário de exibição;</a:t>
            </a:r>
          </a:p>
          <a:p>
            <a:r>
              <a:rPr lang="pt-BR" sz="2400" dirty="0"/>
              <a:t> No formulário de cadastro deve-se cadastrar um usuário, informando seu nome de usuário, senha e situação (Ativo/Inativo). Os campos devem ser validados;</a:t>
            </a:r>
          </a:p>
          <a:p>
            <a:r>
              <a:rPr lang="pt-BR" sz="2400" dirty="0"/>
              <a:t>No formulário de exibição, deve-se exibir todos os usuários cadastrados, com a possibilidade de filtrar usuários ativos/inativos;</a:t>
            </a:r>
          </a:p>
          <a:p>
            <a:r>
              <a:rPr lang="pt-BR" sz="2400" dirty="0"/>
              <a:t>Todos os formulários não podem ser maximizados, sendo que o usuário deve confirmar o fechamento de todos eles.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371175739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trospectiva">
  <a:themeElements>
    <a:clrScheme name="Retrospectiva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TM02900743[[fn=Orgânico]]</Template>
  <TotalTime>1427</TotalTime>
  <Words>643</Words>
  <Application>Microsoft Office PowerPoint</Application>
  <PresentationFormat>Widescreen</PresentationFormat>
  <Paragraphs>66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Calibri</vt:lpstr>
      <vt:lpstr>Calibri Light</vt:lpstr>
      <vt:lpstr>Consolas</vt:lpstr>
      <vt:lpstr>Wingdings 2</vt:lpstr>
      <vt:lpstr>HDOfficeLightV0</vt:lpstr>
      <vt:lpstr>Retrospectiva</vt:lpstr>
      <vt:lpstr>Linguagem de Programação 2</vt:lpstr>
      <vt:lpstr>DateTimePicker</vt:lpstr>
      <vt:lpstr>Exemplo</vt:lpstr>
      <vt:lpstr>PictureBox</vt:lpstr>
      <vt:lpstr>OpenFileDialog</vt:lpstr>
      <vt:lpstr>SaveFileDialog</vt:lpstr>
      <vt:lpstr>ContextMenuStrip</vt:lpstr>
      <vt:lpstr>MenuStrip</vt:lpstr>
      <vt:lpstr>Troca de Formulários</vt:lpstr>
      <vt:lpstr>Confirmação de fechamento de formulário</vt:lpstr>
      <vt:lpstr>Validação de dados</vt:lpstr>
      <vt:lpstr>Parâmetros entre formulários</vt:lpstr>
      <vt:lpstr>DataGridView</vt:lpstr>
      <vt:lpstr>Exercício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Integrado 2</dc:title>
  <dc:creator>aluno</dc:creator>
  <cp:lastModifiedBy>Tiago Docusse</cp:lastModifiedBy>
  <cp:revision>192</cp:revision>
  <dcterms:created xsi:type="dcterms:W3CDTF">2017-07-05T21:06:24Z</dcterms:created>
  <dcterms:modified xsi:type="dcterms:W3CDTF">2026-04-24T10:32:31Z</dcterms:modified>
</cp:coreProperties>
</file>